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10" r:id="rId2"/>
    <p:sldId id="312" r:id="rId3"/>
    <p:sldId id="320" r:id="rId4"/>
    <p:sldId id="322" r:id="rId5"/>
    <p:sldId id="323" r:id="rId6"/>
    <p:sldId id="314" r:id="rId7"/>
    <p:sldId id="324" r:id="rId8"/>
    <p:sldId id="325" r:id="rId9"/>
    <p:sldId id="326" r:id="rId10"/>
    <p:sldId id="315" r:id="rId11"/>
    <p:sldId id="327" r:id="rId12"/>
    <p:sldId id="328" r:id="rId13"/>
    <p:sldId id="302" r:id="rId14"/>
    <p:sldId id="305" r:id="rId15"/>
    <p:sldId id="309" r:id="rId16"/>
    <p:sldId id="316" r:id="rId17"/>
    <p:sldId id="317" r:id="rId18"/>
    <p:sldId id="318" r:id="rId19"/>
    <p:sldId id="319" r:id="rId20"/>
    <p:sldId id="257" r:id="rId21"/>
    <p:sldId id="313" r:id="rId22"/>
    <p:sldId id="301" r:id="rId23"/>
    <p:sldId id="307"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Van Truong (FIS HR HN)" initials="NVT(HH" lastIdx="1" clrIdx="0">
    <p:extLst>
      <p:ext uri="{19B8F6BF-5375-455C-9EA6-DF929625EA0E}">
        <p15:presenceInfo xmlns:p15="http://schemas.microsoft.com/office/powerpoint/2012/main" userId="Ngo Van Truong (FIS HR H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8944"/>
    <a:srgbClr val="66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62983" autoAdjust="0"/>
  </p:normalViewPr>
  <p:slideViewPr>
    <p:cSldViewPr snapToGrid="0">
      <p:cViewPr varScale="1">
        <p:scale>
          <a:sx n="69" d="100"/>
          <a:sy n="69" d="100"/>
        </p:scale>
        <p:origin x="57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209061-6C39-450F-A509-8FFE57C1251C}" type="datetimeFigureOut">
              <a:rPr lang="en-US" smtClean="0"/>
              <a:t>3/12/2021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9A174-BD37-4CF9-A3FC-30F95FD3068F}" type="slidenum">
              <a:rPr lang="en-US" smtClean="0"/>
              <a:t>‹#›</a:t>
            </a:fld>
            <a:endParaRPr lang="en-US"/>
          </a:p>
        </p:txBody>
      </p:sp>
    </p:spTree>
    <p:extLst>
      <p:ext uri="{BB962C8B-B14F-4D97-AF65-F5344CB8AC3E}">
        <p14:creationId xmlns:p14="http://schemas.microsoft.com/office/powerpoint/2010/main" val="2256156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3</a:t>
            </a:fld>
            <a:endParaRPr lang="en-US"/>
          </a:p>
        </p:txBody>
      </p:sp>
    </p:spTree>
    <p:extLst>
      <p:ext uri="{BB962C8B-B14F-4D97-AF65-F5344CB8AC3E}">
        <p14:creationId xmlns:p14="http://schemas.microsoft.com/office/powerpoint/2010/main" val="796110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4</a:t>
            </a:fld>
            <a:endParaRPr lang="en-US"/>
          </a:p>
        </p:txBody>
      </p:sp>
    </p:spTree>
    <p:extLst>
      <p:ext uri="{BB962C8B-B14F-4D97-AF65-F5344CB8AC3E}">
        <p14:creationId xmlns:p14="http://schemas.microsoft.com/office/powerpoint/2010/main" val="2642634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5</a:t>
            </a:fld>
            <a:endParaRPr lang="en-US"/>
          </a:p>
        </p:txBody>
      </p:sp>
    </p:spTree>
    <p:extLst>
      <p:ext uri="{BB962C8B-B14F-4D97-AF65-F5344CB8AC3E}">
        <p14:creationId xmlns:p14="http://schemas.microsoft.com/office/powerpoint/2010/main" val="3941598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FC6D13-8211-4DDF-BE70-3D3E9CC80A4C}" type="datetimeFigureOut">
              <a:rPr lang="en-US" smtClean="0"/>
              <a:t>3/12/2021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16" name="Rectangle 15"/>
          <p:cNvSpPr>
            <a:spLocks noChangeArrowheads="1"/>
          </p:cNvSpPr>
          <p:nvPr userDrawn="1"/>
        </p:nvSpPr>
        <p:spPr bwMode="white">
          <a:xfrm>
            <a:off x="9524" y="4649787"/>
            <a:ext cx="12182475" cy="2219325"/>
          </a:xfrm>
          <a:prstGeom prst="rect">
            <a:avLst/>
          </a:prstGeom>
          <a:solidFill>
            <a:schemeClr val="bg1">
              <a:lumMod val="75000"/>
              <a:alpha val="3098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AutoShape 21"/>
          <p:cNvSpPr>
            <a:spLocks noChangeArrowheads="1"/>
          </p:cNvSpPr>
          <p:nvPr userDrawn="1"/>
        </p:nvSpPr>
        <p:spPr bwMode="gray">
          <a:xfrm>
            <a:off x="10844276" y="5953124"/>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8" name="AutoShape 22"/>
          <p:cNvSpPr>
            <a:spLocks noChangeArrowheads="1"/>
          </p:cNvSpPr>
          <p:nvPr userDrawn="1"/>
        </p:nvSpPr>
        <p:spPr bwMode="gray">
          <a:xfrm>
            <a:off x="11353800" y="5609968"/>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3"/>
          <p:cNvSpPr>
            <a:spLocks noChangeArrowheads="1"/>
          </p:cNvSpPr>
          <p:nvPr userDrawn="1"/>
        </p:nvSpPr>
        <p:spPr bwMode="gray">
          <a:xfrm>
            <a:off x="11377675" y="6272212"/>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4" name="Rectangle 23"/>
          <p:cNvSpPr>
            <a:spLocks noChangeArrowheads="1"/>
          </p:cNvSpPr>
          <p:nvPr userDrawn="1"/>
        </p:nvSpPr>
        <p:spPr bwMode="gray">
          <a:xfrm>
            <a:off x="11182476" y="-112756"/>
            <a:ext cx="1009524" cy="6970756"/>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5" name="Rectangle 24"/>
          <p:cNvSpPr>
            <a:spLocks noChangeArrowheads="1"/>
          </p:cNvSpPr>
          <p:nvPr userDrawn="1"/>
        </p:nvSpPr>
        <p:spPr bwMode="gray">
          <a:xfrm>
            <a:off x="-1" y="1736727"/>
            <a:ext cx="12191999" cy="2911474"/>
          </a:xfrm>
          <a:prstGeom prst="rect">
            <a:avLst/>
          </a:prstGeom>
          <a:solidFill>
            <a:srgbClr val="002060"/>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6" name="Freeform 20"/>
          <p:cNvSpPr>
            <a:spLocks/>
          </p:cNvSpPr>
          <p:nvPr userDrawn="1"/>
        </p:nvSpPr>
        <p:spPr bwMode="gray">
          <a:xfrm>
            <a:off x="-9525" y="1735141"/>
            <a:ext cx="11182476" cy="2674934"/>
          </a:xfrm>
          <a:custGeom>
            <a:avLst/>
            <a:gdLst>
              <a:gd name="T0" fmla="*/ 0 w 5049"/>
              <a:gd name="T1" fmla="*/ 0 h 1471"/>
              <a:gd name="T2" fmla="*/ 2147483646 w 5049"/>
              <a:gd name="T3" fmla="*/ 2147483646 h 1471"/>
              <a:gd name="T4" fmla="*/ 2147483646 w 5049"/>
              <a:gd name="T5" fmla="*/ 2147483646 h 1471"/>
              <a:gd name="T6" fmla="*/ 0 w 5049"/>
              <a:gd name="T7" fmla="*/ 2147483646 h 1471"/>
              <a:gd name="T8" fmla="*/ 0 w 5049"/>
              <a:gd name="T9" fmla="*/ 0 h 1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49" h="1471">
                <a:moveTo>
                  <a:pt x="0" y="0"/>
                </a:moveTo>
                <a:lnTo>
                  <a:pt x="5049" y="2"/>
                </a:lnTo>
                <a:lnTo>
                  <a:pt x="5048" y="1458"/>
                </a:lnTo>
                <a:lnTo>
                  <a:pt x="0" y="1471"/>
                </a:lnTo>
                <a:lnTo>
                  <a:pt x="0" y="0"/>
                </a:lnTo>
                <a:close/>
              </a:path>
            </a:pathLst>
          </a:custGeom>
          <a:solidFill>
            <a:schemeClr val="accent1">
              <a:lumMod val="60000"/>
              <a:lumOff val="40000"/>
              <a:alpha val="72940"/>
            </a:schemeClr>
          </a:solidFill>
          <a:ln>
            <a:noFill/>
          </a:ln>
          <a:effectLst/>
        </p:spPr>
        <p:txBody>
          <a:bodyPr/>
          <a:lstStyle/>
          <a:p>
            <a:endParaRPr lang="en-US"/>
          </a:p>
        </p:txBody>
      </p:sp>
      <p:grpSp>
        <p:nvGrpSpPr>
          <p:cNvPr id="27" name="Group 116"/>
          <p:cNvGrpSpPr>
            <a:grpSpLocks/>
          </p:cNvGrpSpPr>
          <p:nvPr userDrawn="1"/>
        </p:nvGrpSpPr>
        <p:grpSpPr bwMode="auto">
          <a:xfrm>
            <a:off x="157548" y="1912208"/>
            <a:ext cx="3276600" cy="3314700"/>
            <a:chOff x="120" y="1464"/>
            <a:chExt cx="2064" cy="2088"/>
          </a:xfrm>
        </p:grpSpPr>
        <p:sp>
          <p:nvSpPr>
            <p:cNvPr id="28"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29"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30"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grpSp>
      <p:pic>
        <p:nvPicPr>
          <p:cNvPr id="20" name="Picture 19">
            <a:extLst>
              <a:ext uri="{FF2B5EF4-FFF2-40B4-BE49-F238E27FC236}">
                <a16:creationId xmlns:a16="http://schemas.microsoft.com/office/drawing/2014/main" id="{FA583ACA-C03D-43D9-B8AA-CDB37DD82A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11616" y="-1768678"/>
            <a:ext cx="6491020" cy="4510550"/>
          </a:xfrm>
          <a:prstGeom prst="rect">
            <a:avLst/>
          </a:prstGeom>
        </p:spPr>
      </p:pic>
    </p:spTree>
    <p:extLst>
      <p:ext uri="{BB962C8B-B14F-4D97-AF65-F5344CB8AC3E}">
        <p14:creationId xmlns:p14="http://schemas.microsoft.com/office/powerpoint/2010/main" val="17900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8" name="Rectangle 7"/>
          <p:cNvSpPr/>
          <p:nvPr userDrawn="1"/>
        </p:nvSpPr>
        <p:spPr>
          <a:xfrm>
            <a:off x="0" y="271849"/>
            <a:ext cx="12192000" cy="617838"/>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utoShape 21"/>
          <p:cNvSpPr>
            <a:spLocks noChangeArrowheads="1"/>
          </p:cNvSpPr>
          <p:nvPr userDrawn="1"/>
        </p:nvSpPr>
        <p:spPr bwMode="gray">
          <a:xfrm>
            <a:off x="11353800" y="5618249"/>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4" name="AutoShape 21"/>
          <p:cNvSpPr>
            <a:spLocks noChangeArrowheads="1"/>
          </p:cNvSpPr>
          <p:nvPr userDrawn="1"/>
        </p:nvSpPr>
        <p:spPr bwMode="gray">
          <a:xfrm>
            <a:off x="10877550" y="5920367"/>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5" name="AutoShape 21"/>
          <p:cNvSpPr>
            <a:spLocks noChangeArrowheads="1"/>
          </p:cNvSpPr>
          <p:nvPr userDrawn="1"/>
        </p:nvSpPr>
        <p:spPr bwMode="gray">
          <a:xfrm>
            <a:off x="11365127" y="6188075"/>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Rectangle 16"/>
          <p:cNvSpPr>
            <a:spLocks noChangeArrowheads="1"/>
          </p:cNvSpPr>
          <p:nvPr userDrawn="1"/>
        </p:nvSpPr>
        <p:spPr bwMode="gray">
          <a:xfrm>
            <a:off x="11182476" y="0"/>
            <a:ext cx="1009524"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1"/>
          <p:cNvSpPr>
            <a:spLocks noChangeArrowheads="1"/>
          </p:cNvSpPr>
          <p:nvPr userDrawn="1"/>
        </p:nvSpPr>
        <p:spPr bwMode="gray">
          <a:xfrm>
            <a:off x="147655" y="386551"/>
            <a:ext cx="609600" cy="533400"/>
          </a:xfrm>
          <a:prstGeom prst="hexagon">
            <a:avLst>
              <a:gd name="adj" fmla="val 28571"/>
              <a:gd name="vf" fmla="val 115470"/>
            </a:avLst>
          </a:prstGeom>
          <a:solidFill>
            <a:srgbClr val="0070C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6" name="AutoShape 21"/>
          <p:cNvSpPr>
            <a:spLocks noChangeArrowheads="1"/>
          </p:cNvSpPr>
          <p:nvPr userDrawn="1"/>
        </p:nvSpPr>
        <p:spPr bwMode="gray">
          <a:xfrm>
            <a:off x="604918" y="660382"/>
            <a:ext cx="609600" cy="533400"/>
          </a:xfrm>
          <a:prstGeom prst="hexagon">
            <a:avLst>
              <a:gd name="adj" fmla="val 28571"/>
              <a:gd name="vf" fmla="val 115470"/>
            </a:avLst>
          </a:prstGeom>
          <a:solidFill>
            <a:srgbClr val="FF990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0" name="AutoShape 21"/>
          <p:cNvSpPr>
            <a:spLocks noChangeArrowheads="1"/>
          </p:cNvSpPr>
          <p:nvPr userDrawn="1"/>
        </p:nvSpPr>
        <p:spPr bwMode="gray">
          <a:xfrm>
            <a:off x="604918" y="118713"/>
            <a:ext cx="609600" cy="533400"/>
          </a:xfrm>
          <a:prstGeom prst="hexagon">
            <a:avLst>
              <a:gd name="adj" fmla="val 28571"/>
              <a:gd name="vf" fmla="val 115470"/>
            </a:avLst>
          </a:prstGeom>
          <a:solidFill>
            <a:srgbClr val="00B05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pic>
        <p:nvPicPr>
          <p:cNvPr id="21" name="Picture 20"/>
          <p:cNvPicPr>
            <a:picLocks noChangeAspect="1"/>
          </p:cNvPicPr>
          <p:nvPr userDrawn="1"/>
        </p:nvPicPr>
        <p:blipFill>
          <a:blip r:embed="rId2"/>
          <a:stretch>
            <a:fillRect/>
          </a:stretch>
        </p:blipFill>
        <p:spPr>
          <a:xfrm>
            <a:off x="11182476" y="271849"/>
            <a:ext cx="1021345" cy="617838"/>
          </a:xfrm>
          <a:prstGeom prst="rect">
            <a:avLst/>
          </a:prstGeom>
        </p:spPr>
      </p:pic>
    </p:spTree>
    <p:extLst>
      <p:ext uri="{BB962C8B-B14F-4D97-AF65-F5344CB8AC3E}">
        <p14:creationId xmlns:p14="http://schemas.microsoft.com/office/powerpoint/2010/main" val="71766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FC6D13-8211-4DDF-BE70-3D3E9CC80A4C}" type="datetimeFigureOut">
              <a:rPr lang="en-US" smtClean="0"/>
              <a:t>3/12/2021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972556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FC6D13-8211-4DDF-BE70-3D3E9CC80A4C}" type="datetimeFigureOut">
              <a:rPr lang="en-US" smtClean="0"/>
              <a:t>3/12/2021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89563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FC6D13-8211-4DDF-BE70-3D3E9CC80A4C}" type="datetimeFigureOut">
              <a:rPr lang="en-US" smtClean="0"/>
              <a:t>3/12/2021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33628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FC6D13-8211-4DDF-BE70-3D3E9CC80A4C}" type="datetimeFigureOut">
              <a:rPr lang="en-US" smtClean="0"/>
              <a:t>3/12/2021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0805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C6D13-8211-4DDF-BE70-3D3E9CC80A4C}" type="datetimeFigureOut">
              <a:rPr lang="en-US" smtClean="0"/>
              <a:t>3/12/2021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78953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309206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88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259557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734093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FC6D13-8211-4DDF-BE70-3D3E9CC80A4C}" type="datetimeFigureOut">
              <a:rPr lang="en-US" smtClean="0"/>
              <a:t>3/12/2021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F326D-EC31-433E-A15A-5F39DE1CDC9D}" type="slidenum">
              <a:rPr lang="en-US" smtClean="0"/>
              <a:t>‹#›</a:t>
            </a:fld>
            <a:endParaRPr lang="en-US"/>
          </a:p>
        </p:txBody>
      </p:sp>
    </p:spTree>
    <p:extLst>
      <p:ext uri="{BB962C8B-B14F-4D97-AF65-F5344CB8AC3E}">
        <p14:creationId xmlns:p14="http://schemas.microsoft.com/office/powerpoint/2010/main" val="219418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094509" y="900545"/>
            <a:ext cx="10155382" cy="58604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vi-VN" sz="2800" b="1" dirty="0">
                <a:latin typeface="+mn-lt"/>
                <a:ea typeface="Verdana" panose="020B0604030504040204" pitchFamily="34" charset="0"/>
              </a:rPr>
              <a:t>LUẬN VĂN THẠC SỸ</a:t>
            </a:r>
          </a:p>
          <a:p>
            <a:pPr algn="ctr">
              <a:lnSpc>
                <a:spcPct val="150000"/>
              </a:lnSpc>
            </a:pPr>
            <a:r>
              <a:rPr lang="vi-VN" sz="2100" b="1" dirty="0">
                <a:latin typeface="+mn-lt"/>
                <a:ea typeface="Verdana" panose="020B0604030504040204" pitchFamily="34" charset="0"/>
              </a:rPr>
              <a:t>Ngành: Công nghệ thông tin</a:t>
            </a:r>
          </a:p>
          <a:p>
            <a:pPr algn="ctr">
              <a:lnSpc>
                <a:spcPct val="150000"/>
              </a:lnSpc>
            </a:pPr>
            <a:endParaRPr lang="vi-VN" sz="2800" b="1" dirty="0">
              <a:latin typeface="+mn-lt"/>
              <a:ea typeface="Verdana" panose="020B0604030504040204" pitchFamily="34" charset="0"/>
            </a:endParaRPr>
          </a:p>
          <a:p>
            <a:pPr algn="ctr">
              <a:lnSpc>
                <a:spcPct val="150000"/>
              </a:lnSpc>
            </a:pPr>
            <a:r>
              <a:rPr lang="vi-VN" sz="1800" b="1" dirty="0">
                <a:latin typeface="+mn-lt"/>
                <a:ea typeface="Verdana" panose="020B0604030504040204" pitchFamily="34" charset="0"/>
              </a:rPr>
              <a:t>ĐỀ TÀI</a:t>
            </a:r>
          </a:p>
          <a:p>
            <a:pPr algn="ctr">
              <a:lnSpc>
                <a:spcPct val="150000"/>
              </a:lnSpc>
            </a:pPr>
            <a:r>
              <a:rPr lang="vi-VN" sz="1800" b="1" dirty="0">
                <a:latin typeface="+mn-lt"/>
                <a:ea typeface="Verdana" panose="020B0604030504040204" pitchFamily="34" charset="0"/>
              </a:rPr>
              <a:t>Đề xuất ứng dụng quản lý công việc và đánh giá KPI nhân viên theo chính sách mới 2021</a:t>
            </a:r>
          </a:p>
          <a:p>
            <a:pPr algn="ctr">
              <a:lnSpc>
                <a:spcPct val="150000"/>
              </a:lnSpc>
            </a:pPr>
            <a:r>
              <a:rPr lang="vi-VN" sz="1800" b="1" dirty="0">
                <a:latin typeface="+mn-lt"/>
                <a:ea typeface="Verdana" panose="020B0604030504040204" pitchFamily="34" charset="0"/>
              </a:rPr>
              <a:t>cho phòng PrBBNKBIDV, khối Ngân hàng tài chính FIS-BANK,  </a:t>
            </a:r>
          </a:p>
          <a:p>
            <a:pPr algn="ctr">
              <a:lnSpc>
                <a:spcPct val="150000"/>
              </a:lnSpc>
            </a:pPr>
            <a:r>
              <a:rPr lang="vi-VN" sz="1800" b="1" dirty="0">
                <a:latin typeface="+mn-lt"/>
                <a:ea typeface="Verdana" panose="020B0604030504040204" pitchFamily="34" charset="0"/>
              </a:rPr>
              <a:t>Công ty TNHH Hệ thống thông tin FPT</a:t>
            </a: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en-US" sz="1800" b="1" dirty="0">
              <a:latin typeface="Verdana" panose="020B0604030504040204" pitchFamily="34" charset="0"/>
              <a:ea typeface="Verdana" panose="020B0604030504040204" pitchFamily="34" charset="0"/>
            </a:endParaRPr>
          </a:p>
        </p:txBody>
      </p:sp>
      <p:graphicFrame>
        <p:nvGraphicFramePr>
          <p:cNvPr id="5" name="Table 5">
            <a:extLst>
              <a:ext uri="{FF2B5EF4-FFF2-40B4-BE49-F238E27FC236}">
                <a16:creationId xmlns:a16="http://schemas.microsoft.com/office/drawing/2014/main" id="{992690CE-C451-427E-8209-3AB9576BC69E}"/>
              </a:ext>
            </a:extLst>
          </p:cNvPr>
          <p:cNvGraphicFramePr>
            <a:graphicFrameLocks noGrp="1"/>
          </p:cNvGraphicFramePr>
          <p:nvPr>
            <p:extLst>
              <p:ext uri="{D42A27DB-BD31-4B8C-83A1-F6EECF244321}">
                <p14:modId xmlns:p14="http://schemas.microsoft.com/office/powerpoint/2010/main" val="1257042288"/>
              </p:ext>
            </p:extLst>
          </p:nvPr>
        </p:nvGraphicFramePr>
        <p:xfrm>
          <a:off x="5708073" y="4938684"/>
          <a:ext cx="5140036" cy="1483360"/>
        </p:xfrm>
        <a:graphic>
          <a:graphicData uri="http://schemas.openxmlformats.org/drawingml/2006/table">
            <a:tbl>
              <a:tblPr firstRow="1" bandRow="1">
                <a:tableStyleId>{5C22544A-7EE6-4342-B048-85BDC9FD1C3A}</a:tableStyleId>
              </a:tblPr>
              <a:tblGrid>
                <a:gridCol w="2327563">
                  <a:extLst>
                    <a:ext uri="{9D8B030D-6E8A-4147-A177-3AD203B41FA5}">
                      <a16:colId xmlns:a16="http://schemas.microsoft.com/office/drawing/2014/main" val="657563812"/>
                    </a:ext>
                  </a:extLst>
                </a:gridCol>
                <a:gridCol w="2812473">
                  <a:extLst>
                    <a:ext uri="{9D8B030D-6E8A-4147-A177-3AD203B41FA5}">
                      <a16:colId xmlns:a16="http://schemas.microsoft.com/office/drawing/2014/main" val="1945289148"/>
                    </a:ext>
                  </a:extLst>
                </a:gridCol>
              </a:tblGrid>
              <a:tr h="370840">
                <a:tc>
                  <a:txBody>
                    <a:bodyPr/>
                    <a:lstStyle/>
                    <a:p>
                      <a:r>
                        <a:rPr lang="vi-VN" sz="1500" dirty="0">
                          <a:solidFill>
                            <a:schemeClr val="tx1"/>
                          </a:solidFill>
                          <a:latin typeface="+mn-lt"/>
                        </a:rPr>
                        <a:t>Giảng viên hướng dẫn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TS. Vũ Thị Hương Giang</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825393035"/>
                  </a:ext>
                </a:extLst>
              </a:tr>
              <a:tr h="370840">
                <a:tc>
                  <a:txBody>
                    <a:bodyPr/>
                    <a:lstStyle/>
                    <a:p>
                      <a:r>
                        <a:rPr lang="vi-VN" sz="1500" b="1" dirty="0">
                          <a:solidFill>
                            <a:schemeClr val="tx1"/>
                          </a:solidFill>
                          <a:latin typeface="+mn-lt"/>
                          <a:ea typeface="Verdana" panose="020B0604030504040204" pitchFamily="34" charset="0"/>
                        </a:rPr>
                        <a:t>Thực hiện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Nguyễn Công Sơn</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290297034"/>
                  </a:ext>
                </a:extLst>
              </a:tr>
              <a:tr h="370840">
                <a:tc>
                  <a:txBody>
                    <a:bodyPr/>
                    <a:lstStyle/>
                    <a:p>
                      <a:r>
                        <a:rPr lang="vi-VN" sz="1500" b="1" dirty="0">
                          <a:solidFill>
                            <a:schemeClr val="tx1"/>
                          </a:solidFill>
                          <a:latin typeface="+mn-lt"/>
                          <a:ea typeface="Verdana" panose="020B0604030504040204" pitchFamily="34" charset="0"/>
                        </a:rPr>
                        <a:t>Lớp</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19AMMT</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934773621"/>
                  </a:ext>
                </a:extLst>
              </a:tr>
              <a:tr h="370840">
                <a:tc>
                  <a:txBody>
                    <a:bodyPr/>
                    <a:lstStyle/>
                    <a:p>
                      <a:r>
                        <a:rPr lang="vi-VN" sz="1500" b="1" dirty="0">
                          <a:solidFill>
                            <a:schemeClr val="tx1"/>
                          </a:solidFill>
                          <a:latin typeface="+mn-lt"/>
                          <a:ea typeface="Verdana" panose="020B0604030504040204" pitchFamily="34" charset="0"/>
                        </a:rPr>
                        <a:t>Khóa</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2019A</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4246440069"/>
                  </a:ext>
                </a:extLst>
              </a:tr>
            </a:tbl>
          </a:graphicData>
        </a:graphic>
      </p:graphicFrame>
    </p:spTree>
    <p:extLst>
      <p:ext uri="{BB962C8B-B14F-4D97-AF65-F5344CB8AC3E}">
        <p14:creationId xmlns:p14="http://schemas.microsoft.com/office/powerpoint/2010/main" val="6207834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MỤC LỤC</a:t>
            </a:r>
          </a:p>
        </p:txBody>
      </p:sp>
      <p:sp>
        <p:nvSpPr>
          <p:cNvPr id="19" name="Title 1">
            <a:extLst>
              <a:ext uri="{FF2B5EF4-FFF2-40B4-BE49-F238E27FC236}">
                <a16:creationId xmlns:a16="http://schemas.microsoft.com/office/drawing/2014/main" id="{E5883B25-2CEF-4F89-91E7-0A41E3647E40}"/>
              </a:ext>
            </a:extLst>
          </p:cNvPr>
          <p:cNvSpPr txBox="1">
            <a:spLocks/>
          </p:cNvSpPr>
          <p:nvPr/>
        </p:nvSpPr>
        <p:spPr>
          <a:xfrm>
            <a:off x="1094509" y="1136073"/>
            <a:ext cx="10307782"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Giới thiệu quản lý công việc và đánh giá hiệu quả</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Thực trạng quản lý công việc và đánh giá công việc tại PrBBNKBIDV</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Cơ sở xây dựng hệ thống quản lý và đánh giá KPI tại PrBBNKBIDV</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Ứng dụng – Phân tích thiết kế hệ thống</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Cài đặt thực nghiệm</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Kết luận </a:t>
            </a: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Tài liệu tham khảo</a:t>
            </a:r>
          </a:p>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120322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fad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fade">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fade">
                                      <p:cBhvr>
                                        <p:cTn id="22" dur="500"/>
                                        <p:tgtEl>
                                          <p:spTgt spid="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xEl>
                                              <p:pRg st="4" end="4"/>
                                            </p:txEl>
                                          </p:spTgt>
                                        </p:tgtEl>
                                        <p:attrNameLst>
                                          <p:attrName>style.visibility</p:attrName>
                                        </p:attrNameLst>
                                      </p:cBhvr>
                                      <p:to>
                                        <p:strVal val="visible"/>
                                      </p:to>
                                    </p:set>
                                    <p:animEffect transition="in" filter="fade">
                                      <p:cBhvr>
                                        <p:cTn id="27" dur="500"/>
                                        <p:tgtEl>
                                          <p:spTgt spid="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xEl>
                                              <p:pRg st="5" end="5"/>
                                            </p:txEl>
                                          </p:spTgt>
                                        </p:tgtEl>
                                        <p:attrNameLst>
                                          <p:attrName>style.visibility</p:attrName>
                                        </p:attrNameLst>
                                      </p:cBhvr>
                                      <p:to>
                                        <p:strVal val="visible"/>
                                      </p:to>
                                    </p:set>
                                    <p:animEffect transition="in" filter="fade">
                                      <p:cBhvr>
                                        <p:cTn id="32" dur="500"/>
                                        <p:tgtEl>
                                          <p:spTgt spid="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xEl>
                                              <p:pRg st="6" end="6"/>
                                            </p:txEl>
                                          </p:spTgt>
                                        </p:tgtEl>
                                        <p:attrNameLst>
                                          <p:attrName>style.visibility</p:attrName>
                                        </p:attrNameLst>
                                      </p:cBhvr>
                                      <p:to>
                                        <p:strVal val="visible"/>
                                      </p:to>
                                    </p:set>
                                    <p:animEffect transition="in" filter="fade">
                                      <p:cBhvr>
                                        <p:cTn id="37" dur="500"/>
                                        <p:tgtEl>
                                          <p:spTgt spid="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Giới thiệu quản lý công việc và đánh giá hiệu quả</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200000"/>
              </a:lnSpc>
              <a:buAutoNum type="arabicPeriod"/>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thực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hiện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a:lnSpc>
                <a:spcPct val="200000"/>
              </a:lnSpc>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hoặc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người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thúc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a:t>
            </a:r>
            <a:r>
              <a:rPr lang="en-US" sz="1800" dirty="0">
                <a:latin typeface="Verdana" panose="020B0604030504040204" pitchFamily="34" charset="0"/>
                <a:ea typeface="Verdana" panose="020B0604030504040204" pitchFamily="34" charset="0"/>
              </a:rPr>
              <a:t>.</a:t>
            </a:r>
          </a:p>
          <a:p>
            <a:pPr marL="749300" indent="-285750">
              <a:lnSpc>
                <a:spcPct val="200000"/>
              </a:lnSpc>
              <a:buFont typeface="Wingdings" panose="05000000000000000000" pitchFamily="2" charset="2"/>
              <a:buChar char="Ø"/>
            </a:pPr>
            <a:r>
              <a:rPr lang="vi-VN" sz="1800" dirty="0">
                <a:latin typeface="Verdana" panose="020B0604030504040204" pitchFamily="34" charset="0"/>
                <a:ea typeface="Verdana" panose="020B0604030504040204" pitchFamily="34" charset="0"/>
              </a:rPr>
              <a:t>Tạo công việc, nhiệm vụ</a:t>
            </a:r>
          </a:p>
          <a:p>
            <a:pPr marL="749300" indent="-285750">
              <a:lnSpc>
                <a:spcPct val="200000"/>
              </a:lnSpc>
              <a:buFont typeface="Wingdings" panose="05000000000000000000" pitchFamily="2" charset="2"/>
              <a:buChar char="Ø"/>
            </a:pPr>
            <a:r>
              <a:rPr lang="vi-VN" sz="1800" dirty="0">
                <a:latin typeface="Verdana" panose="020B0604030504040204" pitchFamily="34" charset="0"/>
                <a:ea typeface="Verdana" panose="020B0604030504040204" pitchFamily="34" charset="0"/>
              </a:rPr>
              <a:t>Sắp xếp và ưu tiên</a:t>
            </a:r>
            <a:endParaRPr lang="en-US" sz="1800" dirty="0">
              <a:latin typeface="Verdana" panose="020B0604030504040204" pitchFamily="34" charset="0"/>
              <a:ea typeface="Verdana" panose="020B0604030504040204" pitchFamily="34" charset="0"/>
            </a:endParaRPr>
          </a:p>
          <a:p>
            <a:pPr marL="749300" indent="-285750">
              <a:lnSpc>
                <a:spcPct val="200000"/>
              </a:lnSpc>
              <a:buFont typeface="Wingdings" panose="05000000000000000000" pitchFamily="2" charset="2"/>
              <a:buChar char="Ø"/>
            </a:pPr>
            <a:r>
              <a:rPr lang="en-US" sz="1800" dirty="0">
                <a:latin typeface="Verdana" panose="020B0604030504040204" pitchFamily="34" charset="0"/>
                <a:ea typeface="Verdana" panose="020B0604030504040204" pitchFamily="34" charset="0"/>
              </a:rPr>
              <a:t>T</a:t>
            </a:r>
            <a:r>
              <a:rPr lang="vi-VN" sz="1800" dirty="0">
                <a:latin typeface="Verdana" panose="020B0604030504040204" pitchFamily="34" charset="0"/>
                <a:ea typeface="Verdana" panose="020B0604030504040204" pitchFamily="34" charset="0"/>
              </a:rPr>
              <a:t>heo dõi chặt chẽ các công việc</a:t>
            </a:r>
            <a:endParaRPr lang="en-US" sz="1800" dirty="0">
              <a:latin typeface="Verdana" panose="020B0604030504040204" pitchFamily="34" charset="0"/>
              <a:ea typeface="Verdana" panose="020B0604030504040204" pitchFamily="34" charset="0"/>
            </a:endParaRPr>
          </a:p>
          <a:p>
            <a:pPr>
              <a:lnSpc>
                <a:spcPct val="200000"/>
              </a:lnSpc>
            </a:pPr>
            <a:r>
              <a:rPr lang="vi-VN" sz="1800" dirty="0">
                <a:latin typeface="Verdana" panose="020B0604030504040204" pitchFamily="34" charset="0"/>
                <a:ea typeface="Verdana" panose="020B0604030504040204" pitchFamily="34" charset="0"/>
              </a:rPr>
              <a:t>Đánh giá thực hiện công việc là việc thực hiện đưa ra mức độ hoàn thành công việc của một cá nhân</a:t>
            </a:r>
            <a:r>
              <a:rPr lang="en-US" sz="1800" dirty="0">
                <a:latin typeface="Verdana" panose="020B0604030504040204" pitchFamily="34" charset="0"/>
                <a:ea typeface="Verdana" panose="020B0604030504040204" pitchFamily="34" charset="0"/>
              </a:rPr>
              <a:t>. </a:t>
            </a:r>
          </a:p>
          <a:p>
            <a:pPr marL="74930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a:t>
            </a:r>
            <a:r>
              <a:rPr lang="en-US" sz="1800" dirty="0">
                <a:latin typeface="Verdana" panose="020B0604030504040204" pitchFamily="34" charset="0"/>
                <a:ea typeface="Verdana" panose="020B0604030504040204" pitchFamily="34" charset="0"/>
              </a:rPr>
              <a:t>)</a:t>
            </a:r>
          </a:p>
          <a:p>
            <a:pPr marL="74930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năng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r>
              <a:rPr lang="en-US" sz="1800" dirty="0">
                <a:latin typeface="Verdana" panose="020B0604030504040204" pitchFamily="34" charset="0"/>
                <a:ea typeface="Verdana" panose="020B0604030504040204" pitchFamily="34" charset="0"/>
              </a:rPr>
              <a:t>,…)</a:t>
            </a: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521704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Giới thiệu quản lý công việc và đánh giá hiệu quả</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a:latin typeface="Verdana" panose="020B0604030504040204" pitchFamily="34" charset="0"/>
                <a:ea typeface="Verdana" panose="020B0604030504040204" pitchFamily="34" charset="0"/>
              </a:rPr>
              <a:t>2.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hiệu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suất</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phương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a:lnSpc>
                <a:spcPct val="200000"/>
              </a:lnSpc>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r>
              <a:rPr lang="en-US" sz="1800" dirty="0" err="1">
                <a:latin typeface="Verdana" panose="020B0604030504040204" pitchFamily="34" charset="0"/>
                <a:ea typeface="Verdana" panose="020B0604030504040204" pitchFamily="34" charset="0"/>
              </a:rPr>
              <a:t>Phương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634101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Giới thiệu quản lý công việc và đánh giá hiệu quả</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a:latin typeface="Verdana" panose="020B0604030504040204" pitchFamily="34" charset="0"/>
                <a:ea typeface="Verdana" panose="020B0604030504040204" pitchFamily="34" charset="0"/>
              </a:rPr>
              <a:t>3. </a:t>
            </a:r>
            <a:r>
              <a:rPr lang="en-US" sz="1800" b="1" dirty="0" err="1">
                <a:latin typeface="Verdana" panose="020B0604030504040204" pitchFamily="34" charset="0"/>
                <a:ea typeface="Verdana" panose="020B0604030504040204" pitchFamily="34" charset="0"/>
              </a:rPr>
              <a:t>Hệ</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thống</a:t>
            </a:r>
            <a:r>
              <a:rPr lang="en-US" sz="1800" b="1" dirty="0">
                <a:latin typeface="Verdana" panose="020B0604030504040204" pitchFamily="34" charset="0"/>
                <a:ea typeface="Verdana" panose="020B0604030504040204" pitchFamily="34" charset="0"/>
              </a:rPr>
              <a:t> KPIs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khái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niệm</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chỉ</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số</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lường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hiệu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suất</a:t>
            </a:r>
            <a:endParaRPr lang="en-US" sz="1800" b="1" dirty="0">
              <a:latin typeface="Verdana" panose="020B0604030504040204" pitchFamily="34" charset="0"/>
              <a:ea typeface="Verdana" panose="020B0604030504040204" pitchFamily="34" charset="0"/>
            </a:endParaRPr>
          </a:p>
          <a:p>
            <a:pPr>
              <a:lnSpc>
                <a:spcPct val="200000"/>
              </a:lnSpc>
            </a:pPr>
            <a:r>
              <a:rPr lang="en-US" sz="1800" dirty="0">
                <a:latin typeface="Verdana" panose="020B0604030504040204" pitchFamily="34" charset="0"/>
                <a:ea typeface="Verdana" panose="020B0604030504040204" pitchFamily="34" charset="0"/>
              </a:rPr>
              <a:t>Qu</a:t>
            </a:r>
          </a:p>
        </p:txBody>
      </p:sp>
    </p:spTree>
    <p:extLst>
      <p:ext uri="{BB962C8B-B14F-4D97-AF65-F5344CB8AC3E}">
        <p14:creationId xmlns:p14="http://schemas.microsoft.com/office/powerpoint/2010/main" val="325830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2. Thực trạng quản lý và đánh giá tại 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0E528855-E7C4-4EB7-8D52-4B5C2D03B187}"/>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Tổng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quan</a:t>
            </a:r>
            <a:r>
              <a:rPr lang="en-US" sz="1800" b="1" dirty="0">
                <a:latin typeface="Verdana" panose="020B0604030504040204" pitchFamily="34" charset="0"/>
                <a:ea typeface="Verdana" panose="020B0604030504040204" pitchFamily="34" charset="0"/>
              </a:rPr>
              <a:t> Công ty TNHH </a:t>
            </a:r>
            <a:r>
              <a:rPr lang="en-US" sz="1800" b="1" dirty="0" err="1">
                <a:latin typeface="Verdana" panose="020B0604030504040204" pitchFamily="34" charset="0"/>
                <a:ea typeface="Verdana" panose="020B0604030504040204" pitchFamily="34" charset="0"/>
              </a:rPr>
              <a:t>Hệ</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thống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thông</a:t>
            </a:r>
            <a:r>
              <a:rPr lang="en-US" sz="1800" b="1" dirty="0">
                <a:latin typeface="Verdana" panose="020B0604030504040204" pitchFamily="34" charset="0"/>
                <a:ea typeface="Verdana" panose="020B0604030504040204" pitchFamily="34" charset="0"/>
              </a:rPr>
              <a:t> tin FPT</a:t>
            </a:r>
          </a:p>
          <a:p>
            <a:pPr>
              <a:lnSpc>
                <a:spcPct val="200000"/>
              </a:lnSpc>
            </a:pPr>
            <a:r>
              <a:rPr lang="en-US" sz="1800" dirty="0" err="1">
                <a:latin typeface="Verdana" panose="020B0604030504040204" pitchFamily="34" charset="0"/>
                <a:ea typeface="Verdana" panose="020B0604030504040204" pitchFamily="34" charset="0"/>
              </a:rPr>
              <a:t>Tên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ty: Công ty TNHH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tin FPT (FPT Information System)</a:t>
            </a:r>
          </a:p>
          <a:p>
            <a:pPr>
              <a:lnSpc>
                <a:spcPct val="200000"/>
              </a:lnSpc>
            </a:pPr>
            <a:r>
              <a:rPr lang="en-US" sz="1800" dirty="0" err="1">
                <a:latin typeface="Verdana" panose="020B0604030504040204" pitchFamily="34" charset="0"/>
                <a:ea typeface="Verdana" panose="020B0604030504040204" pitchFamily="34" charset="0"/>
              </a:rPr>
              <a:t>Trụ</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tầng</a:t>
            </a:r>
            <a:r>
              <a:rPr lang="en-US" sz="1800" dirty="0">
                <a:latin typeface="Verdana" panose="020B0604030504040204" pitchFamily="34" charset="0"/>
                <a:ea typeface="Verdana" panose="020B0604030504040204" pitchFamily="34" charset="0"/>
              </a:rPr>
              <a:t> 22 </a:t>
            </a:r>
            <a:r>
              <a:rPr lang="en-US" sz="1800" dirty="0" err="1">
                <a:latin typeface="Verdana" panose="020B0604030504040204" pitchFamily="34" charset="0"/>
                <a:ea typeface="Verdana" panose="020B0604030504040204" pitchFamily="34" charset="0"/>
              </a:rPr>
              <a:t>Keang</a:t>
            </a:r>
            <a:r>
              <a:rPr lang="en-US" sz="1800" dirty="0">
                <a:latin typeface="Verdana" panose="020B0604030504040204" pitchFamily="34" charset="0"/>
                <a:ea typeface="Verdana" panose="020B0604030504040204" pitchFamily="34" charset="0"/>
              </a:rPr>
              <a:t> Nam, Nam </a:t>
            </a:r>
            <a:r>
              <a:rPr lang="en-US" sz="1800" dirty="0" err="1">
                <a:latin typeface="Verdana" panose="020B0604030504040204" pitchFamily="34" charset="0"/>
                <a:ea typeface="Verdana" panose="020B0604030504040204" pitchFamily="34" charset="0"/>
              </a:rPr>
              <a:t>Từ</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Niêm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Nội</a:t>
            </a:r>
            <a:endParaRPr lang="en-US" sz="1800" dirty="0">
              <a:latin typeface="Verdana" panose="020B0604030504040204" pitchFamily="34" charset="0"/>
              <a:ea typeface="Verdana" panose="020B0604030504040204" pitchFamily="34" charset="0"/>
            </a:endParaRPr>
          </a:p>
          <a:p>
            <a:pPr>
              <a:lnSpc>
                <a:spcPct val="200000"/>
              </a:lnSpc>
            </a:pPr>
            <a:r>
              <a:rPr lang="en-US" sz="1800" dirty="0" err="1">
                <a:latin typeface="Verdana" panose="020B0604030504040204" pitchFamily="34" charset="0"/>
                <a:ea typeface="Verdana" panose="020B0604030504040204" pitchFamily="34" charset="0"/>
              </a:rPr>
              <a:t>Thành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năm</a:t>
            </a:r>
            <a:r>
              <a:rPr lang="en-US" sz="1800" dirty="0">
                <a:latin typeface="Verdana" panose="020B0604030504040204" pitchFamily="34" charset="0"/>
                <a:ea typeface="Verdana" panose="020B0604030504040204" pitchFamily="34" charset="0"/>
              </a:rPr>
              <a:t> 1994</a:t>
            </a: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0475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2. Thực trạng quản lý và đánh giá tại 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0E528855-E7C4-4EB7-8D52-4B5C2D03B187}"/>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Thực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trên</a:t>
            </a:r>
            <a:r>
              <a:rPr lang="en-US" sz="1800" dirty="0">
                <a:latin typeface="Verdana" panose="020B0604030504040204" pitchFamily="34" charset="0"/>
                <a:ea typeface="Verdana" panose="020B0604030504040204" pitchFamily="34" charset="0"/>
              </a:rPr>
              <a:t> JIRA: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vấn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lỗi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phát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triển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phần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mềm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với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hàng</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Khai</a:t>
            </a:r>
            <a:r>
              <a:rPr lang="en-US" sz="1800" dirty="0">
                <a:latin typeface="Verdana" panose="020B0604030504040204" pitchFamily="34" charset="0"/>
                <a:ea typeface="Verdana" panose="020B0604030504040204" pitchFamily="34" charset="0"/>
              </a:rPr>
              <a:t> timesheet,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bổ</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endParaRPr lang="en-US" sz="1800" dirty="0">
              <a:latin typeface="Verdana" panose="020B0604030504040204" pitchFamily="34" charset="0"/>
              <a:ea typeface="Verdana" panose="020B0604030504040204" pitchFamily="34" charset="0"/>
            </a:endParaRPr>
          </a:p>
          <a:p>
            <a:pPr marL="3033713">
              <a:lnSpc>
                <a:spcPct val="200000"/>
              </a:lnSpc>
            </a:pP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giao</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nhiệm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vụ</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r>
              <a:rPr lang="en-US" sz="1800" dirty="0" err="1">
                <a:latin typeface="Verdana" panose="020B0604030504040204" pitchFamily="34" charset="0"/>
                <a:ea typeface="Verdana" panose="020B0604030504040204" pitchFamily="34" charset="0"/>
              </a:rPr>
              <a:t>Tích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nội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bộ</a:t>
            </a:r>
            <a:endParaRPr lang="en-US" sz="1800" dirty="0">
              <a:latin typeface="Verdana" panose="020B0604030504040204" pitchFamily="34" charset="0"/>
              <a:ea typeface="Verdana" panose="020B0604030504040204" pitchFamily="34" charset="0"/>
            </a:endParaRPr>
          </a:p>
          <a:p>
            <a:pPr marL="3319463" indent="-285750">
              <a:lnSpc>
                <a:spcPct val="200000"/>
              </a:lnSpc>
              <a:buFont typeface="Wingdings" panose="05000000000000000000" pitchFamily="2" charset="2"/>
              <a:buChar char="ü"/>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8721B9DF-94AD-4872-9404-19135AB8D239}"/>
              </a:ext>
            </a:extLst>
          </p:cNvPr>
          <p:cNvPicPr>
            <a:picLocks noChangeAspect="1"/>
          </p:cNvPicPr>
          <p:nvPr/>
        </p:nvPicPr>
        <p:blipFill>
          <a:blip r:embed="rId2"/>
          <a:stretch>
            <a:fillRect/>
          </a:stretch>
        </p:blipFill>
        <p:spPr>
          <a:xfrm>
            <a:off x="1333896" y="4510463"/>
            <a:ext cx="2808613" cy="1144686"/>
          </a:xfrm>
          <a:prstGeom prst="rect">
            <a:avLst/>
          </a:prstGeom>
        </p:spPr>
      </p:pic>
      <p:pic>
        <p:nvPicPr>
          <p:cNvPr id="1026" name="Picture 2" descr="Best JIRA Alternatives - AptGadget.com">
            <a:extLst>
              <a:ext uri="{FF2B5EF4-FFF2-40B4-BE49-F238E27FC236}">
                <a16:creationId xmlns:a16="http://schemas.microsoft.com/office/drawing/2014/main" id="{87B77479-C5F2-409B-8E41-0B7E37625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202" y="2160015"/>
            <a:ext cx="2808613" cy="984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1828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2. Thực trạng quản lý và đánh giá tại 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0E528855-E7C4-4EB7-8D52-4B5C2D03B187}"/>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Thực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hiệu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359675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2. Thực trạng quản lý và đánh giá tại 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0E528855-E7C4-4EB7-8D52-4B5C2D03B187}"/>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endParaRPr lang="en-US" sz="1800" b="1"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96DE454B-78BE-496D-BF6D-82AA02710E4F}"/>
              </a:ext>
            </a:extLst>
          </p:cNvPr>
          <p:cNvPicPr>
            <a:picLocks noChangeAspect="1"/>
          </p:cNvPicPr>
          <p:nvPr/>
        </p:nvPicPr>
        <p:blipFill>
          <a:blip r:embed="rId2"/>
          <a:stretch>
            <a:fillRect/>
          </a:stretch>
        </p:blipFill>
        <p:spPr>
          <a:xfrm>
            <a:off x="1243853" y="1191491"/>
            <a:ext cx="9913584" cy="5339325"/>
          </a:xfrm>
          <a:prstGeom prst="rect">
            <a:avLst/>
          </a:prstGeom>
          <a:ln>
            <a:solidFill>
              <a:schemeClr val="tx1"/>
            </a:solidFill>
          </a:ln>
        </p:spPr>
      </p:pic>
    </p:spTree>
    <p:extLst>
      <p:ext uri="{BB962C8B-B14F-4D97-AF65-F5344CB8AC3E}">
        <p14:creationId xmlns:p14="http://schemas.microsoft.com/office/powerpoint/2010/main" val="2801984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3. Cơ sở và xây dựng hệ thống</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4EA4B999-0292-4585-9244-F440F390AA65}"/>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a:lnSpc>
                <a:spcPct val="200000"/>
              </a:lnSpc>
            </a:pPr>
            <a:endParaRPr lang="en-US" sz="1800" b="1"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2500742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3. Cơ sở và xây dựng hệ thống</a:t>
            </a:r>
            <a:endParaRPr lang="en-US" sz="2600" b="1" dirty="0">
              <a:solidFill>
                <a:schemeClr val="bg1"/>
              </a:solidFill>
              <a:latin typeface="Verdana" panose="020B0604030504040204" pitchFamily="34" charset="0"/>
              <a:ea typeface="Verdana" panose="020B0604030504040204" pitchFamily="34" charset="0"/>
            </a:endParaRPr>
          </a:p>
        </p:txBody>
      </p:sp>
      <mc:AlternateContent xmlns:mc="http://schemas.openxmlformats.org/markup-compatibility/2006">
        <mc:Choice xmlns:a14="http://schemas.microsoft.com/office/drawing/2010/main" Requires="a14">
          <p:sp>
            <p:nvSpPr>
              <p:cNvPr id="3" name="Title 1">
                <a:extLst>
                  <a:ext uri="{FF2B5EF4-FFF2-40B4-BE49-F238E27FC236}">
                    <a16:creationId xmlns:a16="http://schemas.microsoft.com/office/drawing/2014/main" id="{4EA4B999-0292-4585-9244-F440F390AA65}"/>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a:latin typeface="Verdana" panose="020B0604030504040204" pitchFamily="34" charset="0"/>
                    <a:ea typeface="Verdana" panose="020B0604030504040204" pitchFamily="34" charset="0"/>
                  </a:rPr>
                  <a:t>Tính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Milestones</a:t>
                </a:r>
              </a:p>
              <a:p>
                <a:pPr marL="91440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sau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thúc</a:t>
                </a:r>
                <a:r>
                  <a:rPr lang="en-US" sz="1800" dirty="0">
                    <a:latin typeface="Verdana" panose="020B0604030504040204" pitchFamily="34" charset="0"/>
                    <a:ea typeface="Verdana" panose="020B0604030504040204" pitchFamily="34" charset="0"/>
                  </a:rPr>
                  <a:t> Milestone</a:t>
                </a:r>
              </a:p>
              <a:p>
                <a:pPr marL="91440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thành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a:t>
                </a:r>
                <a:endParaRPr lang="en-US" sz="1800" dirty="0">
                  <a:latin typeface="Verdana" panose="020B0604030504040204" pitchFamily="34" charset="0"/>
                  <a:ea typeface="Verdana" panose="020B0604030504040204" pitchFamily="34" charset="0"/>
                </a:endParaRPr>
              </a:p>
              <a:p>
                <a:pPr marL="914400" indent="-285750">
                  <a:lnSpc>
                    <a:spcPct val="200000"/>
                  </a:lnSpc>
                  <a:buFont typeface="Wingdings" panose="05000000000000000000" pitchFamily="2" charset="2"/>
                  <a:buChar char="Ø"/>
                </a:pPr>
                <a:endParaRPr lang="en-US" sz="1800" dirty="0">
                  <a:latin typeface="Verdana" panose="020B0604030504040204" pitchFamily="34" charset="0"/>
                  <a:ea typeface="Verdana" panose="020B0604030504040204" pitchFamily="34" charset="0"/>
                </a:endParaRPr>
              </a:p>
              <a:p>
                <a:pPr marL="55563">
                  <a:lnSpc>
                    <a:spcPct val="200000"/>
                  </a:lnSpc>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Verdana" panose="020B0604030504040204" pitchFamily="34" charset="0"/>
                        </a:rPr>
                        <m:t>𝑇𝑖</m:t>
                      </m:r>
                      <m:r>
                        <a:rPr lang="en-US" sz="1800" b="0" i="1" smtClean="0">
                          <a:latin typeface="Cambria Math" panose="02040503050406030204" pitchFamily="18" charset="0"/>
                          <a:ea typeface="Verdana" panose="020B0604030504040204" pitchFamily="34" charset="0"/>
                        </a:rPr>
                        <m:t>ề</m:t>
                      </m:r>
                      <m:r>
                        <a:rPr lang="en-US" sz="1800" b="0" i="1" smtClean="0">
                          <a:latin typeface="Cambria Math" panose="02040503050406030204" pitchFamily="18" charset="0"/>
                          <a:ea typeface="Verdana" panose="020B0604030504040204" pitchFamily="34" charset="0"/>
                        </a:rPr>
                        <m:t>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𝑘h𝑜</m:t>
                      </m:r>
                      <m:r>
                        <a:rPr lang="en-US" sz="1800" b="0" i="1" smtClean="0">
                          <a:latin typeface="Cambria Math" panose="02040503050406030204" pitchFamily="18" charset="0"/>
                          <a:ea typeface="Verdana" panose="020B0604030504040204" pitchFamily="34" charset="0"/>
                        </a:rPr>
                        <m:t>á</m:t>
                      </m:r>
                      <m:r>
                        <a:rPr lang="en-US" sz="1800" b="0" i="1" smtClean="0">
                          <a:latin typeface="Cambria Math" panose="02040503050406030204" pitchFamily="18" charset="0"/>
                          <a:ea typeface="Verdana" panose="020B0604030504040204" pitchFamily="34" charset="0"/>
                        </a:rPr>
                        <m:t>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𝑀𝑖𝑙𝑒𝑠𝑡𝑜𝑛𝑒𝑠</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𝑐</m:t>
                      </m:r>
                      <m:r>
                        <a:rPr lang="en-US" sz="1800" b="0" i="1" smtClean="0">
                          <a:latin typeface="Cambria Math" panose="02040503050406030204" pitchFamily="18" charset="0"/>
                          <a:ea typeface="Verdana" panose="020B0604030504040204" pitchFamily="34" charset="0"/>
                        </a:rPr>
                        <m:t>á </m:t>
                      </m:r>
                      <m:r>
                        <a:rPr lang="en-US" sz="1800" b="0" i="1" smtClean="0">
                          <a:latin typeface="Cambria Math" panose="02040503050406030204" pitchFamily="18" charset="0"/>
                          <a:ea typeface="Verdana" panose="020B0604030504040204" pitchFamily="34" charset="0"/>
                        </a:rPr>
                        <m:t>𝑛h</m:t>
                      </m:r>
                      <m:r>
                        <a:rPr lang="en-US" sz="1800" b="0" i="1" smtClean="0">
                          <a:latin typeface="Cambria Math" panose="02040503050406030204" pitchFamily="18" charset="0"/>
                          <a:ea typeface="Verdana" panose="020B0604030504040204" pitchFamily="34" charset="0"/>
                        </a:rPr>
                        <m:t>â</m:t>
                      </m:r>
                      <m:r>
                        <a:rPr lang="en-US" sz="1800" b="0" i="1" smtClean="0">
                          <a:latin typeface="Cambria Math" panose="02040503050406030204" pitchFamily="18" charset="0"/>
                          <a:ea typeface="Verdana" panose="020B0604030504040204" pitchFamily="34" charset="0"/>
                        </a:rPr>
                        <m:t>𝑛</m:t>
                      </m:r>
                      <m:r>
                        <a:rPr lang="en-US" sz="1800" i="1" smtClean="0">
                          <a:latin typeface="Cambria Math" panose="02040503050406030204" pitchFamily="18" charset="0"/>
                          <a:ea typeface="Verdana" panose="020B0604030504040204" pitchFamily="34" charset="0"/>
                        </a:rPr>
                        <m:t>=</m:t>
                      </m:r>
                      <m:f>
                        <m:fPr>
                          <m:ctrlPr>
                            <a:rPr lang="en-US" sz="1800" i="1" smtClean="0">
                              <a:latin typeface="Cambria Math" panose="02040503050406030204" pitchFamily="18" charset="0"/>
                              <a:ea typeface="Verdana" panose="020B0604030504040204" pitchFamily="34" charset="0"/>
                            </a:rPr>
                          </m:ctrlPr>
                        </m:fPr>
                        <m:num>
                          <m:nary>
                            <m:naryPr>
                              <m:chr m:val="∑"/>
                              <m:subHide m:val="on"/>
                              <m:supHide m:val="on"/>
                              <m:ctrlPr>
                                <a:rPr lang="en-US" sz="1800" i="1" smtClean="0">
                                  <a:latin typeface="Cambria Math" panose="02040503050406030204" pitchFamily="18" charset="0"/>
                                  <a:ea typeface="Verdana" panose="020B0604030504040204" pitchFamily="34" charset="0"/>
                                </a:rPr>
                              </m:ctrlPr>
                            </m:naryPr>
                            <m:sub/>
                            <m:sup/>
                            <m:e>
                              <m:r>
                                <a:rPr lang="en-US" sz="1800" b="0" i="1" smtClean="0">
                                  <a:latin typeface="Cambria Math" panose="02040503050406030204" pitchFamily="18" charset="0"/>
                                  <a:ea typeface="Verdana" panose="020B0604030504040204" pitchFamily="34" charset="0"/>
                                </a:rPr>
                                <m:t>𝑆</m:t>
                              </m:r>
                              <m:r>
                                <a:rPr lang="en-US" sz="1800" b="0" i="1" smtClean="0">
                                  <a:latin typeface="Cambria Math" panose="02040503050406030204" pitchFamily="18" charset="0"/>
                                  <a:ea typeface="Verdana" panose="020B0604030504040204" pitchFamily="34" charset="0"/>
                                </a:rPr>
                                <m:t>ố </m:t>
                              </m:r>
                              <m:r>
                                <a:rPr lang="en-US" sz="1800" b="0" i="1" smtClean="0">
                                  <a:latin typeface="Cambria Math" panose="02040503050406030204" pitchFamily="18" charset="0"/>
                                  <a:ea typeface="Verdana" panose="020B0604030504040204" pitchFamily="34" charset="0"/>
                                </a:rPr>
                                <m:t>𝑛𝑔</m:t>
                              </m:r>
                              <m:r>
                                <a:rPr lang="en-US" sz="1800" b="0" i="1" smtClean="0">
                                  <a:latin typeface="Cambria Math" panose="02040503050406030204" pitchFamily="18" charset="0"/>
                                  <a:ea typeface="Verdana" panose="020B0604030504040204" pitchFamily="34" charset="0"/>
                                </a:rPr>
                                <m:t>à</m:t>
                              </m:r>
                              <m:r>
                                <a:rPr lang="en-US" sz="1800" b="0" i="1" smtClean="0">
                                  <a:latin typeface="Cambria Math" panose="02040503050406030204" pitchFamily="18" charset="0"/>
                                  <a:ea typeface="Verdana" panose="020B0604030504040204" pitchFamily="34" charset="0"/>
                                </a:rPr>
                                <m:t>𝑦</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𝑡h𝑎𝑚</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𝑔𝑖𝑎</m:t>
                              </m:r>
                            </m:e>
                          </m:nary>
                          <m:r>
                            <a:rPr lang="en-US" sz="1800" b="0" i="1" smtClean="0">
                              <a:latin typeface="Cambria Math" panose="02040503050406030204" pitchFamily="18" charset="0"/>
                              <a:ea typeface="Verdana" panose="020B0604030504040204" pitchFamily="34" charset="0"/>
                            </a:rPr>
                            <m:t>∗</m:t>
                          </m:r>
                          <m:r>
                            <a:rPr lang="en-US" sz="1800" b="0" i="1" smtClean="0">
                              <a:latin typeface="Cambria Math" panose="02040503050406030204" pitchFamily="18" charset="0"/>
                              <a:ea typeface="Verdana" panose="020B0604030504040204" pitchFamily="34" charset="0"/>
                            </a:rPr>
                            <m:t>𝑇𝑖</m:t>
                          </m:r>
                          <m:r>
                            <a:rPr lang="en-US" sz="1800" b="0" i="1" smtClean="0">
                              <a:latin typeface="Cambria Math" panose="02040503050406030204" pitchFamily="18" charset="0"/>
                              <a:ea typeface="Verdana" panose="020B0604030504040204" pitchFamily="34" charset="0"/>
                            </a:rPr>
                            <m:t>ề</m:t>
                          </m:r>
                          <m:r>
                            <a:rPr lang="en-US" sz="1800" b="0" i="1" smtClean="0">
                              <a:latin typeface="Cambria Math" panose="02040503050406030204" pitchFamily="18" charset="0"/>
                              <a:ea typeface="Verdana" panose="020B0604030504040204" pitchFamily="34" charset="0"/>
                            </a:rPr>
                            <m:t>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𝑘h𝑜</m:t>
                          </m:r>
                          <m:r>
                            <a:rPr lang="en-US" sz="1800" b="0" i="1" smtClean="0">
                              <a:latin typeface="Cambria Math" panose="02040503050406030204" pitchFamily="18" charset="0"/>
                              <a:ea typeface="Verdana" panose="020B0604030504040204" pitchFamily="34" charset="0"/>
                            </a:rPr>
                            <m:t>á</m:t>
                          </m:r>
                          <m:r>
                            <a:rPr lang="en-US" sz="1800" b="0" i="1" smtClean="0">
                              <a:latin typeface="Cambria Math" panose="02040503050406030204" pitchFamily="18" charset="0"/>
                              <a:ea typeface="Verdana" panose="020B0604030504040204" pitchFamily="34" charset="0"/>
                            </a:rPr>
                            <m:t>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𝑡h𝑒𝑜</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𝑀𝑖𝑙𝑒𝑠𝑡𝑜𝑛𝑒</m:t>
                          </m:r>
                        </m:num>
                        <m:den>
                          <m:f>
                            <m:fPr>
                              <m:ctrlPr>
                                <a:rPr lang="en-US" sz="1800" i="1" smtClean="0">
                                  <a:latin typeface="Cambria Math" panose="02040503050406030204" pitchFamily="18" charset="0"/>
                                  <a:ea typeface="Verdana" panose="020B0604030504040204" pitchFamily="34" charset="0"/>
                                </a:rPr>
                              </m:ctrlPr>
                            </m:fPr>
                            <m:num>
                              <m:nary>
                                <m:naryPr>
                                  <m:chr m:val="∑"/>
                                  <m:subHide m:val="on"/>
                                  <m:supHide m:val="on"/>
                                  <m:ctrlPr>
                                    <a:rPr lang="en-US" sz="1800" i="1" smtClean="0">
                                      <a:latin typeface="Cambria Math" panose="02040503050406030204" pitchFamily="18" charset="0"/>
                                      <a:ea typeface="Verdana" panose="020B0604030504040204" pitchFamily="34" charset="0"/>
                                    </a:rPr>
                                  </m:ctrlPr>
                                </m:naryPr>
                                <m:sub/>
                                <m:sup/>
                                <m:e>
                                  <m:r>
                                    <a:rPr lang="en-US" sz="1800" b="0" i="1" smtClean="0">
                                      <a:latin typeface="Cambria Math" panose="02040503050406030204" pitchFamily="18" charset="0"/>
                                      <a:ea typeface="Verdana" panose="020B0604030504040204" pitchFamily="34" charset="0"/>
                                    </a:rPr>
                                    <m:t>𝑇h</m:t>
                                  </m:r>
                                  <m:r>
                                    <a:rPr lang="en-US" sz="1800" b="0" i="1" smtClean="0">
                                      <a:latin typeface="Cambria Math" panose="02040503050406030204" pitchFamily="18" charset="0"/>
                                      <a:ea typeface="Verdana" panose="020B0604030504040204" pitchFamily="34" charset="0"/>
                                    </a:rPr>
                                    <m:t>ờ</m:t>
                                  </m:r>
                                  <m:r>
                                    <a:rPr lang="en-US" sz="1800" b="0" i="1" smtClean="0">
                                      <a:latin typeface="Cambria Math" panose="02040503050406030204" pitchFamily="18" charset="0"/>
                                      <a:ea typeface="Verdana" panose="020B0604030504040204" pitchFamily="34" charset="0"/>
                                    </a:rPr>
                                    <m:t>𝑖</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𝑔𝑖𝑎𝑛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𝑐</m:t>
                                  </m:r>
                                  <m:r>
                                    <a:rPr lang="en-US" sz="1800" b="0" i="1" smtClean="0">
                                      <a:latin typeface="Cambria Math" panose="02040503050406030204" pitchFamily="18" charset="0"/>
                                      <a:ea typeface="Verdana" panose="020B0604030504040204" pitchFamily="34" charset="0"/>
                                    </a:rPr>
                                    <m:t>á</m:t>
                                  </m:r>
                                  <m:r>
                                    <a:rPr lang="en-US" sz="1800" b="0" i="1" smtClean="0">
                                      <a:latin typeface="Cambria Math" panose="02040503050406030204" pitchFamily="18" charset="0"/>
                                      <a:ea typeface="Verdana" panose="020B0604030504040204" pitchFamily="34" charset="0"/>
                                    </a:rPr>
                                    <m:t>𝑐</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𝑡h</m:t>
                                  </m:r>
                                  <m:r>
                                    <a:rPr lang="en-US" sz="1800" b="0" i="1" smtClean="0">
                                      <a:latin typeface="Cambria Math" panose="02040503050406030204" pitchFamily="18" charset="0"/>
                                      <a:ea typeface="Verdana" panose="020B0604030504040204" pitchFamily="34" charset="0"/>
                                    </a:rPr>
                                    <m:t>à</m:t>
                                  </m:r>
                                  <m:r>
                                    <a:rPr lang="en-US" sz="1800" b="0" i="1" smtClean="0">
                                      <a:latin typeface="Cambria Math" panose="02040503050406030204" pitchFamily="18" charset="0"/>
                                      <a:ea typeface="Verdana" panose="020B0604030504040204" pitchFamily="34" charset="0"/>
                                    </a:rPr>
                                    <m:t>𝑛h</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𝑣𝑖</m:t>
                                  </m:r>
                                  <m:r>
                                    <a:rPr lang="en-US" sz="1800" b="0" i="1" smtClean="0">
                                      <a:latin typeface="Cambria Math" panose="02040503050406030204" pitchFamily="18" charset="0"/>
                                      <a:ea typeface="Verdana" panose="020B0604030504040204" pitchFamily="34" charset="0"/>
                                    </a:rPr>
                                    <m:t>ê</m:t>
                                  </m:r>
                                  <m:r>
                                    <a:rPr lang="en-US" sz="1800" b="0" i="1" smtClean="0">
                                      <a:latin typeface="Cambria Math" panose="02040503050406030204" pitchFamily="18" charset="0"/>
                                      <a:ea typeface="Verdana" panose="020B0604030504040204" pitchFamily="34" charset="0"/>
                                    </a:rPr>
                                    <m:t>𝑛</m:t>
                                  </m:r>
                                </m:e>
                              </m:nary>
                            </m:num>
                            <m:den>
                              <m:nary>
                                <m:naryPr>
                                  <m:chr m:val="∑"/>
                                  <m:subHide m:val="on"/>
                                  <m:supHide m:val="on"/>
                                  <m:ctrlPr>
                                    <a:rPr lang="en-US" sz="1800" i="1" smtClean="0">
                                      <a:latin typeface="Cambria Math" panose="02040503050406030204" pitchFamily="18" charset="0"/>
                                      <a:ea typeface="Verdana" panose="020B0604030504040204" pitchFamily="34" charset="0"/>
                                    </a:rPr>
                                  </m:ctrlPr>
                                </m:naryPr>
                                <m:sub/>
                                <m:sup/>
                                <m:e>
                                  <m:r>
                                    <a:rPr lang="en-US" sz="1800" b="0" i="1" smtClean="0">
                                      <a:latin typeface="Cambria Math" panose="02040503050406030204" pitchFamily="18" charset="0"/>
                                      <a:ea typeface="Verdana" panose="020B0604030504040204" pitchFamily="34" charset="0"/>
                                    </a:rPr>
                                    <m:t>𝑡h</m:t>
                                  </m:r>
                                  <m:r>
                                    <a:rPr lang="en-US" sz="1800" b="0" i="1" smtClean="0">
                                      <a:latin typeface="Cambria Math" panose="02040503050406030204" pitchFamily="18" charset="0"/>
                                      <a:ea typeface="Verdana" panose="020B0604030504040204" pitchFamily="34" charset="0"/>
                                    </a:rPr>
                                    <m:t>à</m:t>
                                  </m:r>
                                  <m:r>
                                    <a:rPr lang="en-US" sz="1800" b="0" i="1" smtClean="0">
                                      <a:latin typeface="Cambria Math" panose="02040503050406030204" pitchFamily="18" charset="0"/>
                                      <a:ea typeface="Verdana" panose="020B0604030504040204" pitchFamily="34" charset="0"/>
                                    </a:rPr>
                                    <m:t>𝑛h</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𝑣𝑖</m:t>
                                  </m:r>
                                  <m:r>
                                    <a:rPr lang="en-US" sz="1800" b="0" i="1" smtClean="0">
                                      <a:latin typeface="Cambria Math" panose="02040503050406030204" pitchFamily="18" charset="0"/>
                                      <a:ea typeface="Verdana" panose="020B0604030504040204" pitchFamily="34" charset="0"/>
                                    </a:rPr>
                                    <m:t>ê</m:t>
                                  </m:r>
                                  <m:r>
                                    <a:rPr lang="en-US" sz="1800" b="0" i="1" smtClean="0">
                                      <a:latin typeface="Cambria Math" panose="02040503050406030204" pitchFamily="18" charset="0"/>
                                      <a:ea typeface="Verdana" panose="020B0604030504040204" pitchFamily="34" charset="0"/>
                                    </a:rPr>
                                    <m:t>𝑛</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𝑡h𝑎𝑚</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𝑔𝑖𝑎</m:t>
                                  </m:r>
                                </m:e>
                              </m:nary>
                            </m:den>
                          </m:f>
                        </m:den>
                      </m:f>
                      <m:r>
                        <a:rPr lang="en-US" sz="1800" b="0" i="1" smtClean="0">
                          <a:latin typeface="Cambria Math" panose="02040503050406030204" pitchFamily="18" charset="0"/>
                          <a:ea typeface="Verdana" panose="020B0604030504040204" pitchFamily="34" charset="0"/>
                        </a:rPr>
                        <m:t> ∗ </m:t>
                      </m:r>
                      <m:r>
                        <a:rPr lang="en-US" sz="1800" b="0" i="1" smtClean="0">
                          <a:latin typeface="Cambria Math" panose="02040503050406030204" pitchFamily="18" charset="0"/>
                          <a:ea typeface="Verdana" panose="020B0604030504040204" pitchFamily="34" charset="0"/>
                        </a:rPr>
                        <m:t>𝐻</m:t>
                      </m:r>
                      <m:r>
                        <a:rPr lang="en-US" sz="1800" b="0" i="1" smtClean="0">
                          <a:latin typeface="Cambria Math" panose="02040503050406030204" pitchFamily="18" charset="0"/>
                          <a:ea typeface="Verdana" panose="020B0604030504040204" pitchFamily="34" charset="0"/>
                        </a:rPr>
                        <m:t>ệ </m:t>
                      </m:r>
                      <m:r>
                        <a:rPr lang="en-US" sz="1800" b="0" i="1" smtClean="0">
                          <a:latin typeface="Cambria Math" panose="02040503050406030204" pitchFamily="18" charset="0"/>
                          <a:ea typeface="Verdana" panose="020B0604030504040204" pitchFamily="34" charset="0"/>
                        </a:rPr>
                        <m:t>𝑠</m:t>
                      </m:r>
                      <m:r>
                        <a:rPr lang="en-US" sz="1800" b="0" i="1" smtClean="0">
                          <a:latin typeface="Cambria Math" panose="02040503050406030204" pitchFamily="18" charset="0"/>
                          <a:ea typeface="Verdana" panose="020B0604030504040204" pitchFamily="34" charset="0"/>
                        </a:rPr>
                        <m:t>ố </m:t>
                      </m:r>
                      <m:r>
                        <a:rPr lang="en-US" sz="1800" b="0" i="1" smtClean="0">
                          <a:latin typeface="Cambria Math" panose="02040503050406030204" pitchFamily="18" charset="0"/>
                          <a:ea typeface="Verdana" panose="020B0604030504040204" pitchFamily="34" charset="0"/>
                        </a:rPr>
                        <m:t>𝑐</m:t>
                      </m:r>
                      <m:r>
                        <a:rPr lang="en-US" sz="1800" b="0" i="1" smtClean="0">
                          <a:latin typeface="Cambria Math" panose="02040503050406030204" pitchFamily="18" charset="0"/>
                          <a:ea typeface="Verdana" panose="020B0604030504040204" pitchFamily="34" charset="0"/>
                        </a:rPr>
                        <m:t>ấ</m:t>
                      </m:r>
                      <m:r>
                        <a:rPr lang="en-US" sz="1800" b="0" i="1" smtClean="0">
                          <a:latin typeface="Cambria Math" panose="02040503050406030204" pitchFamily="18" charset="0"/>
                          <a:ea typeface="Verdana" panose="020B0604030504040204" pitchFamily="34" charset="0"/>
                        </a:rPr>
                        <m:t>𝑝</m:t>
                      </m:r>
                      <m:r>
                        <a:rPr lang="en-US" sz="1800" b="0" i="1" smtClean="0">
                          <a:latin typeface="Cambria Math" panose="02040503050406030204" pitchFamily="18" charset="0"/>
                          <a:ea typeface="Verdana" panose="020B0604030504040204" pitchFamily="34" charset="0"/>
                        </a:rPr>
                        <m:t> </m:t>
                      </m:r>
                      <m:r>
                        <a:rPr lang="en-US" sz="1800" b="0" i="1" smtClean="0">
                          <a:latin typeface="Cambria Math" panose="02040503050406030204" pitchFamily="18" charset="0"/>
                          <a:ea typeface="Verdana" panose="020B0604030504040204" pitchFamily="34" charset="0"/>
                        </a:rPr>
                        <m:t>𝑏</m:t>
                      </m:r>
                      <m:r>
                        <a:rPr lang="en-US" sz="1800" b="0" i="1" smtClean="0">
                          <a:latin typeface="Cambria Math" panose="02040503050406030204" pitchFamily="18" charset="0"/>
                          <a:ea typeface="Verdana" panose="020B0604030504040204" pitchFamily="34" charset="0"/>
                        </a:rPr>
                        <m:t>ậ</m:t>
                      </m:r>
                      <m:r>
                        <a:rPr lang="en-US" sz="1800" b="0" i="1" smtClean="0">
                          <a:latin typeface="Cambria Math" panose="02040503050406030204" pitchFamily="18" charset="0"/>
                          <a:ea typeface="Verdana" panose="020B0604030504040204" pitchFamily="34" charset="0"/>
                        </a:rPr>
                        <m:t>𝑐</m:t>
                      </m:r>
                    </m:oMath>
                  </m:oMathPara>
                </a14:m>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mc:Choice>
        <mc:Fallback>
          <p:sp>
            <p:nvSpPr>
              <p:cNvPr id="3" name="Title 1">
                <a:extLst>
                  <a:ext uri="{FF2B5EF4-FFF2-40B4-BE49-F238E27FC236}">
                    <a16:creationId xmlns:a16="http://schemas.microsoft.com/office/drawing/2014/main" id="{4EA4B999-0292-4585-9244-F440F390AA65}"/>
                  </a:ext>
                </a:extLst>
              </p:cNvPr>
              <p:cNvSpPr txBox="1">
                <a:spLocks noRot="1" noChangeAspect="1" noMove="1" noResize="1" noEditPoints="1" noAdjustHandles="1" noChangeArrowheads="1" noChangeShapeType="1" noTextEdit="1"/>
              </p:cNvSpPr>
              <p:nvPr/>
            </p:nvSpPr>
            <p:spPr>
              <a:xfrm>
                <a:off x="1094509" y="969818"/>
                <a:ext cx="10307782" cy="5715795"/>
              </a:xfrm>
              <a:prstGeom prst="rect">
                <a:avLst/>
              </a:prstGeom>
              <a:blipFill>
                <a:blip r:embed="rId2"/>
                <a:stretch>
                  <a:fillRect l="-533"/>
                </a:stretch>
              </a:blipFill>
            </p:spPr>
            <p:txBody>
              <a:bodyPr/>
              <a:lstStyle/>
              <a:p>
                <a:r>
                  <a:rPr lang="en-US">
                    <a:noFill/>
                  </a:rPr>
                  <a:t> </a:t>
                </a:r>
              </a:p>
            </p:txBody>
          </p:sp>
        </mc:Fallback>
      </mc:AlternateContent>
    </p:spTree>
    <p:extLst>
      <p:ext uri="{BB962C8B-B14F-4D97-AF65-F5344CB8AC3E}">
        <p14:creationId xmlns:p14="http://schemas.microsoft.com/office/powerpoint/2010/main" val="15606384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3. Cơ sở và xây dựng hệ thống</a:t>
            </a:r>
            <a:endParaRPr lang="en-US" sz="2600" b="1" dirty="0">
              <a:solidFill>
                <a:schemeClr val="bg1"/>
              </a:solidFill>
              <a:latin typeface="Verdana" panose="020B0604030504040204" pitchFamily="34" charset="0"/>
              <a:ea typeface="Verdana" panose="020B0604030504040204" pitchFamily="34" charset="0"/>
            </a:endParaRPr>
          </a:p>
        </p:txBody>
      </p:sp>
      <p:sp>
        <p:nvSpPr>
          <p:cNvPr id="3" name="Title 1">
            <a:extLst>
              <a:ext uri="{FF2B5EF4-FFF2-40B4-BE49-F238E27FC236}">
                <a16:creationId xmlns:a16="http://schemas.microsoft.com/office/drawing/2014/main" id="{4EA4B999-0292-4585-9244-F440F390AA65}"/>
              </a:ext>
            </a:extLst>
          </p:cNvPr>
          <p:cNvSpPr txBox="1">
            <a:spLocks/>
          </p:cNvSpPr>
          <p:nvPr/>
        </p:nvSpPr>
        <p:spPr>
          <a:xfrm>
            <a:off x="1094509" y="969818"/>
            <a:ext cx="10307782" cy="571579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Hiệu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dự</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án</a:t>
            </a:r>
            <a:r>
              <a:rPr lang="en-US" sz="1800" b="1" dirty="0">
                <a:latin typeface="Verdana" panose="020B0604030504040204" pitchFamily="34" charset="0"/>
                <a:ea typeface="Verdana" panose="020B0604030504040204" pitchFamily="34" charset="0"/>
              </a:rPr>
              <a:t> (HQDA)</a:t>
            </a:r>
          </a:p>
          <a:p>
            <a:pPr>
              <a:lnSpc>
                <a:spcPct val="200000"/>
              </a:lnSpc>
            </a:pPr>
            <a:endParaRPr lang="en-US" sz="1800" b="1"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5587644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345197" y="1901276"/>
            <a:ext cx="0" cy="2160000"/>
          </a:xfrm>
          <a:prstGeom prst="line">
            <a:avLst/>
          </a:prstGeom>
          <a:ln w="31750" cap="rnd">
            <a:solidFill>
              <a:schemeClr val="tx1">
                <a:lumMod val="40000"/>
                <a:lumOff val="60000"/>
              </a:schemeClr>
            </a:solidFill>
            <a:prstDash val="sysDash"/>
            <a:round/>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345197" y="4110752"/>
            <a:ext cx="0" cy="2160000"/>
          </a:xfrm>
          <a:prstGeom prst="line">
            <a:avLst/>
          </a:prstGeom>
          <a:ln w="31750" cap="rnd">
            <a:solidFill>
              <a:schemeClr val="tx1">
                <a:lumMod val="40000"/>
                <a:lumOff val="60000"/>
              </a:schemeClr>
            </a:solidFill>
            <a:prstDash val="sysDash"/>
            <a:round/>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6343629" y="3462438"/>
            <a:ext cx="763753" cy="0"/>
          </a:xfrm>
          <a:prstGeom prst="line">
            <a:avLst/>
          </a:prstGeom>
          <a:ln w="31750" cap="rnd">
            <a:solidFill>
              <a:schemeClr val="tx1">
                <a:lumMod val="40000"/>
                <a:lumOff val="60000"/>
              </a:schemeClr>
            </a:solidFill>
            <a:prstDash val="sysDash"/>
            <a:round/>
            <a:headEnd type="none" w="lg" len="lg"/>
            <a:tailEnd type="non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rot="10800000">
            <a:off x="6245666" y="3349912"/>
            <a:ext cx="184477" cy="184477"/>
          </a:xfrm>
          <a:prstGeom prst="ellipse">
            <a:avLst/>
          </a:prstGeom>
          <a:solidFill>
            <a:schemeClr val="accent2"/>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9" name="Straight Connector 8"/>
          <p:cNvCxnSpPr/>
          <p:nvPr/>
        </p:nvCxnSpPr>
        <p:spPr>
          <a:xfrm flipH="1">
            <a:off x="4915471" y="1888855"/>
            <a:ext cx="1440000" cy="0"/>
          </a:xfrm>
          <a:prstGeom prst="line">
            <a:avLst/>
          </a:prstGeom>
          <a:ln w="31750" cap="rnd">
            <a:solidFill>
              <a:schemeClr val="tx1">
                <a:lumMod val="40000"/>
                <a:lumOff val="60000"/>
              </a:schemeClr>
            </a:solidFill>
            <a:prstDash val="sysDash"/>
            <a:round/>
            <a:headEnd type="none" w="lg" len="lg"/>
            <a:tailEnd type="non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252959" y="1794236"/>
            <a:ext cx="184477" cy="184477"/>
          </a:xfrm>
          <a:prstGeom prst="ellipse">
            <a:avLst/>
          </a:prstGeom>
          <a:solidFill>
            <a:schemeClr val="accent1"/>
          </a:solidFill>
          <a:ln w="317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3" name="Group 12"/>
          <p:cNvGrpSpPr/>
          <p:nvPr/>
        </p:nvGrpSpPr>
        <p:grpSpPr>
          <a:xfrm>
            <a:off x="95888" y="1397730"/>
            <a:ext cx="5219325" cy="1023347"/>
            <a:chOff x="2509085" y="3413409"/>
            <a:chExt cx="5219325" cy="1023347"/>
          </a:xfrm>
        </p:grpSpPr>
        <p:sp>
          <p:nvSpPr>
            <p:cNvPr id="19" name="Rectangle 18"/>
            <p:cNvSpPr/>
            <p:nvPr/>
          </p:nvSpPr>
          <p:spPr>
            <a:xfrm>
              <a:off x="2509085" y="3538544"/>
              <a:ext cx="4024827" cy="523220"/>
            </a:xfrm>
            <a:prstGeom prst="rect">
              <a:avLst/>
            </a:prstGeom>
          </p:spPr>
          <p:txBody>
            <a:bodyPr wrap="square">
              <a:spAutoFit/>
            </a:bodyPr>
            <a:lstStyle/>
            <a:p>
              <a:pPr algn="r"/>
              <a:r>
                <a:rPr lang="en-GB" sz="1400" b="1" dirty="0" err="1">
                  <a:latin typeface="Arial" panose="020B0604020202020204" pitchFamily="34" charset="0"/>
                  <a:cs typeface="Arial" panose="020B0604020202020204" pitchFamily="34" charset="0"/>
                </a:rPr>
                <a:t>Hàng</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tháng</a:t>
              </a:r>
              <a:r>
                <a:rPr lang="en-GB" sz="1400" b="1" dirty="0">
                  <a:latin typeface="Arial" panose="020B0604020202020204" pitchFamily="34" charset="0"/>
                  <a:cs typeface="Arial" panose="020B0604020202020204" pitchFamily="34" charset="0"/>
                </a:rPr>
                <a:t> CBNV </a:t>
              </a:r>
              <a:r>
                <a:rPr lang="vi-VN" sz="1400" b="1" dirty="0">
                  <a:latin typeface="Arial" panose="020B0604020202020204" pitchFamily="34" charset="0"/>
                  <a:cs typeface="Arial" panose="020B0604020202020204" pitchFamily="34" charset="0"/>
                </a:rPr>
                <a:t>thuộc đối tượng tạm ứng </a:t>
              </a:r>
              <a:r>
                <a:rPr lang="en-GB" sz="1400" b="1" dirty="0" err="1">
                  <a:latin typeface="Arial" panose="020B0604020202020204" pitchFamily="34" charset="0"/>
                  <a:cs typeface="Arial" panose="020B0604020202020204" pitchFamily="34" charset="0"/>
                </a:rPr>
                <a:t>sẽ</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nhận</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được</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thu</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nhập</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tháng</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kỳ</a:t>
              </a:r>
              <a:r>
                <a:rPr lang="en-GB" sz="1400" b="1" dirty="0">
                  <a:latin typeface="Arial" panose="020B0604020202020204" pitchFamily="34" charset="0"/>
                  <a:cs typeface="Arial" panose="020B0604020202020204" pitchFamily="34" charset="0"/>
                </a:rPr>
                <a:t> </a:t>
              </a:r>
              <a:r>
                <a:rPr lang="en-GB" sz="1400" b="1" dirty="0" err="1">
                  <a:latin typeface="Arial" panose="020B0604020202020204" pitchFamily="34" charset="0"/>
                  <a:cs typeface="Arial" panose="020B0604020202020204" pitchFamily="34" charset="0"/>
                </a:rPr>
                <a:t>vọng</a:t>
              </a:r>
              <a:endParaRPr lang="en-GB" sz="1400" b="1" dirty="0">
                <a:latin typeface="Arial" panose="020B0604020202020204" pitchFamily="34" charset="0"/>
                <a:cs typeface="Arial" panose="020B0604020202020204" pitchFamily="34" charset="0"/>
              </a:endParaRPr>
            </a:p>
          </p:txBody>
        </p:sp>
        <p:grpSp>
          <p:nvGrpSpPr>
            <p:cNvPr id="15" name="Group 14"/>
            <p:cNvGrpSpPr/>
            <p:nvPr/>
          </p:nvGrpSpPr>
          <p:grpSpPr>
            <a:xfrm>
              <a:off x="6565627" y="3413409"/>
              <a:ext cx="1162783" cy="1023347"/>
              <a:chOff x="6565627" y="3413409"/>
              <a:chExt cx="1162783" cy="1023347"/>
            </a:xfrm>
          </p:grpSpPr>
          <p:sp>
            <p:nvSpPr>
              <p:cNvPr id="16" name="Rounded Rectangle 15"/>
              <p:cNvSpPr/>
              <p:nvPr/>
            </p:nvSpPr>
            <p:spPr>
              <a:xfrm>
                <a:off x="6565627" y="3413409"/>
                <a:ext cx="1162783" cy="1023347"/>
              </a:xfrm>
              <a:prstGeom prst="roundRect">
                <a:avLst>
                  <a:gd name="adj" fmla="val 493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latin typeface="Arial" panose="020B0604020202020204" pitchFamily="34" charset="0"/>
                    <a:ea typeface="Open Sans" panose="020B0606030504020204" pitchFamily="34" charset="0"/>
                    <a:cs typeface="Arial" panose="020B0604020202020204" pitchFamily="34" charset="0"/>
                  </a:rPr>
                  <a:t>Hàng tháng</a:t>
                </a:r>
                <a:endParaRPr lang="en-GB" sz="1600" b="1" dirty="0">
                  <a:latin typeface="Arial" panose="020B0604020202020204" pitchFamily="34" charset="0"/>
                  <a:ea typeface="Open Sans" panose="020B0606030504020204" pitchFamily="34" charset="0"/>
                  <a:cs typeface="Arial" panose="020B0604020202020204" pitchFamily="34" charset="0"/>
                </a:endParaRPr>
              </a:p>
            </p:txBody>
          </p:sp>
          <p:sp>
            <p:nvSpPr>
              <p:cNvPr id="17" name="Round Same Side Corner Rectangle 16"/>
              <p:cNvSpPr/>
              <p:nvPr/>
            </p:nvSpPr>
            <p:spPr>
              <a:xfrm>
                <a:off x="6565627" y="4349448"/>
                <a:ext cx="1162782" cy="81743"/>
              </a:xfrm>
              <a:prstGeom prst="round2SameRect">
                <a:avLst>
                  <a:gd name="adj1" fmla="val 0"/>
                  <a:gd name="adj2" fmla="val 50000"/>
                </a:avLst>
              </a:prstGeom>
              <a:solidFill>
                <a:schemeClr val="tx1">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grpSp>
        <p:nvGrpSpPr>
          <p:cNvPr id="27" name="Group 26"/>
          <p:cNvGrpSpPr/>
          <p:nvPr/>
        </p:nvGrpSpPr>
        <p:grpSpPr>
          <a:xfrm>
            <a:off x="7375182" y="2950765"/>
            <a:ext cx="4470746" cy="1023347"/>
            <a:chOff x="10740002" y="5585830"/>
            <a:chExt cx="4579928" cy="1023347"/>
          </a:xfrm>
        </p:grpSpPr>
        <p:sp>
          <p:nvSpPr>
            <p:cNvPr id="33" name="Rectangle 32"/>
            <p:cNvSpPr/>
            <p:nvPr/>
          </p:nvSpPr>
          <p:spPr>
            <a:xfrm flipH="1">
              <a:off x="11992968" y="5769439"/>
              <a:ext cx="3326962" cy="584775"/>
            </a:xfrm>
            <a:prstGeom prst="rect">
              <a:avLst/>
            </a:prstGeom>
          </p:spPr>
          <p:txBody>
            <a:bodyPr wrap="square">
              <a:spAutoFit/>
            </a:bodyPr>
            <a:lstStyle/>
            <a:p>
              <a:r>
                <a:rPr lang="en-GB" sz="1600" b="1" dirty="0" err="1">
                  <a:latin typeface="Arial" panose="020B0604020202020204" pitchFamily="34" charset="0"/>
                  <a:cs typeface="Arial" panose="020B0604020202020204" pitchFamily="34" charset="0"/>
                </a:rPr>
                <a:t>Kết</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thúc</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quý</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sẽ</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tính</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toán</a:t>
              </a:r>
              <a:r>
                <a:rPr lang="en-GB" sz="1600" b="1" dirty="0">
                  <a:latin typeface="Arial" panose="020B0604020202020204" pitchFamily="34" charset="0"/>
                  <a:cs typeface="Arial" panose="020B0604020202020204" pitchFamily="34" charset="0"/>
                </a:rPr>
                <a:t> </a:t>
              </a:r>
            </a:p>
            <a:p>
              <a:r>
                <a:rPr lang="en-GB" sz="1600" b="1" dirty="0" err="1">
                  <a:latin typeface="Arial" panose="020B0604020202020204" pitchFamily="34" charset="0"/>
                  <a:cs typeface="Arial" panose="020B0604020202020204" pitchFamily="34" charset="0"/>
                </a:rPr>
                <a:t>Thưởng</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hiệu</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quả</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dự</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án</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còn</a:t>
              </a:r>
              <a:r>
                <a:rPr lang="en-GB" sz="1600" b="1" dirty="0">
                  <a:latin typeface="Arial" panose="020B0604020202020204" pitchFamily="34" charset="0"/>
                  <a:cs typeface="Arial" panose="020B0604020202020204" pitchFamily="34" charset="0"/>
                </a:rPr>
                <a:t> </a:t>
              </a:r>
              <a:r>
                <a:rPr lang="en-GB" sz="1600" b="1" dirty="0" err="1">
                  <a:latin typeface="Arial" panose="020B0604020202020204" pitchFamily="34" charset="0"/>
                  <a:cs typeface="Arial" panose="020B0604020202020204" pitchFamily="34" charset="0"/>
                </a:rPr>
                <a:t>lại</a:t>
              </a:r>
              <a:endParaRPr lang="en-GB" sz="1600" b="1" dirty="0">
                <a:latin typeface="Arial" panose="020B0604020202020204" pitchFamily="34" charset="0"/>
                <a:cs typeface="Arial" panose="020B0604020202020204" pitchFamily="34" charset="0"/>
              </a:endParaRPr>
            </a:p>
          </p:txBody>
        </p:sp>
        <p:grpSp>
          <p:nvGrpSpPr>
            <p:cNvPr id="29" name="Group 28"/>
            <p:cNvGrpSpPr/>
            <p:nvPr/>
          </p:nvGrpSpPr>
          <p:grpSpPr>
            <a:xfrm>
              <a:off x="10740002" y="5585830"/>
              <a:ext cx="1162782" cy="1023347"/>
              <a:chOff x="6729741" y="5989744"/>
              <a:chExt cx="1162782" cy="1023347"/>
            </a:xfrm>
          </p:grpSpPr>
          <p:sp>
            <p:nvSpPr>
              <p:cNvPr id="30" name="Rounded Rectangle 29"/>
              <p:cNvSpPr/>
              <p:nvPr/>
            </p:nvSpPr>
            <p:spPr>
              <a:xfrm>
                <a:off x="6729741" y="5989744"/>
                <a:ext cx="1162782" cy="1023347"/>
              </a:xfrm>
              <a:prstGeom prst="roundRect">
                <a:avLst>
                  <a:gd name="adj" fmla="val 493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latin typeface="Arial" panose="020B0604020202020204" pitchFamily="34" charset="0"/>
                    <a:ea typeface="Open Sans" panose="020B0606030504020204" pitchFamily="34" charset="0"/>
                    <a:cs typeface="Arial" panose="020B0604020202020204" pitchFamily="34" charset="0"/>
                  </a:rPr>
                  <a:t>Hết quý</a:t>
                </a:r>
                <a:endParaRPr lang="en-GB" sz="1600" b="1" dirty="0">
                  <a:latin typeface="Arial" panose="020B0604020202020204" pitchFamily="34" charset="0"/>
                  <a:ea typeface="Open Sans" panose="020B0606030504020204" pitchFamily="34" charset="0"/>
                  <a:cs typeface="Arial" panose="020B0604020202020204" pitchFamily="34" charset="0"/>
                </a:endParaRPr>
              </a:p>
            </p:txBody>
          </p:sp>
          <p:sp>
            <p:nvSpPr>
              <p:cNvPr id="31" name="Round Same Side Corner Rectangle 30"/>
              <p:cNvSpPr/>
              <p:nvPr/>
            </p:nvSpPr>
            <p:spPr>
              <a:xfrm>
                <a:off x="6729741" y="6925783"/>
                <a:ext cx="1162782" cy="81743"/>
              </a:xfrm>
              <a:prstGeom prst="round2SameRect">
                <a:avLst>
                  <a:gd name="adj1" fmla="val 0"/>
                  <a:gd name="adj2" fmla="val 50000"/>
                </a:avLst>
              </a:prstGeom>
              <a:solidFill>
                <a:schemeClr val="tx1">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34" name="TextBox 33"/>
          <p:cNvSpPr txBox="1"/>
          <p:nvPr/>
        </p:nvSpPr>
        <p:spPr>
          <a:xfrm>
            <a:off x="205488" y="2712381"/>
            <a:ext cx="5763797" cy="523220"/>
          </a:xfrm>
          <a:prstGeom prst="rect">
            <a:avLst/>
          </a:prstGeom>
          <a:noFill/>
          <a:ln>
            <a:solidFill>
              <a:schemeClr val="tx2"/>
            </a:solidFill>
          </a:ln>
        </p:spPr>
        <p:txBody>
          <a:bodyPr wrap="square" rtlCol="0">
            <a:spAutoFit/>
          </a:bodyPr>
          <a:lstStyle/>
          <a:p>
            <a:r>
              <a:rPr lang="en-US" sz="1400" b="1" dirty="0">
                <a:solidFill>
                  <a:srgbClr val="FF0000"/>
                </a:solidFill>
                <a:latin typeface="Arial" panose="020B0604020202020204" pitchFamily="34" charset="0"/>
                <a:cs typeface="Arial" panose="020B0604020202020204" pitchFamily="34" charset="0"/>
              </a:rPr>
              <a:t>TN </a:t>
            </a:r>
            <a:r>
              <a:rPr lang="en-US" sz="1400" b="1" dirty="0" err="1">
                <a:solidFill>
                  <a:srgbClr val="FF0000"/>
                </a:solidFill>
                <a:latin typeface="Arial" panose="020B0604020202020204" pitchFamily="34" charset="0"/>
                <a:cs typeface="Arial" panose="020B0604020202020204" pitchFamily="34" charset="0"/>
              </a:rPr>
              <a:t>tháng</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kỳ</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vọng</a:t>
            </a:r>
            <a:r>
              <a:rPr lang="en-US" sz="1400" b="1" dirty="0">
                <a:solidFill>
                  <a:srgbClr val="FF0000"/>
                </a:solidFill>
                <a:latin typeface="Arial" panose="020B0604020202020204" pitchFamily="34" charset="0"/>
                <a:cs typeface="Arial" panose="020B0604020202020204" pitchFamily="34" charset="0"/>
              </a:rPr>
              <a:t> = </a:t>
            </a:r>
            <a:r>
              <a:rPr lang="en-US" sz="1400" b="1" dirty="0" err="1">
                <a:solidFill>
                  <a:srgbClr val="FF0000"/>
                </a:solidFill>
                <a:latin typeface="Arial" panose="020B0604020202020204" pitchFamily="34" charset="0"/>
                <a:cs typeface="Arial" panose="020B0604020202020204" pitchFamily="34" charset="0"/>
              </a:rPr>
              <a:t>Lương</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cơ</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sở</a:t>
            </a:r>
            <a:r>
              <a:rPr lang="vi-VN" sz="1400" b="1" dirty="0">
                <a:solidFill>
                  <a:srgbClr val="FF0000"/>
                </a:solidFill>
                <a:latin typeface="Arial" panose="020B0604020202020204" pitchFamily="34" charset="0"/>
                <a:cs typeface="Arial" panose="020B0604020202020204" pitchFamily="34" charset="0"/>
              </a:rPr>
              <a:t> + Phụ cấp (nếu có)</a:t>
            </a:r>
          </a:p>
          <a:p>
            <a:r>
              <a:rPr lang="vi-VN" sz="1400" b="1" dirty="0">
                <a:solidFill>
                  <a:srgbClr val="FF0000"/>
                </a:solidFill>
                <a:latin typeface="Arial" panose="020B0604020202020204" pitchFamily="34" charset="0"/>
                <a:cs typeface="Arial" panose="020B0604020202020204" pitchFamily="34" charset="0"/>
              </a:rPr>
              <a:t>		+ </a:t>
            </a:r>
            <a:r>
              <a:rPr lang="en-US" sz="1400" b="1" dirty="0" err="1">
                <a:solidFill>
                  <a:srgbClr val="FF0000"/>
                </a:solidFill>
                <a:latin typeface="Arial" panose="020B0604020202020204" pitchFamily="34" charset="0"/>
                <a:cs typeface="Arial" panose="020B0604020202020204" pitchFamily="34" charset="0"/>
              </a:rPr>
              <a:t>Tạm</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ứng</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thưởng</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hiệu</a:t>
            </a:r>
            <a:r>
              <a:rPr lang="en-US" sz="1400" b="1" dirty="0">
                <a:solidFill>
                  <a:srgbClr val="FF0000"/>
                </a:solidFill>
                <a:latin typeface="Arial" panose="020B0604020202020204" pitchFamily="34" charset="0"/>
                <a:cs typeface="Arial" panose="020B0604020202020204" pitchFamily="34" charset="0"/>
              </a:rPr>
              <a:t> </a:t>
            </a:r>
            <a:r>
              <a:rPr lang="en-US" sz="1400" b="1" dirty="0" err="1">
                <a:solidFill>
                  <a:srgbClr val="FF0000"/>
                </a:solidFill>
                <a:latin typeface="Arial" panose="020B0604020202020204" pitchFamily="34" charset="0"/>
                <a:cs typeface="Arial" panose="020B0604020202020204" pitchFamily="34" charset="0"/>
              </a:rPr>
              <a:t>quả</a:t>
            </a:r>
            <a:r>
              <a:rPr lang="en-US" sz="1400" b="1" dirty="0">
                <a:solidFill>
                  <a:srgbClr val="FF0000"/>
                </a:solidFill>
                <a:latin typeface="Arial" panose="020B0604020202020204" pitchFamily="34" charset="0"/>
                <a:cs typeface="Arial" panose="020B0604020202020204" pitchFamily="34" charset="0"/>
              </a:rPr>
              <a:t> DA</a:t>
            </a:r>
            <a:r>
              <a:rPr lang="vi-VN" sz="1400" b="1" dirty="0">
                <a:solidFill>
                  <a:srgbClr val="FF0000"/>
                </a:solidFill>
                <a:latin typeface="Arial" panose="020B0604020202020204" pitchFamily="34" charset="0"/>
                <a:cs typeface="Arial" panose="020B0604020202020204" pitchFamily="34" charset="0"/>
              </a:rPr>
              <a:t> (nếu có)</a:t>
            </a:r>
            <a:endParaRPr lang="en-US" sz="1400" b="1" dirty="0">
              <a:solidFill>
                <a:srgbClr val="FF0000"/>
              </a:solidFill>
              <a:latin typeface="Arial" panose="020B0604020202020204" pitchFamily="34" charset="0"/>
              <a:cs typeface="Arial" panose="020B0604020202020204" pitchFamily="34" charset="0"/>
            </a:endParaRPr>
          </a:p>
        </p:txBody>
      </p:sp>
      <p:sp>
        <p:nvSpPr>
          <p:cNvPr id="35" name="TextBox 34"/>
          <p:cNvSpPr txBox="1"/>
          <p:nvPr/>
        </p:nvSpPr>
        <p:spPr>
          <a:xfrm>
            <a:off x="205488" y="3442151"/>
            <a:ext cx="5517223" cy="1569660"/>
          </a:xfrm>
          <a:prstGeom prst="rect">
            <a:avLst/>
          </a:prstGeom>
          <a:noFill/>
        </p:spPr>
        <p:txBody>
          <a:bodyPr wrap="square" rtlCol="0">
            <a:spAutoFit/>
          </a:bodyPr>
          <a:lstStyle/>
          <a:p>
            <a:pPr marL="285750" indent="-285750" algn="just">
              <a:buFont typeface="Wingdings" panose="05000000000000000000" pitchFamily="2" charset="2"/>
              <a:buChar char="ü"/>
            </a:pPr>
            <a:r>
              <a:rPr lang="en-US" sz="1600" dirty="0" err="1">
                <a:solidFill>
                  <a:srgbClr val="FF0000"/>
                </a:solidFill>
                <a:latin typeface="Arial" panose="020B0604020202020204" pitchFamily="34" charset="0"/>
                <a:cs typeface="Arial" panose="020B0604020202020204" pitchFamily="34" charset="0"/>
              </a:rPr>
              <a:t>Lương</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cơ</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sở</a:t>
            </a:r>
            <a:r>
              <a:rPr lang="en-US" sz="1600" dirty="0">
                <a:solidFill>
                  <a:srgbClr val="FF0000"/>
                </a:solidFill>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mức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tối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thiểu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công</a:t>
            </a:r>
            <a:r>
              <a:rPr lang="en-US" sz="1600" dirty="0">
                <a:latin typeface="Arial" panose="020B0604020202020204" pitchFamily="34" charset="0"/>
                <a:cs typeface="Arial" panose="020B0604020202020204" pitchFamily="34" charset="0"/>
              </a:rPr>
              <a:t> ty </a:t>
            </a:r>
            <a:r>
              <a:rPr lang="en-US" sz="1600" dirty="0" err="1">
                <a:latin typeface="Arial" panose="020B0604020202020204" pitchFamily="34" charset="0"/>
                <a:cs typeface="Arial" panose="020B0604020202020204" pitchFamily="34" charset="0"/>
              </a:rPr>
              <a:t>sẽ</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trả</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cho</a:t>
            </a:r>
            <a:r>
              <a:rPr lang="en-US" sz="1600" dirty="0">
                <a:latin typeface="Arial" panose="020B0604020202020204" pitchFamily="34" charset="0"/>
                <a:cs typeface="Arial" panose="020B0604020202020204" pitchFamily="34" charset="0"/>
              </a:rPr>
              <a:t> CBNV </a:t>
            </a:r>
            <a:r>
              <a:rPr lang="en-US" sz="1600" dirty="0" err="1">
                <a:latin typeface="Arial" panose="020B0604020202020204" pitchFamily="34" charset="0"/>
                <a:cs typeface="Arial" panose="020B0604020202020204" pitchFamily="34" charset="0"/>
              </a:rPr>
              <a:t>hàng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tháng</a:t>
            </a:r>
            <a:endParaRPr lang="en-US" sz="1600" dirty="0">
              <a:latin typeface="Arial" panose="020B0604020202020204" pitchFamily="34" charset="0"/>
              <a:cs typeface="Arial" panose="020B0604020202020204" pitchFamily="34" charset="0"/>
            </a:endParaRP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US" sz="1600" dirty="0" err="1">
                <a:solidFill>
                  <a:srgbClr val="FF0000"/>
                </a:solidFill>
                <a:latin typeface="Arial" panose="020B0604020202020204" pitchFamily="34" charset="0"/>
                <a:cs typeface="Arial" panose="020B0604020202020204" pitchFamily="34" charset="0"/>
              </a:rPr>
              <a:t>Tạm</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ứng</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thưởng</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hiệu</a:t>
            </a:r>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quả</a:t>
            </a:r>
            <a:r>
              <a:rPr lang="en-US" sz="1600" dirty="0">
                <a:solidFill>
                  <a:srgbClr val="FF0000"/>
                </a:solidFill>
                <a:latin typeface="Arial" panose="020B0604020202020204" pitchFamily="34" charset="0"/>
                <a:cs typeface="Arial" panose="020B0604020202020204" pitchFamily="34" charset="0"/>
              </a:rPr>
              <a:t> DA: </a:t>
            </a:r>
            <a:r>
              <a:rPr lang="en-US" sz="1600" dirty="0" err="1">
                <a:latin typeface="Arial" panose="020B0604020202020204" pitchFamily="34" charset="0"/>
                <a:cs typeface="Arial" panose="020B0604020202020204" pitchFamily="34" charset="0"/>
              </a:rPr>
              <a:t>sẽ</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chi </a:t>
            </a:r>
            <a:r>
              <a:rPr lang="en-US" sz="1600" dirty="0" err="1">
                <a:latin typeface="Arial" panose="020B0604020202020204" pitchFamily="34" charset="0"/>
                <a:cs typeface="Arial" panose="020B0604020202020204" pitchFamily="34" charset="0"/>
              </a:rPr>
              <a:t>trả</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dựa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kết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quả</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đánh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giá</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hiện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công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việc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tháng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trước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liền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kề</a:t>
            </a:r>
            <a:r>
              <a:rPr lang="en-US" sz="1600" dirty="0">
                <a:latin typeface="Arial" panose="020B0604020202020204" pitchFamily="34" charset="0"/>
                <a:cs typeface="Arial" panose="020B0604020202020204" pitchFamily="34" charset="0"/>
              </a:rPr>
              <a:t> và </a:t>
            </a:r>
            <a:r>
              <a:rPr lang="en-US" sz="1600" dirty="0" err="1">
                <a:latin typeface="Arial" panose="020B0604020202020204" pitchFamily="34" charset="0"/>
                <a:cs typeface="Arial" panose="020B0604020202020204" pitchFamily="34" charset="0"/>
              </a:rPr>
              <a:t>hiệu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quả</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án</a:t>
            </a:r>
            <a:endParaRPr lang="en-US" sz="1600" dirty="0">
              <a:latin typeface="Arial" panose="020B0604020202020204" pitchFamily="34" charset="0"/>
              <a:cs typeface="Arial" panose="020B0604020202020204" pitchFamily="34" charset="0"/>
            </a:endParaRPr>
          </a:p>
        </p:txBody>
      </p:sp>
      <p:sp>
        <p:nvSpPr>
          <p:cNvPr id="36" name="Rectangle 35"/>
          <p:cNvSpPr/>
          <p:nvPr/>
        </p:nvSpPr>
        <p:spPr>
          <a:xfrm>
            <a:off x="1333896" y="337458"/>
            <a:ext cx="9823541" cy="523220"/>
          </a:xfrm>
          <a:prstGeom prst="rect">
            <a:avLst/>
          </a:prstGeom>
        </p:spPr>
        <p:txBody>
          <a:bodyPr wrap="square">
            <a:spAutoFit/>
          </a:bodyPr>
          <a:lstStyle/>
          <a:p>
            <a:r>
              <a:rPr lang="en-US" sz="2800" b="1" dirty="0">
                <a:solidFill>
                  <a:schemeClr val="bg1"/>
                </a:solidFill>
                <a:latin typeface="Verdana" panose="020B0604030504040204" pitchFamily="34" charset="0"/>
                <a:ea typeface="Verdana" panose="020B0604030504040204" pitchFamily="34" charset="0"/>
              </a:rPr>
              <a:t>2. NGUYÊN TẮC CHI TRẢ</a:t>
            </a:r>
          </a:p>
        </p:txBody>
      </p:sp>
      <p:sp>
        <p:nvSpPr>
          <p:cNvPr id="41" name="TextBox 40"/>
          <p:cNvSpPr txBox="1"/>
          <p:nvPr/>
        </p:nvSpPr>
        <p:spPr>
          <a:xfrm>
            <a:off x="6355471" y="4008319"/>
            <a:ext cx="1585443" cy="1077218"/>
          </a:xfrm>
          <a:prstGeom prst="rect">
            <a:avLst/>
          </a:prstGeom>
          <a:noFill/>
          <a:ln>
            <a:noFill/>
          </a:ln>
        </p:spPr>
        <p:txBody>
          <a:bodyPr wrap="square" rtlCol="0">
            <a:spAutoFit/>
          </a:bodyPr>
          <a:lstStyle/>
          <a:p>
            <a:r>
              <a:rPr lang="en-US" sz="1600" b="1" dirty="0" err="1">
                <a:solidFill>
                  <a:srgbClr val="C00000"/>
                </a:solidFill>
                <a:latin typeface="Sinkin Sans 600 SemiBold"/>
              </a:rPr>
              <a:t>Thưởng</a:t>
            </a:r>
            <a:r>
              <a:rPr lang="en-US" sz="1600" b="1" dirty="0">
                <a:solidFill>
                  <a:srgbClr val="C00000"/>
                </a:solidFill>
                <a:latin typeface="Sinkin Sans 600 SemiBold"/>
              </a:rPr>
              <a:t> HQDA</a:t>
            </a:r>
            <a:r>
              <a:rPr lang="vi-VN" sz="1600" b="1" dirty="0">
                <a:solidFill>
                  <a:srgbClr val="C00000"/>
                </a:solidFill>
                <a:latin typeface="Sinkin Sans 600 SemiBold"/>
              </a:rPr>
              <a:t> cá nhân giai đoạn</a:t>
            </a:r>
            <a:endParaRPr lang="en-US" sz="1600" b="1" dirty="0">
              <a:solidFill>
                <a:srgbClr val="C00000"/>
              </a:solidFill>
              <a:latin typeface="Sinkin Sans 600 SemiBold"/>
            </a:endParaRPr>
          </a:p>
        </p:txBody>
      </p:sp>
      <p:sp>
        <p:nvSpPr>
          <p:cNvPr id="42" name="TextBox 41"/>
          <p:cNvSpPr txBox="1"/>
          <p:nvPr/>
        </p:nvSpPr>
        <p:spPr>
          <a:xfrm>
            <a:off x="7535424" y="4171281"/>
            <a:ext cx="1562204" cy="830997"/>
          </a:xfrm>
          <a:prstGeom prst="rect">
            <a:avLst/>
          </a:prstGeom>
          <a:noFill/>
          <a:ln>
            <a:noFill/>
          </a:ln>
        </p:spPr>
        <p:txBody>
          <a:bodyPr wrap="square" rtlCol="0">
            <a:spAutoFit/>
          </a:bodyPr>
          <a:lstStyle/>
          <a:p>
            <a:r>
              <a:rPr lang="en-US" sz="1600" b="1" dirty="0" err="1">
                <a:solidFill>
                  <a:srgbClr val="C00000"/>
                </a:solidFill>
                <a:latin typeface="Sinkin Sans 600 SemiBold"/>
              </a:rPr>
              <a:t>Quỹ</a:t>
            </a:r>
            <a:r>
              <a:rPr lang="en-US" sz="1600" b="1" dirty="0">
                <a:solidFill>
                  <a:srgbClr val="C00000"/>
                </a:solidFill>
                <a:latin typeface="Sinkin Sans 600 SemiBold"/>
              </a:rPr>
              <a:t> </a:t>
            </a:r>
            <a:r>
              <a:rPr lang="en-US" sz="1600" b="1" dirty="0" err="1">
                <a:solidFill>
                  <a:srgbClr val="C00000"/>
                </a:solidFill>
                <a:latin typeface="Sinkin Sans 600 SemiBold"/>
              </a:rPr>
              <a:t>thưởng</a:t>
            </a:r>
            <a:r>
              <a:rPr lang="en-US" sz="1600" b="1" dirty="0">
                <a:solidFill>
                  <a:srgbClr val="C00000"/>
                </a:solidFill>
                <a:latin typeface="Sinkin Sans 600 SemiBold"/>
              </a:rPr>
              <a:t> </a:t>
            </a:r>
            <a:r>
              <a:rPr lang="vi-VN" sz="1600" b="1" dirty="0">
                <a:solidFill>
                  <a:srgbClr val="C00000"/>
                </a:solidFill>
                <a:latin typeface="Sinkin Sans 600 SemiBold"/>
              </a:rPr>
              <a:t>HQDA</a:t>
            </a:r>
            <a:r>
              <a:rPr lang="en-US" sz="1600" b="1" dirty="0">
                <a:solidFill>
                  <a:srgbClr val="C00000"/>
                </a:solidFill>
                <a:latin typeface="Sinkin Sans 600 SemiBold"/>
              </a:rPr>
              <a:t> </a:t>
            </a:r>
            <a:r>
              <a:rPr lang="en-US" sz="1600" b="1" dirty="0" err="1">
                <a:solidFill>
                  <a:srgbClr val="C00000"/>
                </a:solidFill>
                <a:latin typeface="Sinkin Sans 600 SemiBold"/>
              </a:rPr>
              <a:t>giai</a:t>
            </a:r>
            <a:r>
              <a:rPr lang="en-US" sz="1600" b="1" dirty="0">
                <a:solidFill>
                  <a:srgbClr val="C00000"/>
                </a:solidFill>
                <a:latin typeface="Sinkin Sans 600 SemiBold"/>
              </a:rPr>
              <a:t> </a:t>
            </a:r>
            <a:r>
              <a:rPr lang="en-US" sz="1600" b="1" dirty="0" err="1">
                <a:solidFill>
                  <a:srgbClr val="C00000"/>
                </a:solidFill>
                <a:latin typeface="Sinkin Sans 600 SemiBold"/>
              </a:rPr>
              <a:t>đoạn</a:t>
            </a:r>
            <a:r>
              <a:rPr lang="vi-VN" sz="1600" b="1" dirty="0">
                <a:solidFill>
                  <a:srgbClr val="C00000"/>
                </a:solidFill>
                <a:latin typeface="Sinkin Sans 600 SemiBold"/>
              </a:rPr>
              <a:t> của DA</a:t>
            </a:r>
            <a:r>
              <a:rPr lang="en-US" sz="1600" b="1" dirty="0">
                <a:solidFill>
                  <a:srgbClr val="C00000"/>
                </a:solidFill>
                <a:latin typeface="Sinkin Sans 600 SemiBold"/>
              </a:rPr>
              <a:t> </a:t>
            </a:r>
          </a:p>
        </p:txBody>
      </p:sp>
      <p:sp>
        <p:nvSpPr>
          <p:cNvPr id="44" name="TextBox 43"/>
          <p:cNvSpPr txBox="1"/>
          <p:nvPr/>
        </p:nvSpPr>
        <p:spPr>
          <a:xfrm>
            <a:off x="9228258" y="4606446"/>
            <a:ext cx="2095928" cy="338554"/>
          </a:xfrm>
          <a:prstGeom prst="rect">
            <a:avLst/>
          </a:prstGeom>
          <a:noFill/>
          <a:ln>
            <a:noFill/>
          </a:ln>
        </p:spPr>
        <p:txBody>
          <a:bodyPr wrap="square" rtlCol="0">
            <a:spAutoFit/>
          </a:bodyPr>
          <a:lstStyle/>
          <a:p>
            <a:pPr algn="ctr"/>
            <a:r>
              <a:rPr lang="en-US" sz="1600" b="1" dirty="0" err="1">
                <a:solidFill>
                  <a:srgbClr val="C00000"/>
                </a:solidFill>
                <a:latin typeface="Sinkin Sans 600 SemiBold"/>
              </a:rPr>
              <a:t>Tổng</a:t>
            </a:r>
            <a:r>
              <a:rPr lang="en-US" sz="1600" b="1" dirty="0">
                <a:solidFill>
                  <a:srgbClr val="C00000"/>
                </a:solidFill>
                <a:latin typeface="Sinkin Sans 600 SemiBold"/>
              </a:rPr>
              <a:t> </a:t>
            </a:r>
            <a:r>
              <a:rPr lang="en-US" sz="1600" b="1" dirty="0" err="1">
                <a:solidFill>
                  <a:srgbClr val="C00000"/>
                </a:solidFill>
                <a:latin typeface="Sinkin Sans 600 SemiBold"/>
              </a:rPr>
              <a:t>điểm</a:t>
            </a:r>
            <a:r>
              <a:rPr lang="en-US" sz="1600" b="1" dirty="0">
                <a:solidFill>
                  <a:srgbClr val="C00000"/>
                </a:solidFill>
                <a:latin typeface="Sinkin Sans 600 SemiBold"/>
              </a:rPr>
              <a:t> </a:t>
            </a:r>
            <a:r>
              <a:rPr lang="en-US" sz="1600" b="1" dirty="0" err="1">
                <a:solidFill>
                  <a:srgbClr val="C00000"/>
                </a:solidFill>
                <a:latin typeface="Sinkin Sans 600 SemiBold"/>
              </a:rPr>
              <a:t>dự</a:t>
            </a:r>
            <a:r>
              <a:rPr lang="en-US" sz="1600" b="1" dirty="0">
                <a:solidFill>
                  <a:srgbClr val="C00000"/>
                </a:solidFill>
                <a:latin typeface="Sinkin Sans 600 SemiBold"/>
              </a:rPr>
              <a:t> </a:t>
            </a:r>
            <a:r>
              <a:rPr lang="en-US" sz="1600" b="1" dirty="0" err="1">
                <a:solidFill>
                  <a:srgbClr val="C00000"/>
                </a:solidFill>
                <a:latin typeface="Sinkin Sans 600 SemiBold"/>
              </a:rPr>
              <a:t>án</a:t>
            </a:r>
            <a:endParaRPr lang="en-US" sz="1600" b="1" dirty="0">
              <a:solidFill>
                <a:srgbClr val="C00000"/>
              </a:solidFill>
              <a:latin typeface="Sinkin Sans 600 SemiBold"/>
            </a:endParaRPr>
          </a:p>
        </p:txBody>
      </p:sp>
      <p:sp>
        <p:nvSpPr>
          <p:cNvPr id="45" name="TextBox 44"/>
          <p:cNvSpPr txBox="1"/>
          <p:nvPr/>
        </p:nvSpPr>
        <p:spPr>
          <a:xfrm>
            <a:off x="9231047" y="4223365"/>
            <a:ext cx="2095928" cy="338554"/>
          </a:xfrm>
          <a:prstGeom prst="rect">
            <a:avLst/>
          </a:prstGeom>
          <a:noFill/>
          <a:ln>
            <a:noFill/>
          </a:ln>
        </p:spPr>
        <p:txBody>
          <a:bodyPr wrap="square" rtlCol="0">
            <a:spAutoFit/>
          </a:bodyPr>
          <a:lstStyle/>
          <a:p>
            <a:pPr algn="ctr"/>
            <a:r>
              <a:rPr lang="en-US" sz="1600" b="1" dirty="0" err="1">
                <a:solidFill>
                  <a:srgbClr val="C00000"/>
                </a:solidFill>
                <a:latin typeface="Sinkin Sans 600 SemiBold"/>
              </a:rPr>
              <a:t>Điểm</a:t>
            </a:r>
            <a:r>
              <a:rPr lang="en-US" sz="1600" b="1" dirty="0">
                <a:solidFill>
                  <a:srgbClr val="C00000"/>
                </a:solidFill>
                <a:latin typeface="Sinkin Sans 600 SemiBold"/>
              </a:rPr>
              <a:t> </a:t>
            </a:r>
            <a:r>
              <a:rPr lang="en-US" sz="1600" b="1" dirty="0" err="1">
                <a:solidFill>
                  <a:srgbClr val="C00000"/>
                </a:solidFill>
                <a:latin typeface="Sinkin Sans 600 SemiBold"/>
              </a:rPr>
              <a:t>cá</a:t>
            </a:r>
            <a:r>
              <a:rPr lang="en-US" sz="1600" b="1" dirty="0">
                <a:solidFill>
                  <a:srgbClr val="C00000"/>
                </a:solidFill>
                <a:latin typeface="Sinkin Sans 600 SemiBold"/>
              </a:rPr>
              <a:t> </a:t>
            </a:r>
            <a:r>
              <a:rPr lang="en-US" sz="1600" b="1" dirty="0" err="1">
                <a:solidFill>
                  <a:srgbClr val="C00000"/>
                </a:solidFill>
                <a:latin typeface="Sinkin Sans 600 SemiBold"/>
              </a:rPr>
              <a:t>nhân</a:t>
            </a:r>
            <a:endParaRPr lang="en-US" sz="1600" b="1" dirty="0">
              <a:solidFill>
                <a:srgbClr val="C00000"/>
              </a:solidFill>
              <a:latin typeface="Sinkin Sans 600 SemiBold"/>
            </a:endParaRPr>
          </a:p>
        </p:txBody>
      </p:sp>
      <p:cxnSp>
        <p:nvCxnSpPr>
          <p:cNvPr id="46" name="Straight Connector 45"/>
          <p:cNvCxnSpPr/>
          <p:nvPr/>
        </p:nvCxnSpPr>
        <p:spPr>
          <a:xfrm flipH="1">
            <a:off x="9310180" y="4584796"/>
            <a:ext cx="2108304" cy="0"/>
          </a:xfrm>
          <a:prstGeom prst="line">
            <a:avLst/>
          </a:prstGeom>
          <a:ln w="19050" cap="rnd">
            <a:solidFill>
              <a:schemeClr val="tx2"/>
            </a:solidFill>
            <a:prstDash val="solid"/>
            <a:round/>
            <a:headEnd type="none" w="lg" len="lg"/>
            <a:tailEnd type="non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943053" y="4401454"/>
            <a:ext cx="284079" cy="338554"/>
          </a:xfrm>
          <a:prstGeom prst="rect">
            <a:avLst/>
          </a:prstGeom>
          <a:noFill/>
          <a:ln>
            <a:noFill/>
          </a:ln>
        </p:spPr>
        <p:txBody>
          <a:bodyPr wrap="square" rtlCol="0">
            <a:spAutoFit/>
          </a:bodyPr>
          <a:lstStyle/>
          <a:p>
            <a:r>
              <a:rPr lang="en-US" sz="1600" b="1" dirty="0">
                <a:solidFill>
                  <a:srgbClr val="C00000"/>
                </a:solidFill>
                <a:latin typeface="Sinkin Sans 600 SemiBold"/>
              </a:rPr>
              <a:t>x</a:t>
            </a:r>
          </a:p>
        </p:txBody>
      </p:sp>
      <p:sp>
        <p:nvSpPr>
          <p:cNvPr id="37" name="TextBox 36"/>
          <p:cNvSpPr txBox="1"/>
          <p:nvPr/>
        </p:nvSpPr>
        <p:spPr>
          <a:xfrm>
            <a:off x="7290042" y="4383988"/>
            <a:ext cx="284079" cy="400110"/>
          </a:xfrm>
          <a:prstGeom prst="rect">
            <a:avLst/>
          </a:prstGeom>
          <a:noFill/>
          <a:ln>
            <a:noFill/>
          </a:ln>
        </p:spPr>
        <p:txBody>
          <a:bodyPr wrap="square" rtlCol="0">
            <a:spAutoFit/>
          </a:bodyPr>
          <a:lstStyle/>
          <a:p>
            <a:r>
              <a:rPr lang="en-US" sz="2000" b="1" dirty="0">
                <a:solidFill>
                  <a:srgbClr val="C00000"/>
                </a:solidFill>
                <a:latin typeface="Sinkin Sans 600 SemiBold"/>
              </a:rPr>
              <a:t>=</a:t>
            </a:r>
          </a:p>
        </p:txBody>
      </p:sp>
      <p:sp>
        <p:nvSpPr>
          <p:cNvPr id="38" name="TextBox 37"/>
          <p:cNvSpPr txBox="1"/>
          <p:nvPr/>
        </p:nvSpPr>
        <p:spPr>
          <a:xfrm>
            <a:off x="6400004" y="5197010"/>
            <a:ext cx="1585443" cy="1077218"/>
          </a:xfrm>
          <a:prstGeom prst="rect">
            <a:avLst/>
          </a:prstGeom>
          <a:noFill/>
          <a:ln>
            <a:noFill/>
          </a:ln>
        </p:spPr>
        <p:txBody>
          <a:bodyPr wrap="square" rtlCol="0">
            <a:spAutoFit/>
          </a:bodyPr>
          <a:lstStyle/>
          <a:p>
            <a:r>
              <a:rPr lang="en-US" sz="1600" b="1" dirty="0" err="1">
                <a:solidFill>
                  <a:srgbClr val="FF0000"/>
                </a:solidFill>
                <a:latin typeface="Sinkin Sans 600 SemiBold"/>
              </a:rPr>
              <a:t>Thưởng</a:t>
            </a:r>
            <a:r>
              <a:rPr lang="en-US" sz="1600" b="1" dirty="0">
                <a:solidFill>
                  <a:srgbClr val="FF0000"/>
                </a:solidFill>
                <a:latin typeface="Sinkin Sans 600 SemiBold"/>
              </a:rPr>
              <a:t> HQDA</a:t>
            </a:r>
            <a:r>
              <a:rPr lang="vi-VN" sz="1600" b="1" dirty="0">
                <a:solidFill>
                  <a:srgbClr val="FF0000"/>
                </a:solidFill>
                <a:latin typeface="Sinkin Sans 600 SemiBold"/>
              </a:rPr>
              <a:t> cá nhân giai doạn còn lại</a:t>
            </a:r>
            <a:endParaRPr lang="en-US" sz="1600" b="1" dirty="0">
              <a:solidFill>
                <a:srgbClr val="FF0000"/>
              </a:solidFill>
              <a:latin typeface="Sinkin Sans 600 SemiBold"/>
            </a:endParaRPr>
          </a:p>
        </p:txBody>
      </p:sp>
      <p:sp>
        <p:nvSpPr>
          <p:cNvPr id="43" name="TextBox 42"/>
          <p:cNvSpPr txBox="1"/>
          <p:nvPr/>
        </p:nvSpPr>
        <p:spPr>
          <a:xfrm>
            <a:off x="8316373" y="5241627"/>
            <a:ext cx="1562204" cy="1077218"/>
          </a:xfrm>
          <a:prstGeom prst="rect">
            <a:avLst/>
          </a:prstGeom>
          <a:noFill/>
          <a:ln>
            <a:noFill/>
          </a:ln>
        </p:spPr>
        <p:txBody>
          <a:bodyPr wrap="square" rtlCol="0">
            <a:spAutoFit/>
          </a:bodyPr>
          <a:lstStyle/>
          <a:p>
            <a:r>
              <a:rPr lang="en-US" sz="1600" b="1" dirty="0" err="1">
                <a:solidFill>
                  <a:srgbClr val="FF0000"/>
                </a:solidFill>
                <a:latin typeface="Sinkin Sans 600 SemiBold"/>
              </a:rPr>
              <a:t>Quỹ</a:t>
            </a:r>
            <a:r>
              <a:rPr lang="en-US" sz="1600" b="1" dirty="0">
                <a:solidFill>
                  <a:srgbClr val="FF0000"/>
                </a:solidFill>
                <a:latin typeface="Sinkin Sans 600 SemiBold"/>
              </a:rPr>
              <a:t> </a:t>
            </a:r>
            <a:r>
              <a:rPr lang="en-US" sz="1600" b="1" dirty="0" err="1">
                <a:solidFill>
                  <a:srgbClr val="FF0000"/>
                </a:solidFill>
                <a:latin typeface="Sinkin Sans 600 SemiBold"/>
              </a:rPr>
              <a:t>thưởng</a:t>
            </a:r>
            <a:r>
              <a:rPr lang="en-US" sz="1600" b="1" dirty="0">
                <a:solidFill>
                  <a:srgbClr val="FF0000"/>
                </a:solidFill>
                <a:latin typeface="Sinkin Sans 600 SemiBold"/>
              </a:rPr>
              <a:t> </a:t>
            </a:r>
            <a:r>
              <a:rPr lang="vi-VN" sz="1600" b="1" dirty="0">
                <a:solidFill>
                  <a:srgbClr val="FF0000"/>
                </a:solidFill>
                <a:latin typeface="Sinkin Sans 600 SemiBold"/>
              </a:rPr>
              <a:t>HQDA</a:t>
            </a:r>
            <a:r>
              <a:rPr lang="en-US" sz="1600" b="1" dirty="0">
                <a:solidFill>
                  <a:srgbClr val="FF0000"/>
                </a:solidFill>
                <a:latin typeface="Sinkin Sans 600 SemiBold"/>
              </a:rPr>
              <a:t> </a:t>
            </a:r>
            <a:r>
              <a:rPr lang="vi-VN" sz="1600" b="1" dirty="0">
                <a:solidFill>
                  <a:srgbClr val="FF0000"/>
                </a:solidFill>
                <a:latin typeface="Sinkin Sans 600 SemiBold"/>
              </a:rPr>
              <a:t>cá nhân</a:t>
            </a:r>
            <a:r>
              <a:rPr lang="en-US" sz="1600" b="1" dirty="0">
                <a:solidFill>
                  <a:srgbClr val="FF0000"/>
                </a:solidFill>
                <a:latin typeface="Sinkin Sans 600 SemiBold"/>
              </a:rPr>
              <a:t> </a:t>
            </a:r>
            <a:r>
              <a:rPr lang="vi-VN" sz="1600" b="1" dirty="0">
                <a:solidFill>
                  <a:srgbClr val="FF0000"/>
                </a:solidFill>
                <a:latin typeface="Sinkin Sans 600 SemiBold"/>
              </a:rPr>
              <a:t>giai đoạn</a:t>
            </a:r>
            <a:endParaRPr lang="en-US" sz="1600" b="1" dirty="0">
              <a:solidFill>
                <a:srgbClr val="FF0000"/>
              </a:solidFill>
              <a:latin typeface="Sinkin Sans 600 SemiBold"/>
            </a:endParaRPr>
          </a:p>
        </p:txBody>
      </p:sp>
      <p:sp>
        <p:nvSpPr>
          <p:cNvPr id="48" name="TextBox 47"/>
          <p:cNvSpPr txBox="1"/>
          <p:nvPr/>
        </p:nvSpPr>
        <p:spPr>
          <a:xfrm>
            <a:off x="7864207" y="5487849"/>
            <a:ext cx="284079" cy="400110"/>
          </a:xfrm>
          <a:prstGeom prst="rect">
            <a:avLst/>
          </a:prstGeom>
          <a:noFill/>
          <a:ln>
            <a:noFill/>
          </a:ln>
        </p:spPr>
        <p:txBody>
          <a:bodyPr wrap="square" rtlCol="0">
            <a:spAutoFit/>
          </a:bodyPr>
          <a:lstStyle/>
          <a:p>
            <a:r>
              <a:rPr lang="en-US" sz="2000" b="1" dirty="0">
                <a:solidFill>
                  <a:srgbClr val="FF0000"/>
                </a:solidFill>
                <a:latin typeface="Sinkin Sans 600 SemiBold"/>
              </a:rPr>
              <a:t>=</a:t>
            </a:r>
          </a:p>
        </p:txBody>
      </p:sp>
      <p:sp>
        <p:nvSpPr>
          <p:cNvPr id="49" name="TextBox 48"/>
          <p:cNvSpPr txBox="1"/>
          <p:nvPr/>
        </p:nvSpPr>
        <p:spPr>
          <a:xfrm>
            <a:off x="10372342" y="5203320"/>
            <a:ext cx="1562204" cy="1323439"/>
          </a:xfrm>
          <a:prstGeom prst="rect">
            <a:avLst/>
          </a:prstGeom>
          <a:noFill/>
          <a:ln>
            <a:noFill/>
          </a:ln>
        </p:spPr>
        <p:txBody>
          <a:bodyPr wrap="square" rtlCol="0">
            <a:spAutoFit/>
          </a:bodyPr>
          <a:lstStyle/>
          <a:p>
            <a:r>
              <a:rPr lang="vi-VN" sz="1600" b="1" dirty="0">
                <a:solidFill>
                  <a:srgbClr val="FF0000"/>
                </a:solidFill>
                <a:latin typeface="Sinkin Sans 600 SemiBold"/>
              </a:rPr>
              <a:t>Tổng tạm ứng thưởng HQDA đã nhận trong giai đoạn</a:t>
            </a:r>
            <a:endParaRPr lang="en-US" sz="1600" b="1" dirty="0">
              <a:solidFill>
                <a:srgbClr val="FF0000"/>
              </a:solidFill>
              <a:latin typeface="Sinkin Sans 600 SemiBold"/>
            </a:endParaRPr>
          </a:p>
        </p:txBody>
      </p:sp>
      <p:sp>
        <p:nvSpPr>
          <p:cNvPr id="50" name="TextBox 49"/>
          <p:cNvSpPr txBox="1"/>
          <p:nvPr/>
        </p:nvSpPr>
        <p:spPr>
          <a:xfrm>
            <a:off x="9861000" y="5487849"/>
            <a:ext cx="348503" cy="400110"/>
          </a:xfrm>
          <a:prstGeom prst="rect">
            <a:avLst/>
          </a:prstGeom>
          <a:noFill/>
          <a:ln>
            <a:noFill/>
          </a:ln>
        </p:spPr>
        <p:txBody>
          <a:bodyPr wrap="square" rtlCol="0">
            <a:spAutoFit/>
          </a:bodyPr>
          <a:lstStyle/>
          <a:p>
            <a:r>
              <a:rPr lang="vi-VN" sz="2000" b="1" dirty="0">
                <a:solidFill>
                  <a:srgbClr val="FF0000"/>
                </a:solidFill>
                <a:latin typeface="Sinkin Sans 600 SemiBold"/>
              </a:rPr>
              <a:t>-</a:t>
            </a:r>
            <a:endParaRPr lang="en-US" sz="2000" b="1" dirty="0">
              <a:solidFill>
                <a:srgbClr val="FF0000"/>
              </a:solidFill>
              <a:latin typeface="Sinkin Sans 600 SemiBold"/>
            </a:endParaRPr>
          </a:p>
        </p:txBody>
      </p:sp>
      <p:sp>
        <p:nvSpPr>
          <p:cNvPr id="39" name="TextBox 38">
            <a:extLst>
              <a:ext uri="{FF2B5EF4-FFF2-40B4-BE49-F238E27FC236}">
                <a16:creationId xmlns:a16="http://schemas.microsoft.com/office/drawing/2014/main" id="{C6CFC538-3AF0-4AA1-8741-1CE6B74D5268}"/>
              </a:ext>
            </a:extLst>
          </p:cNvPr>
          <p:cNvSpPr txBox="1"/>
          <p:nvPr/>
        </p:nvSpPr>
        <p:spPr>
          <a:xfrm>
            <a:off x="8316373" y="6395790"/>
            <a:ext cx="3350057" cy="338554"/>
          </a:xfrm>
          <a:prstGeom prst="rect">
            <a:avLst/>
          </a:prstGeom>
          <a:noFill/>
        </p:spPr>
        <p:txBody>
          <a:bodyPr wrap="square">
            <a:spAutoFit/>
          </a:bodyPr>
          <a:lstStyle/>
          <a:p>
            <a:r>
              <a:rPr lang="en-US" sz="1600" i="1" dirty="0">
                <a:solidFill>
                  <a:schemeClr val="accent1">
                    <a:lumMod val="50000"/>
                  </a:schemeClr>
                </a:solidFill>
                <a:latin typeface="Lato Regular"/>
              </a:rPr>
              <a:t>(</a:t>
            </a:r>
            <a:r>
              <a:rPr lang="en-US" sz="1600" i="1" dirty="0" err="1">
                <a:solidFill>
                  <a:schemeClr val="accent1">
                    <a:lumMod val="50000"/>
                  </a:schemeClr>
                </a:solidFill>
                <a:latin typeface="Lato Regular"/>
              </a:rPr>
              <a:t>Nguồn</a:t>
            </a:r>
            <a:r>
              <a:rPr lang="en-US" sz="1600" i="1" dirty="0">
                <a:solidFill>
                  <a:schemeClr val="accent1">
                    <a:lumMod val="50000"/>
                  </a:schemeClr>
                </a:solidFill>
                <a:latin typeface="Lato Regular"/>
              </a:rPr>
              <a:t>: Ban </a:t>
            </a:r>
            <a:r>
              <a:rPr lang="en-US" sz="1600" i="1" dirty="0" err="1">
                <a:solidFill>
                  <a:schemeClr val="accent1">
                    <a:lumMod val="50000"/>
                  </a:schemeClr>
                </a:solidFill>
                <a:latin typeface="Lato Regular"/>
              </a:rPr>
              <a:t>quản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lý</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sản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xuất</a:t>
            </a:r>
            <a:r>
              <a:rPr lang="en-US" sz="1600" i="1" dirty="0">
                <a:solidFill>
                  <a:schemeClr val="accent1">
                    <a:lumMod val="50000"/>
                  </a:schemeClr>
                </a:solidFill>
                <a:latin typeface="Lato Regular"/>
              </a:rPr>
              <a:t> FIS)</a:t>
            </a:r>
            <a:r>
              <a:rPr lang="vi-VN" sz="1600" i="1" kern="1200" dirty="0">
                <a:solidFill>
                  <a:schemeClr val="accent1">
                    <a:lumMod val="50000"/>
                  </a:schemeClr>
                </a:solidFill>
                <a:latin typeface="Lato Regular"/>
                <a:ea typeface="+mn-ea"/>
                <a:cs typeface="+mn-cs"/>
              </a:rPr>
              <a:t> </a:t>
            </a:r>
            <a:endParaRPr lang="en-US" sz="1600" i="1" dirty="0"/>
          </a:p>
        </p:txBody>
      </p:sp>
    </p:spTree>
    <p:extLst>
      <p:ext uri="{BB962C8B-B14F-4D97-AF65-F5344CB8AC3E}">
        <p14:creationId xmlns:p14="http://schemas.microsoft.com/office/powerpoint/2010/main" val="648546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22" presetClass="entr" presetSubtype="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par>
                          <p:cTn id="30" fill="hold">
                            <p:stCondLst>
                              <p:cond delay="2500"/>
                            </p:stCondLst>
                            <p:childTnLst>
                              <p:par>
                                <p:cTn id="31" presetID="22" presetClass="entr" presetSubtype="1"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11"/>
          <p:cNvSpPr>
            <a:spLocks/>
          </p:cNvSpPr>
          <p:nvPr/>
        </p:nvSpPr>
        <p:spPr bwMode="auto">
          <a:xfrm>
            <a:off x="893326" y="4918595"/>
            <a:ext cx="1913513" cy="265698"/>
          </a:xfrm>
          <a:prstGeom prst="roundRect">
            <a:avLst>
              <a:gd name="adj" fmla="val 50000"/>
            </a:avLst>
          </a:prstGeom>
          <a:solidFill>
            <a:srgbClr val="00B050"/>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nvGrpSpPr>
          <p:cNvPr id="48" name="Group 47"/>
          <p:cNvGrpSpPr/>
          <p:nvPr/>
        </p:nvGrpSpPr>
        <p:grpSpPr>
          <a:xfrm>
            <a:off x="437113" y="4753267"/>
            <a:ext cx="596201" cy="596355"/>
            <a:chOff x="2255370" y="6982392"/>
            <a:chExt cx="960187" cy="960436"/>
          </a:xfrm>
        </p:grpSpPr>
        <p:sp>
          <p:nvSpPr>
            <p:cNvPr id="49" name="AutoShape 13"/>
            <p:cNvSpPr>
              <a:spLocks/>
            </p:cNvSpPr>
            <p:nvPr/>
          </p:nvSpPr>
          <p:spPr bwMode="auto">
            <a:xfrm>
              <a:off x="2255370" y="6982392"/>
              <a:ext cx="960187" cy="96043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00B050"/>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50" name="AutoShape 14"/>
            <p:cNvSpPr>
              <a:spLocks/>
            </p:cNvSpPr>
            <p:nvPr/>
          </p:nvSpPr>
          <p:spPr bwMode="auto">
            <a:xfrm>
              <a:off x="2550688" y="7255500"/>
              <a:ext cx="414109" cy="4142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sp>
        <p:nvSpPr>
          <p:cNvPr id="51" name="AutoShape 54"/>
          <p:cNvSpPr>
            <a:spLocks/>
          </p:cNvSpPr>
          <p:nvPr/>
        </p:nvSpPr>
        <p:spPr bwMode="auto">
          <a:xfrm rot="21599989">
            <a:off x="580495" y="4478808"/>
            <a:ext cx="309434" cy="207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36" y="21599"/>
                </a:moveTo>
                <a:cubicBezTo>
                  <a:pt x="969" y="21599"/>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600" y="18480"/>
                  <a:pt x="21600" y="19171"/>
                </a:cubicBezTo>
                <a:cubicBezTo>
                  <a:pt x="21600" y="19815"/>
                  <a:pt x="21467" y="20375"/>
                  <a:pt x="21203" y="20870"/>
                </a:cubicBezTo>
                <a:cubicBezTo>
                  <a:pt x="20942" y="21359"/>
                  <a:pt x="20626" y="21599"/>
                  <a:pt x="20263" y="21599"/>
                </a:cubicBezTo>
                <a:lnTo>
                  <a:pt x="1336" y="21599"/>
                </a:lnTo>
                <a:close/>
              </a:path>
            </a:pathLst>
          </a:custGeom>
          <a:solidFill>
            <a:srgbClr val="00B050"/>
          </a:solidFill>
          <a:ln>
            <a:noFill/>
          </a:ln>
          <a:effectLst/>
        </p:spPr>
        <p:txBody>
          <a:bodyPr lIns="38092" tIns="38092" rIns="38092" bIns="38092" anchor="ctr"/>
          <a:lstStyle/>
          <a:p>
            <a:pPr defTabSz="457109">
              <a:defRPr/>
            </a:pPr>
            <a:endParaRPr lang="es-ES" sz="3000">
              <a:effectLst>
                <a:outerShdw blurRad="38100" dist="38100" dir="2700000" algn="tl">
                  <a:srgbClr val="000000"/>
                </a:outerShdw>
              </a:effectLst>
              <a:latin typeface="Gill Sans" charset="0"/>
              <a:cs typeface="Gill Sans" charset="0"/>
              <a:sym typeface="Gill Sans" charset="0"/>
            </a:endParaRPr>
          </a:p>
        </p:txBody>
      </p:sp>
      <p:grpSp>
        <p:nvGrpSpPr>
          <p:cNvPr id="52" name="Group 51"/>
          <p:cNvGrpSpPr/>
          <p:nvPr/>
        </p:nvGrpSpPr>
        <p:grpSpPr>
          <a:xfrm rot="5400000">
            <a:off x="410086" y="4020094"/>
            <a:ext cx="646979" cy="221615"/>
            <a:chOff x="2234756" y="2800350"/>
            <a:chExt cx="286824" cy="91440"/>
          </a:xfrm>
        </p:grpSpPr>
        <p:sp>
          <p:nvSpPr>
            <p:cNvPr id="53" name="Oval 52"/>
            <p:cNvSpPr/>
            <p:nvPr/>
          </p:nvSpPr>
          <p:spPr>
            <a:xfrm rot="5400000">
              <a:off x="2234756" y="2800350"/>
              <a:ext cx="91440" cy="91440"/>
            </a:xfrm>
            <a:prstGeom prst="ellips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dirty="0">
                <a:latin typeface="Calibri Light"/>
              </a:endParaRPr>
            </a:p>
          </p:txBody>
        </p:sp>
        <p:cxnSp>
          <p:nvCxnSpPr>
            <p:cNvPr id="54" name="Straight Connector 53"/>
            <p:cNvCxnSpPr/>
            <p:nvPr/>
          </p:nvCxnSpPr>
          <p:spPr>
            <a:xfrm rot="16200000" flipH="1">
              <a:off x="2423784" y="2748334"/>
              <a:ext cx="59" cy="195532"/>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56" name="TextBox 55"/>
          <p:cNvSpPr txBox="1"/>
          <p:nvPr/>
        </p:nvSpPr>
        <p:spPr>
          <a:xfrm>
            <a:off x="1255831" y="4932547"/>
            <a:ext cx="1202252" cy="246221"/>
          </a:xfrm>
          <a:prstGeom prst="rect">
            <a:avLst/>
          </a:prstGeom>
          <a:noFill/>
        </p:spPr>
        <p:txBody>
          <a:bodyPr wrap="none" lIns="0" tIns="0" rIns="0" bIns="0" rtlCol="1" anchor="t" anchorCtr="0">
            <a:spAutoFit/>
          </a:bodyPr>
          <a:lstStyle/>
          <a:p>
            <a:pPr algn="ctr" rtl="0"/>
            <a:r>
              <a:rPr lang="en-US" sz="1600" b="1">
                <a:solidFill>
                  <a:schemeClr val="bg1"/>
                </a:solidFill>
                <a:latin typeface="Lato" pitchFamily="34" charset="0"/>
                <a:ea typeface="Open Sans" pitchFamily="34" charset="0"/>
              </a:rPr>
              <a:t>H</a:t>
            </a:r>
            <a:r>
              <a:rPr lang="en-US" sz="1600" b="1" baseline="-25000">
                <a:solidFill>
                  <a:schemeClr val="bg1"/>
                </a:solidFill>
                <a:latin typeface="Lato" pitchFamily="34" charset="0"/>
                <a:ea typeface="Open Sans" pitchFamily="34" charset="0"/>
              </a:rPr>
              <a:t>cá</a:t>
            </a:r>
            <a:r>
              <a:rPr lang="en-US" sz="1600" b="1">
                <a:solidFill>
                  <a:schemeClr val="bg1"/>
                </a:solidFill>
                <a:latin typeface="Lato" pitchFamily="34" charset="0"/>
                <a:ea typeface="Open Sans" pitchFamily="34" charset="0"/>
              </a:rPr>
              <a:t> </a:t>
            </a:r>
            <a:r>
              <a:rPr lang="en-US" sz="1600" b="1" baseline="-25000">
                <a:solidFill>
                  <a:schemeClr val="bg1"/>
                </a:solidFill>
                <a:latin typeface="Lato" pitchFamily="34" charset="0"/>
                <a:ea typeface="Open Sans" pitchFamily="34" charset="0"/>
              </a:rPr>
              <a:t>nhân</a:t>
            </a:r>
            <a:r>
              <a:rPr lang="en-US" sz="1600" b="1">
                <a:solidFill>
                  <a:schemeClr val="bg1"/>
                </a:solidFill>
                <a:latin typeface="Lato" pitchFamily="34" charset="0"/>
                <a:ea typeface="Open Sans" pitchFamily="34" charset="0"/>
              </a:rPr>
              <a:t> = 1.5</a:t>
            </a:r>
            <a:endParaRPr lang="x-none" sz="1600" b="1" dirty="0">
              <a:solidFill>
                <a:schemeClr val="bg1"/>
              </a:solidFill>
              <a:latin typeface="Lato" pitchFamily="34" charset="0"/>
              <a:ea typeface="Open Sans" pitchFamily="34" charset="0"/>
            </a:endParaRPr>
          </a:p>
        </p:txBody>
      </p:sp>
      <p:sp>
        <p:nvSpPr>
          <p:cNvPr id="57" name="AutoShape 11"/>
          <p:cNvSpPr>
            <a:spLocks/>
          </p:cNvSpPr>
          <p:nvPr/>
        </p:nvSpPr>
        <p:spPr bwMode="auto">
          <a:xfrm>
            <a:off x="5210618" y="4909070"/>
            <a:ext cx="1825040" cy="265698"/>
          </a:xfrm>
          <a:prstGeom prst="roundRect">
            <a:avLst>
              <a:gd name="adj" fmla="val 50000"/>
            </a:avLst>
          </a:prstGeom>
          <a:solidFill>
            <a:schemeClr val="accent2"/>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61" name="AutoShape 54"/>
          <p:cNvSpPr>
            <a:spLocks/>
          </p:cNvSpPr>
          <p:nvPr/>
        </p:nvSpPr>
        <p:spPr bwMode="auto">
          <a:xfrm rot="21599989">
            <a:off x="4949527" y="4459758"/>
            <a:ext cx="309434" cy="207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36" y="21599"/>
                </a:moveTo>
                <a:cubicBezTo>
                  <a:pt x="969" y="21599"/>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600" y="18480"/>
                  <a:pt x="21600" y="19171"/>
                </a:cubicBezTo>
                <a:cubicBezTo>
                  <a:pt x="21600" y="19815"/>
                  <a:pt x="21467" y="20375"/>
                  <a:pt x="21203" y="20870"/>
                </a:cubicBezTo>
                <a:cubicBezTo>
                  <a:pt x="20942" y="21359"/>
                  <a:pt x="20626" y="21599"/>
                  <a:pt x="20263" y="21599"/>
                </a:cubicBezTo>
                <a:lnTo>
                  <a:pt x="1336" y="21599"/>
                </a:lnTo>
                <a:close/>
              </a:path>
            </a:pathLst>
          </a:custGeom>
          <a:solidFill>
            <a:schemeClr val="accent2"/>
          </a:solidFill>
          <a:ln>
            <a:noFill/>
          </a:ln>
          <a:effectLst/>
        </p:spPr>
        <p:txBody>
          <a:bodyPr lIns="38092" tIns="38092" rIns="38092" bIns="38092" anchor="ctr"/>
          <a:lstStyle/>
          <a:p>
            <a:pPr defTabSz="457109">
              <a:defRPr/>
            </a:pPr>
            <a:endParaRPr lang="es-ES" sz="3000">
              <a:effectLst>
                <a:outerShdw blurRad="38100" dist="38100" dir="2700000" algn="tl">
                  <a:srgbClr val="000000"/>
                </a:outerShdw>
              </a:effectLst>
              <a:latin typeface="Gill Sans" charset="0"/>
              <a:cs typeface="Gill Sans" charset="0"/>
              <a:sym typeface="Gill Sans" charset="0"/>
            </a:endParaRPr>
          </a:p>
        </p:txBody>
      </p:sp>
      <p:sp>
        <p:nvSpPr>
          <p:cNvPr id="66" name="AutoShape 11"/>
          <p:cNvSpPr>
            <a:spLocks/>
          </p:cNvSpPr>
          <p:nvPr/>
        </p:nvSpPr>
        <p:spPr bwMode="auto">
          <a:xfrm>
            <a:off x="3149164" y="4909070"/>
            <a:ext cx="1822360" cy="265698"/>
          </a:xfrm>
          <a:prstGeom prst="roundRect">
            <a:avLst>
              <a:gd name="adj" fmla="val 50000"/>
            </a:avLst>
          </a:prstGeom>
          <a:solidFill>
            <a:srgbClr val="92D050"/>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nvGrpSpPr>
          <p:cNvPr id="67" name="Group 66"/>
          <p:cNvGrpSpPr/>
          <p:nvPr/>
        </p:nvGrpSpPr>
        <p:grpSpPr>
          <a:xfrm>
            <a:off x="2680352" y="4753267"/>
            <a:ext cx="596201" cy="596355"/>
            <a:chOff x="2255370" y="6982392"/>
            <a:chExt cx="960187" cy="960436"/>
          </a:xfrm>
        </p:grpSpPr>
        <p:sp>
          <p:nvSpPr>
            <p:cNvPr id="68" name="AutoShape 13"/>
            <p:cNvSpPr>
              <a:spLocks/>
            </p:cNvSpPr>
            <p:nvPr/>
          </p:nvSpPr>
          <p:spPr bwMode="auto">
            <a:xfrm>
              <a:off x="2255370" y="6982392"/>
              <a:ext cx="960187" cy="96043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92D050"/>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69" name="AutoShape 14"/>
            <p:cNvSpPr>
              <a:spLocks/>
            </p:cNvSpPr>
            <p:nvPr/>
          </p:nvSpPr>
          <p:spPr bwMode="auto">
            <a:xfrm>
              <a:off x="2550688" y="7255500"/>
              <a:ext cx="414109" cy="4142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sp>
        <p:nvSpPr>
          <p:cNvPr id="70" name="AutoShape 60"/>
          <p:cNvSpPr>
            <a:spLocks/>
          </p:cNvSpPr>
          <p:nvPr/>
        </p:nvSpPr>
        <p:spPr bwMode="auto">
          <a:xfrm rot="10799989">
            <a:off x="2821555" y="5425739"/>
            <a:ext cx="341461" cy="207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36" y="21599"/>
                </a:moveTo>
                <a:cubicBezTo>
                  <a:pt x="969" y="21599"/>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600" y="18480"/>
                  <a:pt x="21600" y="19171"/>
                </a:cubicBezTo>
                <a:cubicBezTo>
                  <a:pt x="21600" y="19815"/>
                  <a:pt x="21467" y="20375"/>
                  <a:pt x="21203" y="20870"/>
                </a:cubicBezTo>
                <a:cubicBezTo>
                  <a:pt x="20942" y="21359"/>
                  <a:pt x="20626" y="21599"/>
                  <a:pt x="20263" y="21599"/>
                </a:cubicBezTo>
                <a:lnTo>
                  <a:pt x="1336" y="21599"/>
                </a:lnTo>
                <a:close/>
              </a:path>
            </a:pathLst>
          </a:custGeom>
          <a:solidFill>
            <a:srgbClr val="92D050"/>
          </a:solidFill>
          <a:ln>
            <a:noFill/>
          </a:ln>
          <a:effectLst/>
        </p:spPr>
        <p:txBody>
          <a:bodyPr lIns="38092" tIns="38092" rIns="38092" bIns="38092" anchor="ctr"/>
          <a:lstStyle/>
          <a:p>
            <a:pPr defTabSz="457109">
              <a:defRPr/>
            </a:pPr>
            <a:endParaRPr lang="es-ES" sz="3000">
              <a:effectLst>
                <a:outerShdw blurRad="38100" dist="38100" dir="2700000" algn="tl">
                  <a:srgbClr val="000000"/>
                </a:outerShdw>
              </a:effectLst>
              <a:latin typeface="Gill Sans" charset="0"/>
              <a:cs typeface="Gill Sans" charset="0"/>
              <a:sym typeface="Gill Sans" charset="0"/>
            </a:endParaRPr>
          </a:p>
        </p:txBody>
      </p:sp>
      <p:grpSp>
        <p:nvGrpSpPr>
          <p:cNvPr id="71" name="Group 70"/>
          <p:cNvGrpSpPr/>
          <p:nvPr/>
        </p:nvGrpSpPr>
        <p:grpSpPr>
          <a:xfrm rot="5400000">
            <a:off x="4778860" y="4029619"/>
            <a:ext cx="646979" cy="221615"/>
            <a:chOff x="2234756" y="2800350"/>
            <a:chExt cx="286824" cy="91440"/>
          </a:xfrm>
          <a:solidFill>
            <a:schemeClr val="accent2"/>
          </a:solidFill>
        </p:grpSpPr>
        <p:sp>
          <p:nvSpPr>
            <p:cNvPr id="72" name="Oval 71"/>
            <p:cNvSpPr/>
            <p:nvPr/>
          </p:nvSpPr>
          <p:spPr>
            <a:xfrm rot="5400000">
              <a:off x="2234756" y="2800350"/>
              <a:ext cx="91440" cy="9144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dirty="0">
                <a:latin typeface="Calibri Light"/>
              </a:endParaRPr>
            </a:p>
          </p:txBody>
        </p:sp>
        <p:cxnSp>
          <p:nvCxnSpPr>
            <p:cNvPr id="73" name="Straight Connector 72"/>
            <p:cNvCxnSpPr/>
            <p:nvPr/>
          </p:nvCxnSpPr>
          <p:spPr>
            <a:xfrm rot="16200000" flipH="1">
              <a:off x="2423784" y="2748334"/>
              <a:ext cx="59" cy="195532"/>
            </a:xfrm>
            <a:prstGeom prst="line">
              <a:avLst/>
            </a:prstGeom>
            <a:grpFill/>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4806771" y="4730629"/>
            <a:ext cx="596201" cy="596355"/>
            <a:chOff x="2255370" y="6982392"/>
            <a:chExt cx="960187" cy="960436"/>
          </a:xfrm>
        </p:grpSpPr>
        <p:sp>
          <p:nvSpPr>
            <p:cNvPr id="76" name="AutoShape 13"/>
            <p:cNvSpPr>
              <a:spLocks/>
            </p:cNvSpPr>
            <p:nvPr/>
          </p:nvSpPr>
          <p:spPr bwMode="auto">
            <a:xfrm>
              <a:off x="2255370" y="6982392"/>
              <a:ext cx="960187" cy="96043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2"/>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77" name="AutoShape 14"/>
            <p:cNvSpPr>
              <a:spLocks/>
            </p:cNvSpPr>
            <p:nvPr/>
          </p:nvSpPr>
          <p:spPr bwMode="auto">
            <a:xfrm>
              <a:off x="2550688" y="7255500"/>
              <a:ext cx="414109" cy="4142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grpSp>
        <p:nvGrpSpPr>
          <p:cNvPr id="78" name="Group 77"/>
          <p:cNvGrpSpPr/>
          <p:nvPr/>
        </p:nvGrpSpPr>
        <p:grpSpPr>
          <a:xfrm>
            <a:off x="6850917" y="4724692"/>
            <a:ext cx="596201" cy="596355"/>
            <a:chOff x="2255370" y="6982392"/>
            <a:chExt cx="960187" cy="960436"/>
          </a:xfrm>
        </p:grpSpPr>
        <p:sp>
          <p:nvSpPr>
            <p:cNvPr id="79" name="AutoShape 13"/>
            <p:cNvSpPr>
              <a:spLocks/>
            </p:cNvSpPr>
            <p:nvPr/>
          </p:nvSpPr>
          <p:spPr bwMode="auto">
            <a:xfrm>
              <a:off x="2255370" y="6982392"/>
              <a:ext cx="960187" cy="96043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4">
                <a:lumMod val="75000"/>
              </a:schemeClr>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80" name="AutoShape 14"/>
            <p:cNvSpPr>
              <a:spLocks/>
            </p:cNvSpPr>
            <p:nvPr/>
          </p:nvSpPr>
          <p:spPr bwMode="auto">
            <a:xfrm>
              <a:off x="2550688" y="7255500"/>
              <a:ext cx="414109" cy="4142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sp>
        <p:nvSpPr>
          <p:cNvPr id="82" name="TextBox 81"/>
          <p:cNvSpPr txBox="1"/>
          <p:nvPr/>
        </p:nvSpPr>
        <p:spPr>
          <a:xfrm>
            <a:off x="7956470" y="4884368"/>
            <a:ext cx="905697" cy="276999"/>
          </a:xfrm>
          <a:prstGeom prst="rect">
            <a:avLst/>
          </a:prstGeom>
          <a:noFill/>
        </p:spPr>
        <p:txBody>
          <a:bodyPr wrap="none" lIns="0" tIns="0" rIns="0" bIns="0" rtlCol="1" anchor="t" anchorCtr="0">
            <a:spAutoFit/>
          </a:bodyPr>
          <a:lstStyle/>
          <a:p>
            <a:pPr algn="ctr" rtl="0"/>
            <a:r>
              <a:rPr lang="en-US">
                <a:solidFill>
                  <a:schemeClr val="bg1"/>
                </a:solidFill>
                <a:latin typeface="Lato" pitchFamily="34" charset="0"/>
                <a:ea typeface="Open Sans" pitchFamily="34" charset="0"/>
              </a:rPr>
              <a:t>X% = 25%</a:t>
            </a:r>
            <a:endParaRPr lang="x-none" dirty="0">
              <a:solidFill>
                <a:schemeClr val="bg1"/>
              </a:solidFill>
              <a:latin typeface="Lato" pitchFamily="34" charset="0"/>
              <a:ea typeface="Open Sans" pitchFamily="34" charset="0"/>
            </a:endParaRPr>
          </a:p>
        </p:txBody>
      </p:sp>
      <p:sp>
        <p:nvSpPr>
          <p:cNvPr id="83" name="AutoShape 11"/>
          <p:cNvSpPr>
            <a:spLocks/>
          </p:cNvSpPr>
          <p:nvPr/>
        </p:nvSpPr>
        <p:spPr bwMode="auto">
          <a:xfrm>
            <a:off x="7324057" y="4899878"/>
            <a:ext cx="1703565" cy="265698"/>
          </a:xfrm>
          <a:prstGeom prst="roundRect">
            <a:avLst>
              <a:gd name="adj" fmla="val 50000"/>
            </a:avLst>
          </a:prstGeom>
          <a:solidFill>
            <a:schemeClr val="accent4">
              <a:lumMod val="75000"/>
            </a:schemeClr>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85" name="TextBox 84"/>
          <p:cNvSpPr txBox="1"/>
          <p:nvPr/>
        </p:nvSpPr>
        <p:spPr>
          <a:xfrm>
            <a:off x="889930" y="3695097"/>
            <a:ext cx="1541739" cy="430887"/>
          </a:xfrm>
          <a:prstGeom prst="rect">
            <a:avLst/>
          </a:prstGeom>
          <a:noFill/>
        </p:spPr>
        <p:txBody>
          <a:bodyPr wrap="square" rtlCol="0">
            <a:spAutoFit/>
          </a:bodyPr>
          <a:lstStyle/>
          <a:p>
            <a:r>
              <a:rPr lang="en-US" sz="2200" b="1">
                <a:solidFill>
                  <a:srgbClr val="00B050"/>
                </a:solidFill>
                <a:latin typeface="Lato Regular"/>
              </a:rPr>
              <a:t>A+</a:t>
            </a:r>
          </a:p>
        </p:txBody>
      </p:sp>
      <p:sp>
        <p:nvSpPr>
          <p:cNvPr id="86" name="TextBox 85"/>
          <p:cNvSpPr txBox="1"/>
          <p:nvPr/>
        </p:nvSpPr>
        <p:spPr>
          <a:xfrm>
            <a:off x="899964" y="4100512"/>
            <a:ext cx="2129665" cy="369332"/>
          </a:xfrm>
          <a:prstGeom prst="rect">
            <a:avLst/>
          </a:prstGeom>
          <a:noFill/>
        </p:spPr>
        <p:txBody>
          <a:bodyPr wrap="square" rtlCol="0">
            <a:spAutoFit/>
          </a:bodyPr>
          <a:lstStyle/>
          <a:p>
            <a:r>
              <a:rPr lang="en-US">
                <a:latin typeface="Lato Regular"/>
              </a:rPr>
              <a:t>Xếp loại: Xuất sắc</a:t>
            </a:r>
          </a:p>
        </p:txBody>
      </p:sp>
      <p:sp>
        <p:nvSpPr>
          <p:cNvPr id="87" name="TextBox 86"/>
          <p:cNvSpPr txBox="1"/>
          <p:nvPr/>
        </p:nvSpPr>
        <p:spPr>
          <a:xfrm>
            <a:off x="5297062" y="3704622"/>
            <a:ext cx="1541739" cy="430887"/>
          </a:xfrm>
          <a:prstGeom prst="rect">
            <a:avLst/>
          </a:prstGeom>
          <a:noFill/>
        </p:spPr>
        <p:txBody>
          <a:bodyPr wrap="square" rtlCol="0">
            <a:spAutoFit/>
          </a:bodyPr>
          <a:lstStyle/>
          <a:p>
            <a:r>
              <a:rPr lang="en-US" sz="2200" b="1">
                <a:solidFill>
                  <a:schemeClr val="accent2"/>
                </a:solidFill>
                <a:latin typeface="Lato Regular"/>
              </a:rPr>
              <a:t>B</a:t>
            </a:r>
          </a:p>
        </p:txBody>
      </p:sp>
      <p:sp>
        <p:nvSpPr>
          <p:cNvPr id="88" name="TextBox 87"/>
          <p:cNvSpPr txBox="1"/>
          <p:nvPr/>
        </p:nvSpPr>
        <p:spPr>
          <a:xfrm>
            <a:off x="5307096" y="4110037"/>
            <a:ext cx="2129665" cy="369332"/>
          </a:xfrm>
          <a:prstGeom prst="rect">
            <a:avLst/>
          </a:prstGeom>
          <a:noFill/>
        </p:spPr>
        <p:txBody>
          <a:bodyPr wrap="square" rtlCol="0">
            <a:spAutoFit/>
          </a:bodyPr>
          <a:lstStyle/>
          <a:p>
            <a:r>
              <a:rPr lang="en-US">
                <a:latin typeface="Lato Regular"/>
              </a:rPr>
              <a:t>Xếp loại: Khá</a:t>
            </a:r>
          </a:p>
        </p:txBody>
      </p:sp>
      <p:grpSp>
        <p:nvGrpSpPr>
          <p:cNvPr id="89" name="Group 88"/>
          <p:cNvGrpSpPr/>
          <p:nvPr/>
        </p:nvGrpSpPr>
        <p:grpSpPr>
          <a:xfrm rot="5400000">
            <a:off x="2657008" y="5844920"/>
            <a:ext cx="665035" cy="221615"/>
            <a:chOff x="2039224" y="2821139"/>
            <a:chExt cx="294829" cy="91440"/>
          </a:xfrm>
          <a:solidFill>
            <a:srgbClr val="92D050"/>
          </a:solidFill>
        </p:grpSpPr>
        <p:sp>
          <p:nvSpPr>
            <p:cNvPr id="90" name="Oval 89"/>
            <p:cNvSpPr/>
            <p:nvPr/>
          </p:nvSpPr>
          <p:spPr>
            <a:xfrm rot="5400000">
              <a:off x="2242613" y="2821139"/>
              <a:ext cx="91440" cy="9144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dirty="0">
                <a:latin typeface="Calibri Light"/>
              </a:endParaRPr>
            </a:p>
          </p:txBody>
        </p:sp>
        <p:cxnSp>
          <p:nvCxnSpPr>
            <p:cNvPr id="91" name="Straight Connector 90"/>
            <p:cNvCxnSpPr/>
            <p:nvPr/>
          </p:nvCxnSpPr>
          <p:spPr>
            <a:xfrm rot="16200000" flipH="1">
              <a:off x="2136960" y="2769063"/>
              <a:ext cx="59" cy="195532"/>
            </a:xfrm>
            <a:prstGeom prst="line">
              <a:avLst/>
            </a:prstGeom>
            <a:grpFill/>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92" name="TextBox 91"/>
          <p:cNvSpPr txBox="1"/>
          <p:nvPr/>
        </p:nvSpPr>
        <p:spPr>
          <a:xfrm>
            <a:off x="3157643" y="5960147"/>
            <a:ext cx="1541739" cy="430887"/>
          </a:xfrm>
          <a:prstGeom prst="rect">
            <a:avLst/>
          </a:prstGeom>
          <a:noFill/>
        </p:spPr>
        <p:txBody>
          <a:bodyPr wrap="square" rtlCol="0">
            <a:spAutoFit/>
          </a:bodyPr>
          <a:lstStyle/>
          <a:p>
            <a:r>
              <a:rPr lang="en-US" sz="2200" b="1">
                <a:solidFill>
                  <a:srgbClr val="92D050"/>
                </a:solidFill>
                <a:latin typeface="Lato Regular"/>
              </a:rPr>
              <a:t>A</a:t>
            </a:r>
          </a:p>
        </p:txBody>
      </p:sp>
      <p:sp>
        <p:nvSpPr>
          <p:cNvPr id="93" name="TextBox 92"/>
          <p:cNvSpPr txBox="1"/>
          <p:nvPr/>
        </p:nvSpPr>
        <p:spPr>
          <a:xfrm>
            <a:off x="3179487" y="5659070"/>
            <a:ext cx="2129665" cy="369332"/>
          </a:xfrm>
          <a:prstGeom prst="rect">
            <a:avLst/>
          </a:prstGeom>
          <a:noFill/>
        </p:spPr>
        <p:txBody>
          <a:bodyPr wrap="square" rtlCol="0">
            <a:spAutoFit/>
          </a:bodyPr>
          <a:lstStyle/>
          <a:p>
            <a:r>
              <a:rPr lang="en-US">
                <a:latin typeface="Lato Regular"/>
              </a:rPr>
              <a:t>Xếp loại: Tốt</a:t>
            </a:r>
          </a:p>
        </p:txBody>
      </p:sp>
      <p:sp>
        <p:nvSpPr>
          <p:cNvPr id="94" name="AutoShape 60"/>
          <p:cNvSpPr>
            <a:spLocks/>
          </p:cNvSpPr>
          <p:nvPr/>
        </p:nvSpPr>
        <p:spPr bwMode="auto">
          <a:xfrm rot="10799989">
            <a:off x="6992120" y="5426951"/>
            <a:ext cx="341461" cy="207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36" y="21599"/>
                </a:moveTo>
                <a:cubicBezTo>
                  <a:pt x="969" y="21599"/>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600" y="18480"/>
                  <a:pt x="21600" y="19171"/>
                </a:cubicBezTo>
                <a:cubicBezTo>
                  <a:pt x="21600" y="19815"/>
                  <a:pt x="21467" y="20375"/>
                  <a:pt x="21203" y="20870"/>
                </a:cubicBezTo>
                <a:cubicBezTo>
                  <a:pt x="20942" y="21359"/>
                  <a:pt x="20626" y="21599"/>
                  <a:pt x="20263" y="21599"/>
                </a:cubicBezTo>
                <a:lnTo>
                  <a:pt x="1336" y="21599"/>
                </a:lnTo>
                <a:close/>
              </a:path>
            </a:pathLst>
          </a:custGeom>
          <a:solidFill>
            <a:schemeClr val="accent4">
              <a:lumMod val="75000"/>
            </a:schemeClr>
          </a:solidFill>
          <a:ln>
            <a:noFill/>
          </a:ln>
          <a:effectLst/>
        </p:spPr>
        <p:txBody>
          <a:bodyPr lIns="38092" tIns="38092" rIns="38092" bIns="38092" anchor="ctr"/>
          <a:lstStyle/>
          <a:p>
            <a:pPr defTabSz="457109">
              <a:defRPr/>
            </a:pPr>
            <a:endParaRPr lang="es-ES" sz="3000">
              <a:effectLst>
                <a:outerShdw blurRad="38100" dist="38100" dir="2700000" algn="tl">
                  <a:srgbClr val="000000"/>
                </a:outerShdw>
              </a:effectLst>
              <a:latin typeface="Gill Sans" charset="0"/>
              <a:cs typeface="Gill Sans" charset="0"/>
              <a:sym typeface="Gill Sans" charset="0"/>
            </a:endParaRPr>
          </a:p>
        </p:txBody>
      </p:sp>
      <p:grpSp>
        <p:nvGrpSpPr>
          <p:cNvPr id="95" name="Group 94"/>
          <p:cNvGrpSpPr/>
          <p:nvPr/>
        </p:nvGrpSpPr>
        <p:grpSpPr>
          <a:xfrm rot="5400000">
            <a:off x="6835886" y="5862758"/>
            <a:ext cx="665035" cy="221615"/>
            <a:chOff x="2039224" y="2821139"/>
            <a:chExt cx="294829" cy="91440"/>
          </a:xfrm>
          <a:solidFill>
            <a:schemeClr val="accent4">
              <a:lumMod val="75000"/>
            </a:schemeClr>
          </a:solidFill>
        </p:grpSpPr>
        <p:sp>
          <p:nvSpPr>
            <p:cNvPr id="96" name="Oval 95"/>
            <p:cNvSpPr/>
            <p:nvPr/>
          </p:nvSpPr>
          <p:spPr>
            <a:xfrm rot="5400000">
              <a:off x="2242613" y="2821139"/>
              <a:ext cx="91440" cy="9144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dirty="0">
                <a:latin typeface="Calibri Light"/>
              </a:endParaRPr>
            </a:p>
          </p:txBody>
        </p:sp>
        <p:cxnSp>
          <p:nvCxnSpPr>
            <p:cNvPr id="97" name="Straight Connector 96"/>
            <p:cNvCxnSpPr/>
            <p:nvPr/>
          </p:nvCxnSpPr>
          <p:spPr>
            <a:xfrm rot="16200000" flipH="1">
              <a:off x="2136960" y="2769063"/>
              <a:ext cx="59" cy="195532"/>
            </a:xfrm>
            <a:prstGeom prst="line">
              <a:avLst/>
            </a:prstGeom>
            <a:grpFill/>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98" name="TextBox 97"/>
          <p:cNvSpPr txBox="1"/>
          <p:nvPr/>
        </p:nvSpPr>
        <p:spPr>
          <a:xfrm>
            <a:off x="7309158" y="5961359"/>
            <a:ext cx="1541739" cy="430887"/>
          </a:xfrm>
          <a:prstGeom prst="rect">
            <a:avLst/>
          </a:prstGeom>
          <a:noFill/>
        </p:spPr>
        <p:txBody>
          <a:bodyPr wrap="square" rtlCol="0">
            <a:spAutoFit/>
          </a:bodyPr>
          <a:lstStyle/>
          <a:p>
            <a:r>
              <a:rPr lang="en-US" sz="2200" b="1">
                <a:solidFill>
                  <a:schemeClr val="accent4">
                    <a:lumMod val="75000"/>
                  </a:schemeClr>
                </a:solidFill>
                <a:latin typeface="Lato Regular"/>
              </a:rPr>
              <a:t>C</a:t>
            </a:r>
          </a:p>
        </p:txBody>
      </p:sp>
      <p:sp>
        <p:nvSpPr>
          <p:cNvPr id="99" name="TextBox 98"/>
          <p:cNvSpPr txBox="1"/>
          <p:nvPr/>
        </p:nvSpPr>
        <p:spPr>
          <a:xfrm>
            <a:off x="7321477" y="5650757"/>
            <a:ext cx="2316094" cy="369332"/>
          </a:xfrm>
          <a:prstGeom prst="rect">
            <a:avLst/>
          </a:prstGeom>
          <a:noFill/>
        </p:spPr>
        <p:txBody>
          <a:bodyPr wrap="square" rtlCol="0">
            <a:spAutoFit/>
          </a:bodyPr>
          <a:lstStyle/>
          <a:p>
            <a:r>
              <a:rPr lang="en-US">
                <a:latin typeface="Lato Regular"/>
              </a:rPr>
              <a:t>Xếp loại: Trung bình</a:t>
            </a:r>
          </a:p>
        </p:txBody>
      </p:sp>
      <p:sp>
        <p:nvSpPr>
          <p:cNvPr id="100" name="Rectangle 99"/>
          <p:cNvSpPr/>
          <p:nvPr/>
        </p:nvSpPr>
        <p:spPr>
          <a:xfrm>
            <a:off x="1333896" y="327184"/>
            <a:ext cx="9823541" cy="523220"/>
          </a:xfrm>
          <a:prstGeom prst="rect">
            <a:avLst/>
          </a:prstGeom>
        </p:spPr>
        <p:txBody>
          <a:bodyPr wrap="square">
            <a:spAutoFit/>
          </a:bodyPr>
          <a:lstStyle/>
          <a:p>
            <a:r>
              <a:rPr lang="en-US" sz="2800" b="1" dirty="0">
                <a:solidFill>
                  <a:schemeClr val="bg1"/>
                </a:solidFill>
                <a:latin typeface="Verdana" panose="020B0604030504040204" pitchFamily="34" charset="0"/>
                <a:ea typeface="Verdana" panose="020B0604030504040204" pitchFamily="34" charset="0"/>
              </a:rPr>
              <a:t>3. </a:t>
            </a:r>
            <a:r>
              <a:rPr lang="vi-VN" sz="2800" b="1" dirty="0">
                <a:solidFill>
                  <a:schemeClr val="bg1"/>
                </a:solidFill>
                <a:latin typeface="Verdana" panose="020B0604030504040204" pitchFamily="34" charset="0"/>
                <a:ea typeface="Verdana" panose="020B0604030504040204" pitchFamily="34" charset="0"/>
              </a:rPr>
              <a:t>CÔNG THỨC TÍNH TẠM ỨNG THƯỞNG HQDA</a:t>
            </a:r>
            <a:endParaRPr lang="en-US" sz="2800" b="1" dirty="0">
              <a:solidFill>
                <a:schemeClr val="bg1"/>
              </a:solidFill>
              <a:latin typeface="Verdana" panose="020B0604030504040204" pitchFamily="34" charset="0"/>
              <a:ea typeface="Verdana" panose="020B0604030504040204" pitchFamily="34" charset="0"/>
            </a:endParaRPr>
          </a:p>
        </p:txBody>
      </p:sp>
      <p:sp>
        <p:nvSpPr>
          <p:cNvPr id="102" name="TextBox 101"/>
          <p:cNvSpPr txBox="1"/>
          <p:nvPr/>
        </p:nvSpPr>
        <p:spPr>
          <a:xfrm>
            <a:off x="733431" y="1170968"/>
            <a:ext cx="9606336" cy="338554"/>
          </a:xfrm>
          <a:prstGeom prst="rect">
            <a:avLst/>
          </a:prstGeom>
          <a:noFill/>
          <a:ln>
            <a:noFill/>
          </a:ln>
        </p:spPr>
        <p:txBody>
          <a:bodyPr wrap="square" rtlCol="0">
            <a:spAutoFit/>
          </a:bodyPr>
          <a:lstStyle/>
          <a:p>
            <a:pPr algn="ctr"/>
            <a:r>
              <a:rPr lang="en-US" sz="1600" b="1" dirty="0" err="1">
                <a:solidFill>
                  <a:schemeClr val="tx2"/>
                </a:solidFill>
                <a:latin typeface="Sinkin Sans 600 SemiBold"/>
              </a:rPr>
              <a:t>Tạm</a:t>
            </a:r>
            <a:r>
              <a:rPr lang="en-US" sz="1600" b="1" dirty="0">
                <a:solidFill>
                  <a:schemeClr val="tx2"/>
                </a:solidFill>
                <a:latin typeface="Sinkin Sans 600 SemiBold"/>
              </a:rPr>
              <a:t> </a:t>
            </a:r>
            <a:r>
              <a:rPr lang="en-US" sz="1600" b="1" dirty="0" err="1">
                <a:solidFill>
                  <a:schemeClr val="tx2"/>
                </a:solidFill>
                <a:latin typeface="Sinkin Sans 600 SemiBold"/>
              </a:rPr>
              <a:t>ứng</a:t>
            </a:r>
            <a:r>
              <a:rPr lang="en-US" sz="1600" b="1" dirty="0">
                <a:solidFill>
                  <a:schemeClr val="tx2"/>
                </a:solidFill>
                <a:latin typeface="Sinkin Sans 600 SemiBold"/>
              </a:rPr>
              <a:t> </a:t>
            </a:r>
            <a:r>
              <a:rPr lang="en-US" sz="1600" b="1" dirty="0" err="1">
                <a:solidFill>
                  <a:schemeClr val="tx2"/>
                </a:solidFill>
                <a:latin typeface="Sinkin Sans 600 SemiBold"/>
              </a:rPr>
              <a:t>thưởng</a:t>
            </a:r>
            <a:r>
              <a:rPr lang="en-US" sz="1600" b="1" dirty="0">
                <a:solidFill>
                  <a:schemeClr val="tx2"/>
                </a:solidFill>
                <a:latin typeface="Sinkin Sans 600 SemiBold"/>
              </a:rPr>
              <a:t> </a:t>
            </a:r>
            <a:r>
              <a:rPr lang="en-US" sz="1600" b="1" dirty="0" err="1">
                <a:solidFill>
                  <a:schemeClr val="tx2"/>
                </a:solidFill>
                <a:latin typeface="Sinkin Sans 600 SemiBold"/>
              </a:rPr>
              <a:t>hiệu</a:t>
            </a:r>
            <a:r>
              <a:rPr lang="en-US" sz="1600" b="1" dirty="0">
                <a:solidFill>
                  <a:schemeClr val="tx2"/>
                </a:solidFill>
                <a:latin typeface="Sinkin Sans 600 SemiBold"/>
              </a:rPr>
              <a:t> </a:t>
            </a:r>
            <a:r>
              <a:rPr lang="en-US" sz="1600" b="1" dirty="0" err="1">
                <a:solidFill>
                  <a:schemeClr val="tx2"/>
                </a:solidFill>
                <a:latin typeface="Sinkin Sans 600 SemiBold"/>
              </a:rPr>
              <a:t>quả</a:t>
            </a:r>
            <a:r>
              <a:rPr lang="en-US" sz="1600" b="1" dirty="0">
                <a:solidFill>
                  <a:schemeClr val="tx2"/>
                </a:solidFill>
                <a:latin typeface="Sinkin Sans 600 SemiBold"/>
              </a:rPr>
              <a:t> </a:t>
            </a:r>
            <a:r>
              <a:rPr lang="en-US" sz="1600" b="1" dirty="0" err="1">
                <a:solidFill>
                  <a:schemeClr val="tx2"/>
                </a:solidFill>
                <a:latin typeface="Sinkin Sans 600 SemiBold"/>
              </a:rPr>
              <a:t>dự</a:t>
            </a:r>
            <a:r>
              <a:rPr lang="en-US" sz="1600" b="1" dirty="0">
                <a:solidFill>
                  <a:schemeClr val="tx2"/>
                </a:solidFill>
                <a:latin typeface="Sinkin Sans 600 SemiBold"/>
              </a:rPr>
              <a:t> </a:t>
            </a:r>
            <a:r>
              <a:rPr lang="en-US" sz="1600" b="1" dirty="0" err="1">
                <a:solidFill>
                  <a:schemeClr val="tx2"/>
                </a:solidFill>
                <a:latin typeface="Sinkin Sans 600 SemiBold"/>
              </a:rPr>
              <a:t>án</a:t>
            </a:r>
            <a:r>
              <a:rPr lang="en-US" sz="1600" b="1" dirty="0">
                <a:solidFill>
                  <a:schemeClr val="tx2"/>
                </a:solidFill>
                <a:latin typeface="Sinkin Sans 600 SemiBold"/>
              </a:rPr>
              <a:t>  = 20%</a:t>
            </a:r>
            <a:r>
              <a:rPr lang="en-US" sz="1600" b="1" baseline="-25000" dirty="0">
                <a:solidFill>
                  <a:schemeClr val="tx2"/>
                </a:solidFill>
                <a:latin typeface="Sinkin Sans 600 SemiBold"/>
              </a:rPr>
              <a:t> </a:t>
            </a:r>
            <a:r>
              <a:rPr lang="en-US" sz="1600" b="1" dirty="0">
                <a:solidFill>
                  <a:schemeClr val="tx2"/>
                </a:solidFill>
                <a:latin typeface="Sinkin Sans 600 SemiBold"/>
              </a:rPr>
              <a:t>* </a:t>
            </a:r>
            <a:r>
              <a:rPr lang="en-US" sz="1600" b="1" dirty="0" err="1">
                <a:solidFill>
                  <a:schemeClr val="tx2"/>
                </a:solidFill>
                <a:latin typeface="Sinkin Sans 600 SemiBold"/>
              </a:rPr>
              <a:t>Lương</a:t>
            </a:r>
            <a:r>
              <a:rPr lang="en-US" sz="1600" b="1" dirty="0">
                <a:solidFill>
                  <a:schemeClr val="tx2"/>
                </a:solidFill>
                <a:latin typeface="Sinkin Sans 600 SemiBold"/>
              </a:rPr>
              <a:t> </a:t>
            </a:r>
            <a:r>
              <a:rPr lang="en-US" sz="1600" b="1" dirty="0" err="1">
                <a:solidFill>
                  <a:schemeClr val="tx2"/>
                </a:solidFill>
                <a:latin typeface="Sinkin Sans 600 SemiBold"/>
              </a:rPr>
              <a:t>cơ</a:t>
            </a:r>
            <a:r>
              <a:rPr lang="en-US" sz="1600" b="1" dirty="0">
                <a:solidFill>
                  <a:schemeClr val="tx2"/>
                </a:solidFill>
                <a:latin typeface="Sinkin Sans 600 SemiBold"/>
              </a:rPr>
              <a:t> </a:t>
            </a:r>
            <a:r>
              <a:rPr lang="en-US" sz="1600" b="1" dirty="0" err="1">
                <a:solidFill>
                  <a:schemeClr val="tx2"/>
                </a:solidFill>
                <a:latin typeface="Sinkin Sans 600 SemiBold"/>
              </a:rPr>
              <a:t>sở</a:t>
            </a:r>
            <a:r>
              <a:rPr lang="en-US" sz="1600" b="1" dirty="0">
                <a:solidFill>
                  <a:schemeClr val="tx2"/>
                </a:solidFill>
                <a:latin typeface="Sinkin Sans 600 SemiBold"/>
              </a:rPr>
              <a:t> * </a:t>
            </a:r>
            <a:r>
              <a:rPr lang="en-US" sz="1600" b="1" dirty="0" err="1">
                <a:solidFill>
                  <a:schemeClr val="tx2"/>
                </a:solidFill>
                <a:latin typeface="Sinkin Sans 600 SemiBold"/>
              </a:rPr>
              <a:t>H</a:t>
            </a:r>
            <a:r>
              <a:rPr lang="en-US" sz="1600" b="1" baseline="-25000" dirty="0" err="1">
                <a:solidFill>
                  <a:schemeClr val="tx2"/>
                </a:solidFill>
                <a:latin typeface="Sinkin Sans 600 SemiBold"/>
              </a:rPr>
              <a:t>dự</a:t>
            </a:r>
            <a:r>
              <a:rPr lang="en-US" sz="1600" b="1" baseline="-25000" dirty="0">
                <a:solidFill>
                  <a:schemeClr val="tx2"/>
                </a:solidFill>
                <a:latin typeface="Sinkin Sans 600 SemiBold"/>
              </a:rPr>
              <a:t> </a:t>
            </a:r>
            <a:r>
              <a:rPr lang="en-US" sz="1600" b="1" baseline="-25000" dirty="0" err="1">
                <a:solidFill>
                  <a:schemeClr val="tx2"/>
                </a:solidFill>
                <a:latin typeface="Sinkin Sans 600 SemiBold"/>
              </a:rPr>
              <a:t>án</a:t>
            </a:r>
            <a:r>
              <a:rPr lang="en-US" sz="1600" b="1" dirty="0">
                <a:solidFill>
                  <a:schemeClr val="tx2"/>
                </a:solidFill>
                <a:latin typeface="Sinkin Sans 600 SemiBold"/>
              </a:rPr>
              <a:t> * </a:t>
            </a:r>
            <a:r>
              <a:rPr lang="en-US" sz="1600" b="1" dirty="0" err="1">
                <a:solidFill>
                  <a:schemeClr val="tx2"/>
                </a:solidFill>
                <a:latin typeface="Sinkin Sans 600 SemiBold"/>
              </a:rPr>
              <a:t>H</a:t>
            </a:r>
            <a:r>
              <a:rPr lang="en-US" sz="1600" b="1" baseline="-25000" dirty="0" err="1">
                <a:solidFill>
                  <a:schemeClr val="tx2"/>
                </a:solidFill>
                <a:latin typeface="Sinkin Sans 600 SemiBold"/>
              </a:rPr>
              <a:t>cá</a:t>
            </a:r>
            <a:r>
              <a:rPr lang="en-US" sz="1600" b="1" baseline="-25000" dirty="0">
                <a:solidFill>
                  <a:schemeClr val="tx2"/>
                </a:solidFill>
                <a:latin typeface="Sinkin Sans 600 SemiBold"/>
              </a:rPr>
              <a:t> </a:t>
            </a:r>
            <a:r>
              <a:rPr lang="en-US" sz="1600" b="1" baseline="-25000" dirty="0" err="1">
                <a:solidFill>
                  <a:schemeClr val="tx2"/>
                </a:solidFill>
                <a:latin typeface="Sinkin Sans 600 SemiBold"/>
              </a:rPr>
              <a:t>nhân</a:t>
            </a:r>
            <a:endParaRPr lang="en-US" sz="1600" b="1" dirty="0">
              <a:solidFill>
                <a:schemeClr val="tx2"/>
              </a:solidFill>
              <a:latin typeface="Sinkin Sans 600 SemiBold"/>
            </a:endParaRPr>
          </a:p>
        </p:txBody>
      </p:sp>
      <p:sp>
        <p:nvSpPr>
          <p:cNvPr id="103" name="TextBox 102"/>
          <p:cNvSpPr txBox="1"/>
          <p:nvPr/>
        </p:nvSpPr>
        <p:spPr>
          <a:xfrm>
            <a:off x="503788" y="1695450"/>
            <a:ext cx="10285236" cy="1702710"/>
          </a:xfrm>
          <a:prstGeom prst="rect">
            <a:avLst/>
          </a:prstGeom>
          <a:noFill/>
        </p:spPr>
        <p:txBody>
          <a:bodyPr wrap="square" rtlCol="0">
            <a:spAutoFit/>
          </a:bodyPr>
          <a:lstStyle/>
          <a:p>
            <a:pPr>
              <a:lnSpc>
                <a:spcPct val="150000"/>
              </a:lnSpc>
            </a:pPr>
            <a:r>
              <a:rPr lang="en-US" b="1" i="1" dirty="0">
                <a:solidFill>
                  <a:schemeClr val="tx2"/>
                </a:solidFill>
                <a:latin typeface="Lato Regular"/>
              </a:rPr>
              <a:t>Trong </a:t>
            </a:r>
            <a:r>
              <a:rPr lang="en-US" b="1" i="1" dirty="0" err="1">
                <a:solidFill>
                  <a:schemeClr val="tx2"/>
                </a:solidFill>
                <a:latin typeface="Lato Regular"/>
              </a:rPr>
              <a:t>đó</a:t>
            </a:r>
            <a:r>
              <a:rPr lang="en-US" b="1" i="1" dirty="0">
                <a:solidFill>
                  <a:schemeClr val="tx2"/>
                </a:solidFill>
                <a:latin typeface="Lato Regular"/>
              </a:rPr>
              <a:t>:</a:t>
            </a:r>
          </a:p>
          <a:p>
            <a:pPr marL="285750" indent="-285750">
              <a:lnSpc>
                <a:spcPct val="150000"/>
              </a:lnSpc>
              <a:buFont typeface="Wingdings" panose="05000000000000000000" pitchFamily="2" charset="2"/>
              <a:buChar char="v"/>
            </a:pPr>
            <a:r>
              <a:rPr lang="en-US" dirty="0" err="1">
                <a:solidFill>
                  <a:schemeClr val="tx2"/>
                </a:solidFill>
                <a:latin typeface="Lato Regular"/>
              </a:rPr>
              <a:t>Tổng</a:t>
            </a:r>
            <a:r>
              <a:rPr lang="en-US" dirty="0">
                <a:solidFill>
                  <a:schemeClr val="tx2"/>
                </a:solidFill>
                <a:latin typeface="Lato Regular"/>
              </a:rPr>
              <a:t> </a:t>
            </a:r>
            <a:r>
              <a:rPr lang="en-US" dirty="0" err="1">
                <a:solidFill>
                  <a:schemeClr val="tx2"/>
                </a:solidFill>
                <a:latin typeface="Lato Regular"/>
              </a:rPr>
              <a:t>tạm</a:t>
            </a:r>
            <a:r>
              <a:rPr lang="en-US" dirty="0">
                <a:solidFill>
                  <a:schemeClr val="tx2"/>
                </a:solidFill>
                <a:latin typeface="Lato Regular"/>
              </a:rPr>
              <a:t> </a:t>
            </a:r>
            <a:r>
              <a:rPr lang="en-US" dirty="0" err="1">
                <a:solidFill>
                  <a:schemeClr val="tx2"/>
                </a:solidFill>
                <a:latin typeface="Lato Regular"/>
              </a:rPr>
              <a:t>ứng</a:t>
            </a:r>
            <a:r>
              <a:rPr lang="en-US" dirty="0">
                <a:solidFill>
                  <a:schemeClr val="tx2"/>
                </a:solidFill>
                <a:latin typeface="Lato Regular"/>
              </a:rPr>
              <a:t> </a:t>
            </a:r>
            <a:r>
              <a:rPr lang="en-US" dirty="0" err="1">
                <a:solidFill>
                  <a:schemeClr val="tx2"/>
                </a:solidFill>
                <a:latin typeface="Lato Regular"/>
              </a:rPr>
              <a:t>hiệu</a:t>
            </a:r>
            <a:r>
              <a:rPr lang="en-US" dirty="0">
                <a:solidFill>
                  <a:schemeClr val="tx2"/>
                </a:solidFill>
                <a:latin typeface="Lato Regular"/>
              </a:rPr>
              <a:t> </a:t>
            </a:r>
            <a:r>
              <a:rPr lang="en-US" dirty="0" err="1">
                <a:solidFill>
                  <a:schemeClr val="tx2"/>
                </a:solidFill>
                <a:latin typeface="Lato Regular"/>
              </a:rPr>
              <a:t>quả</a:t>
            </a:r>
            <a:r>
              <a:rPr lang="en-US" dirty="0">
                <a:solidFill>
                  <a:schemeClr val="tx2"/>
                </a:solidFill>
                <a:latin typeface="Lato Regular"/>
              </a:rPr>
              <a:t> </a:t>
            </a:r>
            <a:r>
              <a:rPr lang="en-US" dirty="0" err="1">
                <a:solidFill>
                  <a:schemeClr val="tx2"/>
                </a:solidFill>
                <a:latin typeface="Lato Regular"/>
              </a:rPr>
              <a:t>dự</a:t>
            </a:r>
            <a:r>
              <a:rPr lang="en-US" dirty="0">
                <a:solidFill>
                  <a:schemeClr val="tx2"/>
                </a:solidFill>
                <a:latin typeface="Lato Regular"/>
              </a:rPr>
              <a:t> </a:t>
            </a:r>
            <a:r>
              <a:rPr lang="en-US" dirty="0" err="1">
                <a:solidFill>
                  <a:schemeClr val="tx2"/>
                </a:solidFill>
                <a:latin typeface="Lato Regular"/>
              </a:rPr>
              <a:t>án</a:t>
            </a:r>
            <a:r>
              <a:rPr lang="en-US" dirty="0">
                <a:solidFill>
                  <a:schemeClr val="tx2"/>
                </a:solidFill>
                <a:latin typeface="Lato Regular"/>
              </a:rPr>
              <a:t> </a:t>
            </a:r>
            <a:r>
              <a:rPr lang="en-US" dirty="0" err="1">
                <a:solidFill>
                  <a:schemeClr val="tx2"/>
                </a:solidFill>
                <a:latin typeface="Lato Regular"/>
              </a:rPr>
              <a:t>không</a:t>
            </a:r>
            <a:r>
              <a:rPr lang="en-US" dirty="0">
                <a:solidFill>
                  <a:schemeClr val="tx2"/>
                </a:solidFill>
                <a:latin typeface="Lato Regular"/>
              </a:rPr>
              <a:t> </a:t>
            </a:r>
            <a:r>
              <a:rPr lang="en-US" dirty="0" err="1">
                <a:solidFill>
                  <a:schemeClr val="tx2"/>
                </a:solidFill>
                <a:latin typeface="Lato Regular"/>
              </a:rPr>
              <a:t>vượt</a:t>
            </a:r>
            <a:r>
              <a:rPr lang="en-US" dirty="0">
                <a:solidFill>
                  <a:schemeClr val="tx2"/>
                </a:solidFill>
                <a:latin typeface="Lato Regular"/>
              </a:rPr>
              <a:t> </a:t>
            </a:r>
            <a:r>
              <a:rPr lang="en-US" dirty="0" err="1">
                <a:solidFill>
                  <a:schemeClr val="tx2"/>
                </a:solidFill>
                <a:latin typeface="Lato Regular"/>
              </a:rPr>
              <a:t>quá</a:t>
            </a:r>
            <a:r>
              <a:rPr lang="en-US" dirty="0">
                <a:solidFill>
                  <a:schemeClr val="tx2"/>
                </a:solidFill>
                <a:latin typeface="Lato Regular"/>
              </a:rPr>
              <a:t>            </a:t>
            </a:r>
          </a:p>
          <a:p>
            <a:pPr marL="285750" indent="-285750">
              <a:lnSpc>
                <a:spcPct val="150000"/>
              </a:lnSpc>
              <a:buFont typeface="Wingdings" panose="05000000000000000000" pitchFamily="2" charset="2"/>
              <a:buChar char="v"/>
            </a:pPr>
            <a:r>
              <a:rPr lang="en-US" b="1" dirty="0" err="1">
                <a:solidFill>
                  <a:schemeClr val="tx2"/>
                </a:solidFill>
                <a:latin typeface="Sinkin Sans 600 SemiBold"/>
              </a:rPr>
              <a:t>H</a:t>
            </a:r>
            <a:r>
              <a:rPr lang="en-US" b="1" baseline="-25000" dirty="0" err="1">
                <a:solidFill>
                  <a:schemeClr val="tx2"/>
                </a:solidFill>
                <a:latin typeface="Sinkin Sans 600 SemiBold"/>
              </a:rPr>
              <a:t>dự</a:t>
            </a:r>
            <a:r>
              <a:rPr lang="en-US" b="1" baseline="-25000" dirty="0">
                <a:solidFill>
                  <a:schemeClr val="tx2"/>
                </a:solidFill>
                <a:latin typeface="Sinkin Sans 600 SemiBold"/>
              </a:rPr>
              <a:t> </a:t>
            </a:r>
            <a:r>
              <a:rPr lang="en-US" b="1" baseline="-25000" dirty="0" err="1">
                <a:solidFill>
                  <a:schemeClr val="tx2"/>
                </a:solidFill>
                <a:latin typeface="Sinkin Sans 600 SemiBold"/>
              </a:rPr>
              <a:t>án</a:t>
            </a:r>
            <a:r>
              <a:rPr lang="en-US" b="1" dirty="0">
                <a:solidFill>
                  <a:schemeClr val="tx2"/>
                </a:solidFill>
                <a:latin typeface="Sinkin Sans 600 SemiBold"/>
              </a:rPr>
              <a:t> </a:t>
            </a:r>
            <a:r>
              <a:rPr lang="en-US" dirty="0" err="1">
                <a:solidFill>
                  <a:schemeClr val="tx2"/>
                </a:solidFill>
                <a:latin typeface="Lato Regular"/>
              </a:rPr>
              <a:t>được</a:t>
            </a:r>
            <a:r>
              <a:rPr lang="en-US" dirty="0">
                <a:solidFill>
                  <a:schemeClr val="tx2"/>
                </a:solidFill>
                <a:latin typeface="Lato Regular"/>
              </a:rPr>
              <a:t> </a:t>
            </a:r>
            <a:r>
              <a:rPr lang="en-US" dirty="0" err="1">
                <a:solidFill>
                  <a:schemeClr val="tx2"/>
                </a:solidFill>
                <a:latin typeface="Lato Regular"/>
              </a:rPr>
              <a:t>tính</a:t>
            </a:r>
            <a:r>
              <a:rPr lang="en-US" dirty="0">
                <a:solidFill>
                  <a:schemeClr val="tx2"/>
                </a:solidFill>
                <a:latin typeface="Lato Regular"/>
              </a:rPr>
              <a:t> </a:t>
            </a:r>
            <a:r>
              <a:rPr lang="en-US" dirty="0" err="1">
                <a:solidFill>
                  <a:schemeClr val="tx2"/>
                </a:solidFill>
                <a:latin typeface="Lato Regular"/>
              </a:rPr>
              <a:t>bằng</a:t>
            </a:r>
            <a:r>
              <a:rPr lang="en-US" dirty="0">
                <a:solidFill>
                  <a:schemeClr val="tx2"/>
                </a:solidFill>
                <a:latin typeface="Lato Regular"/>
              </a:rPr>
              <a:t> </a:t>
            </a:r>
            <a:r>
              <a:rPr lang="en-US" dirty="0" err="1">
                <a:solidFill>
                  <a:schemeClr val="tx2"/>
                </a:solidFill>
                <a:latin typeface="Lato Regular"/>
              </a:rPr>
              <a:t>điểm</a:t>
            </a:r>
            <a:r>
              <a:rPr lang="en-US" dirty="0">
                <a:solidFill>
                  <a:schemeClr val="tx2"/>
                </a:solidFill>
                <a:latin typeface="Lato Regular"/>
              </a:rPr>
              <a:t> </a:t>
            </a:r>
            <a:r>
              <a:rPr lang="en-US" dirty="0" err="1">
                <a:solidFill>
                  <a:schemeClr val="tx2"/>
                </a:solidFill>
                <a:latin typeface="Lato Regular"/>
              </a:rPr>
              <a:t>dự</a:t>
            </a:r>
            <a:r>
              <a:rPr lang="en-US" dirty="0">
                <a:solidFill>
                  <a:schemeClr val="tx2"/>
                </a:solidFill>
                <a:latin typeface="Lato Regular"/>
              </a:rPr>
              <a:t> </a:t>
            </a:r>
            <a:r>
              <a:rPr lang="en-US" dirty="0" err="1">
                <a:solidFill>
                  <a:schemeClr val="tx2"/>
                </a:solidFill>
                <a:latin typeface="Lato Regular"/>
              </a:rPr>
              <a:t>án</a:t>
            </a:r>
            <a:r>
              <a:rPr lang="en-US" dirty="0">
                <a:solidFill>
                  <a:schemeClr val="tx2"/>
                </a:solidFill>
                <a:latin typeface="Lato Regular"/>
              </a:rPr>
              <a:t> </a:t>
            </a:r>
            <a:r>
              <a:rPr lang="en-US" b="1" dirty="0">
                <a:solidFill>
                  <a:schemeClr val="tx2"/>
                </a:solidFill>
                <a:latin typeface="Sinkin Sans 600 SemiBold"/>
              </a:rPr>
              <a:t>[0.8, 1.2] </a:t>
            </a:r>
            <a:r>
              <a:rPr lang="en-US" dirty="0" err="1">
                <a:solidFill>
                  <a:schemeClr val="tx2"/>
                </a:solidFill>
                <a:latin typeface="Lato Regular"/>
              </a:rPr>
              <a:t>nhân</a:t>
            </a:r>
            <a:r>
              <a:rPr lang="en-US" dirty="0">
                <a:solidFill>
                  <a:schemeClr val="tx2"/>
                </a:solidFill>
                <a:latin typeface="Lato Regular"/>
              </a:rPr>
              <a:t> </a:t>
            </a:r>
            <a:r>
              <a:rPr lang="en-US" dirty="0" err="1">
                <a:solidFill>
                  <a:schemeClr val="tx2"/>
                </a:solidFill>
                <a:latin typeface="Lato Regular"/>
              </a:rPr>
              <a:t>với</a:t>
            </a:r>
            <a:r>
              <a:rPr lang="en-US" dirty="0">
                <a:solidFill>
                  <a:schemeClr val="tx2"/>
                </a:solidFill>
                <a:latin typeface="Lato Regular"/>
              </a:rPr>
              <a:t> </a:t>
            </a:r>
            <a:r>
              <a:rPr lang="en-US" dirty="0" err="1">
                <a:solidFill>
                  <a:schemeClr val="tx2"/>
                </a:solidFill>
                <a:latin typeface="Lato Regular"/>
              </a:rPr>
              <a:t>hệ</a:t>
            </a:r>
            <a:r>
              <a:rPr lang="en-US" dirty="0">
                <a:solidFill>
                  <a:schemeClr val="tx2"/>
                </a:solidFill>
                <a:latin typeface="Lato Regular"/>
              </a:rPr>
              <a:t> </a:t>
            </a:r>
            <a:r>
              <a:rPr lang="en-US" dirty="0" err="1">
                <a:solidFill>
                  <a:schemeClr val="tx2"/>
                </a:solidFill>
                <a:latin typeface="Lato Regular"/>
              </a:rPr>
              <a:t>số</a:t>
            </a:r>
            <a:r>
              <a:rPr lang="en-US" dirty="0">
                <a:solidFill>
                  <a:schemeClr val="tx2"/>
                </a:solidFill>
                <a:latin typeface="Lato Regular"/>
              </a:rPr>
              <a:t> </a:t>
            </a:r>
            <a:r>
              <a:rPr lang="en-US" dirty="0" err="1">
                <a:solidFill>
                  <a:schemeClr val="tx2"/>
                </a:solidFill>
                <a:latin typeface="Lato Regular"/>
              </a:rPr>
              <a:t>cân</a:t>
            </a:r>
            <a:r>
              <a:rPr lang="en-US" dirty="0">
                <a:solidFill>
                  <a:schemeClr val="tx2"/>
                </a:solidFill>
                <a:latin typeface="Lato Regular"/>
              </a:rPr>
              <a:t> </a:t>
            </a:r>
            <a:r>
              <a:rPr lang="en-US" dirty="0" err="1">
                <a:solidFill>
                  <a:schemeClr val="tx2"/>
                </a:solidFill>
                <a:latin typeface="Lato Regular"/>
              </a:rPr>
              <a:t>bằng</a:t>
            </a:r>
            <a:r>
              <a:rPr lang="en-US" dirty="0">
                <a:solidFill>
                  <a:schemeClr val="tx2"/>
                </a:solidFill>
                <a:latin typeface="Lato Regular"/>
              </a:rPr>
              <a:t> (</a:t>
            </a:r>
            <a:r>
              <a:rPr lang="en-US" dirty="0" err="1">
                <a:solidFill>
                  <a:schemeClr val="tx2"/>
                </a:solidFill>
                <a:latin typeface="Lato Regular"/>
              </a:rPr>
              <a:t>nếu</a:t>
            </a:r>
            <a:r>
              <a:rPr lang="en-US" dirty="0">
                <a:solidFill>
                  <a:schemeClr val="tx2"/>
                </a:solidFill>
                <a:latin typeface="Lato Regular"/>
              </a:rPr>
              <a:t> </a:t>
            </a:r>
            <a:r>
              <a:rPr lang="en-US" dirty="0" err="1">
                <a:solidFill>
                  <a:schemeClr val="tx2"/>
                </a:solidFill>
                <a:latin typeface="Lato Regular"/>
              </a:rPr>
              <a:t>tổng</a:t>
            </a:r>
            <a:r>
              <a:rPr lang="en-US" dirty="0">
                <a:solidFill>
                  <a:schemeClr val="tx2"/>
                </a:solidFill>
                <a:latin typeface="Lato Regular"/>
              </a:rPr>
              <a:t> </a:t>
            </a:r>
            <a:r>
              <a:rPr lang="en-US" dirty="0" err="1">
                <a:solidFill>
                  <a:schemeClr val="tx2"/>
                </a:solidFill>
                <a:latin typeface="Lato Regular"/>
              </a:rPr>
              <a:t>tạm</a:t>
            </a:r>
            <a:r>
              <a:rPr lang="en-US" dirty="0">
                <a:solidFill>
                  <a:schemeClr val="tx2"/>
                </a:solidFill>
                <a:latin typeface="Lato Regular"/>
              </a:rPr>
              <a:t> </a:t>
            </a:r>
            <a:r>
              <a:rPr lang="en-US" dirty="0" err="1">
                <a:solidFill>
                  <a:schemeClr val="tx2"/>
                </a:solidFill>
                <a:latin typeface="Lato Regular"/>
              </a:rPr>
              <a:t>ứng</a:t>
            </a:r>
            <a:r>
              <a:rPr lang="en-US" dirty="0">
                <a:solidFill>
                  <a:schemeClr val="tx2"/>
                </a:solidFill>
                <a:latin typeface="Lato Regular"/>
              </a:rPr>
              <a:t> </a:t>
            </a:r>
            <a:r>
              <a:rPr lang="en-US" dirty="0" err="1">
                <a:solidFill>
                  <a:schemeClr val="tx2"/>
                </a:solidFill>
                <a:latin typeface="Lato Regular"/>
              </a:rPr>
              <a:t>vượt</a:t>
            </a:r>
            <a:r>
              <a:rPr lang="en-US" dirty="0">
                <a:solidFill>
                  <a:schemeClr val="tx2"/>
                </a:solidFill>
                <a:latin typeface="Lato Regular"/>
              </a:rPr>
              <a:t> </a:t>
            </a:r>
            <a:r>
              <a:rPr lang="en-US" dirty="0" err="1">
                <a:solidFill>
                  <a:schemeClr val="tx2"/>
                </a:solidFill>
                <a:latin typeface="Lato Regular"/>
              </a:rPr>
              <a:t>quá</a:t>
            </a:r>
            <a:r>
              <a:rPr lang="en-US" dirty="0">
                <a:solidFill>
                  <a:schemeClr val="tx2"/>
                </a:solidFill>
                <a:latin typeface="Lato Regular"/>
              </a:rPr>
              <a:t> </a:t>
            </a:r>
            <a:r>
              <a:rPr lang="en-US" dirty="0" err="1">
                <a:solidFill>
                  <a:schemeClr val="tx2"/>
                </a:solidFill>
                <a:latin typeface="Lato Regular"/>
              </a:rPr>
              <a:t>quy</a:t>
            </a:r>
            <a:r>
              <a:rPr lang="en-US" dirty="0">
                <a:solidFill>
                  <a:schemeClr val="tx2"/>
                </a:solidFill>
                <a:latin typeface="Lato Regular"/>
              </a:rPr>
              <a:t> </a:t>
            </a:r>
            <a:r>
              <a:rPr lang="en-US" dirty="0" err="1">
                <a:solidFill>
                  <a:schemeClr val="tx2"/>
                </a:solidFill>
                <a:latin typeface="Lato Regular"/>
              </a:rPr>
              <a:t>định</a:t>
            </a:r>
            <a:r>
              <a:rPr lang="en-US" dirty="0">
                <a:solidFill>
                  <a:schemeClr val="tx2"/>
                </a:solidFill>
                <a:latin typeface="Lato Regular"/>
              </a:rPr>
              <a:t>)</a:t>
            </a:r>
          </a:p>
        </p:txBody>
      </p:sp>
      <p:sp>
        <p:nvSpPr>
          <p:cNvPr id="55" name="AutoShape 11"/>
          <p:cNvSpPr>
            <a:spLocks/>
          </p:cNvSpPr>
          <p:nvPr/>
        </p:nvSpPr>
        <p:spPr bwMode="auto">
          <a:xfrm>
            <a:off x="9294927" y="4895218"/>
            <a:ext cx="1825040" cy="265698"/>
          </a:xfrm>
          <a:prstGeom prst="roundRect">
            <a:avLst>
              <a:gd name="adj" fmla="val 50000"/>
            </a:avLst>
          </a:prstGeom>
          <a:solidFill>
            <a:schemeClr val="tx2"/>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58" name="AutoShape 54"/>
          <p:cNvSpPr>
            <a:spLocks/>
          </p:cNvSpPr>
          <p:nvPr/>
        </p:nvSpPr>
        <p:spPr bwMode="auto">
          <a:xfrm rot="21599989">
            <a:off x="9033836" y="4445906"/>
            <a:ext cx="309434" cy="207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36" y="21599"/>
                </a:moveTo>
                <a:cubicBezTo>
                  <a:pt x="969" y="21599"/>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600" y="18480"/>
                  <a:pt x="21600" y="19171"/>
                </a:cubicBezTo>
                <a:cubicBezTo>
                  <a:pt x="21600" y="19815"/>
                  <a:pt x="21467" y="20375"/>
                  <a:pt x="21203" y="20870"/>
                </a:cubicBezTo>
                <a:cubicBezTo>
                  <a:pt x="20942" y="21359"/>
                  <a:pt x="20626" y="21599"/>
                  <a:pt x="20263" y="21599"/>
                </a:cubicBezTo>
                <a:lnTo>
                  <a:pt x="1336" y="21599"/>
                </a:lnTo>
                <a:close/>
              </a:path>
            </a:pathLst>
          </a:custGeom>
          <a:solidFill>
            <a:schemeClr val="tx2"/>
          </a:solidFill>
          <a:ln>
            <a:noFill/>
          </a:ln>
          <a:effectLst/>
        </p:spPr>
        <p:txBody>
          <a:bodyPr lIns="38092" tIns="38092" rIns="38092" bIns="38092" anchor="ctr"/>
          <a:lstStyle/>
          <a:p>
            <a:pPr defTabSz="457109">
              <a:defRPr/>
            </a:pPr>
            <a:endParaRPr lang="es-ES" sz="3000">
              <a:effectLst>
                <a:outerShdw blurRad="38100" dist="38100" dir="2700000" algn="tl">
                  <a:srgbClr val="000000"/>
                </a:outerShdw>
              </a:effectLst>
              <a:latin typeface="Gill Sans" charset="0"/>
              <a:cs typeface="Gill Sans" charset="0"/>
              <a:sym typeface="Gill Sans" charset="0"/>
            </a:endParaRPr>
          </a:p>
        </p:txBody>
      </p:sp>
      <p:grpSp>
        <p:nvGrpSpPr>
          <p:cNvPr id="60" name="Group 59"/>
          <p:cNvGrpSpPr/>
          <p:nvPr/>
        </p:nvGrpSpPr>
        <p:grpSpPr>
          <a:xfrm rot="5400000">
            <a:off x="8863169" y="4015767"/>
            <a:ext cx="646979" cy="221615"/>
            <a:chOff x="2234756" y="2800350"/>
            <a:chExt cx="286824" cy="91440"/>
          </a:xfrm>
          <a:solidFill>
            <a:schemeClr val="tx2"/>
          </a:solidFill>
        </p:grpSpPr>
        <p:sp>
          <p:nvSpPr>
            <p:cNvPr id="62" name="Oval 61"/>
            <p:cNvSpPr/>
            <p:nvPr/>
          </p:nvSpPr>
          <p:spPr>
            <a:xfrm rot="5400000">
              <a:off x="2234756" y="2800350"/>
              <a:ext cx="91440" cy="9144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dirty="0">
                <a:latin typeface="Calibri Light"/>
              </a:endParaRPr>
            </a:p>
          </p:txBody>
        </p:sp>
        <p:cxnSp>
          <p:nvCxnSpPr>
            <p:cNvPr id="63" name="Straight Connector 62"/>
            <p:cNvCxnSpPr/>
            <p:nvPr/>
          </p:nvCxnSpPr>
          <p:spPr>
            <a:xfrm rot="16200000" flipH="1">
              <a:off x="2423784" y="2748334"/>
              <a:ext cx="59" cy="195532"/>
            </a:xfrm>
            <a:prstGeom prst="line">
              <a:avLst/>
            </a:prstGeom>
            <a:grpFill/>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8891080" y="4716777"/>
            <a:ext cx="596201" cy="596355"/>
            <a:chOff x="2255370" y="6982392"/>
            <a:chExt cx="960187" cy="960436"/>
          </a:xfrm>
        </p:grpSpPr>
        <p:sp>
          <p:nvSpPr>
            <p:cNvPr id="81" name="AutoShape 13"/>
            <p:cNvSpPr>
              <a:spLocks/>
            </p:cNvSpPr>
            <p:nvPr/>
          </p:nvSpPr>
          <p:spPr bwMode="auto">
            <a:xfrm>
              <a:off x="2255370" y="6982392"/>
              <a:ext cx="960187" cy="96043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tx2"/>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sp>
          <p:nvSpPr>
            <p:cNvPr id="104" name="AutoShape 14"/>
            <p:cNvSpPr>
              <a:spLocks/>
            </p:cNvSpPr>
            <p:nvPr/>
          </p:nvSpPr>
          <p:spPr bwMode="auto">
            <a:xfrm>
              <a:off x="2550688" y="7255500"/>
              <a:ext cx="414109" cy="4142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solidFill>
                <a:srgbClr val="000000">
                  <a:alpha val="0"/>
                </a:srgbClr>
              </a:solidFill>
              <a:prstDash val="solid"/>
              <a:miter lim="0"/>
              <a:headEnd/>
              <a:tailEnd/>
            </a:ln>
            <a:effectLst/>
          </p:spPr>
          <p:txBody>
            <a:bodyPr lIns="0" tIns="0" rIns="0" bIns="0" anchor="ctr"/>
            <a:lstStyle/>
            <a:p>
              <a:pPr>
                <a:defRPr/>
              </a:pPr>
              <a:endParaRPr lang="es-ES" sz="5600">
                <a:effectLst>
                  <a:outerShdw blurRad="38100" dist="38100" dir="2700000" algn="tl">
                    <a:srgbClr val="000000"/>
                  </a:outerShdw>
                </a:effectLst>
                <a:latin typeface="Gill Sans" charset="0"/>
                <a:cs typeface="Gill Sans" charset="0"/>
                <a:sym typeface="Gill Sans" charset="0"/>
              </a:endParaRPr>
            </a:p>
          </p:txBody>
        </p:sp>
      </p:grpSp>
      <p:sp>
        <p:nvSpPr>
          <p:cNvPr id="105" name="TextBox 104"/>
          <p:cNvSpPr txBox="1"/>
          <p:nvPr/>
        </p:nvSpPr>
        <p:spPr>
          <a:xfrm>
            <a:off x="9381371" y="3690770"/>
            <a:ext cx="1541739" cy="430887"/>
          </a:xfrm>
          <a:prstGeom prst="rect">
            <a:avLst/>
          </a:prstGeom>
          <a:noFill/>
        </p:spPr>
        <p:txBody>
          <a:bodyPr wrap="square" rtlCol="0">
            <a:spAutoFit/>
          </a:bodyPr>
          <a:lstStyle/>
          <a:p>
            <a:r>
              <a:rPr lang="en-US" sz="2200" b="1">
                <a:solidFill>
                  <a:schemeClr val="tx2"/>
                </a:solidFill>
                <a:latin typeface="Lato Regular"/>
              </a:rPr>
              <a:t>D</a:t>
            </a:r>
          </a:p>
        </p:txBody>
      </p:sp>
      <p:sp>
        <p:nvSpPr>
          <p:cNvPr id="106" name="TextBox 105"/>
          <p:cNvSpPr txBox="1"/>
          <p:nvPr/>
        </p:nvSpPr>
        <p:spPr>
          <a:xfrm>
            <a:off x="9408029" y="4112808"/>
            <a:ext cx="2129665" cy="369332"/>
          </a:xfrm>
          <a:prstGeom prst="rect">
            <a:avLst/>
          </a:prstGeom>
          <a:noFill/>
        </p:spPr>
        <p:txBody>
          <a:bodyPr wrap="square" rtlCol="0">
            <a:spAutoFit/>
          </a:bodyPr>
          <a:lstStyle/>
          <a:p>
            <a:r>
              <a:rPr lang="en-US">
                <a:latin typeface="Lato Regular"/>
              </a:rPr>
              <a:t>Xếp loại: Kém</a:t>
            </a:r>
          </a:p>
        </p:txBody>
      </p:sp>
      <p:sp>
        <p:nvSpPr>
          <p:cNvPr id="107" name="TextBox 106"/>
          <p:cNvSpPr txBox="1"/>
          <p:nvPr/>
        </p:nvSpPr>
        <p:spPr>
          <a:xfrm>
            <a:off x="3461470" y="4927004"/>
            <a:ext cx="1202252" cy="246221"/>
          </a:xfrm>
          <a:prstGeom prst="rect">
            <a:avLst/>
          </a:prstGeom>
          <a:noFill/>
        </p:spPr>
        <p:txBody>
          <a:bodyPr wrap="none" lIns="0" tIns="0" rIns="0" bIns="0" rtlCol="1" anchor="t" anchorCtr="0">
            <a:spAutoFit/>
          </a:bodyPr>
          <a:lstStyle/>
          <a:p>
            <a:pPr algn="ctr" rtl="0"/>
            <a:r>
              <a:rPr lang="en-US" sz="1600" b="1">
                <a:solidFill>
                  <a:schemeClr val="bg1"/>
                </a:solidFill>
                <a:latin typeface="Lato" pitchFamily="34" charset="0"/>
                <a:ea typeface="Open Sans" pitchFamily="34" charset="0"/>
              </a:rPr>
              <a:t>H</a:t>
            </a:r>
            <a:r>
              <a:rPr lang="en-US" sz="1600" b="1" baseline="-25000">
                <a:solidFill>
                  <a:schemeClr val="bg1"/>
                </a:solidFill>
                <a:latin typeface="Lato" pitchFamily="34" charset="0"/>
                <a:ea typeface="Open Sans" pitchFamily="34" charset="0"/>
              </a:rPr>
              <a:t>cá</a:t>
            </a:r>
            <a:r>
              <a:rPr lang="en-US" sz="1600" b="1">
                <a:solidFill>
                  <a:schemeClr val="bg1"/>
                </a:solidFill>
                <a:latin typeface="Lato" pitchFamily="34" charset="0"/>
                <a:ea typeface="Open Sans" pitchFamily="34" charset="0"/>
              </a:rPr>
              <a:t> </a:t>
            </a:r>
            <a:r>
              <a:rPr lang="en-US" sz="1600" b="1" baseline="-25000">
                <a:solidFill>
                  <a:schemeClr val="bg1"/>
                </a:solidFill>
                <a:latin typeface="Lato" pitchFamily="34" charset="0"/>
                <a:ea typeface="Open Sans" pitchFamily="34" charset="0"/>
              </a:rPr>
              <a:t>nhân</a:t>
            </a:r>
            <a:r>
              <a:rPr lang="en-US" sz="1600" b="1">
                <a:solidFill>
                  <a:schemeClr val="bg1"/>
                </a:solidFill>
                <a:latin typeface="Lato" pitchFamily="34" charset="0"/>
                <a:ea typeface="Open Sans" pitchFamily="34" charset="0"/>
              </a:rPr>
              <a:t> = 1.2</a:t>
            </a:r>
            <a:endParaRPr lang="x-none" sz="1600" b="1" dirty="0">
              <a:solidFill>
                <a:schemeClr val="bg1"/>
              </a:solidFill>
              <a:latin typeface="Lato" pitchFamily="34" charset="0"/>
              <a:ea typeface="Open Sans" pitchFamily="34" charset="0"/>
            </a:endParaRPr>
          </a:p>
        </p:txBody>
      </p:sp>
      <p:sp>
        <p:nvSpPr>
          <p:cNvPr id="108" name="TextBox 107"/>
          <p:cNvSpPr txBox="1"/>
          <p:nvPr/>
        </p:nvSpPr>
        <p:spPr>
          <a:xfrm>
            <a:off x="5559048" y="4921463"/>
            <a:ext cx="1202252" cy="246221"/>
          </a:xfrm>
          <a:prstGeom prst="rect">
            <a:avLst/>
          </a:prstGeom>
          <a:noFill/>
        </p:spPr>
        <p:txBody>
          <a:bodyPr wrap="none" lIns="0" tIns="0" rIns="0" bIns="0" rtlCol="1" anchor="t" anchorCtr="0">
            <a:spAutoFit/>
          </a:bodyPr>
          <a:lstStyle/>
          <a:p>
            <a:pPr algn="ctr" rtl="0"/>
            <a:r>
              <a:rPr lang="en-US" sz="1600" b="1">
                <a:solidFill>
                  <a:schemeClr val="bg1"/>
                </a:solidFill>
                <a:latin typeface="Lato" pitchFamily="34" charset="0"/>
                <a:ea typeface="Open Sans" pitchFamily="34" charset="0"/>
              </a:rPr>
              <a:t>H</a:t>
            </a:r>
            <a:r>
              <a:rPr lang="en-US" sz="1600" b="1" baseline="-25000">
                <a:solidFill>
                  <a:schemeClr val="bg1"/>
                </a:solidFill>
                <a:latin typeface="Lato" pitchFamily="34" charset="0"/>
                <a:ea typeface="Open Sans" pitchFamily="34" charset="0"/>
              </a:rPr>
              <a:t>cá</a:t>
            </a:r>
            <a:r>
              <a:rPr lang="en-US" sz="1600" b="1">
                <a:solidFill>
                  <a:schemeClr val="bg1"/>
                </a:solidFill>
                <a:latin typeface="Lato" pitchFamily="34" charset="0"/>
                <a:ea typeface="Open Sans" pitchFamily="34" charset="0"/>
              </a:rPr>
              <a:t> </a:t>
            </a:r>
            <a:r>
              <a:rPr lang="en-US" sz="1600" b="1" baseline="-25000">
                <a:solidFill>
                  <a:schemeClr val="bg1"/>
                </a:solidFill>
                <a:latin typeface="Lato" pitchFamily="34" charset="0"/>
                <a:ea typeface="Open Sans" pitchFamily="34" charset="0"/>
              </a:rPr>
              <a:t>nhân</a:t>
            </a:r>
            <a:r>
              <a:rPr lang="en-US" sz="1600" b="1">
                <a:solidFill>
                  <a:schemeClr val="bg1"/>
                </a:solidFill>
                <a:latin typeface="Lato" pitchFamily="34" charset="0"/>
                <a:ea typeface="Open Sans" pitchFamily="34" charset="0"/>
              </a:rPr>
              <a:t> = 1.0</a:t>
            </a:r>
            <a:endParaRPr lang="x-none" sz="1600" b="1" dirty="0">
              <a:solidFill>
                <a:schemeClr val="bg1"/>
              </a:solidFill>
              <a:latin typeface="Lato" pitchFamily="34" charset="0"/>
              <a:ea typeface="Open Sans" pitchFamily="34" charset="0"/>
            </a:endParaRPr>
          </a:p>
        </p:txBody>
      </p:sp>
      <p:sp>
        <p:nvSpPr>
          <p:cNvPr id="109" name="TextBox 108"/>
          <p:cNvSpPr txBox="1"/>
          <p:nvPr/>
        </p:nvSpPr>
        <p:spPr>
          <a:xfrm>
            <a:off x="7642636" y="4907607"/>
            <a:ext cx="1030730" cy="246221"/>
          </a:xfrm>
          <a:prstGeom prst="rect">
            <a:avLst/>
          </a:prstGeom>
          <a:noFill/>
        </p:spPr>
        <p:txBody>
          <a:bodyPr wrap="none" lIns="0" tIns="0" rIns="0" bIns="0" rtlCol="1" anchor="t" anchorCtr="0">
            <a:spAutoFit/>
          </a:bodyPr>
          <a:lstStyle/>
          <a:p>
            <a:pPr algn="ctr" rtl="0"/>
            <a:r>
              <a:rPr lang="en-US" sz="1600" b="1">
                <a:solidFill>
                  <a:schemeClr val="bg1"/>
                </a:solidFill>
                <a:latin typeface="Lato" pitchFamily="34" charset="0"/>
                <a:ea typeface="Open Sans" pitchFamily="34" charset="0"/>
              </a:rPr>
              <a:t>H</a:t>
            </a:r>
            <a:r>
              <a:rPr lang="en-US" sz="1600" b="1" baseline="-25000">
                <a:solidFill>
                  <a:schemeClr val="bg1"/>
                </a:solidFill>
                <a:latin typeface="Lato" pitchFamily="34" charset="0"/>
                <a:ea typeface="Open Sans" pitchFamily="34" charset="0"/>
              </a:rPr>
              <a:t>cá</a:t>
            </a:r>
            <a:r>
              <a:rPr lang="en-US" sz="1600" b="1">
                <a:solidFill>
                  <a:schemeClr val="bg1"/>
                </a:solidFill>
                <a:latin typeface="Lato" pitchFamily="34" charset="0"/>
                <a:ea typeface="Open Sans" pitchFamily="34" charset="0"/>
              </a:rPr>
              <a:t> </a:t>
            </a:r>
            <a:r>
              <a:rPr lang="en-US" sz="1600" b="1" baseline="-25000">
                <a:solidFill>
                  <a:schemeClr val="bg1"/>
                </a:solidFill>
                <a:latin typeface="Lato" pitchFamily="34" charset="0"/>
                <a:ea typeface="Open Sans" pitchFamily="34" charset="0"/>
              </a:rPr>
              <a:t>nhân</a:t>
            </a:r>
            <a:r>
              <a:rPr lang="en-US" sz="1600" b="1">
                <a:solidFill>
                  <a:schemeClr val="bg1"/>
                </a:solidFill>
                <a:latin typeface="Lato" pitchFamily="34" charset="0"/>
                <a:ea typeface="Open Sans" pitchFamily="34" charset="0"/>
              </a:rPr>
              <a:t> = 0</a:t>
            </a:r>
            <a:endParaRPr lang="x-none" sz="1600" b="1" dirty="0">
              <a:solidFill>
                <a:schemeClr val="bg1"/>
              </a:solidFill>
              <a:latin typeface="Lato" pitchFamily="34" charset="0"/>
              <a:ea typeface="Open Sans" pitchFamily="34" charset="0"/>
            </a:endParaRPr>
          </a:p>
        </p:txBody>
      </p:sp>
      <p:sp>
        <p:nvSpPr>
          <p:cNvPr id="110" name="TextBox 109"/>
          <p:cNvSpPr txBox="1"/>
          <p:nvPr/>
        </p:nvSpPr>
        <p:spPr>
          <a:xfrm>
            <a:off x="9706963" y="4902065"/>
            <a:ext cx="1030730" cy="246221"/>
          </a:xfrm>
          <a:prstGeom prst="rect">
            <a:avLst/>
          </a:prstGeom>
          <a:noFill/>
        </p:spPr>
        <p:txBody>
          <a:bodyPr wrap="none" lIns="0" tIns="0" rIns="0" bIns="0" rtlCol="1" anchor="t" anchorCtr="0">
            <a:spAutoFit/>
          </a:bodyPr>
          <a:lstStyle/>
          <a:p>
            <a:pPr algn="ctr" rtl="0"/>
            <a:r>
              <a:rPr lang="en-US" sz="1600" b="1">
                <a:solidFill>
                  <a:schemeClr val="bg1"/>
                </a:solidFill>
                <a:latin typeface="Lato" pitchFamily="34" charset="0"/>
                <a:ea typeface="Open Sans" pitchFamily="34" charset="0"/>
              </a:rPr>
              <a:t>H</a:t>
            </a:r>
            <a:r>
              <a:rPr lang="en-US" sz="1600" b="1" baseline="-25000">
                <a:solidFill>
                  <a:schemeClr val="bg1"/>
                </a:solidFill>
                <a:latin typeface="Lato" pitchFamily="34" charset="0"/>
                <a:ea typeface="Open Sans" pitchFamily="34" charset="0"/>
              </a:rPr>
              <a:t>cá</a:t>
            </a:r>
            <a:r>
              <a:rPr lang="en-US" sz="1600" b="1">
                <a:solidFill>
                  <a:schemeClr val="bg1"/>
                </a:solidFill>
                <a:latin typeface="Lato" pitchFamily="34" charset="0"/>
                <a:ea typeface="Open Sans" pitchFamily="34" charset="0"/>
              </a:rPr>
              <a:t> </a:t>
            </a:r>
            <a:r>
              <a:rPr lang="en-US" sz="1600" b="1" baseline="-25000">
                <a:solidFill>
                  <a:schemeClr val="bg1"/>
                </a:solidFill>
                <a:latin typeface="Lato" pitchFamily="34" charset="0"/>
                <a:ea typeface="Open Sans" pitchFamily="34" charset="0"/>
              </a:rPr>
              <a:t>nhân</a:t>
            </a:r>
            <a:r>
              <a:rPr lang="en-US" sz="1600" b="1">
                <a:solidFill>
                  <a:schemeClr val="bg1"/>
                </a:solidFill>
                <a:latin typeface="Lato" pitchFamily="34" charset="0"/>
                <a:ea typeface="Open Sans" pitchFamily="34" charset="0"/>
              </a:rPr>
              <a:t> = 0</a:t>
            </a:r>
            <a:endParaRPr lang="x-none" sz="1600" b="1" dirty="0">
              <a:solidFill>
                <a:schemeClr val="bg1"/>
              </a:solidFill>
              <a:latin typeface="Lato" pitchFamily="34" charset="0"/>
              <a:ea typeface="Open Sans" pitchFamily="34" charset="0"/>
            </a:endParaRPr>
          </a:p>
        </p:txBody>
      </p:sp>
      <mc:AlternateContent xmlns:mc="http://schemas.openxmlformats.org/markup-compatibility/2006" xmlns:a14="http://schemas.microsoft.com/office/drawing/2010/main">
        <mc:Choice Requires="a14">
          <p:sp>
            <p:nvSpPr>
              <p:cNvPr id="111" name="TextBox 110"/>
              <p:cNvSpPr txBox="1"/>
              <p:nvPr/>
            </p:nvSpPr>
            <p:spPr>
              <a:xfrm>
                <a:off x="7642636" y="2056996"/>
                <a:ext cx="3714170" cy="670761"/>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nary>
                        <m:naryPr>
                          <m:chr m:val="∑"/>
                          <m:grow m:val="on"/>
                          <m:subHide m:val="on"/>
                          <m:supHide m:val="on"/>
                          <m:ctrlPr>
                            <a:rPr lang="en-US" i="1">
                              <a:latin typeface="Cambria Math" panose="02040503050406030204" pitchFamily="18" charset="0"/>
                            </a:rPr>
                          </m:ctrlPr>
                        </m:naryPr>
                        <m:sub/>
                        <m:sup/>
                        <m:e>
                          <m:r>
                            <a:rPr lang="en-US" b="0" i="1" smtClean="0">
                              <a:latin typeface="Cambria Math" panose="02040503050406030204" pitchFamily="18" charset="0"/>
                            </a:rPr>
                            <m:t>𝑄𝑢</m:t>
                          </m:r>
                          <m:r>
                            <a:rPr lang="en-US" b="0" i="1" smtClean="0">
                              <a:latin typeface="Cambria Math" panose="02040503050406030204" pitchFamily="18" charset="0"/>
                            </a:rPr>
                            <m:t>ỹ </m:t>
                          </m:r>
                          <m:r>
                            <a:rPr lang="en-US" b="0" i="1" smtClean="0">
                              <a:latin typeface="Cambria Math" panose="02040503050406030204" pitchFamily="18" charset="0"/>
                            </a:rPr>
                            <m:t>𝑙</m:t>
                          </m:r>
                          <m:r>
                            <a:rPr lang="en-US" b="0" i="1" smtClean="0">
                              <a:latin typeface="Cambria Math" panose="02040503050406030204" pitchFamily="18" charset="0"/>
                            </a:rPr>
                            <m:t>ươ</m:t>
                          </m:r>
                          <m:r>
                            <a:rPr lang="en-US" b="0" i="1" smtClean="0">
                              <a:latin typeface="Cambria Math" panose="02040503050406030204" pitchFamily="18" charset="0"/>
                            </a:rPr>
                            <m:t>𝑛𝑔</m:t>
                          </m:r>
                          <m:r>
                            <a:rPr lang="en-US" b="0" i="1" smtClean="0">
                              <a:latin typeface="Cambria Math" panose="02040503050406030204" pitchFamily="18" charset="0"/>
                            </a:rPr>
                            <m:t> </m:t>
                          </m:r>
                          <m:r>
                            <a:rPr lang="en-US" b="0" i="1" smtClean="0">
                              <a:latin typeface="Cambria Math" panose="02040503050406030204" pitchFamily="18" charset="0"/>
                            </a:rPr>
                            <m:t>𝑐</m:t>
                          </m:r>
                          <m:r>
                            <a:rPr lang="en-US" b="0" i="1" smtClean="0">
                              <a:latin typeface="Cambria Math" panose="02040503050406030204" pitchFamily="18" charset="0"/>
                            </a:rPr>
                            <m:t>ơ </m:t>
                          </m:r>
                          <m:r>
                            <a:rPr lang="en-US" b="0" i="1" smtClean="0">
                              <a:latin typeface="Cambria Math" panose="02040503050406030204" pitchFamily="18" charset="0"/>
                            </a:rPr>
                            <m:t>𝑠</m:t>
                          </m:r>
                          <m:r>
                            <a:rPr lang="en-US" b="0" i="1" smtClean="0">
                              <a:latin typeface="Cambria Math" panose="02040503050406030204" pitchFamily="18" charset="0"/>
                            </a:rPr>
                            <m:t>ở         </m:t>
                          </m:r>
                        </m:e>
                      </m:nary>
                    </m:oMath>
                  </m:oMathPara>
                </a14:m>
                <a:endParaRPr lang="en-US">
                  <a:latin typeface="Sinkin Sans 600 SemiBold"/>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7642636" y="2056996"/>
                <a:ext cx="3714170" cy="670761"/>
              </a:xfrm>
              <a:prstGeom prst="rect">
                <a:avLst/>
              </a:prstGeom>
              <a:blipFill>
                <a:blip r:embed="rId2"/>
                <a:stretch>
                  <a:fillRect/>
                </a:stretch>
              </a:blipFill>
              <a:ln>
                <a:noFill/>
              </a:ln>
            </p:spPr>
            <p:txBody>
              <a:bodyPr/>
              <a:lstStyle/>
              <a:p>
                <a:r>
                  <a:rPr lang="en-GB">
                    <a:noFill/>
                  </a:rPr>
                  <a:t> </a:t>
                </a:r>
              </a:p>
            </p:txBody>
          </p:sp>
        </mc:Fallback>
      </mc:AlternateContent>
      <p:sp>
        <p:nvSpPr>
          <p:cNvPr id="112" name="TextBox 111"/>
          <p:cNvSpPr txBox="1"/>
          <p:nvPr/>
        </p:nvSpPr>
        <p:spPr>
          <a:xfrm>
            <a:off x="5595299" y="2129362"/>
            <a:ext cx="3078067" cy="461665"/>
          </a:xfrm>
          <a:prstGeom prst="rect">
            <a:avLst/>
          </a:prstGeom>
          <a:noFill/>
          <a:ln>
            <a:noFill/>
          </a:ln>
        </p:spPr>
        <p:txBody>
          <a:bodyPr wrap="square" rtlCol="0">
            <a:spAutoFit/>
          </a:bodyPr>
          <a:lstStyle/>
          <a:p>
            <a:pPr algn="ctr"/>
            <a:r>
              <a:rPr lang="en-US" sz="2400" b="1">
                <a:solidFill>
                  <a:schemeClr val="tx2"/>
                </a:solidFill>
                <a:latin typeface="Sinkin Sans 600 SemiBold"/>
              </a:rPr>
              <a:t>20% * Điểm dự án *</a:t>
            </a:r>
            <a:r>
              <a:rPr lang="en-US" sz="2400" b="1" baseline="-25000">
                <a:solidFill>
                  <a:schemeClr val="tx2"/>
                </a:solidFill>
                <a:latin typeface="Sinkin Sans 600 SemiBold"/>
              </a:rPr>
              <a:t> </a:t>
            </a:r>
            <a:endParaRPr lang="en-US" sz="2400" b="1">
              <a:solidFill>
                <a:schemeClr val="tx2"/>
              </a:solidFill>
              <a:latin typeface="Sinkin Sans 600 SemiBold"/>
            </a:endParaRPr>
          </a:p>
        </p:txBody>
      </p:sp>
      <p:sp>
        <p:nvSpPr>
          <p:cNvPr id="65" name="TextBox 64">
            <a:extLst>
              <a:ext uri="{FF2B5EF4-FFF2-40B4-BE49-F238E27FC236}">
                <a16:creationId xmlns:a16="http://schemas.microsoft.com/office/drawing/2014/main" id="{C61A65BB-7343-4B20-8F73-3E7BAC7EEDCE}"/>
              </a:ext>
            </a:extLst>
          </p:cNvPr>
          <p:cNvSpPr txBox="1"/>
          <p:nvPr/>
        </p:nvSpPr>
        <p:spPr>
          <a:xfrm>
            <a:off x="8175839" y="6381099"/>
            <a:ext cx="3350057" cy="338554"/>
          </a:xfrm>
          <a:prstGeom prst="rect">
            <a:avLst/>
          </a:prstGeom>
          <a:noFill/>
        </p:spPr>
        <p:txBody>
          <a:bodyPr wrap="square">
            <a:spAutoFit/>
          </a:bodyPr>
          <a:lstStyle/>
          <a:p>
            <a:r>
              <a:rPr lang="en-US" sz="1600" i="1" dirty="0">
                <a:solidFill>
                  <a:schemeClr val="accent1">
                    <a:lumMod val="50000"/>
                  </a:schemeClr>
                </a:solidFill>
                <a:latin typeface="Lato Regular"/>
              </a:rPr>
              <a:t>(</a:t>
            </a:r>
            <a:r>
              <a:rPr lang="en-US" sz="1600" i="1" dirty="0" err="1">
                <a:solidFill>
                  <a:schemeClr val="accent1">
                    <a:lumMod val="50000"/>
                  </a:schemeClr>
                </a:solidFill>
                <a:latin typeface="Lato Regular"/>
              </a:rPr>
              <a:t>Nguồn</a:t>
            </a:r>
            <a:r>
              <a:rPr lang="en-US" sz="1600" i="1" dirty="0">
                <a:solidFill>
                  <a:schemeClr val="accent1">
                    <a:lumMod val="50000"/>
                  </a:schemeClr>
                </a:solidFill>
                <a:latin typeface="Lato Regular"/>
              </a:rPr>
              <a:t>: Ban </a:t>
            </a:r>
            <a:r>
              <a:rPr lang="en-US" sz="1600" i="1" dirty="0" err="1">
                <a:solidFill>
                  <a:schemeClr val="accent1">
                    <a:lumMod val="50000"/>
                  </a:schemeClr>
                </a:solidFill>
                <a:latin typeface="Lato Regular"/>
              </a:rPr>
              <a:t>quản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lý</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sản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xuất</a:t>
            </a:r>
            <a:r>
              <a:rPr lang="en-US" sz="1600" i="1" dirty="0">
                <a:solidFill>
                  <a:schemeClr val="accent1">
                    <a:lumMod val="50000"/>
                  </a:schemeClr>
                </a:solidFill>
                <a:latin typeface="Lato Regular"/>
              </a:rPr>
              <a:t> FIS)</a:t>
            </a:r>
            <a:r>
              <a:rPr lang="vi-VN" sz="1600" i="1" kern="1200" dirty="0">
                <a:solidFill>
                  <a:schemeClr val="accent1">
                    <a:lumMod val="50000"/>
                  </a:schemeClr>
                </a:solidFill>
                <a:latin typeface="Lato Regular"/>
                <a:ea typeface="+mn-ea"/>
                <a:cs typeface="+mn-cs"/>
              </a:rPr>
              <a:t> </a:t>
            </a:r>
            <a:endParaRPr lang="en-US" sz="1600" i="1" dirty="0"/>
          </a:p>
        </p:txBody>
      </p:sp>
    </p:spTree>
    <p:extLst>
      <p:ext uri="{BB962C8B-B14F-4D97-AF65-F5344CB8AC3E}">
        <p14:creationId xmlns:p14="http://schemas.microsoft.com/office/powerpoint/2010/main" val="33838660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down)">
                                      <p:cBhvr>
                                        <p:cTn id="7" dur="500"/>
                                        <p:tgtEl>
                                          <p:spTgt spid="47"/>
                                        </p:tgtEl>
                                      </p:cBhvr>
                                    </p:animEffect>
                                  </p:childTnLst>
                                </p:cTn>
                              </p:par>
                              <p:par>
                                <p:cTn id="8" presetID="22" presetClass="entr" presetSubtype="4"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down)">
                                      <p:cBhvr>
                                        <p:cTn id="10" dur="500"/>
                                        <p:tgtEl>
                                          <p:spTgt spid="4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wipe(down)">
                                      <p:cBhvr>
                                        <p:cTn id="13" dur="500"/>
                                        <p:tgtEl>
                                          <p:spTgt spid="51"/>
                                        </p:tgtEl>
                                      </p:cBhvr>
                                    </p:animEffect>
                                  </p:childTnLst>
                                </p:cTn>
                              </p:par>
                              <p:par>
                                <p:cTn id="14" presetID="22" presetClass="entr" presetSubtype="4" fill="hold"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wipe(down)">
                                      <p:cBhvr>
                                        <p:cTn id="16" dur="500"/>
                                        <p:tgtEl>
                                          <p:spTgt spid="5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down)">
                                      <p:cBhvr>
                                        <p:cTn id="19" dur="500"/>
                                        <p:tgtEl>
                                          <p:spTgt spid="5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down)">
                                      <p:cBhvr>
                                        <p:cTn id="22" dur="500"/>
                                        <p:tgtEl>
                                          <p:spTgt spid="5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wipe(down)">
                                      <p:cBhvr>
                                        <p:cTn id="25" dur="500"/>
                                        <p:tgtEl>
                                          <p:spTgt spid="6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wipe(down)">
                                      <p:cBhvr>
                                        <p:cTn id="28" dur="500"/>
                                        <p:tgtEl>
                                          <p:spTgt spid="66"/>
                                        </p:tgtEl>
                                      </p:cBhvr>
                                    </p:animEffect>
                                  </p:childTnLst>
                                </p:cTn>
                              </p:par>
                              <p:par>
                                <p:cTn id="29" presetID="22" presetClass="entr" presetSubtype="4" fill="hold"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ipe(down)">
                                      <p:cBhvr>
                                        <p:cTn id="31" dur="500"/>
                                        <p:tgtEl>
                                          <p:spTgt spid="6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wipe(down)">
                                      <p:cBhvr>
                                        <p:cTn id="34" dur="500"/>
                                        <p:tgtEl>
                                          <p:spTgt spid="70"/>
                                        </p:tgtEl>
                                      </p:cBhvr>
                                    </p:animEffect>
                                  </p:childTnLst>
                                </p:cTn>
                              </p:par>
                              <p:par>
                                <p:cTn id="35" presetID="22" presetClass="entr" presetSubtype="4"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down)">
                                      <p:cBhvr>
                                        <p:cTn id="37" dur="500"/>
                                        <p:tgtEl>
                                          <p:spTgt spid="71"/>
                                        </p:tgtEl>
                                      </p:cBhvr>
                                    </p:animEffect>
                                  </p:childTnLst>
                                </p:cTn>
                              </p:par>
                              <p:par>
                                <p:cTn id="38" presetID="22" presetClass="entr" presetSubtype="4" fill="hold" nodeType="with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wipe(down)">
                                      <p:cBhvr>
                                        <p:cTn id="40" dur="500"/>
                                        <p:tgtEl>
                                          <p:spTgt spid="75"/>
                                        </p:tgtEl>
                                      </p:cBhvr>
                                    </p:animEffect>
                                  </p:childTnLst>
                                </p:cTn>
                              </p:par>
                              <p:par>
                                <p:cTn id="41" presetID="22" presetClass="entr" presetSubtype="4" fill="hold"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wipe(down)">
                                      <p:cBhvr>
                                        <p:cTn id="43" dur="500"/>
                                        <p:tgtEl>
                                          <p:spTgt spid="78"/>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82"/>
                                        </p:tgtEl>
                                        <p:attrNameLst>
                                          <p:attrName>style.visibility</p:attrName>
                                        </p:attrNameLst>
                                      </p:cBhvr>
                                      <p:to>
                                        <p:strVal val="visible"/>
                                      </p:to>
                                    </p:set>
                                    <p:animEffect transition="in" filter="wipe(down)">
                                      <p:cBhvr>
                                        <p:cTn id="46" dur="500"/>
                                        <p:tgtEl>
                                          <p:spTgt spid="8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83"/>
                                        </p:tgtEl>
                                        <p:attrNameLst>
                                          <p:attrName>style.visibility</p:attrName>
                                        </p:attrNameLst>
                                      </p:cBhvr>
                                      <p:to>
                                        <p:strVal val="visible"/>
                                      </p:to>
                                    </p:set>
                                    <p:animEffect transition="in" filter="wipe(down)">
                                      <p:cBhvr>
                                        <p:cTn id="49" dur="500"/>
                                        <p:tgtEl>
                                          <p:spTgt spid="8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wipe(down)">
                                      <p:cBhvr>
                                        <p:cTn id="52" dur="500"/>
                                        <p:tgtEl>
                                          <p:spTgt spid="85"/>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86"/>
                                        </p:tgtEl>
                                        <p:attrNameLst>
                                          <p:attrName>style.visibility</p:attrName>
                                        </p:attrNameLst>
                                      </p:cBhvr>
                                      <p:to>
                                        <p:strVal val="visible"/>
                                      </p:to>
                                    </p:set>
                                    <p:animEffect transition="in" filter="wipe(down)">
                                      <p:cBhvr>
                                        <p:cTn id="55" dur="500"/>
                                        <p:tgtEl>
                                          <p:spTgt spid="86"/>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87"/>
                                        </p:tgtEl>
                                        <p:attrNameLst>
                                          <p:attrName>style.visibility</p:attrName>
                                        </p:attrNameLst>
                                      </p:cBhvr>
                                      <p:to>
                                        <p:strVal val="visible"/>
                                      </p:to>
                                    </p:set>
                                    <p:animEffect transition="in" filter="wipe(down)">
                                      <p:cBhvr>
                                        <p:cTn id="58" dur="500"/>
                                        <p:tgtEl>
                                          <p:spTgt spid="87"/>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88"/>
                                        </p:tgtEl>
                                        <p:attrNameLst>
                                          <p:attrName>style.visibility</p:attrName>
                                        </p:attrNameLst>
                                      </p:cBhvr>
                                      <p:to>
                                        <p:strVal val="visible"/>
                                      </p:to>
                                    </p:set>
                                    <p:animEffect transition="in" filter="wipe(down)">
                                      <p:cBhvr>
                                        <p:cTn id="61" dur="500"/>
                                        <p:tgtEl>
                                          <p:spTgt spid="88"/>
                                        </p:tgtEl>
                                      </p:cBhvr>
                                    </p:animEffect>
                                  </p:childTnLst>
                                </p:cTn>
                              </p:par>
                              <p:par>
                                <p:cTn id="62" presetID="22" presetClass="entr" presetSubtype="4" fill="hold" nodeType="withEffect">
                                  <p:stCondLst>
                                    <p:cond delay="0"/>
                                  </p:stCondLst>
                                  <p:childTnLst>
                                    <p:set>
                                      <p:cBhvr>
                                        <p:cTn id="63" dur="1" fill="hold">
                                          <p:stCondLst>
                                            <p:cond delay="0"/>
                                          </p:stCondLst>
                                        </p:cTn>
                                        <p:tgtEl>
                                          <p:spTgt spid="89"/>
                                        </p:tgtEl>
                                        <p:attrNameLst>
                                          <p:attrName>style.visibility</p:attrName>
                                        </p:attrNameLst>
                                      </p:cBhvr>
                                      <p:to>
                                        <p:strVal val="visible"/>
                                      </p:to>
                                    </p:set>
                                    <p:animEffect transition="in" filter="wipe(down)">
                                      <p:cBhvr>
                                        <p:cTn id="64" dur="500"/>
                                        <p:tgtEl>
                                          <p:spTgt spid="89"/>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92"/>
                                        </p:tgtEl>
                                        <p:attrNameLst>
                                          <p:attrName>style.visibility</p:attrName>
                                        </p:attrNameLst>
                                      </p:cBhvr>
                                      <p:to>
                                        <p:strVal val="visible"/>
                                      </p:to>
                                    </p:set>
                                    <p:animEffect transition="in" filter="wipe(down)">
                                      <p:cBhvr>
                                        <p:cTn id="67" dur="500"/>
                                        <p:tgtEl>
                                          <p:spTgt spid="92"/>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93"/>
                                        </p:tgtEl>
                                        <p:attrNameLst>
                                          <p:attrName>style.visibility</p:attrName>
                                        </p:attrNameLst>
                                      </p:cBhvr>
                                      <p:to>
                                        <p:strVal val="visible"/>
                                      </p:to>
                                    </p:set>
                                    <p:animEffect transition="in" filter="wipe(down)">
                                      <p:cBhvr>
                                        <p:cTn id="70" dur="500"/>
                                        <p:tgtEl>
                                          <p:spTgt spid="9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94"/>
                                        </p:tgtEl>
                                        <p:attrNameLst>
                                          <p:attrName>style.visibility</p:attrName>
                                        </p:attrNameLst>
                                      </p:cBhvr>
                                      <p:to>
                                        <p:strVal val="visible"/>
                                      </p:to>
                                    </p:set>
                                    <p:animEffect transition="in" filter="wipe(down)">
                                      <p:cBhvr>
                                        <p:cTn id="73" dur="500"/>
                                        <p:tgtEl>
                                          <p:spTgt spid="94"/>
                                        </p:tgtEl>
                                      </p:cBhvr>
                                    </p:animEffect>
                                  </p:childTnLst>
                                </p:cTn>
                              </p:par>
                              <p:par>
                                <p:cTn id="74" presetID="22" presetClass="entr" presetSubtype="4" fill="hold" nodeType="withEffect">
                                  <p:stCondLst>
                                    <p:cond delay="0"/>
                                  </p:stCondLst>
                                  <p:childTnLst>
                                    <p:set>
                                      <p:cBhvr>
                                        <p:cTn id="75" dur="1" fill="hold">
                                          <p:stCondLst>
                                            <p:cond delay="0"/>
                                          </p:stCondLst>
                                        </p:cTn>
                                        <p:tgtEl>
                                          <p:spTgt spid="95"/>
                                        </p:tgtEl>
                                        <p:attrNameLst>
                                          <p:attrName>style.visibility</p:attrName>
                                        </p:attrNameLst>
                                      </p:cBhvr>
                                      <p:to>
                                        <p:strVal val="visible"/>
                                      </p:to>
                                    </p:set>
                                    <p:animEffect transition="in" filter="wipe(down)">
                                      <p:cBhvr>
                                        <p:cTn id="76" dur="500"/>
                                        <p:tgtEl>
                                          <p:spTgt spid="95"/>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98"/>
                                        </p:tgtEl>
                                        <p:attrNameLst>
                                          <p:attrName>style.visibility</p:attrName>
                                        </p:attrNameLst>
                                      </p:cBhvr>
                                      <p:to>
                                        <p:strVal val="visible"/>
                                      </p:to>
                                    </p:set>
                                    <p:animEffect transition="in" filter="wipe(down)">
                                      <p:cBhvr>
                                        <p:cTn id="79" dur="500"/>
                                        <p:tgtEl>
                                          <p:spTgt spid="98"/>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99"/>
                                        </p:tgtEl>
                                        <p:attrNameLst>
                                          <p:attrName>style.visibility</p:attrName>
                                        </p:attrNameLst>
                                      </p:cBhvr>
                                      <p:to>
                                        <p:strVal val="visible"/>
                                      </p:to>
                                    </p:set>
                                    <p:animEffect transition="in" filter="wipe(down)">
                                      <p:cBhvr>
                                        <p:cTn id="82" dur="500"/>
                                        <p:tgtEl>
                                          <p:spTgt spid="99"/>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55"/>
                                        </p:tgtEl>
                                        <p:attrNameLst>
                                          <p:attrName>style.visibility</p:attrName>
                                        </p:attrNameLst>
                                      </p:cBhvr>
                                      <p:to>
                                        <p:strVal val="visible"/>
                                      </p:to>
                                    </p:set>
                                    <p:animEffect transition="in" filter="wipe(down)">
                                      <p:cBhvr>
                                        <p:cTn id="85" dur="500"/>
                                        <p:tgtEl>
                                          <p:spTgt spid="55"/>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wipe(down)">
                                      <p:cBhvr>
                                        <p:cTn id="88" dur="500"/>
                                        <p:tgtEl>
                                          <p:spTgt spid="58"/>
                                        </p:tgtEl>
                                      </p:cBhvr>
                                    </p:animEffect>
                                  </p:childTnLst>
                                </p:cTn>
                              </p:par>
                              <p:par>
                                <p:cTn id="89" presetID="22" presetClass="entr" presetSubtype="4" fill="hold"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wipe(down)">
                                      <p:cBhvr>
                                        <p:cTn id="91" dur="500"/>
                                        <p:tgtEl>
                                          <p:spTgt spid="60"/>
                                        </p:tgtEl>
                                      </p:cBhvr>
                                    </p:animEffect>
                                  </p:childTnLst>
                                </p:cTn>
                              </p:par>
                              <p:par>
                                <p:cTn id="92" presetID="22" presetClass="entr" presetSubtype="4" fill="hold"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wipe(down)">
                                      <p:cBhvr>
                                        <p:cTn id="94" dur="500"/>
                                        <p:tgtEl>
                                          <p:spTgt spid="64"/>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105"/>
                                        </p:tgtEl>
                                        <p:attrNameLst>
                                          <p:attrName>style.visibility</p:attrName>
                                        </p:attrNameLst>
                                      </p:cBhvr>
                                      <p:to>
                                        <p:strVal val="visible"/>
                                      </p:to>
                                    </p:set>
                                    <p:animEffect transition="in" filter="wipe(down)">
                                      <p:cBhvr>
                                        <p:cTn id="97" dur="500"/>
                                        <p:tgtEl>
                                          <p:spTgt spid="105"/>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106"/>
                                        </p:tgtEl>
                                        <p:attrNameLst>
                                          <p:attrName>style.visibility</p:attrName>
                                        </p:attrNameLst>
                                      </p:cBhvr>
                                      <p:to>
                                        <p:strVal val="visible"/>
                                      </p:to>
                                    </p:set>
                                    <p:animEffect transition="in" filter="wipe(down)">
                                      <p:cBhvr>
                                        <p:cTn id="100" dur="500"/>
                                        <p:tgtEl>
                                          <p:spTgt spid="106"/>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107"/>
                                        </p:tgtEl>
                                        <p:attrNameLst>
                                          <p:attrName>style.visibility</p:attrName>
                                        </p:attrNameLst>
                                      </p:cBhvr>
                                      <p:to>
                                        <p:strVal val="visible"/>
                                      </p:to>
                                    </p:set>
                                    <p:animEffect transition="in" filter="wipe(down)">
                                      <p:cBhvr>
                                        <p:cTn id="103" dur="500"/>
                                        <p:tgtEl>
                                          <p:spTgt spid="107"/>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108"/>
                                        </p:tgtEl>
                                        <p:attrNameLst>
                                          <p:attrName>style.visibility</p:attrName>
                                        </p:attrNameLst>
                                      </p:cBhvr>
                                      <p:to>
                                        <p:strVal val="visible"/>
                                      </p:to>
                                    </p:set>
                                    <p:animEffect transition="in" filter="wipe(down)">
                                      <p:cBhvr>
                                        <p:cTn id="106" dur="500"/>
                                        <p:tgtEl>
                                          <p:spTgt spid="108"/>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109"/>
                                        </p:tgtEl>
                                        <p:attrNameLst>
                                          <p:attrName>style.visibility</p:attrName>
                                        </p:attrNameLst>
                                      </p:cBhvr>
                                      <p:to>
                                        <p:strVal val="visible"/>
                                      </p:to>
                                    </p:set>
                                    <p:animEffect transition="in" filter="wipe(down)">
                                      <p:cBhvr>
                                        <p:cTn id="109" dur="500"/>
                                        <p:tgtEl>
                                          <p:spTgt spid="109"/>
                                        </p:tgtEl>
                                      </p:cBhvr>
                                    </p:animEffect>
                                  </p:childTnLst>
                                </p:cTn>
                              </p:par>
                              <p:par>
                                <p:cTn id="110" presetID="22" presetClass="entr" presetSubtype="4" fill="hold" grpId="0" nodeType="withEffect">
                                  <p:stCondLst>
                                    <p:cond delay="0"/>
                                  </p:stCondLst>
                                  <p:childTnLst>
                                    <p:set>
                                      <p:cBhvr>
                                        <p:cTn id="111" dur="1" fill="hold">
                                          <p:stCondLst>
                                            <p:cond delay="0"/>
                                          </p:stCondLst>
                                        </p:cTn>
                                        <p:tgtEl>
                                          <p:spTgt spid="110"/>
                                        </p:tgtEl>
                                        <p:attrNameLst>
                                          <p:attrName>style.visibility</p:attrName>
                                        </p:attrNameLst>
                                      </p:cBhvr>
                                      <p:to>
                                        <p:strVal val="visible"/>
                                      </p:to>
                                    </p:set>
                                    <p:animEffect transition="in" filter="wipe(down)">
                                      <p:cBhvr>
                                        <p:cTn id="112"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1" grpId="0" animBg="1"/>
      <p:bldP spid="56" grpId="0"/>
      <p:bldP spid="57" grpId="0" animBg="1"/>
      <p:bldP spid="61" grpId="0" animBg="1"/>
      <p:bldP spid="66" grpId="0" animBg="1"/>
      <p:bldP spid="70" grpId="0" animBg="1"/>
      <p:bldP spid="82" grpId="0"/>
      <p:bldP spid="83" grpId="0" animBg="1"/>
      <p:bldP spid="85" grpId="0"/>
      <p:bldP spid="86" grpId="0"/>
      <p:bldP spid="87" grpId="0"/>
      <p:bldP spid="88" grpId="0"/>
      <p:bldP spid="92" grpId="0"/>
      <p:bldP spid="93" grpId="0"/>
      <p:bldP spid="94" grpId="0" animBg="1"/>
      <p:bldP spid="98" grpId="0"/>
      <p:bldP spid="99" grpId="0"/>
      <p:bldP spid="55" grpId="0" animBg="1"/>
      <p:bldP spid="58" grpId="0" animBg="1"/>
      <p:bldP spid="105" grpId="0"/>
      <p:bldP spid="106" grpId="0"/>
      <p:bldP spid="107" grpId="0"/>
      <p:bldP spid="108" grpId="0"/>
      <p:bldP spid="109" grpId="0"/>
      <p:bldP spid="1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3E85BE-5136-436D-93FB-AA3DEB0F5255}"/>
              </a:ext>
            </a:extLst>
          </p:cNvPr>
          <p:cNvGraphicFramePr>
            <a:graphicFrameLocks noGrp="1"/>
          </p:cNvGraphicFramePr>
          <p:nvPr>
            <p:extLst>
              <p:ext uri="{D42A27DB-BD31-4B8C-83A1-F6EECF244321}">
                <p14:modId xmlns:p14="http://schemas.microsoft.com/office/powerpoint/2010/main" val="2074210794"/>
              </p:ext>
            </p:extLst>
          </p:nvPr>
        </p:nvGraphicFramePr>
        <p:xfrm>
          <a:off x="635183" y="1847066"/>
          <a:ext cx="7287181" cy="3845485"/>
        </p:xfrm>
        <a:graphic>
          <a:graphicData uri="http://schemas.openxmlformats.org/drawingml/2006/table">
            <a:tbl>
              <a:tblPr firstRow="1" firstCol="1" bandRow="1"/>
              <a:tblGrid>
                <a:gridCol w="2349273">
                  <a:extLst>
                    <a:ext uri="{9D8B030D-6E8A-4147-A177-3AD203B41FA5}">
                      <a16:colId xmlns:a16="http://schemas.microsoft.com/office/drawing/2014/main" val="3823412343"/>
                    </a:ext>
                  </a:extLst>
                </a:gridCol>
                <a:gridCol w="324004">
                  <a:extLst>
                    <a:ext uri="{9D8B030D-6E8A-4147-A177-3AD203B41FA5}">
                      <a16:colId xmlns:a16="http://schemas.microsoft.com/office/drawing/2014/main" val="3516509525"/>
                    </a:ext>
                  </a:extLst>
                </a:gridCol>
                <a:gridCol w="4352641">
                  <a:extLst>
                    <a:ext uri="{9D8B030D-6E8A-4147-A177-3AD203B41FA5}">
                      <a16:colId xmlns:a16="http://schemas.microsoft.com/office/drawing/2014/main" val="1332307332"/>
                    </a:ext>
                  </a:extLst>
                </a:gridCol>
                <a:gridCol w="261263">
                  <a:extLst>
                    <a:ext uri="{9D8B030D-6E8A-4147-A177-3AD203B41FA5}">
                      <a16:colId xmlns:a16="http://schemas.microsoft.com/office/drawing/2014/main" val="1509283267"/>
                    </a:ext>
                  </a:extLst>
                </a:gridCol>
              </a:tblGrid>
              <a:tr h="1469975">
                <a:tc gridSpan="4">
                  <a:txBody>
                    <a:bodyPr/>
                    <a:lstStyle/>
                    <a:p>
                      <a:pPr marL="285750" marR="0" indent="-285750">
                        <a:lnSpc>
                          <a:spcPct val="130000"/>
                        </a:lnSpc>
                        <a:spcBef>
                          <a:spcPts val="400"/>
                        </a:spcBef>
                        <a:spcAft>
                          <a:spcPts val="400"/>
                        </a:spcAft>
                        <a:buFont typeface="Wingdings" panose="05000000000000000000" pitchFamily="2" charset="2"/>
                        <a:buChar char="v"/>
                      </a:pPr>
                      <a:r>
                        <a:rPr lang="en-US" sz="1800" b="1" kern="1200" dirty="0" err="1">
                          <a:solidFill>
                            <a:schemeClr val="tx2"/>
                          </a:solidFill>
                          <a:latin typeface="Lato Regular"/>
                          <a:ea typeface="+mn-ea"/>
                          <a:cs typeface="+mn-cs"/>
                        </a:rPr>
                        <a:t>Hdự</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án</a:t>
                      </a:r>
                      <a:r>
                        <a:rPr lang="en-US" sz="1800" b="1" kern="1200" dirty="0">
                          <a:solidFill>
                            <a:schemeClr val="tx2"/>
                          </a:solidFill>
                          <a:latin typeface="Lato Regular"/>
                          <a:ea typeface="+mn-ea"/>
                          <a:cs typeface="+mn-cs"/>
                        </a:rPr>
                        <a:t> = </a:t>
                      </a:r>
                      <a:r>
                        <a:rPr lang="en-US" sz="1800" b="1" kern="1200" dirty="0" err="1">
                          <a:solidFill>
                            <a:schemeClr val="tx2"/>
                          </a:solidFill>
                          <a:latin typeface="Lato Regular"/>
                          <a:ea typeface="+mn-ea"/>
                          <a:cs typeface="+mn-cs"/>
                        </a:rPr>
                        <a:t>Điểm</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dự</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án</a:t>
                      </a:r>
                      <a:r>
                        <a:rPr lang="en-US" sz="1800" b="1" kern="1200" dirty="0">
                          <a:solidFill>
                            <a:schemeClr val="tx2"/>
                          </a:solidFill>
                          <a:latin typeface="Lato Regular"/>
                          <a:ea typeface="+mn-ea"/>
                          <a:cs typeface="+mn-cs"/>
                        </a:rPr>
                        <a:t> × </a:t>
                      </a:r>
                      <a:r>
                        <a:rPr lang="en-US" sz="1800" b="1" kern="1200" dirty="0" err="1">
                          <a:solidFill>
                            <a:schemeClr val="tx2"/>
                          </a:solidFill>
                          <a:latin typeface="Lato Regular"/>
                          <a:ea typeface="+mn-ea"/>
                          <a:cs typeface="+mn-cs"/>
                        </a:rPr>
                        <a:t>Hệ</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số</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cân</a:t>
                      </a:r>
                      <a:r>
                        <a:rPr lang="en-US" sz="1800" b="1" kern="1200" dirty="0">
                          <a:solidFill>
                            <a:schemeClr val="tx2"/>
                          </a:solidFill>
                          <a:latin typeface="Lato Regular"/>
                          <a:ea typeface="+mn-ea"/>
                          <a:cs typeface="+mn-cs"/>
                        </a:rPr>
                        <a:t> </a:t>
                      </a:r>
                      <a:r>
                        <a:rPr lang="en-US" sz="1800" b="1" kern="1200" dirty="0" err="1">
                          <a:solidFill>
                            <a:schemeClr val="tx2"/>
                          </a:solidFill>
                          <a:latin typeface="Lato Regular"/>
                          <a:ea typeface="+mn-ea"/>
                          <a:cs typeface="+mn-cs"/>
                        </a:rPr>
                        <a:t>bằng</a:t>
                      </a:r>
                      <a:endParaRPr lang="en-US" sz="1800" b="1" kern="1200" dirty="0">
                        <a:solidFill>
                          <a:schemeClr val="tx2"/>
                        </a:solidFill>
                        <a:latin typeface="Lato Regular"/>
                        <a:ea typeface="+mn-ea"/>
                        <a:cs typeface="+mn-cs"/>
                      </a:endParaRPr>
                    </a:p>
                    <a:p>
                      <a:pPr marL="285750" marR="0" indent="-285750">
                        <a:lnSpc>
                          <a:spcPct val="130000"/>
                        </a:lnSpc>
                        <a:spcBef>
                          <a:spcPts val="400"/>
                        </a:spcBef>
                        <a:spcAft>
                          <a:spcPts val="400"/>
                        </a:spcAft>
                        <a:buFont typeface="Wingdings" panose="05000000000000000000" pitchFamily="2" charset="2"/>
                        <a:buChar char="ü"/>
                      </a:pPr>
                      <a:r>
                        <a:rPr lang="vi-VN" sz="1800" kern="1200" dirty="0">
                          <a:solidFill>
                            <a:schemeClr val="accent1">
                              <a:lumMod val="50000"/>
                            </a:schemeClr>
                          </a:solidFill>
                          <a:latin typeface="Lato Regular"/>
                          <a:ea typeface="+mn-ea"/>
                          <a:cs typeface="+mn-cs"/>
                        </a:rPr>
                        <a:t>Điểm dự án = [0.8;1.2] được xác định dựa trên tỷ lệ hoàn thành dự án. Điểm dự án phản ánh kết quả của dự án theo theo từng tháng do QA tính (căn cứ theo dữ liệu thực tế trên hệ thống Jira), PM dự án đề xuất và GĐSX FISx phê duyệt.</a:t>
                      </a:r>
                      <a:endParaRPr lang="en-US" sz="1800" kern="1200" dirty="0">
                        <a:solidFill>
                          <a:schemeClr val="accent1">
                            <a:lumMod val="50000"/>
                          </a:schemeClr>
                        </a:solidFill>
                        <a:latin typeface="Lato Regular"/>
                        <a:ea typeface="+mn-ea"/>
                        <a:cs typeface="+mn-cs"/>
                      </a:endParaRPr>
                    </a:p>
                    <a:p>
                      <a:pPr marL="285750" marR="0" indent="-285750">
                        <a:lnSpc>
                          <a:spcPct val="130000"/>
                        </a:lnSpc>
                        <a:spcBef>
                          <a:spcPts val="400"/>
                        </a:spcBef>
                        <a:spcAft>
                          <a:spcPts val="400"/>
                        </a:spcAft>
                        <a:buFont typeface="Wingdings" panose="05000000000000000000" pitchFamily="2" charset="2"/>
                        <a:buChar char="ü"/>
                      </a:pPr>
                      <a:r>
                        <a:rPr lang="en-US" sz="1800" kern="1200" dirty="0" err="1">
                          <a:solidFill>
                            <a:schemeClr val="accent5">
                              <a:lumMod val="50000"/>
                            </a:schemeClr>
                          </a:solidFill>
                          <a:latin typeface="Lato Regular"/>
                          <a:ea typeface="+mn-ea"/>
                          <a:cs typeface="+mn-cs"/>
                        </a:rPr>
                        <a:t>Hệ</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số</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cân</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bằng</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áp</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dụng</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trong</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trường</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hợp</a:t>
                      </a:r>
                      <a:r>
                        <a:rPr lang="en-US" sz="1800" kern="1200" dirty="0">
                          <a:solidFill>
                            <a:schemeClr val="accent5">
                              <a:lumMod val="50000"/>
                            </a:schemeClr>
                          </a:solidFill>
                          <a:latin typeface="Lato Regular"/>
                          <a:ea typeface="+mn-ea"/>
                          <a:cs typeface="+mn-cs"/>
                        </a:rPr>
                        <a:t> </a:t>
                      </a:r>
                    </a:p>
                    <a:p>
                      <a:pPr marL="0" marR="0" indent="0">
                        <a:lnSpc>
                          <a:spcPct val="130000"/>
                        </a:lnSpc>
                        <a:spcBef>
                          <a:spcPts val="400"/>
                        </a:spcBef>
                        <a:spcAft>
                          <a:spcPts val="400"/>
                        </a:spcAft>
                        <a:buFont typeface="Arial" panose="020B0604020202020204" pitchFamily="34" charset="0"/>
                        <a:buNone/>
                      </a:pPr>
                      <a:r>
                        <a:rPr lang="en-US" sz="1800" kern="1200" baseline="0" dirty="0">
                          <a:solidFill>
                            <a:schemeClr val="accent5">
                              <a:lumMod val="50000"/>
                            </a:schemeClr>
                          </a:solidFill>
                          <a:latin typeface="Lato Regular"/>
                          <a:ea typeface="+mn-ea"/>
                          <a:cs typeface="+mn-cs"/>
                        </a:rPr>
                        <a:t>     </a:t>
                      </a:r>
                      <a:r>
                        <a:rPr lang="en-US" sz="1800" kern="1200" dirty="0">
                          <a:solidFill>
                            <a:schemeClr val="accent5">
                              <a:lumMod val="50000"/>
                            </a:schemeClr>
                          </a:solidFill>
                          <a:latin typeface="Lato Regular"/>
                          <a:ea typeface="+mn-ea"/>
                          <a:cs typeface="+mn-cs"/>
                        </a:rPr>
                        <a:t>∑ (20%Lương </a:t>
                      </a:r>
                      <a:r>
                        <a:rPr lang="en-US" sz="1800" kern="1200" dirty="0" err="1">
                          <a:solidFill>
                            <a:schemeClr val="accent5">
                              <a:lumMod val="50000"/>
                            </a:schemeClr>
                          </a:solidFill>
                          <a:latin typeface="Lato Regular"/>
                          <a:ea typeface="+mn-ea"/>
                          <a:cs typeface="+mn-cs"/>
                        </a:rPr>
                        <a:t>cơ</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sở</a:t>
                      </a:r>
                      <a:r>
                        <a:rPr lang="en-US" sz="1800" kern="1200" dirty="0">
                          <a:solidFill>
                            <a:schemeClr val="accent5">
                              <a:lumMod val="50000"/>
                            </a:schemeClr>
                          </a:solidFill>
                          <a:latin typeface="Lato Regular"/>
                          <a:ea typeface="+mn-ea"/>
                          <a:cs typeface="+mn-cs"/>
                        </a:rPr>
                        <a:t> × </a:t>
                      </a:r>
                      <a:r>
                        <a:rPr lang="en-US" sz="1800" kern="1200" dirty="0" err="1">
                          <a:solidFill>
                            <a:schemeClr val="accent5">
                              <a:lumMod val="50000"/>
                            </a:schemeClr>
                          </a:solidFill>
                          <a:latin typeface="Lato Regular"/>
                          <a:ea typeface="+mn-ea"/>
                          <a:cs typeface="+mn-cs"/>
                        </a:rPr>
                        <a:t>Hcá</a:t>
                      </a:r>
                      <a:r>
                        <a:rPr lang="en-US" sz="1800" kern="1200" dirty="0">
                          <a:solidFill>
                            <a:schemeClr val="accent5">
                              <a:lumMod val="50000"/>
                            </a:schemeClr>
                          </a:solidFill>
                          <a:latin typeface="Lato Regular"/>
                          <a:ea typeface="+mn-ea"/>
                          <a:cs typeface="+mn-cs"/>
                        </a:rPr>
                        <a:t> nhân) &gt; 20%∑ Lương </a:t>
                      </a:r>
                      <a:r>
                        <a:rPr lang="en-US" sz="1800" kern="1200" dirty="0" err="1">
                          <a:solidFill>
                            <a:schemeClr val="accent5">
                              <a:lumMod val="50000"/>
                            </a:schemeClr>
                          </a:solidFill>
                          <a:latin typeface="Lato Regular"/>
                          <a:ea typeface="+mn-ea"/>
                          <a:cs typeface="+mn-cs"/>
                        </a:rPr>
                        <a:t>cơ</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sở</a:t>
                      </a:r>
                      <a:endParaRPr lang="en-US" sz="1800" kern="1200" dirty="0">
                        <a:solidFill>
                          <a:schemeClr val="accent5">
                            <a:lumMod val="50000"/>
                          </a:schemeClr>
                        </a:solidFill>
                        <a:latin typeface="Lato Regular"/>
                        <a:ea typeface="+mn-ea"/>
                        <a:cs typeface="+mn-cs"/>
                      </a:endParaRPr>
                    </a:p>
                  </a:txBody>
                  <a:tcPr marL="110025" marR="110025" marT="55012" marB="5501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pPr marL="0" marR="0">
                        <a:lnSpc>
                          <a:spcPct val="130000"/>
                        </a:lnSpc>
                        <a:spcBef>
                          <a:spcPts val="400"/>
                        </a:spcBef>
                        <a:spcAft>
                          <a:spcPts val="400"/>
                        </a:spcAft>
                      </a:pPr>
                      <a:endParaRPr lang="en-US" sz="1300" dirty="0">
                        <a:effectLst/>
                        <a:latin typeface="Arial" panose="020B0604020202020204" pitchFamily="34" charset="0"/>
                        <a:ea typeface="Calibri" panose="020F0502020204030204" pitchFamily="34" charset="0"/>
                        <a:cs typeface="Times New Roman" panose="02020603050405020304" pitchFamily="18" charset="0"/>
                      </a:endParaRPr>
                    </a:p>
                  </a:txBody>
                  <a:tcPr marL="110025" marR="110025" marT="55012" marB="5501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07983498"/>
                  </a:ext>
                </a:extLst>
              </a:tr>
              <a:tr h="497192">
                <a:tc rowSpan="2">
                  <a:txBody>
                    <a:bodyPr/>
                    <a:lstStyle/>
                    <a:p>
                      <a:pPr marL="0" marR="0">
                        <a:lnSpc>
                          <a:spcPct val="130000"/>
                        </a:lnSpc>
                        <a:spcBef>
                          <a:spcPts val="400"/>
                        </a:spcBef>
                        <a:spcAft>
                          <a:spcPts val="400"/>
                        </a:spcAft>
                      </a:pP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Hệ</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số</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cân</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bằng</a:t>
                      </a:r>
                      <a:endParaRPr lang="en-US" sz="1800" kern="1200" dirty="0">
                        <a:solidFill>
                          <a:schemeClr val="accent5">
                            <a:lumMod val="50000"/>
                          </a:schemeClr>
                        </a:solidFill>
                        <a:latin typeface="Lato Regular"/>
                        <a:ea typeface="+mn-ea"/>
                        <a:cs typeface="+mn-cs"/>
                      </a:endParaRPr>
                    </a:p>
                  </a:txBody>
                  <a:tcPr marL="110025" marR="110025" marT="55012" marB="55012"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algn="ctr">
                        <a:lnSpc>
                          <a:spcPct val="130000"/>
                        </a:lnSpc>
                        <a:spcBef>
                          <a:spcPts val="400"/>
                        </a:spcBef>
                        <a:spcAft>
                          <a:spcPts val="400"/>
                        </a:spcAft>
                      </a:pPr>
                      <a:r>
                        <a:rPr lang="en-US" sz="1800" kern="1200" dirty="0">
                          <a:solidFill>
                            <a:schemeClr val="accent5">
                              <a:lumMod val="50000"/>
                            </a:schemeClr>
                          </a:solidFill>
                          <a:latin typeface="Lato Regular"/>
                          <a:ea typeface="+mn-ea"/>
                          <a:cs typeface="+mn-cs"/>
                        </a:rPr>
                        <a:t>=</a:t>
                      </a:r>
                    </a:p>
                  </a:txBody>
                  <a:tcPr marL="110025" marR="110025" marT="55012" marB="55012"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30000"/>
                        </a:lnSpc>
                        <a:spcBef>
                          <a:spcPts val="400"/>
                        </a:spcBef>
                        <a:spcAft>
                          <a:spcPts val="400"/>
                        </a:spcAft>
                      </a:pPr>
                      <a:r>
                        <a:rPr lang="en-US" sz="1800" kern="1200" dirty="0">
                          <a:solidFill>
                            <a:schemeClr val="accent5">
                              <a:lumMod val="50000"/>
                            </a:schemeClr>
                          </a:solidFill>
                          <a:latin typeface="Lato Regular"/>
                          <a:ea typeface="+mn-ea"/>
                          <a:cs typeface="+mn-cs"/>
                        </a:rPr>
                        <a:t>20%∑ Lương </a:t>
                      </a:r>
                      <a:r>
                        <a:rPr lang="en-US" sz="1800" kern="1200" dirty="0" err="1">
                          <a:solidFill>
                            <a:schemeClr val="accent5">
                              <a:lumMod val="50000"/>
                            </a:schemeClr>
                          </a:solidFill>
                          <a:latin typeface="Lato Regular"/>
                          <a:ea typeface="+mn-ea"/>
                          <a:cs typeface="+mn-cs"/>
                        </a:rPr>
                        <a:t>cơ</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sở</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dự</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án</a:t>
                      </a:r>
                      <a:endParaRPr lang="en-US" sz="1800" kern="1200" dirty="0">
                        <a:solidFill>
                          <a:schemeClr val="accent5">
                            <a:lumMod val="50000"/>
                          </a:schemeClr>
                        </a:solidFill>
                        <a:latin typeface="Lato Regular"/>
                        <a:ea typeface="+mn-ea"/>
                        <a:cs typeface="+mn-cs"/>
                      </a:endParaRPr>
                    </a:p>
                  </a:txBody>
                  <a:tcPr marL="110025" marR="110025" marT="55012" marB="55012"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30000"/>
                        </a:lnSpc>
                        <a:spcBef>
                          <a:spcPts val="400"/>
                        </a:spcBef>
                        <a:spcAft>
                          <a:spcPts val="400"/>
                        </a:spcAft>
                      </a:pPr>
                      <a:r>
                        <a:rPr lang="en-US" sz="1300" spc="-20" dirty="0">
                          <a:effectLst/>
                          <a:latin typeface="Arial" panose="020B0604020202020204" pitchFamily="34" charset="0"/>
                          <a:ea typeface="Calibri" panose="020F0502020204030204" pitchFamily="34" charset="0"/>
                          <a:cs typeface="Arial" panose="020B0604020202020204" pitchFamily="34" charset="0"/>
                        </a:rPr>
                        <a:t> </a:t>
                      </a:r>
                      <a:endParaRPr lang="en-US" sz="1300" dirty="0">
                        <a:effectLst/>
                        <a:latin typeface="Arial" panose="020B0604020202020204" pitchFamily="34" charset="0"/>
                        <a:ea typeface="Calibri" panose="020F0502020204030204" pitchFamily="34" charset="0"/>
                        <a:cs typeface="Times New Roman" panose="02020603050405020304" pitchFamily="18" charset="0"/>
                      </a:endParaRPr>
                    </a:p>
                  </a:txBody>
                  <a:tcPr marL="110025" marR="110025" marT="55012" marB="55012">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66189754"/>
                  </a:ext>
                </a:extLst>
              </a:tr>
              <a:tr h="474558">
                <a:tc vMerge="1">
                  <a:txBody>
                    <a:bodyPr/>
                    <a:lstStyle/>
                    <a:p>
                      <a:endParaRPr lang="en-US"/>
                    </a:p>
                  </a:txBody>
                  <a:tcPr/>
                </a:tc>
                <a:tc vMerge="1">
                  <a:txBody>
                    <a:bodyPr/>
                    <a:lstStyle/>
                    <a:p>
                      <a:endParaRPr lang="en-US"/>
                    </a:p>
                  </a:txBody>
                  <a:tcPr/>
                </a:tc>
                <a:tc>
                  <a:txBody>
                    <a:bodyPr/>
                    <a:lstStyle/>
                    <a:p>
                      <a:pPr marL="0" marR="0" algn="ctr">
                        <a:lnSpc>
                          <a:spcPct val="130000"/>
                        </a:lnSpc>
                        <a:spcBef>
                          <a:spcPts val="400"/>
                        </a:spcBef>
                        <a:spcAft>
                          <a:spcPts val="400"/>
                        </a:spcAft>
                      </a:pPr>
                      <a:r>
                        <a:rPr lang="en-US" sz="1800" kern="1200" dirty="0">
                          <a:solidFill>
                            <a:schemeClr val="accent5">
                              <a:lumMod val="50000"/>
                            </a:schemeClr>
                          </a:solidFill>
                          <a:latin typeface="Lato Regular"/>
                          <a:ea typeface="+mn-ea"/>
                          <a:cs typeface="+mn-cs"/>
                        </a:rPr>
                        <a:t>∑ (20%Lương </a:t>
                      </a:r>
                      <a:r>
                        <a:rPr lang="en-US" sz="1800" kern="1200" dirty="0" err="1">
                          <a:solidFill>
                            <a:schemeClr val="accent5">
                              <a:lumMod val="50000"/>
                            </a:schemeClr>
                          </a:solidFill>
                          <a:latin typeface="Lato Regular"/>
                          <a:ea typeface="+mn-ea"/>
                          <a:cs typeface="+mn-cs"/>
                        </a:rPr>
                        <a:t>cơ</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sở</a:t>
                      </a:r>
                      <a:r>
                        <a:rPr lang="en-US" sz="1800" kern="1200" dirty="0">
                          <a:solidFill>
                            <a:schemeClr val="accent5">
                              <a:lumMod val="50000"/>
                            </a:schemeClr>
                          </a:solidFill>
                          <a:latin typeface="Lato Regular"/>
                          <a:ea typeface="+mn-ea"/>
                          <a:cs typeface="+mn-cs"/>
                        </a:rPr>
                        <a:t> × </a:t>
                      </a:r>
                      <a:r>
                        <a:rPr lang="en-US" sz="1800" kern="1200" dirty="0" err="1">
                          <a:solidFill>
                            <a:schemeClr val="accent5">
                              <a:lumMod val="50000"/>
                            </a:schemeClr>
                          </a:solidFill>
                          <a:latin typeface="Lato Regular"/>
                          <a:ea typeface="+mn-ea"/>
                          <a:cs typeface="+mn-cs"/>
                        </a:rPr>
                        <a:t>Hcá</a:t>
                      </a:r>
                      <a:r>
                        <a:rPr lang="en-US" sz="1800" kern="1200" dirty="0">
                          <a:solidFill>
                            <a:schemeClr val="accent5">
                              <a:lumMod val="50000"/>
                            </a:schemeClr>
                          </a:solidFill>
                          <a:latin typeface="Lato Regular"/>
                          <a:ea typeface="+mn-ea"/>
                          <a:cs typeface="+mn-cs"/>
                        </a:rPr>
                        <a:t> nhân) </a:t>
                      </a:r>
                      <a:r>
                        <a:rPr lang="en-US" sz="1800" kern="1200" dirty="0" err="1">
                          <a:solidFill>
                            <a:schemeClr val="accent5">
                              <a:lumMod val="50000"/>
                            </a:schemeClr>
                          </a:solidFill>
                          <a:latin typeface="Lato Regular"/>
                          <a:ea typeface="+mn-ea"/>
                          <a:cs typeface="+mn-cs"/>
                        </a:rPr>
                        <a:t>dự</a:t>
                      </a:r>
                      <a:r>
                        <a:rPr lang="en-US" sz="1800" kern="1200" dirty="0">
                          <a:solidFill>
                            <a:schemeClr val="accent5">
                              <a:lumMod val="50000"/>
                            </a:schemeClr>
                          </a:solidFill>
                          <a:latin typeface="Lato Regular"/>
                          <a:ea typeface="+mn-ea"/>
                          <a:cs typeface="+mn-cs"/>
                        </a:rPr>
                        <a:t> </a:t>
                      </a:r>
                      <a:r>
                        <a:rPr lang="en-US" sz="1800" kern="1200" dirty="0" err="1">
                          <a:solidFill>
                            <a:schemeClr val="accent5">
                              <a:lumMod val="50000"/>
                            </a:schemeClr>
                          </a:solidFill>
                          <a:latin typeface="Lato Regular"/>
                          <a:ea typeface="+mn-ea"/>
                          <a:cs typeface="+mn-cs"/>
                        </a:rPr>
                        <a:t>án</a:t>
                      </a:r>
                      <a:endParaRPr lang="en-US" sz="1800" kern="1200" dirty="0">
                        <a:solidFill>
                          <a:schemeClr val="accent5">
                            <a:lumMod val="50000"/>
                          </a:schemeClr>
                        </a:solidFill>
                        <a:latin typeface="Lato Regular"/>
                        <a:ea typeface="+mn-ea"/>
                        <a:cs typeface="+mn-cs"/>
                      </a:endParaRPr>
                    </a:p>
                  </a:txBody>
                  <a:tcPr marL="110025" marR="110025" marT="55012" marB="55012"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30000"/>
                        </a:lnSpc>
                        <a:spcBef>
                          <a:spcPts val="400"/>
                        </a:spcBef>
                        <a:spcAft>
                          <a:spcPts val="400"/>
                        </a:spcAft>
                      </a:pPr>
                      <a:r>
                        <a:rPr lang="en-US" sz="1300" spc="-20" dirty="0">
                          <a:effectLst/>
                          <a:latin typeface="Arial" panose="020B0604020202020204" pitchFamily="34" charset="0"/>
                          <a:ea typeface="Calibri" panose="020F0502020204030204" pitchFamily="34" charset="0"/>
                          <a:cs typeface="Arial" panose="020B0604020202020204" pitchFamily="34" charset="0"/>
                        </a:rPr>
                        <a:t> </a:t>
                      </a:r>
                      <a:endParaRPr lang="en-US" sz="1300" dirty="0">
                        <a:effectLst/>
                        <a:latin typeface="Arial" panose="020B0604020202020204" pitchFamily="34" charset="0"/>
                        <a:ea typeface="Calibri" panose="020F0502020204030204" pitchFamily="34" charset="0"/>
                        <a:cs typeface="Times New Roman" panose="02020603050405020304" pitchFamily="18" charset="0"/>
                      </a:endParaRPr>
                    </a:p>
                  </a:txBody>
                  <a:tcPr marL="110025" marR="110025" marT="55012" marB="55012">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921002"/>
                  </a:ext>
                </a:extLst>
              </a:tr>
            </a:tbl>
          </a:graphicData>
        </a:graphic>
      </p:graphicFrame>
      <p:sp>
        <p:nvSpPr>
          <p:cNvPr id="5" name="Rectangle: Rounded Corners 9">
            <a:extLst>
              <a:ext uri="{FF2B5EF4-FFF2-40B4-BE49-F238E27FC236}">
                <a16:creationId xmlns:a16="http://schemas.microsoft.com/office/drawing/2014/main" id="{BECBD21E-1D30-4EBA-97C2-A5587F90C630}"/>
              </a:ext>
            </a:extLst>
          </p:cNvPr>
          <p:cNvSpPr/>
          <p:nvPr/>
        </p:nvSpPr>
        <p:spPr>
          <a:xfrm>
            <a:off x="8247246" y="1743441"/>
            <a:ext cx="3477491" cy="4457318"/>
          </a:xfrm>
          <a:prstGeom prst="roundRect">
            <a:avLst>
              <a:gd name="adj" fmla="val 2649"/>
            </a:avLst>
          </a:prstGeom>
          <a:solidFill>
            <a:schemeClr val="accent1">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chemeClr val="accent1">
                    <a:lumMod val="75000"/>
                  </a:schemeClr>
                </a:solidFill>
                <a:latin typeface="Open Sans" panose="020B0306030504020204"/>
              </a:rPr>
              <a:t>Căn</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cứ</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trên</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tỷ</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lệ</a:t>
            </a:r>
            <a:r>
              <a:rPr lang="en-US" dirty="0">
                <a:solidFill>
                  <a:schemeClr val="accent1">
                    <a:lumMod val="75000"/>
                  </a:schemeClr>
                </a:solidFill>
                <a:latin typeface="Open Sans" panose="020B0306030504020204"/>
              </a:rPr>
              <a:t> Completeness hàng </a:t>
            </a:r>
            <a:r>
              <a:rPr lang="en-US" dirty="0" err="1">
                <a:solidFill>
                  <a:schemeClr val="accent1">
                    <a:lumMod val="75000"/>
                  </a:schemeClr>
                </a:solidFill>
                <a:latin typeface="Open Sans" panose="020B0306030504020204"/>
              </a:rPr>
              <a:t>tháng</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của</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dự</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án</a:t>
            </a:r>
            <a:r>
              <a:rPr lang="en-US" dirty="0">
                <a:solidFill>
                  <a:schemeClr val="accent1">
                    <a:lumMod val="75000"/>
                  </a:schemeClr>
                </a:solidFill>
                <a:latin typeface="Open Sans" panose="020B0306030504020204"/>
              </a:rPr>
              <a:t>, PQA </a:t>
            </a:r>
            <a:r>
              <a:rPr lang="en-US" dirty="0" err="1">
                <a:solidFill>
                  <a:schemeClr val="accent1">
                    <a:lumMod val="75000"/>
                  </a:schemeClr>
                </a:solidFill>
                <a:latin typeface="Open Sans" panose="020B0306030504020204"/>
              </a:rPr>
              <a:t>cung</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cấp</a:t>
            </a:r>
            <a:r>
              <a:rPr lang="en-US" dirty="0">
                <a:solidFill>
                  <a:schemeClr val="accent1">
                    <a:lumMod val="75000"/>
                  </a:schemeClr>
                </a:solidFill>
                <a:latin typeface="Open Sans" panose="020B0306030504020204"/>
              </a:rPr>
              <a:t>, GĐSX </a:t>
            </a:r>
            <a:r>
              <a:rPr lang="en-US" dirty="0" err="1">
                <a:solidFill>
                  <a:schemeClr val="accent1">
                    <a:lumMod val="75000"/>
                  </a:schemeClr>
                </a:solidFill>
                <a:latin typeface="Open Sans" panose="020B0306030504020204"/>
              </a:rPr>
              <a:t>FISx</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quyết</a:t>
            </a:r>
            <a:r>
              <a:rPr lang="en-US" dirty="0">
                <a:solidFill>
                  <a:schemeClr val="accent1">
                    <a:lumMod val="75000"/>
                  </a:schemeClr>
                </a:solidFill>
                <a:latin typeface="Open Sans" panose="020B0306030504020204"/>
              </a:rPr>
              <a:t> </a:t>
            </a:r>
            <a:r>
              <a:rPr lang="en-US" dirty="0" err="1">
                <a:solidFill>
                  <a:schemeClr val="accent1">
                    <a:lumMod val="75000"/>
                  </a:schemeClr>
                </a:solidFill>
                <a:latin typeface="Open Sans" panose="020B0306030504020204"/>
              </a:rPr>
              <a:t>định</a:t>
            </a:r>
            <a:endParaRPr lang="en-US" dirty="0">
              <a:solidFill>
                <a:schemeClr val="accent1">
                  <a:lumMod val="75000"/>
                </a:schemeClr>
              </a:solidFill>
              <a:latin typeface="Open Sans" panose="020B0306030504020204"/>
            </a:endParaRPr>
          </a:p>
        </p:txBody>
      </p:sp>
      <p:graphicFrame>
        <p:nvGraphicFramePr>
          <p:cNvPr id="6" name="Table 11">
            <a:extLst>
              <a:ext uri="{FF2B5EF4-FFF2-40B4-BE49-F238E27FC236}">
                <a16:creationId xmlns:a16="http://schemas.microsoft.com/office/drawing/2014/main" id="{616C5E33-94FC-4989-8745-C5A2D3B111FA}"/>
              </a:ext>
            </a:extLst>
          </p:cNvPr>
          <p:cNvGraphicFramePr>
            <a:graphicFrameLocks noGrp="1"/>
          </p:cNvGraphicFramePr>
          <p:nvPr>
            <p:extLst>
              <p:ext uri="{D42A27DB-BD31-4B8C-83A1-F6EECF244321}">
                <p14:modId xmlns:p14="http://schemas.microsoft.com/office/powerpoint/2010/main" val="1854058379"/>
              </p:ext>
            </p:extLst>
          </p:nvPr>
        </p:nvGraphicFramePr>
        <p:xfrm>
          <a:off x="8468918" y="2752652"/>
          <a:ext cx="3024909" cy="1737360"/>
        </p:xfrm>
        <a:graphic>
          <a:graphicData uri="http://schemas.openxmlformats.org/drawingml/2006/table">
            <a:tbl>
              <a:tblPr firstRow="1" bandRow="1">
                <a:tableStyleId>{1FECB4D8-DB02-4DC6-A0A2-4F2EBAE1DC90}</a:tableStyleId>
              </a:tblPr>
              <a:tblGrid>
                <a:gridCol w="1625600">
                  <a:extLst>
                    <a:ext uri="{9D8B030D-6E8A-4147-A177-3AD203B41FA5}">
                      <a16:colId xmlns:a16="http://schemas.microsoft.com/office/drawing/2014/main" val="1345157911"/>
                    </a:ext>
                  </a:extLst>
                </a:gridCol>
                <a:gridCol w="1399309">
                  <a:extLst>
                    <a:ext uri="{9D8B030D-6E8A-4147-A177-3AD203B41FA5}">
                      <a16:colId xmlns:a16="http://schemas.microsoft.com/office/drawing/2014/main" val="375680844"/>
                    </a:ext>
                  </a:extLst>
                </a:gridCol>
              </a:tblGrid>
              <a:tr h="361751">
                <a:tc>
                  <a:txBody>
                    <a:bodyPr/>
                    <a:lstStyle/>
                    <a:p>
                      <a:pPr algn="ctr"/>
                      <a:r>
                        <a:rPr lang="en-US" sz="1400" dirty="0" err="1">
                          <a:solidFill>
                            <a:schemeClr val="accent1">
                              <a:lumMod val="75000"/>
                            </a:schemeClr>
                          </a:solidFill>
                          <a:latin typeface="Open Sans" panose="020B0306030504020204"/>
                        </a:rPr>
                        <a:t>Tỷ</a:t>
                      </a:r>
                      <a:r>
                        <a:rPr lang="en-US" sz="1400" dirty="0">
                          <a:solidFill>
                            <a:schemeClr val="accent1">
                              <a:lumMod val="75000"/>
                            </a:schemeClr>
                          </a:solidFill>
                          <a:latin typeface="Open Sans" panose="020B0306030504020204"/>
                        </a:rPr>
                        <a:t> </a:t>
                      </a:r>
                      <a:r>
                        <a:rPr lang="en-US" sz="1400" dirty="0" err="1">
                          <a:solidFill>
                            <a:schemeClr val="accent1">
                              <a:lumMod val="75000"/>
                            </a:schemeClr>
                          </a:solidFill>
                          <a:latin typeface="Open Sans" panose="020B0306030504020204"/>
                        </a:rPr>
                        <a:t>lệ</a:t>
                      </a:r>
                      <a:r>
                        <a:rPr lang="en-US" sz="1400" dirty="0">
                          <a:solidFill>
                            <a:schemeClr val="accent1">
                              <a:lumMod val="75000"/>
                            </a:schemeClr>
                          </a:solidFill>
                          <a:latin typeface="Open Sans" panose="020B0306030504020204"/>
                        </a:rPr>
                        <a:t> completeness</a:t>
                      </a:r>
                    </a:p>
                  </a:txBody>
                  <a:tcPr>
                    <a:solidFill>
                      <a:schemeClr val="bg1">
                        <a:lumMod val="85000"/>
                      </a:schemeClr>
                    </a:solidFill>
                  </a:tcPr>
                </a:tc>
                <a:tc>
                  <a:txBody>
                    <a:bodyPr/>
                    <a:lstStyle/>
                    <a:p>
                      <a:pPr algn="ctr"/>
                      <a:r>
                        <a:rPr lang="en-US" sz="1400" dirty="0" err="1">
                          <a:solidFill>
                            <a:schemeClr val="accent1">
                              <a:lumMod val="75000"/>
                            </a:schemeClr>
                          </a:solidFill>
                          <a:latin typeface="Open Sans" panose="020B0306030504020204"/>
                        </a:rPr>
                        <a:t>Dải</a:t>
                      </a:r>
                      <a:r>
                        <a:rPr lang="en-US" sz="1400" dirty="0">
                          <a:solidFill>
                            <a:schemeClr val="accent1">
                              <a:lumMod val="75000"/>
                            </a:schemeClr>
                          </a:solidFill>
                          <a:latin typeface="Open Sans" panose="020B0306030504020204"/>
                        </a:rPr>
                        <a:t> </a:t>
                      </a:r>
                      <a:r>
                        <a:rPr lang="en-US" sz="1400" dirty="0" err="1">
                          <a:solidFill>
                            <a:schemeClr val="accent1">
                              <a:lumMod val="75000"/>
                            </a:schemeClr>
                          </a:solidFill>
                          <a:latin typeface="Open Sans" panose="020B0306030504020204"/>
                        </a:rPr>
                        <a:t>điểm</a:t>
                      </a:r>
                      <a:r>
                        <a:rPr lang="en-US" sz="1400" dirty="0">
                          <a:solidFill>
                            <a:schemeClr val="accent1">
                              <a:lumMod val="75000"/>
                            </a:schemeClr>
                          </a:solidFill>
                          <a:latin typeface="Open Sans" panose="020B0306030504020204"/>
                        </a:rPr>
                        <a:t> </a:t>
                      </a:r>
                      <a:r>
                        <a:rPr lang="en-US" sz="1400" dirty="0" err="1">
                          <a:solidFill>
                            <a:schemeClr val="accent1">
                              <a:lumMod val="75000"/>
                            </a:schemeClr>
                          </a:solidFill>
                          <a:latin typeface="Open Sans" panose="020B0306030504020204"/>
                        </a:rPr>
                        <a:t>khuyến</a:t>
                      </a:r>
                      <a:r>
                        <a:rPr lang="en-US" sz="1400" dirty="0">
                          <a:solidFill>
                            <a:schemeClr val="accent1">
                              <a:lumMod val="75000"/>
                            </a:schemeClr>
                          </a:solidFill>
                          <a:latin typeface="Open Sans" panose="020B0306030504020204"/>
                        </a:rPr>
                        <a:t> </a:t>
                      </a:r>
                      <a:r>
                        <a:rPr lang="en-US" sz="1400" dirty="0" err="1">
                          <a:solidFill>
                            <a:schemeClr val="accent1">
                              <a:lumMod val="75000"/>
                            </a:schemeClr>
                          </a:solidFill>
                          <a:latin typeface="Open Sans" panose="020B0306030504020204"/>
                        </a:rPr>
                        <a:t>nghị</a:t>
                      </a:r>
                      <a:endParaRPr lang="en-US" sz="1400" dirty="0">
                        <a:solidFill>
                          <a:schemeClr val="accent1">
                            <a:lumMod val="75000"/>
                          </a:schemeClr>
                        </a:solidFill>
                        <a:latin typeface="Open Sans" panose="020B0306030504020204"/>
                      </a:endParaRPr>
                    </a:p>
                  </a:txBody>
                  <a:tcPr>
                    <a:solidFill>
                      <a:schemeClr val="bg1">
                        <a:lumMod val="85000"/>
                      </a:schemeClr>
                    </a:solidFill>
                  </a:tcPr>
                </a:tc>
                <a:extLst>
                  <a:ext uri="{0D108BD9-81ED-4DB2-BD59-A6C34878D82A}">
                    <a16:rowId xmlns:a16="http://schemas.microsoft.com/office/drawing/2014/main" val="377617336"/>
                  </a:ext>
                </a:extLst>
              </a:tr>
              <a:tr h="209586">
                <a:tc>
                  <a:txBody>
                    <a:bodyPr/>
                    <a:lstStyle/>
                    <a:p>
                      <a:pPr algn="ctr"/>
                      <a:r>
                        <a:rPr lang="en-US" sz="1400" dirty="0">
                          <a:latin typeface="Open Sans" panose="020B0306030504020204"/>
                        </a:rPr>
                        <a:t>&gt;100%</a:t>
                      </a:r>
                    </a:p>
                  </a:txBody>
                  <a:tcPr/>
                </a:tc>
                <a:tc>
                  <a:txBody>
                    <a:bodyPr/>
                    <a:lstStyle/>
                    <a:p>
                      <a:pPr algn="ctr"/>
                      <a:r>
                        <a:rPr lang="en-US" sz="1400" dirty="0">
                          <a:latin typeface="Open Sans" panose="020B0306030504020204"/>
                        </a:rPr>
                        <a:t>1 – 1.2</a:t>
                      </a:r>
                    </a:p>
                  </a:txBody>
                  <a:tcPr/>
                </a:tc>
                <a:extLst>
                  <a:ext uri="{0D108BD9-81ED-4DB2-BD59-A6C34878D82A}">
                    <a16:rowId xmlns:a16="http://schemas.microsoft.com/office/drawing/2014/main" val="2726031816"/>
                  </a:ext>
                </a:extLst>
              </a:tr>
              <a:tr h="209586">
                <a:tc>
                  <a:txBody>
                    <a:bodyPr/>
                    <a:lstStyle/>
                    <a:p>
                      <a:pPr algn="ctr"/>
                      <a:r>
                        <a:rPr lang="en-US" sz="1400" dirty="0">
                          <a:latin typeface="Open Sans" panose="020B0306030504020204"/>
                        </a:rPr>
                        <a:t>80% - 100%</a:t>
                      </a:r>
                    </a:p>
                  </a:txBody>
                  <a:tcPr/>
                </a:tc>
                <a:tc>
                  <a:txBody>
                    <a:bodyPr/>
                    <a:lstStyle/>
                    <a:p>
                      <a:pPr algn="ctr"/>
                      <a:r>
                        <a:rPr lang="en-US" sz="1400" dirty="0">
                          <a:latin typeface="Open Sans" panose="020B0306030504020204"/>
                        </a:rPr>
                        <a:t>0.8 – 1</a:t>
                      </a:r>
                    </a:p>
                  </a:txBody>
                  <a:tcPr/>
                </a:tc>
                <a:extLst>
                  <a:ext uri="{0D108BD9-81ED-4DB2-BD59-A6C34878D82A}">
                    <a16:rowId xmlns:a16="http://schemas.microsoft.com/office/drawing/2014/main" val="1666729479"/>
                  </a:ext>
                </a:extLst>
              </a:tr>
              <a:tr h="209586">
                <a:tc>
                  <a:txBody>
                    <a:bodyPr/>
                    <a:lstStyle/>
                    <a:p>
                      <a:pPr algn="ctr"/>
                      <a:r>
                        <a:rPr lang="en-US" sz="1400" dirty="0">
                          <a:latin typeface="Open Sans" panose="020B0306030504020204"/>
                        </a:rPr>
                        <a:t>60% - 80%</a:t>
                      </a:r>
                    </a:p>
                  </a:txBody>
                  <a:tcPr/>
                </a:tc>
                <a:tc>
                  <a:txBody>
                    <a:bodyPr/>
                    <a:lstStyle/>
                    <a:p>
                      <a:pPr algn="ctr"/>
                      <a:r>
                        <a:rPr lang="en-US" sz="1400" dirty="0">
                          <a:latin typeface="Open Sans" panose="020B0306030504020204"/>
                        </a:rPr>
                        <a:t>0.8</a:t>
                      </a:r>
                    </a:p>
                  </a:txBody>
                  <a:tcPr/>
                </a:tc>
                <a:extLst>
                  <a:ext uri="{0D108BD9-81ED-4DB2-BD59-A6C34878D82A}">
                    <a16:rowId xmlns:a16="http://schemas.microsoft.com/office/drawing/2014/main" val="2899799653"/>
                  </a:ext>
                </a:extLst>
              </a:tr>
              <a:tr h="209586">
                <a:tc>
                  <a:txBody>
                    <a:bodyPr/>
                    <a:lstStyle/>
                    <a:p>
                      <a:pPr algn="ctr"/>
                      <a:r>
                        <a:rPr lang="en-US" sz="1400" dirty="0">
                          <a:latin typeface="Open Sans" panose="020B0306030504020204"/>
                        </a:rPr>
                        <a:t>&lt;60%</a:t>
                      </a:r>
                    </a:p>
                  </a:txBody>
                  <a:tcPr/>
                </a:tc>
                <a:tc>
                  <a:txBody>
                    <a:bodyPr/>
                    <a:lstStyle/>
                    <a:p>
                      <a:pPr algn="ctr"/>
                      <a:r>
                        <a:rPr lang="en-US" sz="1400" dirty="0">
                          <a:latin typeface="Open Sans" panose="020B0306030504020204"/>
                        </a:rPr>
                        <a:t>0</a:t>
                      </a:r>
                    </a:p>
                  </a:txBody>
                  <a:tcPr/>
                </a:tc>
                <a:extLst>
                  <a:ext uri="{0D108BD9-81ED-4DB2-BD59-A6C34878D82A}">
                    <a16:rowId xmlns:a16="http://schemas.microsoft.com/office/drawing/2014/main" val="36376267"/>
                  </a:ext>
                </a:extLst>
              </a:tr>
            </a:tbl>
          </a:graphicData>
        </a:graphic>
      </p:graphicFrame>
      <p:sp>
        <p:nvSpPr>
          <p:cNvPr id="7" name="TextBox 6">
            <a:extLst>
              <a:ext uri="{FF2B5EF4-FFF2-40B4-BE49-F238E27FC236}">
                <a16:creationId xmlns:a16="http://schemas.microsoft.com/office/drawing/2014/main" id="{56D3382B-14D8-457F-BED0-058518C26DB4}"/>
              </a:ext>
            </a:extLst>
          </p:cNvPr>
          <p:cNvSpPr txBox="1"/>
          <p:nvPr/>
        </p:nvSpPr>
        <p:spPr>
          <a:xfrm>
            <a:off x="8299204" y="4999488"/>
            <a:ext cx="1260764" cy="461665"/>
          </a:xfrm>
          <a:prstGeom prst="rect">
            <a:avLst/>
          </a:prstGeom>
          <a:noFill/>
        </p:spPr>
        <p:txBody>
          <a:bodyPr wrap="square">
            <a:spAutoFit/>
          </a:bodyPr>
          <a:lstStyle/>
          <a:p>
            <a:pPr algn="ctr"/>
            <a:r>
              <a:rPr lang="en-US" sz="1200" dirty="0" err="1">
                <a:solidFill>
                  <a:schemeClr val="accent1">
                    <a:lumMod val="75000"/>
                  </a:schemeClr>
                </a:solidFill>
                <a:latin typeface="Open Sans" panose="020B0306030504020204"/>
              </a:rPr>
              <a:t>Tỷ</a:t>
            </a: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lệ</a:t>
            </a:r>
            <a:r>
              <a:rPr lang="en-US" sz="1200" dirty="0">
                <a:solidFill>
                  <a:schemeClr val="accent1">
                    <a:lumMod val="75000"/>
                  </a:schemeClr>
                </a:solidFill>
                <a:latin typeface="Open Sans" panose="020B0306030504020204"/>
              </a:rPr>
              <a:t> </a:t>
            </a:r>
          </a:p>
          <a:p>
            <a:pPr algn="ctr"/>
            <a:r>
              <a:rPr lang="en-US" sz="1200" dirty="0">
                <a:solidFill>
                  <a:schemeClr val="accent1">
                    <a:lumMod val="75000"/>
                  </a:schemeClr>
                </a:solidFill>
                <a:latin typeface="Open Sans" panose="020B0306030504020204"/>
              </a:rPr>
              <a:t>Completeness </a:t>
            </a:r>
            <a:endParaRPr lang="en-US" sz="1200" dirty="0"/>
          </a:p>
        </p:txBody>
      </p:sp>
      <p:sp>
        <p:nvSpPr>
          <p:cNvPr id="8" name="TextBox 7">
            <a:extLst>
              <a:ext uri="{FF2B5EF4-FFF2-40B4-BE49-F238E27FC236}">
                <a16:creationId xmlns:a16="http://schemas.microsoft.com/office/drawing/2014/main" id="{757FA18A-6BD6-46FB-99C0-A5D921FAF565}"/>
              </a:ext>
            </a:extLst>
          </p:cNvPr>
          <p:cNvSpPr txBox="1"/>
          <p:nvPr/>
        </p:nvSpPr>
        <p:spPr>
          <a:xfrm>
            <a:off x="8929586" y="5091820"/>
            <a:ext cx="1260764" cy="276999"/>
          </a:xfrm>
          <a:prstGeom prst="rect">
            <a:avLst/>
          </a:prstGeom>
          <a:noFill/>
        </p:spPr>
        <p:txBody>
          <a:bodyPr wrap="square">
            <a:spAutoFit/>
          </a:bodyPr>
          <a:lstStyle/>
          <a:p>
            <a:pPr algn="ctr"/>
            <a:r>
              <a:rPr lang="en-US" sz="1200" dirty="0">
                <a:solidFill>
                  <a:schemeClr val="accent1">
                    <a:lumMod val="75000"/>
                  </a:schemeClr>
                </a:solidFill>
                <a:latin typeface="Open Sans" panose="020B0306030504020204"/>
              </a:rPr>
              <a:t>=</a:t>
            </a:r>
            <a:endParaRPr lang="en-US" sz="1200" dirty="0"/>
          </a:p>
        </p:txBody>
      </p:sp>
      <p:sp>
        <p:nvSpPr>
          <p:cNvPr id="9" name="TextBox 8">
            <a:extLst>
              <a:ext uri="{FF2B5EF4-FFF2-40B4-BE49-F238E27FC236}">
                <a16:creationId xmlns:a16="http://schemas.microsoft.com/office/drawing/2014/main" id="{31FC0335-2470-46D7-A9D9-27134A533075}"/>
              </a:ext>
            </a:extLst>
          </p:cNvPr>
          <p:cNvSpPr txBox="1"/>
          <p:nvPr/>
        </p:nvSpPr>
        <p:spPr>
          <a:xfrm>
            <a:off x="9205523" y="4962575"/>
            <a:ext cx="2688936" cy="276999"/>
          </a:xfrm>
          <a:prstGeom prst="rect">
            <a:avLst/>
          </a:prstGeom>
          <a:noFill/>
        </p:spPr>
        <p:txBody>
          <a:bodyPr wrap="square">
            <a:spAutoFit/>
          </a:bodyPr>
          <a:lstStyle/>
          <a:p>
            <a:pPr algn="ct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Hoàn</a:t>
            </a: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thành</a:t>
            </a: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sản</a:t>
            </a: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phẩm</a:t>
            </a:r>
            <a:endParaRPr lang="en-US" sz="1200" dirty="0"/>
          </a:p>
        </p:txBody>
      </p:sp>
      <p:sp>
        <p:nvSpPr>
          <p:cNvPr id="10" name="TextBox 9">
            <a:extLst>
              <a:ext uri="{FF2B5EF4-FFF2-40B4-BE49-F238E27FC236}">
                <a16:creationId xmlns:a16="http://schemas.microsoft.com/office/drawing/2014/main" id="{6EA179BE-335D-4EC1-958E-1CF7B17AE0BD}"/>
              </a:ext>
            </a:extLst>
          </p:cNvPr>
          <p:cNvSpPr txBox="1"/>
          <p:nvPr/>
        </p:nvSpPr>
        <p:spPr>
          <a:xfrm>
            <a:off x="9177813" y="5234920"/>
            <a:ext cx="2688936" cy="276999"/>
          </a:xfrm>
          <a:prstGeom prst="rect">
            <a:avLst/>
          </a:prstGeom>
          <a:noFill/>
        </p:spPr>
        <p:txBody>
          <a:bodyPr wrap="square">
            <a:spAutoFit/>
          </a:bodyPr>
          <a:lstStyle/>
          <a:p>
            <a:pPr algn="ctr"/>
            <a:r>
              <a:rPr lang="en-US" sz="1200" dirty="0">
                <a:solidFill>
                  <a:schemeClr val="accent1">
                    <a:lumMod val="75000"/>
                  </a:schemeClr>
                </a:solidFill>
                <a:latin typeface="Open Sans" panose="020B0306030504020204"/>
              </a:rPr>
              <a:t>% Timeline </a:t>
            </a:r>
            <a:r>
              <a:rPr lang="en-US" sz="1200" dirty="0" err="1">
                <a:solidFill>
                  <a:schemeClr val="accent1">
                    <a:lumMod val="75000"/>
                  </a:schemeClr>
                </a:solidFill>
                <a:latin typeface="Open Sans" panose="020B0306030504020204"/>
              </a:rPr>
              <a:t>dự</a:t>
            </a:r>
            <a:r>
              <a:rPr lang="en-US" sz="1200" dirty="0">
                <a:solidFill>
                  <a:schemeClr val="accent1">
                    <a:lumMod val="75000"/>
                  </a:schemeClr>
                </a:solidFill>
                <a:latin typeface="Open Sans" panose="020B0306030504020204"/>
              </a:rPr>
              <a:t> </a:t>
            </a:r>
            <a:r>
              <a:rPr lang="en-US" sz="1200" dirty="0" err="1">
                <a:solidFill>
                  <a:schemeClr val="accent1">
                    <a:lumMod val="75000"/>
                  </a:schemeClr>
                </a:solidFill>
                <a:latin typeface="Open Sans" panose="020B0306030504020204"/>
              </a:rPr>
              <a:t>án</a:t>
            </a:r>
            <a:endParaRPr lang="en-US" sz="1200" dirty="0"/>
          </a:p>
        </p:txBody>
      </p:sp>
      <p:cxnSp>
        <p:nvCxnSpPr>
          <p:cNvPr id="11" name="Straight Connector 10">
            <a:extLst>
              <a:ext uri="{FF2B5EF4-FFF2-40B4-BE49-F238E27FC236}">
                <a16:creationId xmlns:a16="http://schemas.microsoft.com/office/drawing/2014/main" id="{A70D4B18-C0F3-45E6-B7EE-14B72791D895}"/>
              </a:ext>
            </a:extLst>
          </p:cNvPr>
          <p:cNvCxnSpPr/>
          <p:nvPr/>
        </p:nvCxnSpPr>
        <p:spPr>
          <a:xfrm flipH="1">
            <a:off x="9753935" y="5230319"/>
            <a:ext cx="164592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333896" y="327184"/>
            <a:ext cx="9823541" cy="523220"/>
          </a:xfrm>
          <a:prstGeom prst="rect">
            <a:avLst/>
          </a:prstGeom>
        </p:spPr>
        <p:txBody>
          <a:bodyPr wrap="square">
            <a:spAutoFit/>
          </a:bodyPr>
          <a:lstStyle/>
          <a:p>
            <a:r>
              <a:rPr lang="en-US" sz="2800" b="1" dirty="0">
                <a:solidFill>
                  <a:schemeClr val="bg1"/>
                </a:solidFill>
                <a:latin typeface="Verdana" panose="020B0604030504040204" pitchFamily="34" charset="0"/>
                <a:ea typeface="Verdana" panose="020B0604030504040204" pitchFamily="34" charset="0"/>
              </a:rPr>
              <a:t>3. </a:t>
            </a:r>
            <a:r>
              <a:rPr lang="vi-VN" sz="2800" b="1" dirty="0">
                <a:solidFill>
                  <a:schemeClr val="bg1"/>
                </a:solidFill>
                <a:latin typeface="Verdana" panose="020B0604030504040204" pitchFamily="34" charset="0"/>
                <a:ea typeface="Verdana" panose="020B0604030504040204" pitchFamily="34" charset="0"/>
              </a:rPr>
              <a:t>CÔNG THỨC TÍNH TẠM ỨNG THƯỞNG HQDA</a:t>
            </a:r>
            <a:endParaRPr lang="en-US" sz="2800" b="1" dirty="0">
              <a:solidFill>
                <a:schemeClr val="bg1"/>
              </a:solidFill>
              <a:latin typeface="Verdana" panose="020B0604030504040204" pitchFamily="34" charset="0"/>
              <a:ea typeface="Verdana" panose="020B0604030504040204" pitchFamily="34" charset="0"/>
            </a:endParaRPr>
          </a:p>
        </p:txBody>
      </p:sp>
      <p:sp>
        <p:nvSpPr>
          <p:cNvPr id="13" name="Arrow: Right 7">
            <a:extLst>
              <a:ext uri="{FF2B5EF4-FFF2-40B4-BE49-F238E27FC236}">
                <a16:creationId xmlns:a16="http://schemas.microsoft.com/office/drawing/2014/main" id="{5F6423B5-7CEF-441C-A2C5-8925689F3D46}"/>
              </a:ext>
            </a:extLst>
          </p:cNvPr>
          <p:cNvSpPr/>
          <p:nvPr/>
        </p:nvSpPr>
        <p:spPr>
          <a:xfrm>
            <a:off x="7769412" y="2367735"/>
            <a:ext cx="402657" cy="3849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BD6484F-BEAB-443C-885D-F359A0E2C59C}"/>
              </a:ext>
            </a:extLst>
          </p:cNvPr>
          <p:cNvSpPr txBox="1"/>
          <p:nvPr/>
        </p:nvSpPr>
        <p:spPr>
          <a:xfrm>
            <a:off x="8374680" y="6401285"/>
            <a:ext cx="3350057" cy="338554"/>
          </a:xfrm>
          <a:prstGeom prst="rect">
            <a:avLst/>
          </a:prstGeom>
          <a:noFill/>
        </p:spPr>
        <p:txBody>
          <a:bodyPr wrap="square">
            <a:spAutoFit/>
          </a:bodyPr>
          <a:lstStyle/>
          <a:p>
            <a:r>
              <a:rPr lang="en-US" sz="1600" i="1" dirty="0">
                <a:solidFill>
                  <a:schemeClr val="accent1">
                    <a:lumMod val="50000"/>
                  </a:schemeClr>
                </a:solidFill>
                <a:latin typeface="Lato Regular"/>
              </a:rPr>
              <a:t>(</a:t>
            </a:r>
            <a:r>
              <a:rPr lang="en-US" sz="1600" i="1" dirty="0" err="1">
                <a:solidFill>
                  <a:schemeClr val="accent1">
                    <a:lumMod val="50000"/>
                  </a:schemeClr>
                </a:solidFill>
                <a:latin typeface="Lato Regular"/>
              </a:rPr>
              <a:t>Nguồn</a:t>
            </a:r>
            <a:r>
              <a:rPr lang="en-US" sz="1600" i="1" dirty="0">
                <a:solidFill>
                  <a:schemeClr val="accent1">
                    <a:lumMod val="50000"/>
                  </a:schemeClr>
                </a:solidFill>
                <a:latin typeface="Lato Regular"/>
              </a:rPr>
              <a:t>: Ban </a:t>
            </a:r>
            <a:r>
              <a:rPr lang="en-US" sz="1600" i="1" dirty="0" err="1">
                <a:solidFill>
                  <a:schemeClr val="accent1">
                    <a:lumMod val="50000"/>
                  </a:schemeClr>
                </a:solidFill>
                <a:latin typeface="Lato Regular"/>
              </a:rPr>
              <a:t>quản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lý</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sản</a:t>
            </a:r>
            <a:r>
              <a:rPr lang="en-US" sz="1600" i="1" dirty="0">
                <a:solidFill>
                  <a:schemeClr val="accent1">
                    <a:lumMod val="50000"/>
                  </a:schemeClr>
                </a:solidFill>
                <a:latin typeface="Lato Regular"/>
              </a:rPr>
              <a:t> </a:t>
            </a:r>
            <a:r>
              <a:rPr lang="en-US" sz="1600" i="1" dirty="0" err="1">
                <a:solidFill>
                  <a:schemeClr val="accent1">
                    <a:lumMod val="50000"/>
                  </a:schemeClr>
                </a:solidFill>
                <a:latin typeface="Lato Regular"/>
              </a:rPr>
              <a:t>xuất</a:t>
            </a:r>
            <a:r>
              <a:rPr lang="en-US" sz="1600" i="1" dirty="0">
                <a:solidFill>
                  <a:schemeClr val="accent1">
                    <a:lumMod val="50000"/>
                  </a:schemeClr>
                </a:solidFill>
                <a:latin typeface="Lato Regular"/>
              </a:rPr>
              <a:t> FIS)</a:t>
            </a:r>
            <a:r>
              <a:rPr lang="vi-VN" sz="1600" i="1" kern="1200" dirty="0">
                <a:solidFill>
                  <a:schemeClr val="accent1">
                    <a:lumMod val="50000"/>
                  </a:schemeClr>
                </a:solidFill>
                <a:latin typeface="Lato Regular"/>
                <a:ea typeface="+mn-ea"/>
                <a:cs typeface="+mn-cs"/>
              </a:rPr>
              <a:t> </a:t>
            </a:r>
            <a:endParaRPr lang="en-US" sz="1600" i="1" dirty="0"/>
          </a:p>
        </p:txBody>
      </p:sp>
    </p:spTree>
    <p:extLst>
      <p:ext uri="{BB962C8B-B14F-4D97-AF65-F5344CB8AC3E}">
        <p14:creationId xmlns:p14="http://schemas.microsoft.com/office/powerpoint/2010/main" val="23144889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4. Ứng dụng – phân tích thiết kế hệ thống</a:t>
            </a:r>
            <a:endParaRPr lang="en-US" sz="2600"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279359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5. Cài đặt thực nghiệm</a:t>
            </a:r>
            <a:endParaRPr lang="en-US" sz="2600"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104344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KẾT LUẬN</a:t>
            </a:r>
            <a:endParaRPr lang="en-US" sz="2600"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117972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TÀI LIỆU THAM KHẢO</a:t>
            </a:r>
            <a:endParaRPr lang="en-US" sz="2600"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305066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33896" y="308128"/>
            <a:ext cx="9823541" cy="553998"/>
          </a:xfrm>
          <a:prstGeom prst="rect">
            <a:avLst/>
          </a:prstGeom>
        </p:spPr>
        <p:txBody>
          <a:bodyPr wrap="square">
            <a:spAutoFit/>
          </a:bodyPr>
          <a:lstStyle/>
          <a:p>
            <a:r>
              <a:rPr lang="en-US" sz="3000" b="1" dirty="0">
                <a:solidFill>
                  <a:schemeClr val="bg1"/>
                </a:solidFill>
                <a:latin typeface="Verdana" panose="020B0604030504040204" pitchFamily="34" charset="0"/>
                <a:ea typeface="Verdana" panose="020B0604030504040204" pitchFamily="34" charset="0"/>
              </a:rPr>
              <a:t>NỘI DUNG</a:t>
            </a:r>
          </a:p>
        </p:txBody>
      </p:sp>
      <p:grpSp>
        <p:nvGrpSpPr>
          <p:cNvPr id="4" name="Group 46"/>
          <p:cNvGrpSpPr>
            <a:grpSpLocks/>
          </p:cNvGrpSpPr>
          <p:nvPr/>
        </p:nvGrpSpPr>
        <p:grpSpPr bwMode="auto">
          <a:xfrm>
            <a:off x="1465018" y="1032499"/>
            <a:ext cx="8186057" cy="913289"/>
            <a:chOff x="1296" y="1824"/>
            <a:chExt cx="3031" cy="432"/>
          </a:xfrm>
        </p:grpSpPr>
        <p:sp>
          <p:nvSpPr>
            <p:cNvPr id="5" name="AutoShape 47"/>
            <p:cNvSpPr>
              <a:spLocks noChangeArrowheads="1"/>
            </p:cNvSpPr>
            <p:nvPr/>
          </p:nvSpPr>
          <p:spPr bwMode="gray">
            <a:xfrm>
              <a:off x="1536" y="1899"/>
              <a:ext cx="2736" cy="287"/>
            </a:xfrm>
            <a:prstGeom prst="roundRect">
              <a:avLst>
                <a:gd name="adj" fmla="val 16667"/>
              </a:avLst>
            </a:prstGeom>
            <a:gradFill rotWithShape="1">
              <a:gsLst>
                <a:gs pos="0">
                  <a:schemeClr val="accent2">
                    <a:gamma/>
                    <a:tint val="21176"/>
                    <a:invGamma/>
                  </a:schemeClr>
                </a:gs>
                <a:gs pos="100000">
                  <a:schemeClr val="accent2"/>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a:p>
          </p:txBody>
        </p:sp>
        <p:sp>
          <p:nvSpPr>
            <p:cNvPr id="6"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b="0">
                <a:latin typeface="Arial" panose="020B0604020202020204" pitchFamily="34" charset="0"/>
              </a:endParaRPr>
            </a:p>
          </p:txBody>
        </p:sp>
        <p:sp>
          <p:nvSpPr>
            <p:cNvPr id="7" name="Text Box 49"/>
            <p:cNvSpPr txBox="1">
              <a:spLocks noChangeArrowheads="1"/>
            </p:cNvSpPr>
            <p:nvPr/>
          </p:nvSpPr>
          <p:spPr bwMode="gray">
            <a:xfrm>
              <a:off x="1804" y="1944"/>
              <a:ext cx="252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vi-VN" altLang="en-US" sz="2200" dirty="0">
                  <a:solidFill>
                    <a:srgbClr val="000000"/>
                  </a:solidFill>
                  <a:latin typeface="Arial" panose="020B0604020202020204" pitchFamily="34" charset="0"/>
                </a:rPr>
                <a:t>Ý nghĩa của Tạm ứng thưởng HQDA</a:t>
              </a:r>
              <a:endParaRPr lang="en-US" altLang="en-US" sz="2200" dirty="0">
                <a:solidFill>
                  <a:srgbClr val="000000"/>
                </a:solidFill>
                <a:latin typeface="Arial" panose="020B0604020202020204" pitchFamily="34" charset="0"/>
              </a:endParaRPr>
            </a:p>
          </p:txBody>
        </p:sp>
        <p:sp>
          <p:nvSpPr>
            <p:cNvPr id="8" name="Text Box 50"/>
            <p:cNvSpPr txBox="1">
              <a:spLocks noChangeArrowheads="1"/>
            </p:cNvSpPr>
            <p:nvPr/>
          </p:nvSpPr>
          <p:spPr bwMode="gray">
            <a:xfrm>
              <a:off x="1400" y="193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0">
                  <a:solidFill>
                    <a:schemeClr val="bg1"/>
                  </a:solidFill>
                  <a:latin typeface="Arial" panose="020B0604020202020204" pitchFamily="34" charset="0"/>
                </a:rPr>
                <a:t>1</a:t>
              </a:r>
            </a:p>
          </p:txBody>
        </p:sp>
      </p:grpSp>
      <p:grpSp>
        <p:nvGrpSpPr>
          <p:cNvPr id="9" name="Group 51"/>
          <p:cNvGrpSpPr>
            <a:grpSpLocks/>
          </p:cNvGrpSpPr>
          <p:nvPr/>
        </p:nvGrpSpPr>
        <p:grpSpPr bwMode="auto">
          <a:xfrm>
            <a:off x="1450729" y="2237412"/>
            <a:ext cx="8045677" cy="913288"/>
            <a:chOff x="1296" y="1824"/>
            <a:chExt cx="2976" cy="432"/>
          </a:xfrm>
        </p:grpSpPr>
        <p:sp>
          <p:nvSpPr>
            <p:cNvPr id="10" name="AutoShape 52"/>
            <p:cNvSpPr>
              <a:spLocks noChangeArrowheads="1"/>
            </p:cNvSpPr>
            <p:nvPr/>
          </p:nvSpPr>
          <p:spPr bwMode="gray">
            <a:xfrm>
              <a:off x="1536" y="1899"/>
              <a:ext cx="2736" cy="287"/>
            </a:xfrm>
            <a:prstGeom prst="roundRect">
              <a:avLst>
                <a:gd name="adj" fmla="val 16667"/>
              </a:avLst>
            </a:prstGeom>
            <a:gradFill rotWithShape="1">
              <a:gsLst>
                <a:gs pos="0">
                  <a:schemeClr val="accent1">
                    <a:gamma/>
                    <a:tint val="21176"/>
                    <a:invGamma/>
                  </a:schemeClr>
                </a:gs>
                <a:gs pos="100000">
                  <a:schemeClr val="accent1"/>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a:p>
          </p:txBody>
        </p:sp>
        <p:sp>
          <p:nvSpPr>
            <p:cNvPr id="11"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b="0">
                <a:latin typeface="Arial" panose="020B0604020202020204" pitchFamily="34" charset="0"/>
              </a:endParaRPr>
            </a:p>
          </p:txBody>
        </p:sp>
        <p:sp>
          <p:nvSpPr>
            <p:cNvPr id="12" name="Text Box 54"/>
            <p:cNvSpPr txBox="1">
              <a:spLocks noChangeArrowheads="1"/>
            </p:cNvSpPr>
            <p:nvPr/>
          </p:nvSpPr>
          <p:spPr bwMode="gray">
            <a:xfrm>
              <a:off x="1825" y="1942"/>
              <a:ext cx="232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200" dirty="0" err="1">
                  <a:solidFill>
                    <a:srgbClr val="000000"/>
                  </a:solidFill>
                  <a:latin typeface="Arial" panose="020B0604020202020204" pitchFamily="34" charset="0"/>
                </a:rPr>
                <a:t>Nguyên</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tắc</a:t>
              </a:r>
              <a:r>
                <a:rPr lang="en-US" altLang="en-US" sz="2200" dirty="0">
                  <a:solidFill>
                    <a:srgbClr val="000000"/>
                  </a:solidFill>
                  <a:latin typeface="Arial" panose="020B0604020202020204" pitchFamily="34" charset="0"/>
                </a:rPr>
                <a:t> chi </a:t>
              </a:r>
              <a:r>
                <a:rPr lang="en-US" altLang="en-US" sz="2200" dirty="0" err="1">
                  <a:solidFill>
                    <a:srgbClr val="000000"/>
                  </a:solidFill>
                  <a:latin typeface="Arial" panose="020B0604020202020204" pitchFamily="34" charset="0"/>
                </a:rPr>
                <a:t>trả</a:t>
              </a:r>
              <a:endParaRPr lang="en-US" altLang="en-US" sz="2200" dirty="0">
                <a:solidFill>
                  <a:srgbClr val="000000"/>
                </a:solidFill>
                <a:latin typeface="Arial" panose="020B0604020202020204" pitchFamily="34" charset="0"/>
              </a:endParaRPr>
            </a:p>
          </p:txBody>
        </p:sp>
        <p:sp>
          <p:nvSpPr>
            <p:cNvPr id="13" name="Text Box 55"/>
            <p:cNvSpPr txBox="1">
              <a:spLocks noChangeArrowheads="1"/>
            </p:cNvSpPr>
            <p:nvPr/>
          </p:nvSpPr>
          <p:spPr bwMode="gray">
            <a:xfrm>
              <a:off x="1405" y="192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0">
                  <a:solidFill>
                    <a:schemeClr val="bg1"/>
                  </a:solidFill>
                  <a:latin typeface="Arial" panose="020B0604020202020204" pitchFamily="34" charset="0"/>
                </a:rPr>
                <a:t>2</a:t>
              </a:r>
            </a:p>
          </p:txBody>
        </p:sp>
      </p:grpSp>
      <p:grpSp>
        <p:nvGrpSpPr>
          <p:cNvPr id="14" name="Group 56"/>
          <p:cNvGrpSpPr>
            <a:grpSpLocks/>
          </p:cNvGrpSpPr>
          <p:nvPr/>
        </p:nvGrpSpPr>
        <p:grpSpPr bwMode="auto">
          <a:xfrm>
            <a:off x="1465018" y="3480424"/>
            <a:ext cx="8045676" cy="913289"/>
            <a:chOff x="1296" y="1824"/>
            <a:chExt cx="2976" cy="432"/>
          </a:xfrm>
        </p:grpSpPr>
        <p:sp>
          <p:nvSpPr>
            <p:cNvPr id="15" name="AutoShape 57"/>
            <p:cNvSpPr>
              <a:spLocks noChangeArrowheads="1"/>
            </p:cNvSpPr>
            <p:nvPr/>
          </p:nvSpPr>
          <p:spPr bwMode="gray">
            <a:xfrm>
              <a:off x="1536" y="1899"/>
              <a:ext cx="2736" cy="287"/>
            </a:xfrm>
            <a:prstGeom prst="roundRect">
              <a:avLst>
                <a:gd name="adj" fmla="val 16667"/>
              </a:avLst>
            </a:prstGeom>
            <a:gradFill rotWithShape="1">
              <a:gsLst>
                <a:gs pos="0">
                  <a:schemeClr val="tx2">
                    <a:gamma/>
                    <a:tint val="21176"/>
                    <a:invGamma/>
                  </a:schemeClr>
                </a:gs>
                <a:gs pos="100000">
                  <a:schemeClr val="tx2"/>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a:p>
          </p:txBody>
        </p:sp>
        <p:sp>
          <p:nvSpPr>
            <p:cNvPr id="16" name="AutoShape 58"/>
            <p:cNvSpPr>
              <a:spLocks noChangeArrowheads="1"/>
            </p:cNvSpPr>
            <p:nvPr/>
          </p:nvSpPr>
          <p:spPr bwMode="gray">
            <a:xfrm>
              <a:off x="1296" y="1824"/>
              <a:ext cx="432" cy="432"/>
            </a:xfrm>
            <a:prstGeom prst="diamond">
              <a:avLst/>
            </a:prstGeom>
            <a:solidFill>
              <a:schemeClr val="tx2"/>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b="0">
                <a:latin typeface="Arial" panose="020B0604020202020204" pitchFamily="34" charset="0"/>
              </a:endParaRPr>
            </a:p>
          </p:txBody>
        </p:sp>
        <p:sp>
          <p:nvSpPr>
            <p:cNvPr id="17" name="Text Box 59"/>
            <p:cNvSpPr txBox="1">
              <a:spLocks noChangeArrowheads="1"/>
            </p:cNvSpPr>
            <p:nvPr/>
          </p:nvSpPr>
          <p:spPr bwMode="gray">
            <a:xfrm>
              <a:off x="1820" y="1946"/>
              <a:ext cx="237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vi-VN" altLang="en-US" sz="2200" dirty="0">
                  <a:solidFill>
                    <a:srgbClr val="000000"/>
                  </a:solidFill>
                  <a:latin typeface="Arial" panose="020B0604020202020204" pitchFamily="34" charset="0"/>
                </a:rPr>
                <a:t>Công thức tính tạm ứng</a:t>
              </a:r>
              <a:endParaRPr lang="en-US" altLang="en-US" sz="2200" dirty="0">
                <a:solidFill>
                  <a:srgbClr val="000000"/>
                </a:solidFill>
                <a:latin typeface="Arial" panose="020B0604020202020204" pitchFamily="34" charset="0"/>
              </a:endParaRPr>
            </a:p>
          </p:txBody>
        </p:sp>
        <p:sp>
          <p:nvSpPr>
            <p:cNvPr id="18" name="Text Box 60"/>
            <p:cNvSpPr txBox="1">
              <a:spLocks noChangeArrowheads="1"/>
            </p:cNvSpPr>
            <p:nvPr/>
          </p:nvSpPr>
          <p:spPr bwMode="gray">
            <a:xfrm>
              <a:off x="1400" y="19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0">
                  <a:solidFill>
                    <a:schemeClr val="bg1"/>
                  </a:solidFill>
                  <a:latin typeface="Arial" panose="020B0604020202020204" pitchFamily="34" charset="0"/>
                </a:rPr>
                <a:t>3</a:t>
              </a:r>
            </a:p>
          </p:txBody>
        </p:sp>
      </p:grpSp>
      <p:grpSp>
        <p:nvGrpSpPr>
          <p:cNvPr id="19" name="Group 56"/>
          <p:cNvGrpSpPr>
            <a:grpSpLocks/>
          </p:cNvGrpSpPr>
          <p:nvPr/>
        </p:nvGrpSpPr>
        <p:grpSpPr bwMode="auto">
          <a:xfrm>
            <a:off x="1484414" y="4688540"/>
            <a:ext cx="8045676" cy="913289"/>
            <a:chOff x="1296" y="1824"/>
            <a:chExt cx="2976" cy="432"/>
          </a:xfrm>
        </p:grpSpPr>
        <p:sp>
          <p:nvSpPr>
            <p:cNvPr id="20" name="AutoShape 57"/>
            <p:cNvSpPr>
              <a:spLocks noChangeArrowheads="1"/>
            </p:cNvSpPr>
            <p:nvPr/>
          </p:nvSpPr>
          <p:spPr bwMode="gray">
            <a:xfrm>
              <a:off x="1536" y="1899"/>
              <a:ext cx="2736" cy="287"/>
            </a:xfrm>
            <a:prstGeom prst="roundRect">
              <a:avLst>
                <a:gd name="adj" fmla="val 16667"/>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path path="circle">
                <a:fillToRect l="100000" t="100000"/>
              </a:path>
              <a:tileRect r="-100000" b="-100000"/>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a:p>
          </p:txBody>
        </p:sp>
        <p:sp>
          <p:nvSpPr>
            <p:cNvPr id="21" name="AutoShape 58"/>
            <p:cNvSpPr>
              <a:spLocks noChangeArrowheads="1"/>
            </p:cNvSpPr>
            <p:nvPr/>
          </p:nvSpPr>
          <p:spPr bwMode="gray">
            <a:xfrm>
              <a:off x="1296" y="1824"/>
              <a:ext cx="432" cy="432"/>
            </a:xfrm>
            <a:prstGeom prst="diamond">
              <a:avLst/>
            </a:prstGeom>
            <a:solidFill>
              <a:schemeClr val="accent4">
                <a:lumMod val="75000"/>
              </a:schemeClr>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b="0">
                <a:latin typeface="Arial" panose="020B0604020202020204" pitchFamily="34" charset="0"/>
              </a:endParaRPr>
            </a:p>
          </p:txBody>
        </p:sp>
        <p:sp>
          <p:nvSpPr>
            <p:cNvPr id="22" name="Text Box 59"/>
            <p:cNvSpPr txBox="1">
              <a:spLocks noChangeArrowheads="1"/>
            </p:cNvSpPr>
            <p:nvPr/>
          </p:nvSpPr>
          <p:spPr bwMode="gray">
            <a:xfrm>
              <a:off x="1820" y="1946"/>
              <a:ext cx="237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200" dirty="0" err="1">
                  <a:solidFill>
                    <a:srgbClr val="000000"/>
                  </a:solidFill>
                  <a:latin typeface="Arial" panose="020B0604020202020204" pitchFamily="34" charset="0"/>
                </a:rPr>
                <a:t>Quỹ</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thưởng</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hiệu</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quả</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giai</a:t>
              </a:r>
              <a:r>
                <a:rPr lang="en-US" altLang="en-US" sz="2200" dirty="0">
                  <a:solidFill>
                    <a:srgbClr val="000000"/>
                  </a:solidFill>
                  <a:latin typeface="Arial" panose="020B0604020202020204" pitchFamily="34" charset="0"/>
                </a:rPr>
                <a:t> </a:t>
              </a:r>
              <a:r>
                <a:rPr lang="en-US" altLang="en-US" sz="2200" dirty="0" err="1">
                  <a:solidFill>
                    <a:srgbClr val="000000"/>
                  </a:solidFill>
                  <a:latin typeface="Arial" panose="020B0604020202020204" pitchFamily="34" charset="0"/>
                </a:rPr>
                <a:t>đoạn</a:t>
              </a:r>
              <a:endParaRPr lang="en-US" altLang="en-US" sz="2200" dirty="0">
                <a:solidFill>
                  <a:srgbClr val="000000"/>
                </a:solidFill>
                <a:latin typeface="Arial" panose="020B0604020202020204" pitchFamily="34" charset="0"/>
              </a:endParaRPr>
            </a:p>
          </p:txBody>
        </p:sp>
        <p:sp>
          <p:nvSpPr>
            <p:cNvPr id="23" name="Text Box 60"/>
            <p:cNvSpPr txBox="1">
              <a:spLocks noChangeArrowheads="1"/>
            </p:cNvSpPr>
            <p:nvPr/>
          </p:nvSpPr>
          <p:spPr bwMode="gray">
            <a:xfrm>
              <a:off x="1445" y="1921"/>
              <a:ext cx="134"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0">
                  <a:solidFill>
                    <a:schemeClr val="bg1"/>
                  </a:solidFill>
                  <a:latin typeface="Arial" panose="020B0604020202020204" pitchFamily="34" charset="0"/>
                </a:rPr>
                <a:t>4</a:t>
              </a:r>
            </a:p>
          </p:txBody>
        </p:sp>
      </p:grpSp>
    </p:spTree>
    <p:extLst>
      <p:ext uri="{BB962C8B-B14F-4D97-AF65-F5344CB8AC3E}">
        <p14:creationId xmlns:p14="http://schemas.microsoft.com/office/powerpoint/2010/main" val="29768574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23541" cy="523220"/>
          </a:xfrm>
          <a:prstGeom prst="rect">
            <a:avLst/>
          </a:prstGeom>
        </p:spPr>
        <p:txBody>
          <a:bodyPr wrap="square">
            <a:spAutoFit/>
          </a:bodyPr>
          <a:lstStyle/>
          <a:p>
            <a:r>
              <a:rPr lang="en-US" sz="2800" b="1" dirty="0">
                <a:solidFill>
                  <a:schemeClr val="bg1"/>
                </a:solidFill>
                <a:latin typeface="Verdana" panose="020B0604030504040204" pitchFamily="34" charset="0"/>
                <a:ea typeface="Verdana" panose="020B0604030504040204" pitchFamily="34" charset="0"/>
              </a:rPr>
              <a:t>1. </a:t>
            </a:r>
            <a:r>
              <a:rPr lang="vi-VN" sz="2800" b="1" dirty="0">
                <a:solidFill>
                  <a:schemeClr val="bg1"/>
                </a:solidFill>
                <a:latin typeface="Verdana" panose="020B0604030504040204" pitchFamily="34" charset="0"/>
                <a:ea typeface="Verdana" panose="020B0604030504040204" pitchFamily="34" charset="0"/>
              </a:rPr>
              <a:t>Ý nghĩa của Tạm ứng thưởng HQDA </a:t>
            </a:r>
            <a:endParaRPr lang="en-US" sz="2800" b="1" dirty="0">
              <a:solidFill>
                <a:schemeClr val="bg1"/>
              </a:solidFill>
              <a:latin typeface="Verdana" panose="020B0604030504040204" pitchFamily="34" charset="0"/>
              <a:ea typeface="Verdana" panose="020B0604030504040204" pitchFamily="34" charset="0"/>
            </a:endParaRPr>
          </a:p>
        </p:txBody>
      </p:sp>
      <p:grpSp>
        <p:nvGrpSpPr>
          <p:cNvPr id="11" name="Group 10"/>
          <p:cNvGrpSpPr/>
          <p:nvPr/>
        </p:nvGrpSpPr>
        <p:grpSpPr>
          <a:xfrm>
            <a:off x="1333896" y="1887895"/>
            <a:ext cx="6094976" cy="947768"/>
            <a:chOff x="6199684" y="2023443"/>
            <a:chExt cx="6094976" cy="947768"/>
          </a:xfrm>
        </p:grpSpPr>
        <p:sp>
          <p:nvSpPr>
            <p:cNvPr id="28" name="Oval 27"/>
            <p:cNvSpPr/>
            <p:nvPr/>
          </p:nvSpPr>
          <p:spPr>
            <a:xfrm>
              <a:off x="6199684" y="2023443"/>
              <a:ext cx="1042681" cy="9477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39" name="Freeform 106"/>
            <p:cNvSpPr>
              <a:spLocks noChangeArrowheads="1"/>
            </p:cNvSpPr>
            <p:nvPr/>
          </p:nvSpPr>
          <p:spPr bwMode="auto">
            <a:xfrm>
              <a:off x="6531398" y="2293796"/>
              <a:ext cx="396023" cy="325857"/>
            </a:xfrm>
            <a:custGeom>
              <a:avLst/>
              <a:gdLst>
                <a:gd name="T0" fmla="*/ 573 w 602"/>
                <a:gd name="T1" fmla="*/ 544 h 545"/>
                <a:gd name="T2" fmla="*/ 573 w 602"/>
                <a:gd name="T3" fmla="*/ 544 h 545"/>
                <a:gd name="T4" fmla="*/ 523 w 602"/>
                <a:gd name="T5" fmla="*/ 544 h 545"/>
                <a:gd name="T6" fmla="*/ 523 w 602"/>
                <a:gd name="T7" fmla="*/ 318 h 545"/>
                <a:gd name="T8" fmla="*/ 523 w 602"/>
                <a:gd name="T9" fmla="*/ 141 h 545"/>
                <a:gd name="T10" fmla="*/ 573 w 602"/>
                <a:gd name="T11" fmla="*/ 141 h 545"/>
                <a:gd name="T12" fmla="*/ 601 w 602"/>
                <a:gd name="T13" fmla="*/ 170 h 545"/>
                <a:gd name="T14" fmla="*/ 601 w 602"/>
                <a:gd name="T15" fmla="*/ 346 h 545"/>
                <a:gd name="T16" fmla="*/ 601 w 602"/>
                <a:gd name="T17" fmla="*/ 459 h 545"/>
                <a:gd name="T18" fmla="*/ 601 w 602"/>
                <a:gd name="T19" fmla="*/ 516 h 545"/>
                <a:gd name="T20" fmla="*/ 573 w 602"/>
                <a:gd name="T21" fmla="*/ 544 h 545"/>
                <a:gd name="T22" fmla="*/ 99 w 602"/>
                <a:gd name="T23" fmla="*/ 544 h 545"/>
                <a:gd name="T24" fmla="*/ 99 w 602"/>
                <a:gd name="T25" fmla="*/ 544 h 545"/>
                <a:gd name="T26" fmla="*/ 99 w 602"/>
                <a:gd name="T27" fmla="*/ 318 h 545"/>
                <a:gd name="T28" fmla="*/ 99 w 602"/>
                <a:gd name="T29" fmla="*/ 311 h 545"/>
                <a:gd name="T30" fmla="*/ 99 w 602"/>
                <a:gd name="T31" fmla="*/ 141 h 545"/>
                <a:gd name="T32" fmla="*/ 156 w 602"/>
                <a:gd name="T33" fmla="*/ 141 h 545"/>
                <a:gd name="T34" fmla="*/ 297 w 602"/>
                <a:gd name="T35" fmla="*/ 0 h 545"/>
                <a:gd name="T36" fmla="*/ 438 w 602"/>
                <a:gd name="T37" fmla="*/ 141 h 545"/>
                <a:gd name="T38" fmla="*/ 495 w 602"/>
                <a:gd name="T39" fmla="*/ 141 h 545"/>
                <a:gd name="T40" fmla="*/ 495 w 602"/>
                <a:gd name="T41" fmla="*/ 318 h 545"/>
                <a:gd name="T42" fmla="*/ 495 w 602"/>
                <a:gd name="T43" fmla="*/ 544 h 545"/>
                <a:gd name="T44" fmla="*/ 99 w 602"/>
                <a:gd name="T45" fmla="*/ 544 h 545"/>
                <a:gd name="T46" fmla="*/ 297 w 602"/>
                <a:gd name="T47" fmla="*/ 57 h 545"/>
                <a:gd name="T48" fmla="*/ 297 w 602"/>
                <a:gd name="T49" fmla="*/ 57 h 545"/>
                <a:gd name="T50" fmla="*/ 212 w 602"/>
                <a:gd name="T51" fmla="*/ 141 h 545"/>
                <a:gd name="T52" fmla="*/ 382 w 602"/>
                <a:gd name="T53" fmla="*/ 141 h 545"/>
                <a:gd name="T54" fmla="*/ 297 w 602"/>
                <a:gd name="T55" fmla="*/ 57 h 545"/>
                <a:gd name="T56" fmla="*/ 0 w 602"/>
                <a:gd name="T57" fmla="*/ 516 h 545"/>
                <a:gd name="T58" fmla="*/ 0 w 602"/>
                <a:gd name="T59" fmla="*/ 516 h 545"/>
                <a:gd name="T60" fmla="*/ 0 w 602"/>
                <a:gd name="T61" fmla="*/ 459 h 545"/>
                <a:gd name="T62" fmla="*/ 0 w 602"/>
                <a:gd name="T63" fmla="*/ 346 h 545"/>
                <a:gd name="T64" fmla="*/ 0 w 602"/>
                <a:gd name="T65" fmla="*/ 170 h 545"/>
                <a:gd name="T66" fmla="*/ 29 w 602"/>
                <a:gd name="T67" fmla="*/ 141 h 545"/>
                <a:gd name="T68" fmla="*/ 71 w 602"/>
                <a:gd name="T69" fmla="*/ 141 h 545"/>
                <a:gd name="T70" fmla="*/ 71 w 602"/>
                <a:gd name="T71" fmla="*/ 311 h 545"/>
                <a:gd name="T72" fmla="*/ 71 w 602"/>
                <a:gd name="T73" fmla="*/ 318 h 545"/>
                <a:gd name="T74" fmla="*/ 71 w 602"/>
                <a:gd name="T75" fmla="*/ 544 h 545"/>
                <a:gd name="T76" fmla="*/ 29 w 602"/>
                <a:gd name="T77" fmla="*/ 544 h 545"/>
                <a:gd name="T78" fmla="*/ 0 w 602"/>
                <a:gd name="T79" fmla="*/ 51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2" h="545">
                  <a:moveTo>
                    <a:pt x="573" y="544"/>
                  </a:moveTo>
                  <a:lnTo>
                    <a:pt x="573" y="544"/>
                  </a:lnTo>
                  <a:cubicBezTo>
                    <a:pt x="523" y="544"/>
                    <a:pt x="523" y="544"/>
                    <a:pt x="523" y="544"/>
                  </a:cubicBezTo>
                  <a:cubicBezTo>
                    <a:pt x="523" y="318"/>
                    <a:pt x="523" y="318"/>
                    <a:pt x="523" y="318"/>
                  </a:cubicBezTo>
                  <a:cubicBezTo>
                    <a:pt x="523" y="141"/>
                    <a:pt x="523" y="141"/>
                    <a:pt x="523" y="141"/>
                  </a:cubicBezTo>
                  <a:cubicBezTo>
                    <a:pt x="573" y="141"/>
                    <a:pt x="573" y="141"/>
                    <a:pt x="573" y="141"/>
                  </a:cubicBezTo>
                  <a:cubicBezTo>
                    <a:pt x="587" y="141"/>
                    <a:pt x="601" y="148"/>
                    <a:pt x="601" y="170"/>
                  </a:cubicBezTo>
                  <a:cubicBezTo>
                    <a:pt x="601" y="346"/>
                    <a:pt x="601" y="346"/>
                    <a:pt x="601" y="346"/>
                  </a:cubicBezTo>
                  <a:cubicBezTo>
                    <a:pt x="601" y="459"/>
                    <a:pt x="601" y="459"/>
                    <a:pt x="601" y="459"/>
                  </a:cubicBezTo>
                  <a:cubicBezTo>
                    <a:pt x="601" y="516"/>
                    <a:pt x="601" y="516"/>
                    <a:pt x="601" y="516"/>
                  </a:cubicBezTo>
                  <a:cubicBezTo>
                    <a:pt x="601" y="530"/>
                    <a:pt x="587" y="544"/>
                    <a:pt x="573" y="544"/>
                  </a:cubicBezTo>
                  <a:close/>
                  <a:moveTo>
                    <a:pt x="99" y="544"/>
                  </a:moveTo>
                  <a:lnTo>
                    <a:pt x="99" y="544"/>
                  </a:lnTo>
                  <a:cubicBezTo>
                    <a:pt x="99" y="318"/>
                    <a:pt x="99" y="318"/>
                    <a:pt x="99" y="318"/>
                  </a:cubicBezTo>
                  <a:cubicBezTo>
                    <a:pt x="99" y="311"/>
                    <a:pt x="99" y="311"/>
                    <a:pt x="99" y="311"/>
                  </a:cubicBezTo>
                  <a:cubicBezTo>
                    <a:pt x="99" y="141"/>
                    <a:pt x="99" y="141"/>
                    <a:pt x="99" y="141"/>
                  </a:cubicBezTo>
                  <a:cubicBezTo>
                    <a:pt x="156" y="141"/>
                    <a:pt x="156" y="141"/>
                    <a:pt x="156" y="141"/>
                  </a:cubicBezTo>
                  <a:cubicBezTo>
                    <a:pt x="156" y="64"/>
                    <a:pt x="219" y="0"/>
                    <a:pt x="297" y="0"/>
                  </a:cubicBezTo>
                  <a:cubicBezTo>
                    <a:pt x="375" y="0"/>
                    <a:pt x="438" y="64"/>
                    <a:pt x="438" y="141"/>
                  </a:cubicBezTo>
                  <a:cubicBezTo>
                    <a:pt x="495" y="141"/>
                    <a:pt x="495" y="141"/>
                    <a:pt x="495" y="141"/>
                  </a:cubicBezTo>
                  <a:cubicBezTo>
                    <a:pt x="495" y="318"/>
                    <a:pt x="495" y="318"/>
                    <a:pt x="495" y="318"/>
                  </a:cubicBezTo>
                  <a:cubicBezTo>
                    <a:pt x="495" y="544"/>
                    <a:pt x="495" y="544"/>
                    <a:pt x="495" y="544"/>
                  </a:cubicBezTo>
                  <a:lnTo>
                    <a:pt x="99" y="544"/>
                  </a:lnTo>
                  <a:close/>
                  <a:moveTo>
                    <a:pt x="297" y="57"/>
                  </a:moveTo>
                  <a:lnTo>
                    <a:pt x="297" y="57"/>
                  </a:lnTo>
                  <a:cubicBezTo>
                    <a:pt x="255" y="57"/>
                    <a:pt x="212" y="92"/>
                    <a:pt x="212" y="141"/>
                  </a:cubicBezTo>
                  <a:cubicBezTo>
                    <a:pt x="382" y="141"/>
                    <a:pt x="382" y="141"/>
                    <a:pt x="382" y="141"/>
                  </a:cubicBezTo>
                  <a:cubicBezTo>
                    <a:pt x="382" y="92"/>
                    <a:pt x="347" y="57"/>
                    <a:pt x="297" y="57"/>
                  </a:cubicBezTo>
                  <a:close/>
                  <a:moveTo>
                    <a:pt x="0" y="516"/>
                  </a:moveTo>
                  <a:lnTo>
                    <a:pt x="0" y="516"/>
                  </a:lnTo>
                  <a:cubicBezTo>
                    <a:pt x="0" y="459"/>
                    <a:pt x="0" y="459"/>
                    <a:pt x="0" y="459"/>
                  </a:cubicBezTo>
                  <a:cubicBezTo>
                    <a:pt x="0" y="346"/>
                    <a:pt x="0" y="346"/>
                    <a:pt x="0" y="346"/>
                  </a:cubicBezTo>
                  <a:cubicBezTo>
                    <a:pt x="0" y="170"/>
                    <a:pt x="0" y="170"/>
                    <a:pt x="0" y="170"/>
                  </a:cubicBezTo>
                  <a:cubicBezTo>
                    <a:pt x="0" y="148"/>
                    <a:pt x="7" y="141"/>
                    <a:pt x="29" y="141"/>
                  </a:cubicBezTo>
                  <a:cubicBezTo>
                    <a:pt x="71" y="141"/>
                    <a:pt x="71" y="141"/>
                    <a:pt x="71" y="141"/>
                  </a:cubicBezTo>
                  <a:cubicBezTo>
                    <a:pt x="71" y="311"/>
                    <a:pt x="71" y="311"/>
                    <a:pt x="71" y="311"/>
                  </a:cubicBezTo>
                  <a:cubicBezTo>
                    <a:pt x="71" y="318"/>
                    <a:pt x="71" y="318"/>
                    <a:pt x="71" y="318"/>
                  </a:cubicBezTo>
                  <a:cubicBezTo>
                    <a:pt x="71" y="544"/>
                    <a:pt x="71" y="544"/>
                    <a:pt x="71" y="544"/>
                  </a:cubicBezTo>
                  <a:cubicBezTo>
                    <a:pt x="29" y="544"/>
                    <a:pt x="29" y="544"/>
                    <a:pt x="29" y="544"/>
                  </a:cubicBezTo>
                  <a:cubicBezTo>
                    <a:pt x="7" y="544"/>
                    <a:pt x="0" y="530"/>
                    <a:pt x="0" y="516"/>
                  </a:cubicBezTo>
                  <a:close/>
                </a:path>
              </a:pathLst>
            </a:custGeom>
            <a:solidFill>
              <a:srgbClr val="FFFFFF"/>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endParaRPr lang="en-US" sz="9598" dirty="0">
                <a:latin typeface="Sinkin Sans 300 Light" charset="0"/>
              </a:endParaRPr>
            </a:p>
          </p:txBody>
        </p:sp>
        <p:sp>
          <p:nvSpPr>
            <p:cNvPr id="51" name="TextBox 50"/>
            <p:cNvSpPr txBox="1"/>
            <p:nvPr/>
          </p:nvSpPr>
          <p:spPr>
            <a:xfrm>
              <a:off x="7329911" y="2204377"/>
              <a:ext cx="4964749" cy="369332"/>
            </a:xfrm>
            <a:prstGeom prst="rect">
              <a:avLst/>
            </a:prstGeom>
            <a:noFill/>
          </p:spPr>
          <p:txBody>
            <a:bodyPr wrap="square" rtlCol="0">
              <a:spAutoFit/>
            </a:bodyPr>
            <a:lstStyle/>
            <a:p>
              <a:r>
                <a:rPr lang="vi-VN" b="1" dirty="0">
                  <a:solidFill>
                    <a:schemeClr val="tx2"/>
                  </a:solidFill>
                  <a:latin typeface="Sinkin Sans 600 SemiBold" charset="0"/>
                  <a:ea typeface="Sinkin Sans 600 SemiBold" charset="0"/>
                  <a:cs typeface="Sinkin Sans 600 SemiBold" charset="0"/>
                </a:rPr>
                <a:t>Tăng thu nhập tháng của CB SX</a:t>
              </a:r>
              <a:endParaRPr lang="en-US" b="1" dirty="0">
                <a:solidFill>
                  <a:schemeClr val="tx2"/>
                </a:solidFill>
                <a:latin typeface="Sinkin Sans 600 SemiBold" charset="0"/>
                <a:ea typeface="Sinkin Sans 600 SemiBold" charset="0"/>
                <a:cs typeface="Sinkin Sans 600 SemiBold" charset="0"/>
              </a:endParaRPr>
            </a:p>
          </p:txBody>
        </p:sp>
      </p:grpSp>
      <p:grpSp>
        <p:nvGrpSpPr>
          <p:cNvPr id="6" name="Group 5"/>
          <p:cNvGrpSpPr/>
          <p:nvPr/>
        </p:nvGrpSpPr>
        <p:grpSpPr>
          <a:xfrm>
            <a:off x="1369191" y="4949523"/>
            <a:ext cx="7365967" cy="947768"/>
            <a:chOff x="1267532" y="5675231"/>
            <a:chExt cx="7365967" cy="947768"/>
          </a:xfrm>
        </p:grpSpPr>
        <p:grpSp>
          <p:nvGrpSpPr>
            <p:cNvPr id="3" name="Group 2"/>
            <p:cNvGrpSpPr/>
            <p:nvPr/>
          </p:nvGrpSpPr>
          <p:grpSpPr>
            <a:xfrm>
              <a:off x="1267532" y="5675231"/>
              <a:ext cx="1042681" cy="947768"/>
              <a:chOff x="3868737" y="5868819"/>
              <a:chExt cx="1042681" cy="947768"/>
            </a:xfrm>
          </p:grpSpPr>
          <p:sp>
            <p:nvSpPr>
              <p:cNvPr id="21" name="Oval 20"/>
              <p:cNvSpPr/>
              <p:nvPr/>
            </p:nvSpPr>
            <p:spPr>
              <a:xfrm>
                <a:off x="3868737" y="5868819"/>
                <a:ext cx="1042681" cy="94776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2" name="Smiley Face 1"/>
              <p:cNvSpPr/>
              <p:nvPr/>
            </p:nvSpPr>
            <p:spPr>
              <a:xfrm>
                <a:off x="4126768" y="6168673"/>
                <a:ext cx="497483" cy="401944"/>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p:cNvSpPr txBox="1"/>
            <p:nvPr/>
          </p:nvSpPr>
          <p:spPr>
            <a:xfrm>
              <a:off x="2310213" y="5825949"/>
              <a:ext cx="6323286" cy="369332"/>
            </a:xfrm>
            <a:prstGeom prst="rect">
              <a:avLst/>
            </a:prstGeom>
            <a:noFill/>
          </p:spPr>
          <p:txBody>
            <a:bodyPr wrap="square" rtlCol="0">
              <a:spAutoFit/>
            </a:bodyPr>
            <a:lstStyle/>
            <a:p>
              <a:r>
                <a:rPr lang="vi-VN" b="1" dirty="0">
                  <a:solidFill>
                    <a:schemeClr val="tx2"/>
                  </a:solidFill>
                  <a:latin typeface="Sinkin Sans 600 SemiBold" charset="0"/>
                  <a:ea typeface="Sinkin Sans 600 SemiBold" charset="0"/>
                  <a:cs typeface="Sinkin Sans 600 SemiBold" charset="0"/>
                </a:rPr>
                <a:t>Thúc đẩy tiến độ DA </a:t>
              </a:r>
              <a:r>
                <a:rPr lang="vi-VN" b="1" dirty="0">
                  <a:solidFill>
                    <a:schemeClr val="tx2"/>
                  </a:solidFill>
                  <a:latin typeface="Sinkin Sans 600 SemiBold" charset="0"/>
                  <a:ea typeface="Sinkin Sans 600 SemiBold" charset="0"/>
                  <a:cs typeface="Sinkin Sans 600 SemiBold" charset="0"/>
                  <a:sym typeface="Wingdings" panose="05000000000000000000" pitchFamily="2" charset="2"/>
                </a:rPr>
                <a:t> Tăng  hiệu quả khoán DA </a:t>
              </a:r>
              <a:endParaRPr lang="en-US" b="1" dirty="0">
                <a:solidFill>
                  <a:schemeClr val="tx2"/>
                </a:solidFill>
                <a:latin typeface="Sinkin Sans 600 SemiBold" charset="0"/>
                <a:ea typeface="Sinkin Sans 600 SemiBold" charset="0"/>
                <a:cs typeface="Sinkin Sans 600 SemiBold" charset="0"/>
              </a:endParaRPr>
            </a:p>
          </p:txBody>
        </p:sp>
      </p:grpSp>
      <p:grpSp>
        <p:nvGrpSpPr>
          <p:cNvPr id="12" name="Group 11"/>
          <p:cNvGrpSpPr/>
          <p:nvPr/>
        </p:nvGrpSpPr>
        <p:grpSpPr>
          <a:xfrm>
            <a:off x="1369191" y="3377944"/>
            <a:ext cx="8192820" cy="947768"/>
            <a:chOff x="1276553" y="5379038"/>
            <a:chExt cx="8192820" cy="947768"/>
          </a:xfrm>
        </p:grpSpPr>
        <p:grpSp>
          <p:nvGrpSpPr>
            <p:cNvPr id="13" name="Group 12"/>
            <p:cNvGrpSpPr/>
            <p:nvPr/>
          </p:nvGrpSpPr>
          <p:grpSpPr>
            <a:xfrm>
              <a:off x="1276553" y="5379038"/>
              <a:ext cx="1042681" cy="947768"/>
              <a:chOff x="1296004" y="5201347"/>
              <a:chExt cx="1042681" cy="947768"/>
            </a:xfrm>
          </p:grpSpPr>
          <p:sp>
            <p:nvSpPr>
              <p:cNvPr id="15" name="Oval 14"/>
              <p:cNvSpPr/>
              <p:nvPr/>
            </p:nvSpPr>
            <p:spPr>
              <a:xfrm>
                <a:off x="1296004" y="5201347"/>
                <a:ext cx="1042681" cy="9477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16" name="Freeform 138"/>
              <p:cNvSpPr>
                <a:spLocks noChangeArrowheads="1"/>
              </p:cNvSpPr>
              <p:nvPr/>
            </p:nvSpPr>
            <p:spPr bwMode="auto">
              <a:xfrm>
                <a:off x="1631953" y="5518935"/>
                <a:ext cx="390239" cy="346880"/>
              </a:xfrm>
              <a:custGeom>
                <a:avLst/>
                <a:gdLst>
                  <a:gd name="T0" fmla="*/ 565 w 594"/>
                  <a:gd name="T1" fmla="*/ 340 h 581"/>
                  <a:gd name="T2" fmla="*/ 558 w 594"/>
                  <a:gd name="T3" fmla="*/ 340 h 581"/>
                  <a:gd name="T4" fmla="*/ 544 w 594"/>
                  <a:gd name="T5" fmla="*/ 389 h 581"/>
                  <a:gd name="T6" fmla="*/ 544 w 594"/>
                  <a:gd name="T7" fmla="*/ 396 h 581"/>
                  <a:gd name="T8" fmla="*/ 544 w 594"/>
                  <a:gd name="T9" fmla="*/ 403 h 581"/>
                  <a:gd name="T10" fmla="*/ 544 w 594"/>
                  <a:gd name="T11" fmla="*/ 403 h 581"/>
                  <a:gd name="T12" fmla="*/ 537 w 594"/>
                  <a:gd name="T13" fmla="*/ 410 h 581"/>
                  <a:gd name="T14" fmla="*/ 515 w 594"/>
                  <a:gd name="T15" fmla="*/ 417 h 581"/>
                  <a:gd name="T16" fmla="*/ 515 w 594"/>
                  <a:gd name="T17" fmla="*/ 417 h 581"/>
                  <a:gd name="T18" fmla="*/ 431 w 594"/>
                  <a:gd name="T19" fmla="*/ 340 h 581"/>
                  <a:gd name="T20" fmla="*/ 431 w 594"/>
                  <a:gd name="T21" fmla="*/ 340 h 581"/>
                  <a:gd name="T22" fmla="*/ 141 w 594"/>
                  <a:gd name="T23" fmla="*/ 311 h 581"/>
                  <a:gd name="T24" fmla="*/ 169 w 594"/>
                  <a:gd name="T25" fmla="*/ 0 h 581"/>
                  <a:gd name="T26" fmla="*/ 593 w 594"/>
                  <a:gd name="T27" fmla="*/ 29 h 581"/>
                  <a:gd name="T28" fmla="*/ 565 w 594"/>
                  <a:gd name="T29" fmla="*/ 340 h 581"/>
                  <a:gd name="T30" fmla="*/ 417 w 594"/>
                  <a:gd name="T31" fmla="*/ 368 h 581"/>
                  <a:gd name="T32" fmla="*/ 480 w 594"/>
                  <a:gd name="T33" fmla="*/ 432 h 581"/>
                  <a:gd name="T34" fmla="*/ 515 w 594"/>
                  <a:gd name="T35" fmla="*/ 467 h 581"/>
                  <a:gd name="T36" fmla="*/ 487 w 594"/>
                  <a:gd name="T37" fmla="*/ 495 h 581"/>
                  <a:gd name="T38" fmla="*/ 289 w 594"/>
                  <a:gd name="T39" fmla="*/ 495 h 581"/>
                  <a:gd name="T40" fmla="*/ 226 w 594"/>
                  <a:gd name="T41" fmla="*/ 495 h 581"/>
                  <a:gd name="T42" fmla="*/ 197 w 594"/>
                  <a:gd name="T43" fmla="*/ 495 h 581"/>
                  <a:gd name="T44" fmla="*/ 113 w 594"/>
                  <a:gd name="T45" fmla="*/ 566 h 581"/>
                  <a:gd name="T46" fmla="*/ 91 w 594"/>
                  <a:gd name="T47" fmla="*/ 580 h 581"/>
                  <a:gd name="T48" fmla="*/ 91 w 594"/>
                  <a:gd name="T49" fmla="*/ 580 h 581"/>
                  <a:gd name="T50" fmla="*/ 70 w 594"/>
                  <a:gd name="T51" fmla="*/ 566 h 581"/>
                  <a:gd name="T52" fmla="*/ 70 w 594"/>
                  <a:gd name="T53" fmla="*/ 566 h 581"/>
                  <a:gd name="T54" fmla="*/ 70 w 594"/>
                  <a:gd name="T55" fmla="*/ 559 h 581"/>
                  <a:gd name="T56" fmla="*/ 63 w 594"/>
                  <a:gd name="T57" fmla="*/ 552 h 581"/>
                  <a:gd name="T58" fmla="*/ 63 w 594"/>
                  <a:gd name="T59" fmla="*/ 495 h 581"/>
                  <a:gd name="T60" fmla="*/ 63 w 594"/>
                  <a:gd name="T61" fmla="*/ 495 h 581"/>
                  <a:gd name="T62" fmla="*/ 0 w 594"/>
                  <a:gd name="T63" fmla="*/ 467 h 581"/>
                  <a:gd name="T64" fmla="*/ 0 w 594"/>
                  <a:gd name="T65" fmla="*/ 142 h 581"/>
                  <a:gd name="T66" fmla="*/ 113 w 594"/>
                  <a:gd name="T67" fmla="*/ 113 h 581"/>
                  <a:gd name="T68" fmla="*/ 169 w 594"/>
                  <a:gd name="T69" fmla="*/ 368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4" h="581">
                    <a:moveTo>
                      <a:pt x="565" y="340"/>
                    </a:moveTo>
                    <a:lnTo>
                      <a:pt x="565" y="340"/>
                    </a:lnTo>
                    <a:cubicBezTo>
                      <a:pt x="558" y="340"/>
                      <a:pt x="558" y="340"/>
                      <a:pt x="558" y="340"/>
                    </a:cubicBezTo>
                    <a:lnTo>
                      <a:pt x="558" y="340"/>
                    </a:lnTo>
                    <a:cubicBezTo>
                      <a:pt x="544" y="340"/>
                      <a:pt x="544" y="340"/>
                      <a:pt x="544" y="340"/>
                    </a:cubicBezTo>
                    <a:cubicBezTo>
                      <a:pt x="544" y="389"/>
                      <a:pt x="544" y="389"/>
                      <a:pt x="544" y="389"/>
                    </a:cubicBezTo>
                    <a:lnTo>
                      <a:pt x="544" y="389"/>
                    </a:lnTo>
                    <a:lnTo>
                      <a:pt x="544" y="396"/>
                    </a:lnTo>
                    <a:lnTo>
                      <a:pt x="544" y="396"/>
                    </a:lnTo>
                    <a:cubicBezTo>
                      <a:pt x="544" y="396"/>
                      <a:pt x="544" y="396"/>
                      <a:pt x="544" y="403"/>
                    </a:cubicBezTo>
                    <a:lnTo>
                      <a:pt x="544" y="403"/>
                    </a:lnTo>
                    <a:lnTo>
                      <a:pt x="544" y="403"/>
                    </a:lnTo>
                    <a:lnTo>
                      <a:pt x="537" y="410"/>
                    </a:lnTo>
                    <a:lnTo>
                      <a:pt x="537" y="410"/>
                    </a:lnTo>
                    <a:cubicBezTo>
                      <a:pt x="530" y="417"/>
                      <a:pt x="523" y="417"/>
                      <a:pt x="515" y="417"/>
                    </a:cubicBezTo>
                    <a:lnTo>
                      <a:pt x="515" y="417"/>
                    </a:lnTo>
                    <a:lnTo>
                      <a:pt x="515" y="417"/>
                    </a:lnTo>
                    <a:lnTo>
                      <a:pt x="515" y="417"/>
                    </a:lnTo>
                    <a:cubicBezTo>
                      <a:pt x="508" y="417"/>
                      <a:pt x="501" y="417"/>
                      <a:pt x="501" y="410"/>
                    </a:cubicBezTo>
                    <a:cubicBezTo>
                      <a:pt x="431" y="340"/>
                      <a:pt x="431" y="340"/>
                      <a:pt x="431" y="340"/>
                    </a:cubicBezTo>
                    <a:lnTo>
                      <a:pt x="431" y="340"/>
                    </a:lnTo>
                    <a:lnTo>
                      <a:pt x="431" y="340"/>
                    </a:lnTo>
                    <a:cubicBezTo>
                      <a:pt x="169" y="340"/>
                      <a:pt x="169" y="340"/>
                      <a:pt x="169" y="340"/>
                    </a:cubicBezTo>
                    <a:cubicBezTo>
                      <a:pt x="155" y="340"/>
                      <a:pt x="141" y="332"/>
                      <a:pt x="141" y="311"/>
                    </a:cubicBezTo>
                    <a:cubicBezTo>
                      <a:pt x="141" y="29"/>
                      <a:pt x="141" y="29"/>
                      <a:pt x="141" y="29"/>
                    </a:cubicBezTo>
                    <a:cubicBezTo>
                      <a:pt x="141" y="14"/>
                      <a:pt x="155" y="0"/>
                      <a:pt x="169" y="0"/>
                    </a:cubicBezTo>
                    <a:cubicBezTo>
                      <a:pt x="565" y="0"/>
                      <a:pt x="565" y="0"/>
                      <a:pt x="565" y="0"/>
                    </a:cubicBezTo>
                    <a:cubicBezTo>
                      <a:pt x="579" y="0"/>
                      <a:pt x="593" y="14"/>
                      <a:pt x="593" y="29"/>
                    </a:cubicBezTo>
                    <a:cubicBezTo>
                      <a:pt x="593" y="311"/>
                      <a:pt x="593" y="311"/>
                      <a:pt x="593" y="311"/>
                    </a:cubicBezTo>
                    <a:cubicBezTo>
                      <a:pt x="593" y="332"/>
                      <a:pt x="579" y="340"/>
                      <a:pt x="565" y="340"/>
                    </a:cubicBezTo>
                    <a:close/>
                    <a:moveTo>
                      <a:pt x="417" y="368"/>
                    </a:moveTo>
                    <a:lnTo>
                      <a:pt x="417" y="368"/>
                    </a:lnTo>
                    <a:cubicBezTo>
                      <a:pt x="480" y="432"/>
                      <a:pt x="480" y="432"/>
                      <a:pt x="480" y="432"/>
                    </a:cubicBezTo>
                    <a:lnTo>
                      <a:pt x="480" y="432"/>
                    </a:lnTo>
                    <a:cubicBezTo>
                      <a:pt x="487" y="439"/>
                      <a:pt x="501" y="446"/>
                      <a:pt x="515" y="446"/>
                    </a:cubicBezTo>
                    <a:cubicBezTo>
                      <a:pt x="515" y="467"/>
                      <a:pt x="515" y="467"/>
                      <a:pt x="515" y="467"/>
                    </a:cubicBezTo>
                    <a:cubicBezTo>
                      <a:pt x="515" y="481"/>
                      <a:pt x="508" y="495"/>
                      <a:pt x="487" y="495"/>
                    </a:cubicBezTo>
                    <a:lnTo>
                      <a:pt x="487" y="495"/>
                    </a:lnTo>
                    <a:cubicBezTo>
                      <a:pt x="289" y="495"/>
                      <a:pt x="289" y="495"/>
                      <a:pt x="289" y="495"/>
                    </a:cubicBezTo>
                    <a:lnTo>
                      <a:pt x="289" y="495"/>
                    </a:lnTo>
                    <a:cubicBezTo>
                      <a:pt x="226" y="495"/>
                      <a:pt x="226" y="495"/>
                      <a:pt x="226" y="495"/>
                    </a:cubicBezTo>
                    <a:lnTo>
                      <a:pt x="226" y="495"/>
                    </a:lnTo>
                    <a:cubicBezTo>
                      <a:pt x="197" y="495"/>
                      <a:pt x="197" y="495"/>
                      <a:pt x="197" y="495"/>
                    </a:cubicBezTo>
                    <a:lnTo>
                      <a:pt x="197" y="495"/>
                    </a:lnTo>
                    <a:cubicBezTo>
                      <a:pt x="190" y="495"/>
                      <a:pt x="190" y="495"/>
                      <a:pt x="190" y="495"/>
                    </a:cubicBezTo>
                    <a:cubicBezTo>
                      <a:pt x="113" y="566"/>
                      <a:pt x="113" y="566"/>
                      <a:pt x="113" y="566"/>
                    </a:cubicBezTo>
                    <a:cubicBezTo>
                      <a:pt x="106" y="573"/>
                      <a:pt x="99" y="580"/>
                      <a:pt x="91" y="580"/>
                    </a:cubicBezTo>
                    <a:lnTo>
                      <a:pt x="91" y="580"/>
                    </a:lnTo>
                    <a:lnTo>
                      <a:pt x="91" y="580"/>
                    </a:lnTo>
                    <a:lnTo>
                      <a:pt x="91" y="580"/>
                    </a:lnTo>
                    <a:cubicBezTo>
                      <a:pt x="84" y="580"/>
                      <a:pt x="77" y="573"/>
                      <a:pt x="77" y="566"/>
                    </a:cubicBezTo>
                    <a:cubicBezTo>
                      <a:pt x="70" y="566"/>
                      <a:pt x="70" y="566"/>
                      <a:pt x="70" y="566"/>
                    </a:cubicBezTo>
                    <a:lnTo>
                      <a:pt x="70" y="566"/>
                    </a:lnTo>
                    <a:lnTo>
                      <a:pt x="70" y="566"/>
                    </a:lnTo>
                    <a:lnTo>
                      <a:pt x="70" y="559"/>
                    </a:lnTo>
                    <a:lnTo>
                      <a:pt x="70" y="559"/>
                    </a:lnTo>
                    <a:cubicBezTo>
                      <a:pt x="70" y="559"/>
                      <a:pt x="63" y="559"/>
                      <a:pt x="63" y="552"/>
                    </a:cubicBezTo>
                    <a:lnTo>
                      <a:pt x="63" y="552"/>
                    </a:lnTo>
                    <a:lnTo>
                      <a:pt x="63" y="552"/>
                    </a:lnTo>
                    <a:cubicBezTo>
                      <a:pt x="63" y="495"/>
                      <a:pt x="63" y="495"/>
                      <a:pt x="63" y="495"/>
                    </a:cubicBezTo>
                    <a:lnTo>
                      <a:pt x="63" y="495"/>
                    </a:lnTo>
                    <a:lnTo>
                      <a:pt x="63" y="495"/>
                    </a:lnTo>
                    <a:cubicBezTo>
                      <a:pt x="28" y="495"/>
                      <a:pt x="28" y="495"/>
                      <a:pt x="28" y="495"/>
                    </a:cubicBezTo>
                    <a:cubicBezTo>
                      <a:pt x="14" y="495"/>
                      <a:pt x="0" y="481"/>
                      <a:pt x="0" y="467"/>
                    </a:cubicBezTo>
                    <a:cubicBezTo>
                      <a:pt x="0" y="142"/>
                      <a:pt x="0" y="142"/>
                      <a:pt x="0" y="142"/>
                    </a:cubicBezTo>
                    <a:lnTo>
                      <a:pt x="0" y="142"/>
                    </a:lnTo>
                    <a:cubicBezTo>
                      <a:pt x="0" y="128"/>
                      <a:pt x="14" y="113"/>
                      <a:pt x="28" y="113"/>
                    </a:cubicBezTo>
                    <a:cubicBezTo>
                      <a:pt x="113" y="113"/>
                      <a:pt x="113" y="113"/>
                      <a:pt x="113" y="113"/>
                    </a:cubicBezTo>
                    <a:cubicBezTo>
                      <a:pt x="113" y="311"/>
                      <a:pt x="113" y="311"/>
                      <a:pt x="113" y="311"/>
                    </a:cubicBezTo>
                    <a:cubicBezTo>
                      <a:pt x="113" y="347"/>
                      <a:pt x="141" y="368"/>
                      <a:pt x="169" y="368"/>
                    </a:cubicBezTo>
                    <a:lnTo>
                      <a:pt x="417" y="368"/>
                    </a:lnTo>
                    <a:close/>
                  </a:path>
                </a:pathLst>
              </a:custGeom>
              <a:solidFill>
                <a:srgbClr val="FFFFFF"/>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endParaRPr lang="en-US" sz="9598" dirty="0">
                  <a:latin typeface="Sinkin Sans 300 Light" charset="0"/>
                </a:endParaRPr>
              </a:p>
            </p:txBody>
          </p:sp>
        </p:grpSp>
        <p:sp>
          <p:nvSpPr>
            <p:cNvPr id="14" name="TextBox 13"/>
            <p:cNvSpPr txBox="1"/>
            <p:nvPr/>
          </p:nvSpPr>
          <p:spPr>
            <a:xfrm>
              <a:off x="2388477" y="5522342"/>
              <a:ext cx="7080896" cy="369332"/>
            </a:xfrm>
            <a:prstGeom prst="rect">
              <a:avLst/>
            </a:prstGeom>
            <a:noFill/>
          </p:spPr>
          <p:txBody>
            <a:bodyPr wrap="square" rtlCol="0">
              <a:spAutoFit/>
            </a:bodyPr>
            <a:lstStyle/>
            <a:p>
              <a:r>
                <a:rPr lang="vi-VN" b="1" dirty="0">
                  <a:solidFill>
                    <a:schemeClr val="tx2"/>
                  </a:solidFill>
                  <a:latin typeface="Sinkin Sans 600 SemiBold" charset="0"/>
                  <a:ea typeface="Sinkin Sans 600 SemiBold" charset="0"/>
                  <a:cs typeface="Sinkin Sans 600 SemiBold" charset="0"/>
                </a:rPr>
                <a:t>Ghi nhận nhanh </a:t>
              </a:r>
              <a:r>
                <a:rPr lang="vi-VN" b="1">
                  <a:solidFill>
                    <a:schemeClr val="tx2"/>
                  </a:solidFill>
                  <a:latin typeface="Sinkin Sans 600 SemiBold" charset="0"/>
                  <a:ea typeface="Sinkin Sans 600 SemiBold" charset="0"/>
                  <a:cs typeface="Sinkin Sans 600 SemiBold" charset="0"/>
                </a:rPr>
                <a:t>kết quả &amp; hiệu quả công việc của CB </a:t>
              </a:r>
              <a:endParaRPr lang="en-US" b="1" dirty="0">
                <a:solidFill>
                  <a:schemeClr val="tx2"/>
                </a:solidFill>
                <a:latin typeface="Sinkin Sans 600 SemiBold" charset="0"/>
                <a:ea typeface="Sinkin Sans 600 SemiBold" charset="0"/>
                <a:cs typeface="Sinkin Sans 600 SemiBold" charset="0"/>
              </a:endParaRPr>
            </a:p>
          </p:txBody>
        </p:sp>
      </p:grpSp>
    </p:spTree>
    <p:extLst>
      <p:ext uri="{BB962C8B-B14F-4D97-AF65-F5344CB8AC3E}">
        <p14:creationId xmlns:p14="http://schemas.microsoft.com/office/powerpoint/2010/main" val="33229629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992016" y="1051211"/>
            <a:ext cx="10012944" cy="584775"/>
          </a:xfrm>
          <a:prstGeom prst="rect">
            <a:avLst/>
          </a:prstGeom>
          <a:solidFill>
            <a:schemeClr val="accent2">
              <a:lumMod val="20000"/>
              <a:lumOff val="80000"/>
            </a:schemeClr>
          </a:solidFill>
        </p:spPr>
        <p:txBody>
          <a:bodyPr wrap="square" rtlCol="0">
            <a:spAutoFit/>
          </a:bodyPr>
          <a:lstStyle/>
          <a:p>
            <a:pPr algn="ctr"/>
            <a:r>
              <a:rPr lang="vi-VN" sz="1600" b="1" dirty="0">
                <a:latin typeface="Arial" panose="020B0604020202020204" pitchFamily="34" charset="0"/>
                <a:cs typeface="Arial" panose="020B0604020202020204" pitchFamily="34" charset="0"/>
              </a:rPr>
              <a:t>Tạm ứng thưởng HQDA </a:t>
            </a:r>
            <a:r>
              <a:rPr lang="en-US" sz="1600" b="1" dirty="0" err="1">
                <a:latin typeface="Arial" panose="020B0604020202020204" pitchFamily="34" charset="0"/>
                <a:cs typeface="Arial" panose="020B0604020202020204" pitchFamily="34" charset="0"/>
              </a:rPr>
              <a:t>là</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phần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thu</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nhập</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cán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bộ</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có</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thể</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nhận</a:t>
            </a:r>
            <a:r>
              <a:rPr lang="en-US" sz="1600" b="1" dirty="0">
                <a:latin typeface="Arial" panose="020B0604020202020204" pitchFamily="34" charset="0"/>
                <a:cs typeface="Arial" panose="020B0604020202020204" pitchFamily="34" charset="0"/>
              </a:rPr>
              <a:t> </a:t>
            </a:r>
            <a:r>
              <a:rPr lang="vi-VN" sz="1600" b="1" dirty="0">
                <a:latin typeface="Arial" panose="020B0604020202020204" pitchFamily="34" charset="0"/>
                <a:cs typeface="Arial" panose="020B0604020202020204" pitchFamily="34" charset="0"/>
              </a:rPr>
              <a:t>trước </a:t>
            </a:r>
            <a:r>
              <a:rPr lang="en-US" sz="1600" b="1" dirty="0" err="1">
                <a:latin typeface="Arial" panose="020B0604020202020204" pitchFamily="34" charset="0"/>
                <a:cs typeface="Arial" panose="020B0604020202020204" pitchFamily="34" charset="0"/>
              </a:rPr>
              <a:t>hàng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tháng</a:t>
            </a:r>
            <a:r>
              <a:rPr lang="en-US" sz="1600" b="1" dirty="0">
                <a:latin typeface="Arial" panose="020B0604020202020204" pitchFamily="34" charset="0"/>
                <a:cs typeface="Arial" panose="020B0604020202020204" pitchFamily="34" charset="0"/>
              </a:rPr>
              <a:t> </a:t>
            </a:r>
            <a:r>
              <a:rPr lang="vi-VN" sz="1600" b="1" dirty="0">
                <a:latin typeface="Arial" panose="020B0604020202020204" pitchFamily="34" charset="0"/>
                <a:cs typeface="Arial" panose="020B0604020202020204" pitchFamily="34" charset="0"/>
              </a:rPr>
              <a:t>từ Quỹ thưởng HQDA khoán khi </a:t>
            </a:r>
            <a:r>
              <a:rPr lang="en-US" sz="1600" b="1" dirty="0" err="1">
                <a:latin typeface="Arial" panose="020B0604020202020204" pitchFamily="34" charset="0"/>
                <a:cs typeface="Arial" panose="020B0604020202020204" pitchFamily="34" charset="0"/>
              </a:rPr>
              <a:t>cán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bộ</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tham</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gia</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vào</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dự</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án</a:t>
            </a:r>
            <a:r>
              <a:rPr lang="en-US" sz="1600" b="1" dirty="0">
                <a:latin typeface="Arial" panose="020B0604020202020204" pitchFamily="34" charset="0"/>
                <a:cs typeface="Arial" panose="020B0604020202020204" pitchFamily="34" charset="0"/>
              </a:rPr>
              <a:t> và </a:t>
            </a:r>
            <a:r>
              <a:rPr lang="en-US" sz="1600" b="1" dirty="0" err="1">
                <a:latin typeface="Arial" panose="020B0604020202020204" pitchFamily="34" charset="0"/>
                <a:cs typeface="Arial" panose="020B0604020202020204" pitchFamily="34" charset="0"/>
              </a:rPr>
              <a:t>hoàn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thành</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các</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nhiệm</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vụ</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được</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giao</a:t>
            </a:r>
            <a:r>
              <a:rPr lang="en-US" sz="1600" b="1" dirty="0">
                <a:latin typeface="Arial" panose="020B0604020202020204" pitchFamily="34" charset="0"/>
                <a:cs typeface="Arial" panose="020B0604020202020204" pitchFamily="34" charset="0"/>
              </a:rPr>
              <a:t>.</a:t>
            </a:r>
          </a:p>
        </p:txBody>
      </p:sp>
      <p:sp>
        <p:nvSpPr>
          <p:cNvPr id="29" name="Oval 28"/>
          <p:cNvSpPr/>
          <p:nvPr/>
        </p:nvSpPr>
        <p:spPr>
          <a:xfrm>
            <a:off x="6192205" y="5049415"/>
            <a:ext cx="1042681" cy="94776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37" name="Freeform 57"/>
          <p:cNvSpPr>
            <a:spLocks noChangeArrowheads="1"/>
          </p:cNvSpPr>
          <p:nvPr/>
        </p:nvSpPr>
        <p:spPr bwMode="auto">
          <a:xfrm>
            <a:off x="6515534" y="5367003"/>
            <a:ext cx="396021" cy="277943"/>
          </a:xfrm>
          <a:custGeom>
            <a:avLst/>
            <a:gdLst>
              <a:gd name="T0" fmla="*/ 587 w 602"/>
              <a:gd name="T1" fmla="*/ 289 h 531"/>
              <a:gd name="T2" fmla="*/ 311 w 602"/>
              <a:gd name="T3" fmla="*/ 403 h 531"/>
              <a:gd name="T4" fmla="*/ 311 w 602"/>
              <a:gd name="T5" fmla="*/ 403 h 531"/>
              <a:gd name="T6" fmla="*/ 304 w 602"/>
              <a:gd name="T7" fmla="*/ 410 h 531"/>
              <a:gd name="T8" fmla="*/ 290 w 602"/>
              <a:gd name="T9" fmla="*/ 403 h 531"/>
              <a:gd name="T10" fmla="*/ 290 w 602"/>
              <a:gd name="T11" fmla="*/ 403 h 531"/>
              <a:gd name="T12" fmla="*/ 15 w 602"/>
              <a:gd name="T13" fmla="*/ 289 h 531"/>
              <a:gd name="T14" fmla="*/ 29 w 602"/>
              <a:gd name="T15" fmla="*/ 240 h 531"/>
              <a:gd name="T16" fmla="*/ 43 w 602"/>
              <a:gd name="T17" fmla="*/ 240 h 531"/>
              <a:gd name="T18" fmla="*/ 43 w 602"/>
              <a:gd name="T19" fmla="*/ 240 h 531"/>
              <a:gd name="T20" fmla="*/ 566 w 602"/>
              <a:gd name="T21" fmla="*/ 240 h 531"/>
              <a:gd name="T22" fmla="*/ 566 w 602"/>
              <a:gd name="T23" fmla="*/ 240 h 531"/>
              <a:gd name="T24" fmla="*/ 573 w 602"/>
              <a:gd name="T25" fmla="*/ 240 h 531"/>
              <a:gd name="T26" fmla="*/ 587 w 602"/>
              <a:gd name="T27" fmla="*/ 289 h 531"/>
              <a:gd name="T28" fmla="*/ 587 w 602"/>
              <a:gd name="T29" fmla="*/ 169 h 531"/>
              <a:gd name="T30" fmla="*/ 311 w 602"/>
              <a:gd name="T31" fmla="*/ 282 h 531"/>
              <a:gd name="T32" fmla="*/ 311 w 602"/>
              <a:gd name="T33" fmla="*/ 282 h 531"/>
              <a:gd name="T34" fmla="*/ 304 w 602"/>
              <a:gd name="T35" fmla="*/ 282 h 531"/>
              <a:gd name="T36" fmla="*/ 290 w 602"/>
              <a:gd name="T37" fmla="*/ 282 h 531"/>
              <a:gd name="T38" fmla="*/ 290 w 602"/>
              <a:gd name="T39" fmla="*/ 282 h 531"/>
              <a:gd name="T40" fmla="*/ 15 w 602"/>
              <a:gd name="T41" fmla="*/ 169 h 531"/>
              <a:gd name="T42" fmla="*/ 15 w 602"/>
              <a:gd name="T43" fmla="*/ 120 h 531"/>
              <a:gd name="T44" fmla="*/ 290 w 602"/>
              <a:gd name="T45" fmla="*/ 7 h 531"/>
              <a:gd name="T46" fmla="*/ 290 w 602"/>
              <a:gd name="T47" fmla="*/ 7 h 531"/>
              <a:gd name="T48" fmla="*/ 304 w 602"/>
              <a:gd name="T49" fmla="*/ 0 h 531"/>
              <a:gd name="T50" fmla="*/ 311 w 602"/>
              <a:gd name="T51" fmla="*/ 7 h 531"/>
              <a:gd name="T52" fmla="*/ 311 w 602"/>
              <a:gd name="T53" fmla="*/ 7 h 531"/>
              <a:gd name="T54" fmla="*/ 587 w 602"/>
              <a:gd name="T55" fmla="*/ 120 h 531"/>
              <a:gd name="T56" fmla="*/ 587 w 602"/>
              <a:gd name="T57" fmla="*/ 169 h 531"/>
              <a:gd name="T58" fmla="*/ 29 w 602"/>
              <a:gd name="T59" fmla="*/ 360 h 531"/>
              <a:gd name="T60" fmla="*/ 43 w 602"/>
              <a:gd name="T61" fmla="*/ 360 h 531"/>
              <a:gd name="T62" fmla="*/ 43 w 602"/>
              <a:gd name="T63" fmla="*/ 360 h 531"/>
              <a:gd name="T64" fmla="*/ 566 w 602"/>
              <a:gd name="T65" fmla="*/ 360 h 531"/>
              <a:gd name="T66" fmla="*/ 566 w 602"/>
              <a:gd name="T67" fmla="*/ 360 h 531"/>
              <a:gd name="T68" fmla="*/ 573 w 602"/>
              <a:gd name="T69" fmla="*/ 360 h 531"/>
              <a:gd name="T70" fmla="*/ 587 w 602"/>
              <a:gd name="T71" fmla="*/ 417 h 531"/>
              <a:gd name="T72" fmla="*/ 311 w 602"/>
              <a:gd name="T73" fmla="*/ 530 h 531"/>
              <a:gd name="T74" fmla="*/ 311 w 602"/>
              <a:gd name="T75" fmla="*/ 530 h 531"/>
              <a:gd name="T76" fmla="*/ 304 w 602"/>
              <a:gd name="T77" fmla="*/ 530 h 531"/>
              <a:gd name="T78" fmla="*/ 290 w 602"/>
              <a:gd name="T79" fmla="*/ 530 h 531"/>
              <a:gd name="T80" fmla="*/ 290 w 602"/>
              <a:gd name="T81" fmla="*/ 530 h 531"/>
              <a:gd name="T82" fmla="*/ 15 w 602"/>
              <a:gd name="T83" fmla="*/ 417 h 531"/>
              <a:gd name="T84" fmla="*/ 29 w 602"/>
              <a:gd name="T85" fmla="*/ 36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02" h="531">
                <a:moveTo>
                  <a:pt x="587" y="289"/>
                </a:moveTo>
                <a:lnTo>
                  <a:pt x="587" y="289"/>
                </a:lnTo>
                <a:lnTo>
                  <a:pt x="587" y="289"/>
                </a:lnTo>
                <a:cubicBezTo>
                  <a:pt x="311" y="403"/>
                  <a:pt x="311" y="403"/>
                  <a:pt x="311" y="403"/>
                </a:cubicBezTo>
                <a:lnTo>
                  <a:pt x="311" y="403"/>
                </a:lnTo>
                <a:lnTo>
                  <a:pt x="311" y="403"/>
                </a:lnTo>
                <a:lnTo>
                  <a:pt x="311" y="403"/>
                </a:lnTo>
                <a:cubicBezTo>
                  <a:pt x="311" y="410"/>
                  <a:pt x="304" y="410"/>
                  <a:pt x="304" y="410"/>
                </a:cubicBezTo>
                <a:cubicBezTo>
                  <a:pt x="297" y="410"/>
                  <a:pt x="297" y="410"/>
                  <a:pt x="290" y="403"/>
                </a:cubicBezTo>
                <a:lnTo>
                  <a:pt x="290" y="403"/>
                </a:lnTo>
                <a:lnTo>
                  <a:pt x="290" y="403"/>
                </a:lnTo>
                <a:lnTo>
                  <a:pt x="290" y="403"/>
                </a:lnTo>
                <a:cubicBezTo>
                  <a:pt x="15" y="289"/>
                  <a:pt x="15" y="289"/>
                  <a:pt x="15" y="289"/>
                </a:cubicBezTo>
                <a:lnTo>
                  <a:pt x="15" y="289"/>
                </a:lnTo>
                <a:cubicBezTo>
                  <a:pt x="7" y="289"/>
                  <a:pt x="0" y="275"/>
                  <a:pt x="0" y="268"/>
                </a:cubicBezTo>
                <a:cubicBezTo>
                  <a:pt x="0" y="247"/>
                  <a:pt x="15" y="240"/>
                  <a:pt x="29" y="240"/>
                </a:cubicBezTo>
                <a:cubicBezTo>
                  <a:pt x="36" y="240"/>
                  <a:pt x="36" y="240"/>
                  <a:pt x="43" y="240"/>
                </a:cubicBezTo>
                <a:lnTo>
                  <a:pt x="43" y="240"/>
                </a:lnTo>
                <a:lnTo>
                  <a:pt x="43" y="240"/>
                </a:lnTo>
                <a:lnTo>
                  <a:pt x="43" y="240"/>
                </a:lnTo>
                <a:cubicBezTo>
                  <a:pt x="304" y="346"/>
                  <a:pt x="304" y="346"/>
                  <a:pt x="304" y="346"/>
                </a:cubicBezTo>
                <a:cubicBezTo>
                  <a:pt x="566" y="240"/>
                  <a:pt x="566" y="240"/>
                  <a:pt x="566" y="240"/>
                </a:cubicBezTo>
                <a:lnTo>
                  <a:pt x="566" y="240"/>
                </a:lnTo>
                <a:lnTo>
                  <a:pt x="566" y="240"/>
                </a:lnTo>
                <a:lnTo>
                  <a:pt x="566" y="240"/>
                </a:lnTo>
                <a:lnTo>
                  <a:pt x="573" y="240"/>
                </a:lnTo>
                <a:cubicBezTo>
                  <a:pt x="594" y="240"/>
                  <a:pt x="601" y="247"/>
                  <a:pt x="601" y="268"/>
                </a:cubicBezTo>
                <a:cubicBezTo>
                  <a:pt x="601" y="275"/>
                  <a:pt x="594" y="289"/>
                  <a:pt x="587" y="289"/>
                </a:cubicBezTo>
                <a:close/>
                <a:moveTo>
                  <a:pt x="587" y="169"/>
                </a:moveTo>
                <a:lnTo>
                  <a:pt x="587" y="169"/>
                </a:lnTo>
                <a:lnTo>
                  <a:pt x="587" y="169"/>
                </a:lnTo>
                <a:cubicBezTo>
                  <a:pt x="311" y="282"/>
                  <a:pt x="311" y="282"/>
                  <a:pt x="311" y="282"/>
                </a:cubicBezTo>
                <a:lnTo>
                  <a:pt x="311" y="282"/>
                </a:lnTo>
                <a:lnTo>
                  <a:pt x="311" y="282"/>
                </a:lnTo>
                <a:lnTo>
                  <a:pt x="311" y="282"/>
                </a:lnTo>
                <a:lnTo>
                  <a:pt x="304" y="282"/>
                </a:lnTo>
                <a:cubicBezTo>
                  <a:pt x="297" y="282"/>
                  <a:pt x="297" y="282"/>
                  <a:pt x="290" y="282"/>
                </a:cubicBezTo>
                <a:lnTo>
                  <a:pt x="290" y="282"/>
                </a:lnTo>
                <a:lnTo>
                  <a:pt x="290" y="282"/>
                </a:lnTo>
                <a:lnTo>
                  <a:pt x="290" y="282"/>
                </a:lnTo>
                <a:cubicBezTo>
                  <a:pt x="15" y="169"/>
                  <a:pt x="15" y="169"/>
                  <a:pt x="15" y="169"/>
                </a:cubicBezTo>
                <a:lnTo>
                  <a:pt x="15" y="169"/>
                </a:lnTo>
                <a:cubicBezTo>
                  <a:pt x="7" y="162"/>
                  <a:pt x="0" y="155"/>
                  <a:pt x="0" y="141"/>
                </a:cubicBezTo>
                <a:cubicBezTo>
                  <a:pt x="0" y="134"/>
                  <a:pt x="7" y="120"/>
                  <a:pt x="15" y="120"/>
                </a:cubicBezTo>
                <a:lnTo>
                  <a:pt x="15" y="120"/>
                </a:lnTo>
                <a:cubicBezTo>
                  <a:pt x="290" y="7"/>
                  <a:pt x="290" y="7"/>
                  <a:pt x="290" y="7"/>
                </a:cubicBezTo>
                <a:lnTo>
                  <a:pt x="290" y="7"/>
                </a:lnTo>
                <a:lnTo>
                  <a:pt x="290" y="7"/>
                </a:lnTo>
                <a:lnTo>
                  <a:pt x="290" y="7"/>
                </a:lnTo>
                <a:cubicBezTo>
                  <a:pt x="297" y="0"/>
                  <a:pt x="297" y="0"/>
                  <a:pt x="304" y="0"/>
                </a:cubicBezTo>
                <a:cubicBezTo>
                  <a:pt x="304" y="0"/>
                  <a:pt x="311" y="0"/>
                  <a:pt x="311" y="7"/>
                </a:cubicBezTo>
                <a:lnTo>
                  <a:pt x="311" y="7"/>
                </a:lnTo>
                <a:lnTo>
                  <a:pt x="311" y="7"/>
                </a:lnTo>
                <a:lnTo>
                  <a:pt x="311" y="7"/>
                </a:lnTo>
                <a:cubicBezTo>
                  <a:pt x="587" y="120"/>
                  <a:pt x="587" y="120"/>
                  <a:pt x="587" y="120"/>
                </a:cubicBezTo>
                <a:lnTo>
                  <a:pt x="587" y="120"/>
                </a:lnTo>
                <a:cubicBezTo>
                  <a:pt x="594" y="120"/>
                  <a:pt x="601" y="134"/>
                  <a:pt x="601" y="141"/>
                </a:cubicBezTo>
                <a:cubicBezTo>
                  <a:pt x="601" y="155"/>
                  <a:pt x="594" y="162"/>
                  <a:pt x="587" y="169"/>
                </a:cubicBezTo>
                <a:close/>
                <a:moveTo>
                  <a:pt x="29" y="360"/>
                </a:moveTo>
                <a:lnTo>
                  <a:pt x="29" y="360"/>
                </a:lnTo>
                <a:cubicBezTo>
                  <a:pt x="36" y="360"/>
                  <a:pt x="36" y="360"/>
                  <a:pt x="43" y="360"/>
                </a:cubicBezTo>
                <a:lnTo>
                  <a:pt x="43" y="360"/>
                </a:lnTo>
                <a:lnTo>
                  <a:pt x="43" y="360"/>
                </a:lnTo>
                <a:lnTo>
                  <a:pt x="43" y="360"/>
                </a:lnTo>
                <a:cubicBezTo>
                  <a:pt x="304" y="473"/>
                  <a:pt x="304" y="473"/>
                  <a:pt x="304" y="473"/>
                </a:cubicBezTo>
                <a:cubicBezTo>
                  <a:pt x="566" y="360"/>
                  <a:pt x="566" y="360"/>
                  <a:pt x="566" y="360"/>
                </a:cubicBezTo>
                <a:lnTo>
                  <a:pt x="566" y="360"/>
                </a:lnTo>
                <a:lnTo>
                  <a:pt x="566" y="360"/>
                </a:lnTo>
                <a:lnTo>
                  <a:pt x="566" y="360"/>
                </a:lnTo>
                <a:lnTo>
                  <a:pt x="573" y="360"/>
                </a:lnTo>
                <a:cubicBezTo>
                  <a:pt x="594" y="360"/>
                  <a:pt x="601" y="374"/>
                  <a:pt x="601" y="388"/>
                </a:cubicBezTo>
                <a:cubicBezTo>
                  <a:pt x="601" y="403"/>
                  <a:pt x="594" y="410"/>
                  <a:pt x="587" y="417"/>
                </a:cubicBezTo>
                <a:lnTo>
                  <a:pt x="587" y="417"/>
                </a:lnTo>
                <a:cubicBezTo>
                  <a:pt x="311" y="530"/>
                  <a:pt x="311" y="530"/>
                  <a:pt x="311" y="530"/>
                </a:cubicBezTo>
                <a:lnTo>
                  <a:pt x="311" y="530"/>
                </a:lnTo>
                <a:lnTo>
                  <a:pt x="311" y="530"/>
                </a:lnTo>
                <a:lnTo>
                  <a:pt x="311" y="530"/>
                </a:lnTo>
                <a:lnTo>
                  <a:pt x="304" y="530"/>
                </a:lnTo>
                <a:cubicBezTo>
                  <a:pt x="297" y="530"/>
                  <a:pt x="297" y="530"/>
                  <a:pt x="290" y="530"/>
                </a:cubicBezTo>
                <a:lnTo>
                  <a:pt x="290" y="530"/>
                </a:lnTo>
                <a:lnTo>
                  <a:pt x="290" y="530"/>
                </a:lnTo>
                <a:lnTo>
                  <a:pt x="290" y="530"/>
                </a:lnTo>
                <a:cubicBezTo>
                  <a:pt x="15" y="417"/>
                  <a:pt x="15" y="417"/>
                  <a:pt x="15" y="417"/>
                </a:cubicBezTo>
                <a:lnTo>
                  <a:pt x="15" y="417"/>
                </a:lnTo>
                <a:cubicBezTo>
                  <a:pt x="7" y="410"/>
                  <a:pt x="0" y="403"/>
                  <a:pt x="0" y="388"/>
                </a:cubicBezTo>
                <a:cubicBezTo>
                  <a:pt x="0" y="374"/>
                  <a:pt x="15" y="360"/>
                  <a:pt x="29" y="360"/>
                </a:cubicBezTo>
                <a:close/>
              </a:path>
            </a:pathLst>
          </a:custGeom>
          <a:solidFill>
            <a:srgbClr val="FFFFFF"/>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endParaRPr lang="en-US" sz="9598" dirty="0">
              <a:latin typeface="Sinkin Sans 300 Light" charset="0"/>
            </a:endParaRPr>
          </a:p>
        </p:txBody>
      </p:sp>
      <p:sp>
        <p:nvSpPr>
          <p:cNvPr id="45" name="Rectangle 44"/>
          <p:cNvSpPr/>
          <p:nvPr/>
        </p:nvSpPr>
        <p:spPr>
          <a:xfrm>
            <a:off x="5967532" y="4125528"/>
            <a:ext cx="4776533" cy="321012"/>
          </a:xfrm>
          <a:prstGeom prst="rect">
            <a:avLst/>
          </a:prstGeom>
          <a:solidFill>
            <a:schemeClr val="bg1">
              <a:lumMod val="8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1333896" y="327184"/>
            <a:ext cx="9823541" cy="523220"/>
          </a:xfrm>
          <a:prstGeom prst="rect">
            <a:avLst/>
          </a:prstGeom>
        </p:spPr>
        <p:txBody>
          <a:bodyPr wrap="square">
            <a:spAutoFit/>
          </a:bodyPr>
          <a:lstStyle/>
          <a:p>
            <a:r>
              <a:rPr lang="vi-VN" sz="2800" b="1" dirty="0">
                <a:solidFill>
                  <a:schemeClr val="bg1"/>
                </a:solidFill>
                <a:latin typeface="Verdana" panose="020B0604030504040204" pitchFamily="34" charset="0"/>
                <a:ea typeface="Verdana" panose="020B0604030504040204" pitchFamily="34" charset="0"/>
              </a:rPr>
              <a:t>Tạm ứng HQDA là thế nào?</a:t>
            </a:r>
            <a:endParaRPr lang="en-US" sz="2800" b="1" dirty="0">
              <a:solidFill>
                <a:schemeClr val="bg1"/>
              </a:solidFill>
              <a:latin typeface="Verdana" panose="020B0604030504040204" pitchFamily="34" charset="0"/>
              <a:ea typeface="Verdana" panose="020B0604030504040204" pitchFamily="34" charset="0"/>
            </a:endParaRPr>
          </a:p>
        </p:txBody>
      </p:sp>
      <p:grpSp>
        <p:nvGrpSpPr>
          <p:cNvPr id="8" name="Group 7"/>
          <p:cNvGrpSpPr/>
          <p:nvPr/>
        </p:nvGrpSpPr>
        <p:grpSpPr>
          <a:xfrm>
            <a:off x="6194461" y="1754108"/>
            <a:ext cx="4521132" cy="947768"/>
            <a:chOff x="1276553" y="4253022"/>
            <a:chExt cx="4521132" cy="947768"/>
          </a:xfrm>
        </p:grpSpPr>
        <p:grpSp>
          <p:nvGrpSpPr>
            <p:cNvPr id="5" name="Group 4"/>
            <p:cNvGrpSpPr/>
            <p:nvPr/>
          </p:nvGrpSpPr>
          <p:grpSpPr>
            <a:xfrm>
              <a:off x="1276553" y="4253022"/>
              <a:ext cx="1042681" cy="947768"/>
              <a:chOff x="1296004" y="1907552"/>
              <a:chExt cx="1042681" cy="947768"/>
            </a:xfrm>
          </p:grpSpPr>
          <p:sp>
            <p:nvSpPr>
              <p:cNvPr id="25" name="Oval 24"/>
              <p:cNvSpPr/>
              <p:nvPr/>
            </p:nvSpPr>
            <p:spPr>
              <a:xfrm>
                <a:off x="1296004" y="1907552"/>
                <a:ext cx="1042681" cy="947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43" name="Freeform 104"/>
              <p:cNvSpPr>
                <a:spLocks noChangeArrowheads="1"/>
              </p:cNvSpPr>
              <p:nvPr/>
            </p:nvSpPr>
            <p:spPr bwMode="auto">
              <a:xfrm>
                <a:off x="1617886" y="2283673"/>
                <a:ext cx="398914" cy="249649"/>
              </a:xfrm>
              <a:custGeom>
                <a:avLst/>
                <a:gdLst>
                  <a:gd name="T0" fmla="*/ 580 w 609"/>
                  <a:gd name="T1" fmla="*/ 417 h 418"/>
                  <a:gd name="T2" fmla="*/ 580 w 609"/>
                  <a:gd name="T3" fmla="*/ 417 h 418"/>
                  <a:gd name="T4" fmla="*/ 29 w 609"/>
                  <a:gd name="T5" fmla="*/ 417 h 418"/>
                  <a:gd name="T6" fmla="*/ 0 w 609"/>
                  <a:gd name="T7" fmla="*/ 388 h 418"/>
                  <a:gd name="T8" fmla="*/ 0 w 609"/>
                  <a:gd name="T9" fmla="*/ 169 h 418"/>
                  <a:gd name="T10" fmla="*/ 608 w 609"/>
                  <a:gd name="T11" fmla="*/ 169 h 418"/>
                  <a:gd name="T12" fmla="*/ 608 w 609"/>
                  <a:gd name="T13" fmla="*/ 388 h 418"/>
                  <a:gd name="T14" fmla="*/ 580 w 609"/>
                  <a:gd name="T15" fmla="*/ 417 h 418"/>
                  <a:gd name="T16" fmla="*/ 57 w 609"/>
                  <a:gd name="T17" fmla="*/ 360 h 418"/>
                  <a:gd name="T18" fmla="*/ 57 w 609"/>
                  <a:gd name="T19" fmla="*/ 360 h 418"/>
                  <a:gd name="T20" fmla="*/ 170 w 609"/>
                  <a:gd name="T21" fmla="*/ 360 h 418"/>
                  <a:gd name="T22" fmla="*/ 170 w 609"/>
                  <a:gd name="T23" fmla="*/ 332 h 418"/>
                  <a:gd name="T24" fmla="*/ 57 w 609"/>
                  <a:gd name="T25" fmla="*/ 332 h 418"/>
                  <a:gd name="T26" fmla="*/ 57 w 609"/>
                  <a:gd name="T27" fmla="*/ 360 h 418"/>
                  <a:gd name="T28" fmla="*/ 340 w 609"/>
                  <a:gd name="T29" fmla="*/ 275 h 418"/>
                  <a:gd name="T30" fmla="*/ 340 w 609"/>
                  <a:gd name="T31" fmla="*/ 275 h 418"/>
                  <a:gd name="T32" fmla="*/ 57 w 609"/>
                  <a:gd name="T33" fmla="*/ 275 h 418"/>
                  <a:gd name="T34" fmla="*/ 57 w 609"/>
                  <a:gd name="T35" fmla="*/ 304 h 418"/>
                  <a:gd name="T36" fmla="*/ 340 w 609"/>
                  <a:gd name="T37" fmla="*/ 304 h 418"/>
                  <a:gd name="T38" fmla="*/ 340 w 609"/>
                  <a:gd name="T39" fmla="*/ 275 h 418"/>
                  <a:gd name="T40" fmla="*/ 0 w 609"/>
                  <a:gd name="T41" fmla="*/ 28 h 418"/>
                  <a:gd name="T42" fmla="*/ 0 w 609"/>
                  <a:gd name="T43" fmla="*/ 28 h 418"/>
                  <a:gd name="T44" fmla="*/ 29 w 609"/>
                  <a:gd name="T45" fmla="*/ 0 h 418"/>
                  <a:gd name="T46" fmla="*/ 580 w 609"/>
                  <a:gd name="T47" fmla="*/ 0 h 418"/>
                  <a:gd name="T48" fmla="*/ 608 w 609"/>
                  <a:gd name="T49" fmla="*/ 28 h 418"/>
                  <a:gd name="T50" fmla="*/ 608 w 609"/>
                  <a:gd name="T51" fmla="*/ 113 h 418"/>
                  <a:gd name="T52" fmla="*/ 0 w 609"/>
                  <a:gd name="T53" fmla="*/ 113 h 418"/>
                  <a:gd name="T54" fmla="*/ 0 w 609"/>
                  <a:gd name="T55" fmla="*/ 28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09" h="418">
                    <a:moveTo>
                      <a:pt x="580" y="417"/>
                    </a:moveTo>
                    <a:lnTo>
                      <a:pt x="580" y="417"/>
                    </a:lnTo>
                    <a:cubicBezTo>
                      <a:pt x="29" y="417"/>
                      <a:pt x="29" y="417"/>
                      <a:pt x="29" y="417"/>
                    </a:cubicBezTo>
                    <a:cubicBezTo>
                      <a:pt x="15" y="417"/>
                      <a:pt x="0" y="402"/>
                      <a:pt x="0" y="388"/>
                    </a:cubicBezTo>
                    <a:cubicBezTo>
                      <a:pt x="0" y="169"/>
                      <a:pt x="0" y="169"/>
                      <a:pt x="0" y="169"/>
                    </a:cubicBezTo>
                    <a:cubicBezTo>
                      <a:pt x="608" y="169"/>
                      <a:pt x="608" y="169"/>
                      <a:pt x="608" y="169"/>
                    </a:cubicBezTo>
                    <a:cubicBezTo>
                      <a:pt x="608" y="388"/>
                      <a:pt x="608" y="388"/>
                      <a:pt x="608" y="388"/>
                    </a:cubicBezTo>
                    <a:cubicBezTo>
                      <a:pt x="608" y="402"/>
                      <a:pt x="594" y="417"/>
                      <a:pt x="580" y="417"/>
                    </a:cubicBezTo>
                    <a:close/>
                    <a:moveTo>
                      <a:pt x="57" y="360"/>
                    </a:moveTo>
                    <a:lnTo>
                      <a:pt x="57" y="360"/>
                    </a:lnTo>
                    <a:cubicBezTo>
                      <a:pt x="170" y="360"/>
                      <a:pt x="170" y="360"/>
                      <a:pt x="170" y="360"/>
                    </a:cubicBezTo>
                    <a:cubicBezTo>
                      <a:pt x="170" y="332"/>
                      <a:pt x="170" y="332"/>
                      <a:pt x="170" y="332"/>
                    </a:cubicBezTo>
                    <a:cubicBezTo>
                      <a:pt x="57" y="332"/>
                      <a:pt x="57" y="332"/>
                      <a:pt x="57" y="332"/>
                    </a:cubicBezTo>
                    <a:lnTo>
                      <a:pt x="57" y="360"/>
                    </a:lnTo>
                    <a:close/>
                    <a:moveTo>
                      <a:pt x="340" y="275"/>
                    </a:moveTo>
                    <a:lnTo>
                      <a:pt x="340" y="275"/>
                    </a:lnTo>
                    <a:cubicBezTo>
                      <a:pt x="57" y="275"/>
                      <a:pt x="57" y="275"/>
                      <a:pt x="57" y="275"/>
                    </a:cubicBezTo>
                    <a:cubicBezTo>
                      <a:pt x="57" y="304"/>
                      <a:pt x="57" y="304"/>
                      <a:pt x="57" y="304"/>
                    </a:cubicBezTo>
                    <a:cubicBezTo>
                      <a:pt x="340" y="304"/>
                      <a:pt x="340" y="304"/>
                      <a:pt x="340" y="304"/>
                    </a:cubicBezTo>
                    <a:lnTo>
                      <a:pt x="340" y="275"/>
                    </a:lnTo>
                    <a:close/>
                    <a:moveTo>
                      <a:pt x="0" y="28"/>
                    </a:moveTo>
                    <a:lnTo>
                      <a:pt x="0" y="28"/>
                    </a:lnTo>
                    <a:cubicBezTo>
                      <a:pt x="0" y="14"/>
                      <a:pt x="15" y="0"/>
                      <a:pt x="29" y="0"/>
                    </a:cubicBezTo>
                    <a:cubicBezTo>
                      <a:pt x="580" y="0"/>
                      <a:pt x="580" y="0"/>
                      <a:pt x="580" y="0"/>
                    </a:cubicBezTo>
                    <a:cubicBezTo>
                      <a:pt x="594" y="0"/>
                      <a:pt x="608" y="14"/>
                      <a:pt x="608" y="28"/>
                    </a:cubicBezTo>
                    <a:cubicBezTo>
                      <a:pt x="608" y="113"/>
                      <a:pt x="608" y="113"/>
                      <a:pt x="608" y="113"/>
                    </a:cubicBezTo>
                    <a:cubicBezTo>
                      <a:pt x="0" y="113"/>
                      <a:pt x="0" y="113"/>
                      <a:pt x="0" y="113"/>
                    </a:cubicBezTo>
                    <a:lnTo>
                      <a:pt x="0" y="28"/>
                    </a:lnTo>
                    <a:close/>
                  </a:path>
                </a:pathLst>
              </a:custGeom>
              <a:solidFill>
                <a:srgbClr val="FFFFFF"/>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endParaRPr lang="en-US" sz="9598" dirty="0">
                  <a:latin typeface="Sinkin Sans 300 Light" charset="0"/>
                </a:endParaRPr>
              </a:p>
            </p:txBody>
          </p:sp>
        </p:grpSp>
        <p:sp>
          <p:nvSpPr>
            <p:cNvPr id="49" name="TextBox 48"/>
            <p:cNvSpPr txBox="1"/>
            <p:nvPr/>
          </p:nvSpPr>
          <p:spPr>
            <a:xfrm>
              <a:off x="2360005" y="4553086"/>
              <a:ext cx="3437680" cy="369332"/>
            </a:xfrm>
            <a:prstGeom prst="rect">
              <a:avLst/>
            </a:prstGeom>
            <a:noFill/>
          </p:spPr>
          <p:txBody>
            <a:bodyPr wrap="square" rtlCol="0">
              <a:spAutoFit/>
            </a:bodyPr>
            <a:lstStyle/>
            <a:p>
              <a:r>
                <a:rPr lang="en-US" b="1" dirty="0" err="1">
                  <a:solidFill>
                    <a:schemeClr val="tx2"/>
                  </a:solidFill>
                  <a:latin typeface="Sinkin Sans 600 SemiBold" charset="0"/>
                  <a:ea typeface="Sinkin Sans 600 SemiBold" charset="0"/>
                  <a:cs typeface="Sinkin Sans 600 SemiBold" charset="0"/>
                </a:rPr>
                <a:t>Tham</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gia</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vào</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dự</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án</a:t>
              </a:r>
              <a:endParaRPr lang="en-US" b="1" dirty="0">
                <a:solidFill>
                  <a:schemeClr val="tx2"/>
                </a:solidFill>
                <a:latin typeface="Sinkin Sans 600 SemiBold" charset="0"/>
                <a:ea typeface="Sinkin Sans 600 SemiBold" charset="0"/>
                <a:cs typeface="Sinkin Sans 600 SemiBold" charset="0"/>
              </a:endParaRPr>
            </a:p>
          </p:txBody>
        </p:sp>
      </p:grpSp>
      <p:grpSp>
        <p:nvGrpSpPr>
          <p:cNvPr id="7" name="Group 6"/>
          <p:cNvGrpSpPr/>
          <p:nvPr/>
        </p:nvGrpSpPr>
        <p:grpSpPr>
          <a:xfrm>
            <a:off x="6194461" y="2880124"/>
            <a:ext cx="4549604" cy="947768"/>
            <a:chOff x="1276553" y="5379038"/>
            <a:chExt cx="4549604" cy="947768"/>
          </a:xfrm>
        </p:grpSpPr>
        <p:grpSp>
          <p:nvGrpSpPr>
            <p:cNvPr id="4" name="Group 3"/>
            <p:cNvGrpSpPr/>
            <p:nvPr/>
          </p:nvGrpSpPr>
          <p:grpSpPr>
            <a:xfrm>
              <a:off x="1276553" y="5379038"/>
              <a:ext cx="1042681" cy="947768"/>
              <a:chOff x="1296004" y="5201347"/>
              <a:chExt cx="1042681" cy="947768"/>
            </a:xfrm>
          </p:grpSpPr>
          <p:sp>
            <p:nvSpPr>
              <p:cNvPr id="26" name="Oval 25"/>
              <p:cNvSpPr/>
              <p:nvPr/>
            </p:nvSpPr>
            <p:spPr>
              <a:xfrm>
                <a:off x="1296004" y="5201347"/>
                <a:ext cx="1042681" cy="9477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41" name="Freeform 138"/>
              <p:cNvSpPr>
                <a:spLocks noChangeArrowheads="1"/>
              </p:cNvSpPr>
              <p:nvPr/>
            </p:nvSpPr>
            <p:spPr bwMode="auto">
              <a:xfrm>
                <a:off x="1631953" y="5518935"/>
                <a:ext cx="390239" cy="346880"/>
              </a:xfrm>
              <a:custGeom>
                <a:avLst/>
                <a:gdLst>
                  <a:gd name="T0" fmla="*/ 565 w 594"/>
                  <a:gd name="T1" fmla="*/ 340 h 581"/>
                  <a:gd name="T2" fmla="*/ 558 w 594"/>
                  <a:gd name="T3" fmla="*/ 340 h 581"/>
                  <a:gd name="T4" fmla="*/ 544 w 594"/>
                  <a:gd name="T5" fmla="*/ 389 h 581"/>
                  <a:gd name="T6" fmla="*/ 544 w 594"/>
                  <a:gd name="T7" fmla="*/ 396 h 581"/>
                  <a:gd name="T8" fmla="*/ 544 w 594"/>
                  <a:gd name="T9" fmla="*/ 403 h 581"/>
                  <a:gd name="T10" fmla="*/ 544 w 594"/>
                  <a:gd name="T11" fmla="*/ 403 h 581"/>
                  <a:gd name="T12" fmla="*/ 537 w 594"/>
                  <a:gd name="T13" fmla="*/ 410 h 581"/>
                  <a:gd name="T14" fmla="*/ 515 w 594"/>
                  <a:gd name="T15" fmla="*/ 417 h 581"/>
                  <a:gd name="T16" fmla="*/ 515 w 594"/>
                  <a:gd name="T17" fmla="*/ 417 h 581"/>
                  <a:gd name="T18" fmla="*/ 431 w 594"/>
                  <a:gd name="T19" fmla="*/ 340 h 581"/>
                  <a:gd name="T20" fmla="*/ 431 w 594"/>
                  <a:gd name="T21" fmla="*/ 340 h 581"/>
                  <a:gd name="T22" fmla="*/ 141 w 594"/>
                  <a:gd name="T23" fmla="*/ 311 h 581"/>
                  <a:gd name="T24" fmla="*/ 169 w 594"/>
                  <a:gd name="T25" fmla="*/ 0 h 581"/>
                  <a:gd name="T26" fmla="*/ 593 w 594"/>
                  <a:gd name="T27" fmla="*/ 29 h 581"/>
                  <a:gd name="T28" fmla="*/ 565 w 594"/>
                  <a:gd name="T29" fmla="*/ 340 h 581"/>
                  <a:gd name="T30" fmla="*/ 417 w 594"/>
                  <a:gd name="T31" fmla="*/ 368 h 581"/>
                  <a:gd name="T32" fmla="*/ 480 w 594"/>
                  <a:gd name="T33" fmla="*/ 432 h 581"/>
                  <a:gd name="T34" fmla="*/ 515 w 594"/>
                  <a:gd name="T35" fmla="*/ 467 h 581"/>
                  <a:gd name="T36" fmla="*/ 487 w 594"/>
                  <a:gd name="T37" fmla="*/ 495 h 581"/>
                  <a:gd name="T38" fmla="*/ 289 w 594"/>
                  <a:gd name="T39" fmla="*/ 495 h 581"/>
                  <a:gd name="T40" fmla="*/ 226 w 594"/>
                  <a:gd name="T41" fmla="*/ 495 h 581"/>
                  <a:gd name="T42" fmla="*/ 197 w 594"/>
                  <a:gd name="T43" fmla="*/ 495 h 581"/>
                  <a:gd name="T44" fmla="*/ 113 w 594"/>
                  <a:gd name="T45" fmla="*/ 566 h 581"/>
                  <a:gd name="T46" fmla="*/ 91 w 594"/>
                  <a:gd name="T47" fmla="*/ 580 h 581"/>
                  <a:gd name="T48" fmla="*/ 91 w 594"/>
                  <a:gd name="T49" fmla="*/ 580 h 581"/>
                  <a:gd name="T50" fmla="*/ 70 w 594"/>
                  <a:gd name="T51" fmla="*/ 566 h 581"/>
                  <a:gd name="T52" fmla="*/ 70 w 594"/>
                  <a:gd name="T53" fmla="*/ 566 h 581"/>
                  <a:gd name="T54" fmla="*/ 70 w 594"/>
                  <a:gd name="T55" fmla="*/ 559 h 581"/>
                  <a:gd name="T56" fmla="*/ 63 w 594"/>
                  <a:gd name="T57" fmla="*/ 552 h 581"/>
                  <a:gd name="T58" fmla="*/ 63 w 594"/>
                  <a:gd name="T59" fmla="*/ 495 h 581"/>
                  <a:gd name="T60" fmla="*/ 63 w 594"/>
                  <a:gd name="T61" fmla="*/ 495 h 581"/>
                  <a:gd name="T62" fmla="*/ 0 w 594"/>
                  <a:gd name="T63" fmla="*/ 467 h 581"/>
                  <a:gd name="T64" fmla="*/ 0 w 594"/>
                  <a:gd name="T65" fmla="*/ 142 h 581"/>
                  <a:gd name="T66" fmla="*/ 113 w 594"/>
                  <a:gd name="T67" fmla="*/ 113 h 581"/>
                  <a:gd name="T68" fmla="*/ 169 w 594"/>
                  <a:gd name="T69" fmla="*/ 368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4" h="581">
                    <a:moveTo>
                      <a:pt x="565" y="340"/>
                    </a:moveTo>
                    <a:lnTo>
                      <a:pt x="565" y="340"/>
                    </a:lnTo>
                    <a:cubicBezTo>
                      <a:pt x="558" y="340"/>
                      <a:pt x="558" y="340"/>
                      <a:pt x="558" y="340"/>
                    </a:cubicBezTo>
                    <a:lnTo>
                      <a:pt x="558" y="340"/>
                    </a:lnTo>
                    <a:cubicBezTo>
                      <a:pt x="544" y="340"/>
                      <a:pt x="544" y="340"/>
                      <a:pt x="544" y="340"/>
                    </a:cubicBezTo>
                    <a:cubicBezTo>
                      <a:pt x="544" y="389"/>
                      <a:pt x="544" y="389"/>
                      <a:pt x="544" y="389"/>
                    </a:cubicBezTo>
                    <a:lnTo>
                      <a:pt x="544" y="389"/>
                    </a:lnTo>
                    <a:lnTo>
                      <a:pt x="544" y="396"/>
                    </a:lnTo>
                    <a:lnTo>
                      <a:pt x="544" y="396"/>
                    </a:lnTo>
                    <a:cubicBezTo>
                      <a:pt x="544" y="396"/>
                      <a:pt x="544" y="396"/>
                      <a:pt x="544" y="403"/>
                    </a:cubicBezTo>
                    <a:lnTo>
                      <a:pt x="544" y="403"/>
                    </a:lnTo>
                    <a:lnTo>
                      <a:pt x="544" y="403"/>
                    </a:lnTo>
                    <a:lnTo>
                      <a:pt x="537" y="410"/>
                    </a:lnTo>
                    <a:lnTo>
                      <a:pt x="537" y="410"/>
                    </a:lnTo>
                    <a:cubicBezTo>
                      <a:pt x="530" y="417"/>
                      <a:pt x="523" y="417"/>
                      <a:pt x="515" y="417"/>
                    </a:cubicBezTo>
                    <a:lnTo>
                      <a:pt x="515" y="417"/>
                    </a:lnTo>
                    <a:lnTo>
                      <a:pt x="515" y="417"/>
                    </a:lnTo>
                    <a:lnTo>
                      <a:pt x="515" y="417"/>
                    </a:lnTo>
                    <a:cubicBezTo>
                      <a:pt x="508" y="417"/>
                      <a:pt x="501" y="417"/>
                      <a:pt x="501" y="410"/>
                    </a:cubicBezTo>
                    <a:cubicBezTo>
                      <a:pt x="431" y="340"/>
                      <a:pt x="431" y="340"/>
                      <a:pt x="431" y="340"/>
                    </a:cubicBezTo>
                    <a:lnTo>
                      <a:pt x="431" y="340"/>
                    </a:lnTo>
                    <a:lnTo>
                      <a:pt x="431" y="340"/>
                    </a:lnTo>
                    <a:cubicBezTo>
                      <a:pt x="169" y="340"/>
                      <a:pt x="169" y="340"/>
                      <a:pt x="169" y="340"/>
                    </a:cubicBezTo>
                    <a:cubicBezTo>
                      <a:pt x="155" y="340"/>
                      <a:pt x="141" y="332"/>
                      <a:pt x="141" y="311"/>
                    </a:cubicBezTo>
                    <a:cubicBezTo>
                      <a:pt x="141" y="29"/>
                      <a:pt x="141" y="29"/>
                      <a:pt x="141" y="29"/>
                    </a:cubicBezTo>
                    <a:cubicBezTo>
                      <a:pt x="141" y="14"/>
                      <a:pt x="155" y="0"/>
                      <a:pt x="169" y="0"/>
                    </a:cubicBezTo>
                    <a:cubicBezTo>
                      <a:pt x="565" y="0"/>
                      <a:pt x="565" y="0"/>
                      <a:pt x="565" y="0"/>
                    </a:cubicBezTo>
                    <a:cubicBezTo>
                      <a:pt x="579" y="0"/>
                      <a:pt x="593" y="14"/>
                      <a:pt x="593" y="29"/>
                    </a:cubicBezTo>
                    <a:cubicBezTo>
                      <a:pt x="593" y="311"/>
                      <a:pt x="593" y="311"/>
                      <a:pt x="593" y="311"/>
                    </a:cubicBezTo>
                    <a:cubicBezTo>
                      <a:pt x="593" y="332"/>
                      <a:pt x="579" y="340"/>
                      <a:pt x="565" y="340"/>
                    </a:cubicBezTo>
                    <a:close/>
                    <a:moveTo>
                      <a:pt x="417" y="368"/>
                    </a:moveTo>
                    <a:lnTo>
                      <a:pt x="417" y="368"/>
                    </a:lnTo>
                    <a:cubicBezTo>
                      <a:pt x="480" y="432"/>
                      <a:pt x="480" y="432"/>
                      <a:pt x="480" y="432"/>
                    </a:cubicBezTo>
                    <a:lnTo>
                      <a:pt x="480" y="432"/>
                    </a:lnTo>
                    <a:cubicBezTo>
                      <a:pt x="487" y="439"/>
                      <a:pt x="501" y="446"/>
                      <a:pt x="515" y="446"/>
                    </a:cubicBezTo>
                    <a:cubicBezTo>
                      <a:pt x="515" y="467"/>
                      <a:pt x="515" y="467"/>
                      <a:pt x="515" y="467"/>
                    </a:cubicBezTo>
                    <a:cubicBezTo>
                      <a:pt x="515" y="481"/>
                      <a:pt x="508" y="495"/>
                      <a:pt x="487" y="495"/>
                    </a:cubicBezTo>
                    <a:lnTo>
                      <a:pt x="487" y="495"/>
                    </a:lnTo>
                    <a:cubicBezTo>
                      <a:pt x="289" y="495"/>
                      <a:pt x="289" y="495"/>
                      <a:pt x="289" y="495"/>
                    </a:cubicBezTo>
                    <a:lnTo>
                      <a:pt x="289" y="495"/>
                    </a:lnTo>
                    <a:cubicBezTo>
                      <a:pt x="226" y="495"/>
                      <a:pt x="226" y="495"/>
                      <a:pt x="226" y="495"/>
                    </a:cubicBezTo>
                    <a:lnTo>
                      <a:pt x="226" y="495"/>
                    </a:lnTo>
                    <a:cubicBezTo>
                      <a:pt x="197" y="495"/>
                      <a:pt x="197" y="495"/>
                      <a:pt x="197" y="495"/>
                    </a:cubicBezTo>
                    <a:lnTo>
                      <a:pt x="197" y="495"/>
                    </a:lnTo>
                    <a:cubicBezTo>
                      <a:pt x="190" y="495"/>
                      <a:pt x="190" y="495"/>
                      <a:pt x="190" y="495"/>
                    </a:cubicBezTo>
                    <a:cubicBezTo>
                      <a:pt x="113" y="566"/>
                      <a:pt x="113" y="566"/>
                      <a:pt x="113" y="566"/>
                    </a:cubicBezTo>
                    <a:cubicBezTo>
                      <a:pt x="106" y="573"/>
                      <a:pt x="99" y="580"/>
                      <a:pt x="91" y="580"/>
                    </a:cubicBezTo>
                    <a:lnTo>
                      <a:pt x="91" y="580"/>
                    </a:lnTo>
                    <a:lnTo>
                      <a:pt x="91" y="580"/>
                    </a:lnTo>
                    <a:lnTo>
                      <a:pt x="91" y="580"/>
                    </a:lnTo>
                    <a:cubicBezTo>
                      <a:pt x="84" y="580"/>
                      <a:pt x="77" y="573"/>
                      <a:pt x="77" y="566"/>
                    </a:cubicBezTo>
                    <a:cubicBezTo>
                      <a:pt x="70" y="566"/>
                      <a:pt x="70" y="566"/>
                      <a:pt x="70" y="566"/>
                    </a:cubicBezTo>
                    <a:lnTo>
                      <a:pt x="70" y="566"/>
                    </a:lnTo>
                    <a:lnTo>
                      <a:pt x="70" y="566"/>
                    </a:lnTo>
                    <a:lnTo>
                      <a:pt x="70" y="559"/>
                    </a:lnTo>
                    <a:lnTo>
                      <a:pt x="70" y="559"/>
                    </a:lnTo>
                    <a:cubicBezTo>
                      <a:pt x="70" y="559"/>
                      <a:pt x="63" y="559"/>
                      <a:pt x="63" y="552"/>
                    </a:cubicBezTo>
                    <a:lnTo>
                      <a:pt x="63" y="552"/>
                    </a:lnTo>
                    <a:lnTo>
                      <a:pt x="63" y="552"/>
                    </a:lnTo>
                    <a:cubicBezTo>
                      <a:pt x="63" y="495"/>
                      <a:pt x="63" y="495"/>
                      <a:pt x="63" y="495"/>
                    </a:cubicBezTo>
                    <a:lnTo>
                      <a:pt x="63" y="495"/>
                    </a:lnTo>
                    <a:lnTo>
                      <a:pt x="63" y="495"/>
                    </a:lnTo>
                    <a:cubicBezTo>
                      <a:pt x="28" y="495"/>
                      <a:pt x="28" y="495"/>
                      <a:pt x="28" y="495"/>
                    </a:cubicBezTo>
                    <a:cubicBezTo>
                      <a:pt x="14" y="495"/>
                      <a:pt x="0" y="481"/>
                      <a:pt x="0" y="467"/>
                    </a:cubicBezTo>
                    <a:cubicBezTo>
                      <a:pt x="0" y="142"/>
                      <a:pt x="0" y="142"/>
                      <a:pt x="0" y="142"/>
                    </a:cubicBezTo>
                    <a:lnTo>
                      <a:pt x="0" y="142"/>
                    </a:lnTo>
                    <a:cubicBezTo>
                      <a:pt x="0" y="128"/>
                      <a:pt x="14" y="113"/>
                      <a:pt x="28" y="113"/>
                    </a:cubicBezTo>
                    <a:cubicBezTo>
                      <a:pt x="113" y="113"/>
                      <a:pt x="113" y="113"/>
                      <a:pt x="113" y="113"/>
                    </a:cubicBezTo>
                    <a:cubicBezTo>
                      <a:pt x="113" y="311"/>
                      <a:pt x="113" y="311"/>
                      <a:pt x="113" y="311"/>
                    </a:cubicBezTo>
                    <a:cubicBezTo>
                      <a:pt x="113" y="347"/>
                      <a:pt x="141" y="368"/>
                      <a:pt x="169" y="368"/>
                    </a:cubicBezTo>
                    <a:lnTo>
                      <a:pt x="417" y="368"/>
                    </a:lnTo>
                    <a:close/>
                  </a:path>
                </a:pathLst>
              </a:custGeom>
              <a:solidFill>
                <a:srgbClr val="FFFFFF"/>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endParaRPr lang="en-US" sz="9598" dirty="0">
                  <a:latin typeface="Sinkin Sans 300 Light" charset="0"/>
                </a:endParaRPr>
              </a:p>
            </p:txBody>
          </p:sp>
        </p:grpSp>
        <p:sp>
          <p:nvSpPr>
            <p:cNvPr id="50" name="TextBox 49"/>
            <p:cNvSpPr txBox="1"/>
            <p:nvPr/>
          </p:nvSpPr>
          <p:spPr>
            <a:xfrm>
              <a:off x="2388477" y="5522342"/>
              <a:ext cx="3437680" cy="646331"/>
            </a:xfrm>
            <a:prstGeom prst="rect">
              <a:avLst/>
            </a:prstGeom>
            <a:noFill/>
          </p:spPr>
          <p:txBody>
            <a:bodyPr wrap="square" rtlCol="0">
              <a:spAutoFit/>
            </a:bodyPr>
            <a:lstStyle/>
            <a:p>
              <a:r>
                <a:rPr lang="en-US" b="1" dirty="0" err="1">
                  <a:solidFill>
                    <a:schemeClr val="tx2"/>
                  </a:solidFill>
                  <a:latin typeface="Sinkin Sans 600 SemiBold" charset="0"/>
                  <a:ea typeface="Sinkin Sans 600 SemiBold" charset="0"/>
                  <a:cs typeface="Sinkin Sans 600 SemiBold" charset="0"/>
                </a:rPr>
                <a:t>Hoàn</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thành</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các</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công</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việc</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được</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giao</a:t>
              </a:r>
              <a:endParaRPr lang="en-US" b="1" dirty="0">
                <a:solidFill>
                  <a:schemeClr val="tx2"/>
                </a:solidFill>
                <a:latin typeface="Sinkin Sans 600 SemiBold" charset="0"/>
                <a:ea typeface="Sinkin Sans 600 SemiBold" charset="0"/>
                <a:cs typeface="Sinkin Sans 600 SemiBold" charset="0"/>
              </a:endParaRPr>
            </a:p>
          </p:txBody>
        </p:sp>
      </p:grpSp>
      <p:sp>
        <p:nvSpPr>
          <p:cNvPr id="53" name="TextBox 52"/>
          <p:cNvSpPr txBox="1"/>
          <p:nvPr/>
        </p:nvSpPr>
        <p:spPr>
          <a:xfrm>
            <a:off x="7389126" y="5093411"/>
            <a:ext cx="3437680" cy="923330"/>
          </a:xfrm>
          <a:prstGeom prst="rect">
            <a:avLst/>
          </a:prstGeom>
          <a:noFill/>
        </p:spPr>
        <p:txBody>
          <a:bodyPr wrap="square" rtlCol="0">
            <a:spAutoFit/>
          </a:bodyPr>
          <a:lstStyle/>
          <a:p>
            <a:r>
              <a:rPr lang="en-US" b="1" dirty="0">
                <a:solidFill>
                  <a:schemeClr val="tx2"/>
                </a:solidFill>
                <a:latin typeface="Sinkin Sans 600 SemiBold" charset="0"/>
                <a:ea typeface="Sinkin Sans 600 SemiBold" charset="0"/>
                <a:cs typeface="Sinkin Sans 600 SemiBold" charset="0"/>
              </a:rPr>
              <a:t>Thu </a:t>
            </a:r>
            <a:r>
              <a:rPr lang="en-US" b="1" dirty="0" err="1">
                <a:solidFill>
                  <a:schemeClr val="tx2"/>
                </a:solidFill>
                <a:latin typeface="Sinkin Sans 600 SemiBold" charset="0"/>
                <a:ea typeface="Sinkin Sans 600 SemiBold" charset="0"/>
                <a:cs typeface="Sinkin Sans 600 SemiBold" charset="0"/>
              </a:rPr>
              <a:t>nhập</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nhận</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hàng</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tháng</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không</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cố</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định</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mà</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phụ</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thuộc</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vào</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đóng</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góp</a:t>
            </a:r>
            <a:r>
              <a:rPr lang="en-US" b="1" dirty="0">
                <a:solidFill>
                  <a:schemeClr val="tx2"/>
                </a:solidFill>
                <a:latin typeface="Sinkin Sans 600 SemiBold" charset="0"/>
                <a:ea typeface="Sinkin Sans 600 SemiBold" charset="0"/>
                <a:cs typeface="Sinkin Sans 600 SemiBold" charset="0"/>
              </a:rPr>
              <a:t> </a:t>
            </a:r>
            <a:r>
              <a:rPr lang="en-US" b="1" dirty="0" err="1">
                <a:solidFill>
                  <a:schemeClr val="tx2"/>
                </a:solidFill>
                <a:latin typeface="Sinkin Sans 600 SemiBold" charset="0"/>
                <a:ea typeface="Sinkin Sans 600 SemiBold" charset="0"/>
                <a:cs typeface="Sinkin Sans 600 SemiBold" charset="0"/>
              </a:rPr>
              <a:t>của</a:t>
            </a:r>
            <a:r>
              <a:rPr lang="en-US" b="1" dirty="0">
                <a:solidFill>
                  <a:schemeClr val="tx2"/>
                </a:solidFill>
                <a:latin typeface="Sinkin Sans 600 SemiBold" charset="0"/>
                <a:ea typeface="Sinkin Sans 600 SemiBold" charset="0"/>
                <a:cs typeface="Sinkin Sans 600 SemiBold" charset="0"/>
              </a:rPr>
              <a:t> CBNV</a:t>
            </a:r>
          </a:p>
        </p:txBody>
      </p:sp>
      <p:grpSp>
        <p:nvGrpSpPr>
          <p:cNvPr id="6" name="Group 5"/>
          <p:cNvGrpSpPr/>
          <p:nvPr/>
        </p:nvGrpSpPr>
        <p:grpSpPr>
          <a:xfrm>
            <a:off x="1145548" y="1754108"/>
            <a:ext cx="4480361" cy="947768"/>
            <a:chOff x="1267532" y="5675231"/>
            <a:chExt cx="4480361" cy="947768"/>
          </a:xfrm>
        </p:grpSpPr>
        <p:grpSp>
          <p:nvGrpSpPr>
            <p:cNvPr id="3" name="Group 2"/>
            <p:cNvGrpSpPr/>
            <p:nvPr/>
          </p:nvGrpSpPr>
          <p:grpSpPr>
            <a:xfrm>
              <a:off x="1267532" y="5675231"/>
              <a:ext cx="1042681" cy="947768"/>
              <a:chOff x="3868737" y="5868819"/>
              <a:chExt cx="1042681" cy="947768"/>
            </a:xfrm>
          </p:grpSpPr>
          <p:sp>
            <p:nvSpPr>
              <p:cNvPr id="21" name="Oval 20"/>
              <p:cNvSpPr/>
              <p:nvPr/>
            </p:nvSpPr>
            <p:spPr>
              <a:xfrm>
                <a:off x="3868737" y="5868819"/>
                <a:ext cx="1042681" cy="94776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2818" tIns="91409" rIns="182818" bIns="91409" rtlCol="0" anchor="ctr"/>
              <a:lstStyle/>
              <a:p>
                <a:pPr algn="ctr"/>
                <a:endParaRPr lang="id-ID" sz="3599">
                  <a:latin typeface="Sinkin Sans 300 Light" charset="0"/>
                  <a:cs typeface="Sinkin Sans 300 Light" charset="0"/>
                </a:endParaRPr>
              </a:p>
            </p:txBody>
          </p:sp>
          <p:sp>
            <p:nvSpPr>
              <p:cNvPr id="2" name="Smiley Face 1"/>
              <p:cNvSpPr/>
              <p:nvPr/>
            </p:nvSpPr>
            <p:spPr>
              <a:xfrm>
                <a:off x="4126768" y="6168673"/>
                <a:ext cx="497483" cy="401944"/>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p:cNvSpPr txBox="1"/>
            <p:nvPr/>
          </p:nvSpPr>
          <p:spPr>
            <a:xfrm>
              <a:off x="2310213" y="5825949"/>
              <a:ext cx="3437680" cy="646331"/>
            </a:xfrm>
            <a:prstGeom prst="rect">
              <a:avLst/>
            </a:prstGeom>
            <a:noFill/>
          </p:spPr>
          <p:txBody>
            <a:bodyPr wrap="square" rtlCol="0">
              <a:spAutoFit/>
            </a:bodyPr>
            <a:lstStyle/>
            <a:p>
              <a:r>
                <a:rPr lang="vi-VN" b="1" dirty="0">
                  <a:solidFill>
                    <a:schemeClr val="tx2"/>
                  </a:solidFill>
                  <a:latin typeface="Sinkin Sans 600 SemiBold" charset="0"/>
                  <a:ea typeface="Sinkin Sans 600 SemiBold" charset="0"/>
                  <a:cs typeface="Sinkin Sans 600 SemiBold" charset="0"/>
                </a:rPr>
                <a:t>Thuộc nhóm sẽ nhận tạm ứng hàng tháng</a:t>
              </a:r>
              <a:endParaRPr lang="en-US" b="1" dirty="0">
                <a:solidFill>
                  <a:schemeClr val="tx2"/>
                </a:solidFill>
                <a:latin typeface="Sinkin Sans 600 SemiBold" charset="0"/>
                <a:ea typeface="Sinkin Sans 600 SemiBold" charset="0"/>
                <a:cs typeface="Sinkin Sans 600 SemiBold" charset="0"/>
              </a:endParaRPr>
            </a:p>
          </p:txBody>
        </p:sp>
      </p:grpSp>
      <p:sp>
        <p:nvSpPr>
          <p:cNvPr id="30" name="TextBox 29"/>
          <p:cNvSpPr txBox="1"/>
          <p:nvPr/>
        </p:nvSpPr>
        <p:spPr>
          <a:xfrm>
            <a:off x="989779" y="3002500"/>
            <a:ext cx="4661260" cy="1692771"/>
          </a:xfrm>
          <a:prstGeom prst="rect">
            <a:avLst/>
          </a:prstGeom>
          <a:noFill/>
        </p:spPr>
        <p:txBody>
          <a:bodyPr wrap="square" rtlCol="0">
            <a:spAutoFit/>
          </a:bodyPr>
          <a:lstStyle/>
          <a:p>
            <a:r>
              <a:rPr lang="vi-VN" sz="1300" b="1" dirty="0">
                <a:solidFill>
                  <a:schemeClr val="tx2"/>
                </a:solidFill>
                <a:latin typeface="Sinkin Sans 600 SemiBold"/>
                <a:cs typeface="Arial" panose="020B0604020202020204" pitchFamily="34" charset="0"/>
              </a:rPr>
              <a:t>Áp dụng với các dự án có hợp đồng đang triển khai tại FIS Bank:</a:t>
            </a:r>
          </a:p>
          <a:p>
            <a:pPr marL="285750" indent="-285750">
              <a:buFontTx/>
              <a:buChar char="-"/>
            </a:pPr>
            <a:r>
              <a:rPr lang="vi-VN" sz="1300" dirty="0">
                <a:solidFill>
                  <a:schemeClr val="tx2"/>
                </a:solidFill>
                <a:latin typeface="Sinkin Sans 600 SemiBold"/>
                <a:cs typeface="Arial" panose="020B0604020202020204" pitchFamily="34" charset="0"/>
              </a:rPr>
              <a:t>DA TK có hợp đồng và đang ở các giai đoạn từ thiết kế đến nghiệm thu, ngoại trừ DA đang pending/chạy cầm chừng</a:t>
            </a:r>
          </a:p>
          <a:p>
            <a:pPr marL="285750" indent="-285750">
              <a:buFontTx/>
              <a:buChar char="-"/>
            </a:pPr>
            <a:r>
              <a:rPr lang="vi-VN" sz="1300" dirty="0">
                <a:solidFill>
                  <a:schemeClr val="tx2"/>
                </a:solidFill>
                <a:latin typeface="Sinkin Sans 600 SemiBold"/>
                <a:cs typeface="Arial" panose="020B0604020202020204" pitchFamily="34" charset="0"/>
              </a:rPr>
              <a:t>DA BH/BT có hợp đồng và có các đầu việc/giai đoạn tương tự như các DA triển khai, không bao gồm các DA BH/BT đã chạy ổn định</a:t>
            </a:r>
          </a:p>
        </p:txBody>
      </p:sp>
      <p:sp>
        <p:nvSpPr>
          <p:cNvPr id="31" name="TextBox 30"/>
          <p:cNvSpPr txBox="1"/>
          <p:nvPr/>
        </p:nvSpPr>
        <p:spPr>
          <a:xfrm>
            <a:off x="989779" y="4665085"/>
            <a:ext cx="4791901" cy="1692771"/>
          </a:xfrm>
          <a:prstGeom prst="rect">
            <a:avLst/>
          </a:prstGeom>
          <a:noFill/>
        </p:spPr>
        <p:txBody>
          <a:bodyPr wrap="square" rtlCol="0">
            <a:spAutoFit/>
          </a:bodyPr>
          <a:lstStyle/>
          <a:p>
            <a:r>
              <a:rPr lang="vi-VN" sz="1300" b="1" dirty="0">
                <a:solidFill>
                  <a:schemeClr val="tx2"/>
                </a:solidFill>
                <a:latin typeface="Sinkin Sans 600 SemiBold"/>
                <a:cs typeface="Arial" panose="020B0604020202020204" pitchFamily="34" charset="0"/>
              </a:rPr>
              <a:t>Áp dụng với các cán bộ ký hợp đồng chính thức:</a:t>
            </a:r>
          </a:p>
          <a:p>
            <a:pPr marL="285750" indent="-285750">
              <a:buFontTx/>
              <a:buChar char="-"/>
            </a:pPr>
            <a:r>
              <a:rPr lang="vi-VN" sz="1300" dirty="0">
                <a:solidFill>
                  <a:schemeClr val="tx2"/>
                </a:solidFill>
                <a:latin typeface="Sinkin Sans 600 SemiBold"/>
                <a:cs typeface="Arial" panose="020B0604020202020204" pitchFamily="34" charset="0"/>
              </a:rPr>
              <a:t>Cán bộ ký hợp đồng chính thức từ 1 năm và có thâm niên làm việc tại FIS từ 1 năm trở lên</a:t>
            </a:r>
          </a:p>
          <a:p>
            <a:pPr marL="285750" indent="-285750">
              <a:buFontTx/>
              <a:buChar char="-"/>
            </a:pPr>
            <a:r>
              <a:rPr lang="vi-VN" sz="1300" dirty="0">
                <a:solidFill>
                  <a:schemeClr val="tx2"/>
                </a:solidFill>
                <a:latin typeface="Sinkin Sans 600 SemiBold"/>
                <a:cs typeface="Arial" panose="020B0604020202020204" pitchFamily="34" charset="0"/>
              </a:rPr>
              <a:t>Cán bộ từ rank 2 trở lên; riêng đối với các công việc PM, SA từ rank 1 trở lên</a:t>
            </a:r>
          </a:p>
          <a:p>
            <a:pPr marL="285750" indent="-285750">
              <a:buFontTx/>
              <a:buChar char="-"/>
            </a:pPr>
            <a:r>
              <a:rPr lang="vi-VN" sz="1300" dirty="0">
                <a:solidFill>
                  <a:schemeClr val="tx2"/>
                </a:solidFill>
                <a:latin typeface="Sinkin Sans 600 SemiBold"/>
                <a:cs typeface="Arial" panose="020B0604020202020204" pitchFamily="34" charset="0"/>
              </a:rPr>
              <a:t>Cán bộ không phải là trưởng bộ phận đơn vị sản xuất AB/BP (trưởng phó phòng, GDTT) hoặc không phải là các cán bộ áp dụng trả thưởng HQDA theo khoán đon vị</a:t>
            </a:r>
          </a:p>
        </p:txBody>
      </p:sp>
    </p:spTree>
    <p:extLst>
      <p:ext uri="{BB962C8B-B14F-4D97-AF65-F5344CB8AC3E}">
        <p14:creationId xmlns:p14="http://schemas.microsoft.com/office/powerpoint/2010/main" val="232753419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circle(in)">
                                      <p:cBhvr>
                                        <p:cTn id="10" dur="2000"/>
                                        <p:tgtEl>
                                          <p:spTgt spid="3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circle(in)">
                                      <p:cBhvr>
                                        <p:cTn id="13" dur="2000"/>
                                        <p:tgtEl>
                                          <p:spTgt spid="45"/>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circle(in)">
                                      <p:cBhvr>
                                        <p:cTn id="16" dur="2000"/>
                                        <p:tgtEl>
                                          <p:spTgt spid="53"/>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circle(in)">
                                      <p:cBhvr>
                                        <p:cTn id="19" dur="2000"/>
                                        <p:tgtEl>
                                          <p:spTgt spid="30"/>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circle(in)">
                                      <p:cBhvr>
                                        <p:cTn id="22"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animBg="1"/>
      <p:bldP spid="45" grpId="0" animBg="1"/>
      <p:bldP spid="53" grpId="0"/>
      <p:bldP spid="30" grpId="0"/>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1333896" y="327184"/>
            <a:ext cx="9823541" cy="523220"/>
          </a:xfrm>
          <a:prstGeom prst="rect">
            <a:avLst/>
          </a:prstGeom>
        </p:spPr>
        <p:txBody>
          <a:bodyPr wrap="square">
            <a:spAutoFit/>
          </a:bodyPr>
          <a:lstStyle/>
          <a:p>
            <a:r>
              <a:rPr lang="en-US" sz="2800" b="1">
                <a:solidFill>
                  <a:schemeClr val="bg1"/>
                </a:solidFill>
                <a:latin typeface="Verdana" panose="020B0604030504040204" pitchFamily="34" charset="0"/>
                <a:ea typeface="Verdana" panose="020B0604030504040204" pitchFamily="34" charset="0"/>
              </a:rPr>
              <a:t>4. QUỸ THƯỞNG HIỆU QUẢ GIAI ĐOẠN </a:t>
            </a:r>
          </a:p>
        </p:txBody>
      </p:sp>
      <p:sp>
        <p:nvSpPr>
          <p:cNvPr id="64" name="Snip Same Side Corner Rectangle 34"/>
          <p:cNvSpPr/>
          <p:nvPr/>
        </p:nvSpPr>
        <p:spPr>
          <a:xfrm>
            <a:off x="964276" y="2265084"/>
            <a:ext cx="4368206" cy="381000"/>
          </a:xfrm>
          <a:prstGeom prst="snip2SameRect">
            <a:avLst/>
          </a:prstGeom>
          <a:solidFill>
            <a:srgbClr val="2F8944"/>
          </a:solidFill>
          <a:ln>
            <a:noFill/>
          </a:ln>
          <a:scene3d>
            <a:camera prst="orthographicFront"/>
            <a:lightRig rig="threePt" dir="t"/>
          </a:scene3d>
          <a:sp3d>
            <a:bevelT w="266700"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a:latin typeface="Sinkin Sans 600 SemiBold"/>
                <a:cs typeface="Arial" pitchFamily="34" charset="0"/>
              </a:rPr>
              <a:t>Quỹ khoán GĐ ≥ Tổng TN tháng đã chi</a:t>
            </a:r>
            <a:endParaRPr lang="en-US" sz="1600" b="1" dirty="0">
              <a:latin typeface="Sinkin Sans 600 SemiBold"/>
              <a:cs typeface="Arial" pitchFamily="34" charset="0"/>
            </a:endParaRPr>
          </a:p>
        </p:txBody>
      </p:sp>
      <p:cxnSp>
        <p:nvCxnSpPr>
          <p:cNvPr id="106" name="Straight Connector 39"/>
          <p:cNvCxnSpPr/>
          <p:nvPr/>
        </p:nvCxnSpPr>
        <p:spPr>
          <a:xfrm>
            <a:off x="5409364" y="2187816"/>
            <a:ext cx="10534" cy="291674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40"/>
          <p:cNvCxnSpPr/>
          <p:nvPr/>
        </p:nvCxnSpPr>
        <p:spPr>
          <a:xfrm>
            <a:off x="978122" y="5104563"/>
            <a:ext cx="885139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8" name="Straight Connector 41"/>
          <p:cNvCxnSpPr/>
          <p:nvPr/>
        </p:nvCxnSpPr>
        <p:spPr>
          <a:xfrm>
            <a:off x="978124" y="2189566"/>
            <a:ext cx="885139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0" name="TextBox 43"/>
          <p:cNvSpPr txBox="1"/>
          <p:nvPr/>
        </p:nvSpPr>
        <p:spPr>
          <a:xfrm>
            <a:off x="964276" y="2802341"/>
            <a:ext cx="4200613" cy="2308324"/>
          </a:xfrm>
          <a:prstGeom prst="rect">
            <a:avLst/>
          </a:prstGeom>
          <a:noFill/>
        </p:spPr>
        <p:txBody>
          <a:bodyPr wrap="square">
            <a:spAutoFit/>
          </a:bodyPr>
          <a:lstStyle/>
          <a:p>
            <a:pPr marL="171450" indent="-171450">
              <a:buFont typeface="Wingdings" pitchFamily="2" charset="2"/>
              <a:buChar char="ü"/>
              <a:defRPr/>
            </a:pPr>
            <a:r>
              <a:rPr lang="en-US" sz="1600" i="1" dirty="0" err="1">
                <a:latin typeface="Arial" charset="0"/>
              </a:rPr>
              <a:t>Thực</a:t>
            </a:r>
            <a:r>
              <a:rPr lang="en-US" sz="1600" i="1" dirty="0">
                <a:latin typeface="Arial" charset="0"/>
              </a:rPr>
              <a:t> </a:t>
            </a:r>
            <a:r>
              <a:rPr lang="en-US" sz="1600" i="1" dirty="0" err="1">
                <a:latin typeface="Arial" charset="0"/>
              </a:rPr>
              <a:t>hiện</a:t>
            </a:r>
            <a:r>
              <a:rPr lang="en-US" sz="1600" i="1" dirty="0">
                <a:latin typeface="Arial" charset="0"/>
              </a:rPr>
              <a:t> chi </a:t>
            </a:r>
            <a:r>
              <a:rPr lang="en-US" sz="1600" i="1" dirty="0" err="1">
                <a:latin typeface="Arial" charset="0"/>
              </a:rPr>
              <a:t>trả</a:t>
            </a:r>
            <a:r>
              <a:rPr lang="en-US" sz="1600" i="1" dirty="0">
                <a:latin typeface="Arial" charset="0"/>
              </a:rPr>
              <a:t> </a:t>
            </a:r>
            <a:r>
              <a:rPr lang="en-US" sz="1600" i="1" dirty="0" err="1">
                <a:latin typeface="Arial" charset="0"/>
              </a:rPr>
              <a:t>thưởng</a:t>
            </a:r>
            <a:r>
              <a:rPr lang="en-US" sz="1600" i="1" dirty="0">
                <a:latin typeface="Arial" charset="0"/>
              </a:rPr>
              <a:t> </a:t>
            </a:r>
            <a:r>
              <a:rPr lang="en-US" sz="1600" i="1" dirty="0" err="1">
                <a:latin typeface="Arial" charset="0"/>
              </a:rPr>
              <a:t>hiệu</a:t>
            </a:r>
            <a:r>
              <a:rPr lang="en-US" sz="1600" i="1" dirty="0">
                <a:latin typeface="Arial" charset="0"/>
              </a:rPr>
              <a:t> </a:t>
            </a:r>
            <a:r>
              <a:rPr lang="en-US" sz="1600" i="1" dirty="0" err="1">
                <a:latin typeface="Arial" charset="0"/>
              </a:rPr>
              <a:t>quả</a:t>
            </a:r>
            <a:r>
              <a:rPr lang="en-US" sz="1600" i="1" dirty="0">
                <a:latin typeface="Arial" charset="0"/>
              </a:rPr>
              <a:t> DA </a:t>
            </a:r>
            <a:r>
              <a:rPr lang="en-US" sz="1600" i="1" dirty="0" err="1">
                <a:latin typeface="Arial" charset="0"/>
              </a:rPr>
              <a:t>nhưng</a:t>
            </a:r>
            <a:r>
              <a:rPr lang="en-US" sz="1600" i="1" dirty="0">
                <a:latin typeface="Arial" charset="0"/>
              </a:rPr>
              <a:t> </a:t>
            </a:r>
            <a:r>
              <a:rPr lang="en-US" sz="1600" i="1" dirty="0" err="1">
                <a:latin typeface="Arial" charset="0"/>
              </a:rPr>
              <a:t>không</a:t>
            </a:r>
            <a:r>
              <a:rPr lang="en-US" sz="1600" i="1" dirty="0">
                <a:latin typeface="Arial" charset="0"/>
              </a:rPr>
              <a:t> </a:t>
            </a:r>
            <a:r>
              <a:rPr lang="en-US" sz="1600" i="1" dirty="0" err="1">
                <a:latin typeface="Arial" charset="0"/>
              </a:rPr>
              <a:t>vượt</a:t>
            </a:r>
            <a:r>
              <a:rPr lang="en-US" sz="1600" i="1" dirty="0">
                <a:latin typeface="Arial" charset="0"/>
              </a:rPr>
              <a:t> </a:t>
            </a:r>
            <a:r>
              <a:rPr lang="en-US" sz="1600" i="1" dirty="0" err="1">
                <a:latin typeface="Arial" charset="0"/>
              </a:rPr>
              <a:t>quá</a:t>
            </a:r>
            <a:r>
              <a:rPr lang="en-US" sz="1600" i="1" dirty="0">
                <a:latin typeface="Arial" charset="0"/>
              </a:rPr>
              <a:t> 30% </a:t>
            </a:r>
            <a:r>
              <a:rPr lang="en-US" sz="1600" i="1" dirty="0" err="1">
                <a:latin typeface="Arial" charset="0"/>
              </a:rPr>
              <a:t>tổng</a:t>
            </a:r>
            <a:r>
              <a:rPr lang="en-US" sz="1600" i="1" dirty="0">
                <a:latin typeface="Arial" charset="0"/>
              </a:rPr>
              <a:t> </a:t>
            </a:r>
            <a:r>
              <a:rPr lang="en-US" sz="1600" i="1" dirty="0" err="1">
                <a:latin typeface="Arial" charset="0"/>
              </a:rPr>
              <a:t>quỹ</a:t>
            </a:r>
            <a:r>
              <a:rPr lang="en-US" sz="1600" i="1" dirty="0">
                <a:latin typeface="Arial" charset="0"/>
              </a:rPr>
              <a:t> </a:t>
            </a:r>
            <a:r>
              <a:rPr lang="en-US" sz="1600" i="1" dirty="0" err="1">
                <a:latin typeface="Arial" charset="0"/>
              </a:rPr>
              <a:t>lương</a:t>
            </a:r>
            <a:r>
              <a:rPr lang="en-US" sz="1600" i="1" dirty="0">
                <a:latin typeface="Arial" charset="0"/>
              </a:rPr>
              <a:t> </a:t>
            </a:r>
            <a:r>
              <a:rPr lang="vi-VN" sz="1600" i="1" dirty="0">
                <a:latin typeface="Arial" charset="0"/>
              </a:rPr>
              <a:t>đã chi</a:t>
            </a:r>
            <a:r>
              <a:rPr lang="en-US" sz="1600" i="1" dirty="0">
                <a:latin typeface="Arial" charset="0"/>
              </a:rPr>
              <a:t> </a:t>
            </a:r>
            <a:r>
              <a:rPr lang="en-US" sz="1600" i="1" dirty="0" err="1">
                <a:latin typeface="Arial" charset="0"/>
              </a:rPr>
              <a:t>cùng</a:t>
            </a:r>
            <a:r>
              <a:rPr lang="en-US" sz="1600" i="1" dirty="0">
                <a:latin typeface="Arial" charset="0"/>
              </a:rPr>
              <a:t> </a:t>
            </a:r>
            <a:r>
              <a:rPr lang="en-US" sz="1600" i="1" dirty="0" err="1">
                <a:latin typeface="Arial" charset="0"/>
              </a:rPr>
              <a:t>kỳ</a:t>
            </a:r>
            <a:r>
              <a:rPr lang="en-US" sz="1600" i="1" dirty="0">
                <a:latin typeface="Arial" charset="0"/>
              </a:rPr>
              <a:t>. </a:t>
            </a:r>
            <a:r>
              <a:rPr lang="en-US" sz="1600" i="1" dirty="0" err="1">
                <a:latin typeface="Arial" charset="0"/>
              </a:rPr>
              <a:t>Toàn</a:t>
            </a:r>
            <a:r>
              <a:rPr lang="en-US" sz="1600" i="1" dirty="0">
                <a:latin typeface="Arial" charset="0"/>
              </a:rPr>
              <a:t> </a:t>
            </a:r>
            <a:r>
              <a:rPr lang="en-US" sz="1600" i="1" dirty="0" err="1">
                <a:latin typeface="Arial" charset="0"/>
              </a:rPr>
              <a:t>bộ</a:t>
            </a:r>
            <a:r>
              <a:rPr lang="en-US" sz="1600" i="1" dirty="0">
                <a:latin typeface="Arial" charset="0"/>
              </a:rPr>
              <a:t> </a:t>
            </a:r>
            <a:r>
              <a:rPr lang="en-US" sz="1600" i="1" dirty="0" err="1">
                <a:latin typeface="Arial" charset="0"/>
              </a:rPr>
              <a:t>phần</a:t>
            </a:r>
            <a:r>
              <a:rPr lang="en-US" sz="1600" i="1" dirty="0">
                <a:latin typeface="Arial" charset="0"/>
              </a:rPr>
              <a:t> </a:t>
            </a:r>
            <a:r>
              <a:rPr lang="en-US" sz="1600" i="1" dirty="0" err="1">
                <a:latin typeface="Arial" charset="0"/>
              </a:rPr>
              <a:t>còn</a:t>
            </a:r>
            <a:r>
              <a:rPr lang="en-US" sz="1600" i="1" dirty="0">
                <a:latin typeface="Arial" charset="0"/>
              </a:rPr>
              <a:t> </a:t>
            </a:r>
            <a:r>
              <a:rPr lang="en-US" sz="1600" i="1" dirty="0" err="1">
                <a:latin typeface="Arial" charset="0"/>
              </a:rPr>
              <a:t>dư</a:t>
            </a:r>
            <a:r>
              <a:rPr lang="en-US" sz="1600" i="1" dirty="0">
                <a:latin typeface="Arial" charset="0"/>
              </a:rPr>
              <a:t> (</a:t>
            </a:r>
            <a:r>
              <a:rPr lang="en-US" sz="1600" i="1" dirty="0" err="1">
                <a:latin typeface="Arial" charset="0"/>
              </a:rPr>
              <a:t>nếu</a:t>
            </a:r>
            <a:r>
              <a:rPr lang="en-US" sz="1600" i="1" dirty="0">
                <a:latin typeface="Arial" charset="0"/>
              </a:rPr>
              <a:t> </a:t>
            </a:r>
            <a:r>
              <a:rPr lang="en-US" sz="1600" i="1" dirty="0" err="1">
                <a:latin typeface="Arial" charset="0"/>
              </a:rPr>
              <a:t>có</a:t>
            </a:r>
            <a:r>
              <a:rPr lang="en-US" sz="1600" i="1" dirty="0">
                <a:latin typeface="Arial" charset="0"/>
              </a:rPr>
              <a:t>) </a:t>
            </a:r>
            <a:r>
              <a:rPr lang="en-US" sz="1600" i="1" dirty="0" err="1">
                <a:latin typeface="Arial" charset="0"/>
              </a:rPr>
              <a:t>sẽ</a:t>
            </a:r>
            <a:r>
              <a:rPr lang="en-US" sz="1600" i="1" dirty="0">
                <a:latin typeface="Arial" charset="0"/>
              </a:rPr>
              <a:t> chi </a:t>
            </a:r>
            <a:r>
              <a:rPr lang="en-US" sz="1600" i="1" dirty="0" err="1">
                <a:latin typeface="Arial" charset="0"/>
              </a:rPr>
              <a:t>hết</a:t>
            </a:r>
            <a:r>
              <a:rPr lang="en-US" sz="1600" i="1" dirty="0">
                <a:latin typeface="Arial" charset="0"/>
              </a:rPr>
              <a:t> </a:t>
            </a:r>
            <a:r>
              <a:rPr lang="en-US" sz="1600" i="1" dirty="0" err="1">
                <a:latin typeface="Arial" charset="0"/>
              </a:rPr>
              <a:t>khi</a:t>
            </a:r>
            <a:r>
              <a:rPr lang="en-US" sz="1600" i="1" dirty="0">
                <a:latin typeface="Arial" charset="0"/>
              </a:rPr>
              <a:t> </a:t>
            </a:r>
            <a:r>
              <a:rPr lang="en-US" sz="1600" i="1" dirty="0" err="1">
                <a:latin typeface="Arial" charset="0"/>
              </a:rPr>
              <a:t>kết</a:t>
            </a:r>
            <a:r>
              <a:rPr lang="en-US" sz="1600" i="1" dirty="0">
                <a:latin typeface="Arial" charset="0"/>
              </a:rPr>
              <a:t> </a:t>
            </a:r>
            <a:r>
              <a:rPr lang="en-US" sz="1600" i="1" dirty="0" err="1">
                <a:latin typeface="Arial" charset="0"/>
              </a:rPr>
              <a:t>thúc</a:t>
            </a:r>
            <a:r>
              <a:rPr lang="en-US" sz="1600" i="1" dirty="0">
                <a:latin typeface="Arial" charset="0"/>
              </a:rPr>
              <a:t> </a:t>
            </a:r>
            <a:r>
              <a:rPr lang="en-US" sz="1600" i="1" dirty="0" err="1">
                <a:latin typeface="Arial" charset="0"/>
              </a:rPr>
              <a:t>dự</a:t>
            </a:r>
            <a:r>
              <a:rPr lang="en-US" sz="1600" i="1" dirty="0">
                <a:latin typeface="Arial" charset="0"/>
              </a:rPr>
              <a:t> </a:t>
            </a:r>
            <a:r>
              <a:rPr lang="en-US" sz="1600" i="1" dirty="0" err="1">
                <a:latin typeface="Arial" charset="0"/>
              </a:rPr>
              <a:t>án</a:t>
            </a:r>
            <a:r>
              <a:rPr lang="en-US" sz="1600" i="1" dirty="0">
                <a:latin typeface="Arial" charset="0"/>
              </a:rPr>
              <a:t>.</a:t>
            </a:r>
            <a:endParaRPr lang="en-US" sz="1600" i="1" dirty="0">
              <a:latin typeface="Arial" charset="0"/>
              <a:cs typeface="+mn-cs"/>
            </a:endParaRPr>
          </a:p>
          <a:p>
            <a:pPr>
              <a:defRPr/>
            </a:pPr>
            <a:endParaRPr lang="en-US" sz="1600" i="1" dirty="0">
              <a:latin typeface="Arial" charset="0"/>
              <a:cs typeface="+mn-cs"/>
            </a:endParaRPr>
          </a:p>
          <a:p>
            <a:pPr marL="171450" indent="-171450">
              <a:buFont typeface="Wingdings" pitchFamily="2" charset="2"/>
              <a:buChar char="ü"/>
              <a:defRPr/>
            </a:pPr>
            <a:r>
              <a:rPr lang="en-US" sz="1600" i="1" dirty="0" err="1">
                <a:latin typeface="Arial" charset="0"/>
              </a:rPr>
              <a:t>Tiếp</a:t>
            </a:r>
            <a:r>
              <a:rPr lang="en-US" sz="1600" i="1" dirty="0">
                <a:latin typeface="Arial" charset="0"/>
              </a:rPr>
              <a:t> </a:t>
            </a:r>
            <a:r>
              <a:rPr lang="en-US" sz="1600" i="1" dirty="0" err="1">
                <a:latin typeface="Arial" charset="0"/>
              </a:rPr>
              <a:t>tục</a:t>
            </a:r>
            <a:r>
              <a:rPr lang="en-US" sz="1600" i="1" dirty="0">
                <a:latin typeface="Arial" charset="0"/>
              </a:rPr>
              <a:t> </a:t>
            </a:r>
            <a:r>
              <a:rPr lang="en-US" sz="1600" i="1" dirty="0" err="1">
                <a:latin typeface="Arial" charset="0"/>
              </a:rPr>
              <a:t>tạm</a:t>
            </a:r>
            <a:r>
              <a:rPr lang="en-US" sz="1600" i="1" dirty="0">
                <a:latin typeface="Arial" charset="0"/>
              </a:rPr>
              <a:t> </a:t>
            </a:r>
            <a:r>
              <a:rPr lang="en-US" sz="1600" i="1" dirty="0" err="1">
                <a:latin typeface="Arial" charset="0"/>
              </a:rPr>
              <a:t>ứng</a:t>
            </a:r>
            <a:r>
              <a:rPr lang="en-US" sz="1600" i="1" dirty="0">
                <a:latin typeface="Arial" charset="0"/>
              </a:rPr>
              <a:t> </a:t>
            </a:r>
            <a:r>
              <a:rPr lang="en-US" sz="1600" i="1" dirty="0" err="1">
                <a:latin typeface="Arial" charset="0"/>
              </a:rPr>
              <a:t>thưởng</a:t>
            </a:r>
            <a:r>
              <a:rPr lang="en-US" sz="1600" i="1" dirty="0">
                <a:latin typeface="Arial" charset="0"/>
              </a:rPr>
              <a:t> </a:t>
            </a:r>
            <a:r>
              <a:rPr lang="en-US" sz="1600" i="1" dirty="0" err="1">
                <a:latin typeface="Arial" charset="0"/>
              </a:rPr>
              <a:t>hiệu</a:t>
            </a:r>
            <a:r>
              <a:rPr lang="en-US" sz="1600" i="1" dirty="0">
                <a:latin typeface="Arial" charset="0"/>
              </a:rPr>
              <a:t> </a:t>
            </a:r>
            <a:r>
              <a:rPr lang="en-US" sz="1600" i="1" dirty="0" err="1">
                <a:latin typeface="Arial" charset="0"/>
              </a:rPr>
              <a:t>quả</a:t>
            </a:r>
            <a:r>
              <a:rPr lang="en-US" sz="1600" i="1" dirty="0">
                <a:latin typeface="Arial" charset="0"/>
              </a:rPr>
              <a:t> DA </a:t>
            </a:r>
            <a:r>
              <a:rPr lang="en-US" sz="1600" i="1" dirty="0" err="1">
                <a:latin typeface="Arial" charset="0"/>
              </a:rPr>
              <a:t>trong</a:t>
            </a:r>
            <a:r>
              <a:rPr lang="en-US" sz="1600" i="1" dirty="0">
                <a:latin typeface="Arial" charset="0"/>
              </a:rPr>
              <a:t> </a:t>
            </a:r>
            <a:r>
              <a:rPr lang="en-US" sz="1600" i="1" dirty="0" err="1">
                <a:latin typeface="Arial" charset="0"/>
              </a:rPr>
              <a:t>các</a:t>
            </a:r>
            <a:r>
              <a:rPr lang="en-US" sz="1600" i="1" dirty="0">
                <a:latin typeface="Arial" charset="0"/>
              </a:rPr>
              <a:t> </a:t>
            </a:r>
            <a:r>
              <a:rPr lang="en-US" sz="1600" i="1" dirty="0" err="1">
                <a:latin typeface="Arial" charset="0"/>
              </a:rPr>
              <a:t>tháng</a:t>
            </a:r>
            <a:r>
              <a:rPr lang="en-US" sz="1600" i="1" dirty="0">
                <a:latin typeface="Arial" charset="0"/>
              </a:rPr>
              <a:t> </a:t>
            </a:r>
            <a:r>
              <a:rPr lang="en-US" sz="1600" i="1" dirty="0" err="1">
                <a:latin typeface="Arial" charset="0"/>
              </a:rPr>
              <a:t>của</a:t>
            </a:r>
            <a:r>
              <a:rPr lang="en-US" sz="1600" i="1" dirty="0">
                <a:latin typeface="Arial" charset="0"/>
              </a:rPr>
              <a:t> </a:t>
            </a:r>
            <a:r>
              <a:rPr lang="en-US" sz="1600" i="1" dirty="0" err="1">
                <a:latin typeface="Arial" charset="0"/>
              </a:rPr>
              <a:t>quý</a:t>
            </a:r>
            <a:r>
              <a:rPr lang="en-US" sz="1600" i="1" dirty="0">
                <a:latin typeface="Arial" charset="0"/>
              </a:rPr>
              <a:t> </a:t>
            </a:r>
            <a:r>
              <a:rPr lang="en-US" sz="1600" i="1" dirty="0" err="1">
                <a:latin typeface="Arial" charset="0"/>
              </a:rPr>
              <a:t>tiếp</a:t>
            </a:r>
            <a:r>
              <a:rPr lang="en-US" sz="1600" i="1" dirty="0">
                <a:latin typeface="Arial" charset="0"/>
              </a:rPr>
              <a:t> </a:t>
            </a:r>
            <a:r>
              <a:rPr lang="en-US" sz="1600" i="1" dirty="0" err="1">
                <a:latin typeface="Arial" charset="0"/>
              </a:rPr>
              <a:t>theo</a:t>
            </a:r>
            <a:r>
              <a:rPr lang="en-US" sz="1600" i="1" dirty="0">
                <a:latin typeface="Arial" charset="0"/>
              </a:rPr>
              <a:t> </a:t>
            </a:r>
            <a:r>
              <a:rPr lang="en-US" sz="1600" i="1" dirty="0" err="1">
                <a:solidFill>
                  <a:srgbClr val="FF0000"/>
                </a:solidFill>
                <a:latin typeface="Arial" charset="0"/>
              </a:rPr>
              <a:t>nếu</a:t>
            </a:r>
            <a:r>
              <a:rPr lang="en-US" sz="1600" i="1" dirty="0">
                <a:latin typeface="Arial" charset="0"/>
              </a:rPr>
              <a:t> </a:t>
            </a:r>
            <a:r>
              <a:rPr lang="en-US" sz="1600" i="1" dirty="0" err="1">
                <a:latin typeface="Arial" charset="0"/>
              </a:rPr>
              <a:t>Tỉ</a:t>
            </a:r>
            <a:r>
              <a:rPr lang="en-US" sz="1600" i="1" dirty="0">
                <a:latin typeface="Arial" charset="0"/>
              </a:rPr>
              <a:t> </a:t>
            </a:r>
            <a:r>
              <a:rPr lang="en-US" sz="1600" i="1" dirty="0" err="1">
                <a:latin typeface="Arial" charset="0"/>
              </a:rPr>
              <a:t>lệ</a:t>
            </a:r>
            <a:r>
              <a:rPr lang="en-US" sz="1600" i="1" dirty="0">
                <a:latin typeface="Arial" charset="0"/>
              </a:rPr>
              <a:t> </a:t>
            </a:r>
            <a:r>
              <a:rPr lang="en-US" sz="1600" i="1" dirty="0" err="1">
                <a:latin typeface="Arial" charset="0"/>
              </a:rPr>
              <a:t>xếp</a:t>
            </a:r>
            <a:r>
              <a:rPr lang="en-US" sz="1600" i="1" dirty="0">
                <a:latin typeface="Arial" charset="0"/>
              </a:rPr>
              <a:t> </a:t>
            </a:r>
            <a:r>
              <a:rPr lang="en-US" sz="1600" i="1" dirty="0" err="1">
                <a:latin typeface="Arial" charset="0"/>
              </a:rPr>
              <a:t>hạng</a:t>
            </a:r>
            <a:r>
              <a:rPr lang="en-US" sz="1600" i="1" dirty="0">
                <a:latin typeface="Arial" charset="0"/>
              </a:rPr>
              <a:t> </a:t>
            </a:r>
            <a:r>
              <a:rPr lang="en-US" sz="1600" i="1" dirty="0" err="1">
                <a:latin typeface="Arial" charset="0"/>
              </a:rPr>
              <a:t>của</a:t>
            </a:r>
            <a:r>
              <a:rPr lang="en-US" sz="1600" i="1" dirty="0">
                <a:latin typeface="Arial" charset="0"/>
              </a:rPr>
              <a:t> CBNV </a:t>
            </a:r>
            <a:r>
              <a:rPr lang="en-US" sz="1600" i="1" dirty="0" err="1">
                <a:latin typeface="Arial" charset="0"/>
              </a:rPr>
              <a:t>tuân</a:t>
            </a:r>
            <a:r>
              <a:rPr lang="en-US" sz="1600" i="1" dirty="0">
                <a:latin typeface="Arial" charset="0"/>
              </a:rPr>
              <a:t> </a:t>
            </a:r>
            <a:r>
              <a:rPr lang="en-US" sz="1600" i="1" dirty="0" err="1">
                <a:latin typeface="Arial" charset="0"/>
              </a:rPr>
              <a:t>thủ</a:t>
            </a:r>
            <a:r>
              <a:rPr lang="en-US" sz="1600" i="1" dirty="0">
                <a:latin typeface="Arial" charset="0"/>
              </a:rPr>
              <a:t> </a:t>
            </a:r>
            <a:r>
              <a:rPr lang="en-US" sz="1600" i="1" dirty="0" err="1">
                <a:latin typeface="Arial" charset="0"/>
              </a:rPr>
              <a:t>quy</a:t>
            </a:r>
            <a:r>
              <a:rPr lang="en-US" sz="1600" i="1" dirty="0">
                <a:latin typeface="Arial" charset="0"/>
              </a:rPr>
              <a:t> </a:t>
            </a:r>
            <a:r>
              <a:rPr lang="en-US" sz="1600" i="1" dirty="0" err="1">
                <a:latin typeface="Arial" charset="0"/>
              </a:rPr>
              <a:t>định</a:t>
            </a:r>
            <a:r>
              <a:rPr lang="en-US" sz="1600" i="1" dirty="0">
                <a:latin typeface="Arial" charset="0"/>
              </a:rPr>
              <a:t> </a:t>
            </a:r>
            <a:r>
              <a:rPr lang="en-US" sz="1600" i="1" dirty="0" err="1">
                <a:latin typeface="Arial" charset="0"/>
              </a:rPr>
              <a:t>Đánh</a:t>
            </a:r>
            <a:r>
              <a:rPr lang="en-US" sz="1600" i="1" dirty="0">
                <a:latin typeface="Arial" charset="0"/>
              </a:rPr>
              <a:t> </a:t>
            </a:r>
            <a:r>
              <a:rPr lang="en-US" sz="1600" i="1" dirty="0" err="1">
                <a:latin typeface="Arial" charset="0"/>
              </a:rPr>
              <a:t>giá</a:t>
            </a:r>
            <a:r>
              <a:rPr lang="en-US" sz="1600" i="1" dirty="0">
                <a:latin typeface="Arial" charset="0"/>
              </a:rPr>
              <a:t> </a:t>
            </a:r>
            <a:r>
              <a:rPr lang="en-US" sz="1600" i="1" dirty="0" err="1">
                <a:latin typeface="Arial" charset="0"/>
              </a:rPr>
              <a:t>thực</a:t>
            </a:r>
            <a:r>
              <a:rPr lang="en-US" sz="1600" i="1" dirty="0">
                <a:latin typeface="Arial" charset="0"/>
              </a:rPr>
              <a:t> </a:t>
            </a:r>
            <a:r>
              <a:rPr lang="en-US" sz="1600" i="1" dirty="0" err="1">
                <a:latin typeface="Arial" charset="0"/>
              </a:rPr>
              <a:t>hiện</a:t>
            </a:r>
            <a:r>
              <a:rPr lang="en-US" sz="1600" i="1" dirty="0">
                <a:latin typeface="Arial" charset="0"/>
              </a:rPr>
              <a:t> </a:t>
            </a:r>
            <a:r>
              <a:rPr lang="en-US" sz="1600" i="1" dirty="0" err="1">
                <a:latin typeface="Arial" charset="0"/>
              </a:rPr>
              <a:t>công</a:t>
            </a:r>
            <a:r>
              <a:rPr lang="en-US" sz="1600" i="1" dirty="0">
                <a:latin typeface="Arial" charset="0"/>
              </a:rPr>
              <a:t> </a:t>
            </a:r>
            <a:r>
              <a:rPr lang="en-US" sz="1600" i="1" dirty="0" err="1">
                <a:latin typeface="Arial" charset="0"/>
              </a:rPr>
              <a:t>việc</a:t>
            </a:r>
            <a:endParaRPr lang="en-US" sz="1600" i="1" dirty="0">
              <a:latin typeface="Arial" charset="0"/>
              <a:cs typeface="+mn-cs"/>
            </a:endParaRPr>
          </a:p>
        </p:txBody>
      </p:sp>
      <p:sp>
        <p:nvSpPr>
          <p:cNvPr id="114" name="Snip Same Side Corner Rectangle 34"/>
          <p:cNvSpPr/>
          <p:nvPr/>
        </p:nvSpPr>
        <p:spPr>
          <a:xfrm>
            <a:off x="5497472" y="2267854"/>
            <a:ext cx="4368206" cy="381000"/>
          </a:xfrm>
          <a:prstGeom prst="snip2SameRect">
            <a:avLst/>
          </a:prstGeom>
          <a:solidFill>
            <a:schemeClr val="tx1">
              <a:lumMod val="75000"/>
              <a:lumOff val="25000"/>
            </a:schemeClr>
          </a:solidFill>
          <a:ln>
            <a:noFill/>
          </a:ln>
          <a:scene3d>
            <a:camera prst="orthographicFront"/>
            <a:lightRig rig="threePt" dir="t"/>
          </a:scene3d>
          <a:sp3d>
            <a:bevelT w="266700"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b="1">
                <a:latin typeface="Sinkin Sans 600 SemiBold"/>
                <a:cs typeface="Arial" pitchFamily="34" charset="0"/>
              </a:rPr>
              <a:t>Quỹ khoán GĐ &lt; Tổng TN tháng đã chi</a:t>
            </a:r>
            <a:endParaRPr lang="en-US" sz="1600" b="1" dirty="0">
              <a:latin typeface="Sinkin Sans 600 SemiBold"/>
              <a:cs typeface="Arial" pitchFamily="34" charset="0"/>
            </a:endParaRPr>
          </a:p>
        </p:txBody>
      </p:sp>
      <p:sp>
        <p:nvSpPr>
          <p:cNvPr id="115" name="TextBox 43"/>
          <p:cNvSpPr txBox="1"/>
          <p:nvPr/>
        </p:nvSpPr>
        <p:spPr>
          <a:xfrm>
            <a:off x="5514096" y="2796800"/>
            <a:ext cx="4200613" cy="1077218"/>
          </a:xfrm>
          <a:prstGeom prst="rect">
            <a:avLst/>
          </a:prstGeom>
          <a:noFill/>
        </p:spPr>
        <p:txBody>
          <a:bodyPr wrap="square">
            <a:spAutoFit/>
          </a:bodyPr>
          <a:lstStyle/>
          <a:p>
            <a:pPr marL="171450" indent="-171450">
              <a:buFont typeface="Wingdings" pitchFamily="2" charset="2"/>
              <a:buChar char="ü"/>
              <a:defRPr/>
            </a:pPr>
            <a:r>
              <a:rPr lang="en-US" sz="1600" i="1" dirty="0">
                <a:latin typeface="Arial" charset="0"/>
              </a:rPr>
              <a:t>GĐSX </a:t>
            </a:r>
            <a:r>
              <a:rPr lang="en-US" sz="1600" i="1" dirty="0" err="1">
                <a:latin typeface="Arial" charset="0"/>
              </a:rPr>
              <a:t>đơn</a:t>
            </a:r>
            <a:r>
              <a:rPr lang="en-US" sz="1600" i="1" dirty="0">
                <a:latin typeface="Arial" charset="0"/>
              </a:rPr>
              <a:t> </a:t>
            </a:r>
            <a:r>
              <a:rPr lang="en-US" sz="1600" i="1" dirty="0" err="1">
                <a:latin typeface="Arial" charset="0"/>
              </a:rPr>
              <a:t>vị</a:t>
            </a:r>
            <a:r>
              <a:rPr lang="en-US" sz="1600" i="1" dirty="0">
                <a:latin typeface="Arial" charset="0"/>
              </a:rPr>
              <a:t> </a:t>
            </a:r>
            <a:r>
              <a:rPr lang="en-US" sz="1600" i="1" dirty="0" err="1">
                <a:latin typeface="Arial" charset="0"/>
              </a:rPr>
              <a:t>xem</a:t>
            </a:r>
            <a:r>
              <a:rPr lang="en-US" sz="1600" i="1" dirty="0">
                <a:latin typeface="Arial" charset="0"/>
              </a:rPr>
              <a:t> </a:t>
            </a:r>
            <a:r>
              <a:rPr lang="en-US" sz="1600" i="1" dirty="0" err="1">
                <a:latin typeface="Arial" charset="0"/>
              </a:rPr>
              <a:t>xét</a:t>
            </a:r>
            <a:r>
              <a:rPr lang="en-US" sz="1600" i="1" dirty="0">
                <a:latin typeface="Arial" charset="0"/>
              </a:rPr>
              <a:t> </a:t>
            </a:r>
            <a:r>
              <a:rPr lang="en-US" sz="1600" i="1" dirty="0" err="1">
                <a:latin typeface="Arial" charset="0"/>
              </a:rPr>
              <a:t>gửi</a:t>
            </a:r>
            <a:r>
              <a:rPr lang="en-US" sz="1600" i="1" dirty="0">
                <a:latin typeface="Arial" charset="0"/>
              </a:rPr>
              <a:t> </a:t>
            </a:r>
            <a:r>
              <a:rPr lang="en-US" sz="1600" i="1" dirty="0" err="1">
                <a:latin typeface="Arial" charset="0"/>
              </a:rPr>
              <a:t>đề</a:t>
            </a:r>
            <a:r>
              <a:rPr lang="en-US" sz="1600" i="1" dirty="0">
                <a:latin typeface="Arial" charset="0"/>
              </a:rPr>
              <a:t> </a:t>
            </a:r>
            <a:r>
              <a:rPr lang="en-US" sz="1600" i="1" dirty="0" err="1">
                <a:latin typeface="Arial" charset="0"/>
              </a:rPr>
              <a:t>xuất</a:t>
            </a:r>
            <a:r>
              <a:rPr lang="en-US" sz="1600" i="1" dirty="0">
                <a:latin typeface="Arial" charset="0"/>
              </a:rPr>
              <a:t> </a:t>
            </a:r>
            <a:r>
              <a:rPr lang="en-US" sz="1600" i="1" dirty="0" err="1">
                <a:latin typeface="Arial" charset="0"/>
              </a:rPr>
              <a:t>đến</a:t>
            </a:r>
            <a:r>
              <a:rPr lang="en-US" sz="1600" i="1" dirty="0">
                <a:latin typeface="Arial" charset="0"/>
              </a:rPr>
              <a:t> TGĐSX FIS (CDO) </a:t>
            </a:r>
            <a:r>
              <a:rPr lang="en-US" sz="1600" i="1" dirty="0" err="1">
                <a:latin typeface="Arial" charset="0"/>
              </a:rPr>
              <a:t>quyết</a:t>
            </a:r>
            <a:r>
              <a:rPr lang="en-US" sz="1600" i="1" dirty="0">
                <a:latin typeface="Arial" charset="0"/>
              </a:rPr>
              <a:t> </a:t>
            </a:r>
            <a:r>
              <a:rPr lang="en-US" sz="1600" i="1" dirty="0" err="1">
                <a:latin typeface="Arial" charset="0"/>
              </a:rPr>
              <a:t>định</a:t>
            </a:r>
            <a:r>
              <a:rPr lang="en-US" sz="1600" i="1" dirty="0">
                <a:latin typeface="Arial" charset="0"/>
              </a:rPr>
              <a:t> </a:t>
            </a:r>
            <a:r>
              <a:rPr lang="en-US" sz="1600" i="1" dirty="0" err="1">
                <a:latin typeface="Arial" charset="0"/>
              </a:rPr>
              <a:t>có</a:t>
            </a:r>
            <a:r>
              <a:rPr lang="en-US" sz="1600" i="1" dirty="0">
                <a:latin typeface="Arial" charset="0"/>
              </a:rPr>
              <a:t> </a:t>
            </a:r>
            <a:r>
              <a:rPr lang="en-US" sz="1600" i="1" dirty="0" err="1">
                <a:latin typeface="Arial" charset="0"/>
              </a:rPr>
              <a:t>tạm</a:t>
            </a:r>
            <a:r>
              <a:rPr lang="en-US" sz="1600" i="1" dirty="0">
                <a:latin typeface="Arial" charset="0"/>
              </a:rPr>
              <a:t> </a:t>
            </a:r>
            <a:r>
              <a:rPr lang="en-US" sz="1600" i="1" dirty="0" err="1">
                <a:latin typeface="Arial" charset="0"/>
              </a:rPr>
              <a:t>ứng</a:t>
            </a:r>
            <a:r>
              <a:rPr lang="en-US" sz="1600" i="1" dirty="0">
                <a:latin typeface="Arial" charset="0"/>
              </a:rPr>
              <a:t> </a:t>
            </a:r>
            <a:r>
              <a:rPr lang="en-US" sz="1600" i="1" dirty="0" err="1">
                <a:latin typeface="Arial" charset="0"/>
              </a:rPr>
              <a:t>hiệu</a:t>
            </a:r>
            <a:r>
              <a:rPr lang="en-US" sz="1600" i="1" dirty="0">
                <a:latin typeface="Arial" charset="0"/>
              </a:rPr>
              <a:t> </a:t>
            </a:r>
            <a:r>
              <a:rPr lang="en-US" sz="1600" i="1" dirty="0" err="1">
                <a:latin typeface="Arial" charset="0"/>
              </a:rPr>
              <a:t>quả</a:t>
            </a:r>
            <a:r>
              <a:rPr lang="en-US" sz="1600" i="1" dirty="0">
                <a:latin typeface="Arial" charset="0"/>
              </a:rPr>
              <a:t> DA </a:t>
            </a:r>
            <a:r>
              <a:rPr lang="en-US" sz="1600" i="1" dirty="0" err="1">
                <a:latin typeface="Arial" charset="0"/>
              </a:rPr>
              <a:t>trong</a:t>
            </a:r>
            <a:r>
              <a:rPr lang="en-US" sz="1600" i="1" dirty="0">
                <a:latin typeface="Arial" charset="0"/>
              </a:rPr>
              <a:t> </a:t>
            </a:r>
            <a:r>
              <a:rPr lang="en-US" sz="1600" i="1" dirty="0" err="1">
                <a:latin typeface="Arial" charset="0"/>
              </a:rPr>
              <a:t>các</a:t>
            </a:r>
            <a:r>
              <a:rPr lang="en-US" sz="1600" i="1" dirty="0">
                <a:latin typeface="Arial" charset="0"/>
              </a:rPr>
              <a:t> </a:t>
            </a:r>
            <a:r>
              <a:rPr lang="en-US" sz="1600" i="1" dirty="0" err="1">
                <a:latin typeface="Arial" charset="0"/>
              </a:rPr>
              <a:t>tháng</a:t>
            </a:r>
            <a:r>
              <a:rPr lang="en-US" sz="1600" i="1" dirty="0">
                <a:latin typeface="Arial" charset="0"/>
              </a:rPr>
              <a:t> </a:t>
            </a:r>
            <a:r>
              <a:rPr lang="en-US" sz="1600" i="1" dirty="0" err="1">
                <a:latin typeface="Arial" charset="0"/>
              </a:rPr>
              <a:t>của</a:t>
            </a:r>
            <a:r>
              <a:rPr lang="en-US" sz="1600" i="1" dirty="0">
                <a:latin typeface="Arial" charset="0"/>
              </a:rPr>
              <a:t> </a:t>
            </a:r>
            <a:r>
              <a:rPr lang="en-US" sz="1600" i="1" dirty="0" err="1">
                <a:latin typeface="Arial" charset="0"/>
              </a:rPr>
              <a:t>quý</a:t>
            </a:r>
            <a:r>
              <a:rPr lang="en-US" sz="1600" i="1" dirty="0">
                <a:latin typeface="Arial" charset="0"/>
              </a:rPr>
              <a:t> </a:t>
            </a:r>
            <a:r>
              <a:rPr lang="en-US" sz="1600" i="1" dirty="0" err="1">
                <a:latin typeface="Arial" charset="0"/>
              </a:rPr>
              <a:t>tiếp</a:t>
            </a:r>
            <a:r>
              <a:rPr lang="en-US" sz="1600" i="1" dirty="0">
                <a:latin typeface="Arial" charset="0"/>
              </a:rPr>
              <a:t> </a:t>
            </a:r>
            <a:r>
              <a:rPr lang="en-US" sz="1600" i="1" dirty="0" err="1">
                <a:latin typeface="Arial" charset="0"/>
              </a:rPr>
              <a:t>theo</a:t>
            </a:r>
            <a:r>
              <a:rPr lang="en-US" sz="1600" i="1" dirty="0">
                <a:latin typeface="Arial" charset="0"/>
              </a:rPr>
              <a:t> hay </a:t>
            </a:r>
            <a:r>
              <a:rPr lang="en-US" sz="1600" i="1" dirty="0" err="1">
                <a:latin typeface="Arial" charset="0"/>
              </a:rPr>
              <a:t>không</a:t>
            </a:r>
            <a:r>
              <a:rPr lang="en-US" sz="1600" i="1" dirty="0">
                <a:latin typeface="Arial" charset="0"/>
              </a:rPr>
              <a:t> </a:t>
            </a:r>
            <a:endParaRPr lang="en-US" sz="1600" i="1" dirty="0">
              <a:latin typeface="Arial" charset="0"/>
              <a:cs typeface="+mn-cs"/>
            </a:endParaRPr>
          </a:p>
        </p:txBody>
      </p:sp>
      <p:sp>
        <p:nvSpPr>
          <p:cNvPr id="16" name="TextBox 15"/>
          <p:cNvSpPr txBox="1"/>
          <p:nvPr/>
        </p:nvSpPr>
        <p:spPr>
          <a:xfrm>
            <a:off x="447930" y="1395005"/>
            <a:ext cx="2355668" cy="584775"/>
          </a:xfrm>
          <a:prstGeom prst="rect">
            <a:avLst/>
          </a:prstGeom>
          <a:noFill/>
          <a:ln>
            <a:noFill/>
          </a:ln>
        </p:spPr>
        <p:txBody>
          <a:bodyPr wrap="square" rtlCol="0">
            <a:spAutoFit/>
          </a:bodyPr>
          <a:lstStyle/>
          <a:p>
            <a:pPr algn="ctr"/>
            <a:r>
              <a:rPr lang="en-US" sz="1600" b="1">
                <a:solidFill>
                  <a:srgbClr val="FF0000"/>
                </a:solidFill>
                <a:latin typeface="Sinkin Sans 600 SemiBold"/>
              </a:rPr>
              <a:t>Quỹ thưởng HQ</a:t>
            </a:r>
          </a:p>
          <a:p>
            <a:pPr algn="ctr"/>
            <a:r>
              <a:rPr lang="en-US" sz="1600" b="1">
                <a:solidFill>
                  <a:srgbClr val="FF0000"/>
                </a:solidFill>
                <a:latin typeface="Sinkin Sans 600 SemiBold"/>
              </a:rPr>
              <a:t>giai đoạn của dự án</a:t>
            </a:r>
          </a:p>
        </p:txBody>
      </p:sp>
      <p:sp>
        <p:nvSpPr>
          <p:cNvPr id="17" name="TextBox 16"/>
          <p:cNvSpPr txBox="1"/>
          <p:nvPr/>
        </p:nvSpPr>
        <p:spPr>
          <a:xfrm>
            <a:off x="3281916" y="1385591"/>
            <a:ext cx="1291608" cy="584775"/>
          </a:xfrm>
          <a:prstGeom prst="rect">
            <a:avLst/>
          </a:prstGeom>
          <a:noFill/>
          <a:ln>
            <a:noFill/>
          </a:ln>
        </p:spPr>
        <p:txBody>
          <a:bodyPr wrap="square" rtlCol="0">
            <a:spAutoFit/>
          </a:bodyPr>
          <a:lstStyle/>
          <a:p>
            <a:pPr algn="ctr"/>
            <a:r>
              <a:rPr lang="en-US" sz="1600" b="1">
                <a:solidFill>
                  <a:srgbClr val="FF0000"/>
                </a:solidFill>
                <a:latin typeface="Sinkin Sans 600 SemiBold"/>
              </a:rPr>
              <a:t>Quỹ khoán</a:t>
            </a:r>
          </a:p>
          <a:p>
            <a:pPr algn="ctr"/>
            <a:r>
              <a:rPr lang="en-US" sz="1600" b="1">
                <a:solidFill>
                  <a:srgbClr val="FF0000"/>
                </a:solidFill>
                <a:latin typeface="Sinkin Sans 600 SemiBold"/>
              </a:rPr>
              <a:t>giai đoạn</a:t>
            </a:r>
          </a:p>
        </p:txBody>
      </p:sp>
      <p:sp>
        <p:nvSpPr>
          <p:cNvPr id="18" name="TextBox 17"/>
          <p:cNvSpPr txBox="1"/>
          <p:nvPr/>
        </p:nvSpPr>
        <p:spPr>
          <a:xfrm>
            <a:off x="4790858" y="1395005"/>
            <a:ext cx="2162672" cy="584775"/>
          </a:xfrm>
          <a:prstGeom prst="rect">
            <a:avLst/>
          </a:prstGeom>
          <a:noFill/>
          <a:ln>
            <a:noFill/>
          </a:ln>
        </p:spPr>
        <p:txBody>
          <a:bodyPr wrap="square" rtlCol="0">
            <a:spAutoFit/>
          </a:bodyPr>
          <a:lstStyle/>
          <a:p>
            <a:pPr algn="ctr"/>
            <a:r>
              <a:rPr lang="en-US" sz="1600" b="1" dirty="0">
                <a:solidFill>
                  <a:srgbClr val="FF0000"/>
                </a:solidFill>
                <a:latin typeface="Sinkin Sans 600 SemiBold"/>
              </a:rPr>
              <a:t>Chi </a:t>
            </a:r>
            <a:r>
              <a:rPr lang="en-US" sz="1600" b="1" dirty="0" err="1">
                <a:solidFill>
                  <a:srgbClr val="FF0000"/>
                </a:solidFill>
                <a:latin typeface="Sinkin Sans 600 SemiBold"/>
              </a:rPr>
              <a:t>phí</a:t>
            </a:r>
            <a:r>
              <a:rPr lang="en-US" sz="1600" b="1" dirty="0">
                <a:solidFill>
                  <a:srgbClr val="FF0000"/>
                </a:solidFill>
                <a:latin typeface="Sinkin Sans 600 SemiBold"/>
              </a:rPr>
              <a:t> </a:t>
            </a:r>
            <a:r>
              <a:rPr lang="en-US" sz="1600" b="1" dirty="0" err="1">
                <a:solidFill>
                  <a:srgbClr val="FF0000"/>
                </a:solidFill>
                <a:latin typeface="Sinkin Sans 600 SemiBold"/>
              </a:rPr>
              <a:t>lương</a:t>
            </a:r>
            <a:endParaRPr lang="en-US" sz="1600" b="1" dirty="0">
              <a:solidFill>
                <a:srgbClr val="FF0000"/>
              </a:solidFill>
              <a:latin typeface="Sinkin Sans 600 SemiBold"/>
            </a:endParaRPr>
          </a:p>
          <a:p>
            <a:pPr algn="ctr"/>
            <a:r>
              <a:rPr lang="en-US" sz="1600" b="1" dirty="0" err="1">
                <a:solidFill>
                  <a:srgbClr val="FF0000"/>
                </a:solidFill>
                <a:latin typeface="Sinkin Sans 600 SemiBold"/>
              </a:rPr>
              <a:t>Đã</a:t>
            </a:r>
            <a:r>
              <a:rPr lang="en-US" sz="1600" b="1" dirty="0">
                <a:solidFill>
                  <a:srgbClr val="FF0000"/>
                </a:solidFill>
                <a:latin typeface="Sinkin Sans 600 SemiBold"/>
              </a:rPr>
              <a:t> chi</a:t>
            </a:r>
          </a:p>
        </p:txBody>
      </p:sp>
      <p:sp>
        <p:nvSpPr>
          <p:cNvPr id="19" name="TextBox 18"/>
          <p:cNvSpPr txBox="1"/>
          <p:nvPr/>
        </p:nvSpPr>
        <p:spPr>
          <a:xfrm>
            <a:off x="7146526" y="1253676"/>
            <a:ext cx="2355668" cy="830997"/>
          </a:xfrm>
          <a:prstGeom prst="rect">
            <a:avLst/>
          </a:prstGeom>
          <a:noFill/>
          <a:ln>
            <a:noFill/>
          </a:ln>
        </p:spPr>
        <p:txBody>
          <a:bodyPr wrap="square" rtlCol="0">
            <a:spAutoFit/>
          </a:bodyPr>
          <a:lstStyle/>
          <a:p>
            <a:pPr algn="ctr"/>
            <a:r>
              <a:rPr lang="en-US" sz="1600" b="1">
                <a:solidFill>
                  <a:srgbClr val="FF0000"/>
                </a:solidFill>
                <a:latin typeface="Sinkin Sans 600 SemiBold"/>
              </a:rPr>
              <a:t>Tổng TN đã chi vượt quỹ của các giai đoạn trước đó (nếu có)</a:t>
            </a:r>
          </a:p>
        </p:txBody>
      </p:sp>
      <p:sp>
        <p:nvSpPr>
          <p:cNvPr id="20" name="TextBox 19"/>
          <p:cNvSpPr txBox="1"/>
          <p:nvPr/>
        </p:nvSpPr>
        <p:spPr>
          <a:xfrm>
            <a:off x="2780503" y="1480654"/>
            <a:ext cx="284079" cy="338554"/>
          </a:xfrm>
          <a:prstGeom prst="rect">
            <a:avLst/>
          </a:prstGeom>
          <a:noFill/>
          <a:ln>
            <a:noFill/>
          </a:ln>
        </p:spPr>
        <p:txBody>
          <a:bodyPr wrap="square" rtlCol="0">
            <a:spAutoFit/>
          </a:bodyPr>
          <a:lstStyle/>
          <a:p>
            <a:r>
              <a:rPr lang="en-US" sz="1600" b="1">
                <a:solidFill>
                  <a:srgbClr val="FF0000"/>
                </a:solidFill>
                <a:latin typeface="Sinkin Sans 600 SemiBold"/>
              </a:rPr>
              <a:t>=</a:t>
            </a:r>
          </a:p>
        </p:txBody>
      </p:sp>
      <p:sp>
        <p:nvSpPr>
          <p:cNvPr id="21" name="TextBox 20"/>
          <p:cNvSpPr txBox="1"/>
          <p:nvPr/>
        </p:nvSpPr>
        <p:spPr>
          <a:xfrm>
            <a:off x="4540152" y="1507583"/>
            <a:ext cx="284079" cy="338554"/>
          </a:xfrm>
          <a:prstGeom prst="rect">
            <a:avLst/>
          </a:prstGeom>
          <a:noFill/>
          <a:ln>
            <a:noFill/>
          </a:ln>
        </p:spPr>
        <p:txBody>
          <a:bodyPr wrap="square" rtlCol="0">
            <a:spAutoFit/>
          </a:bodyPr>
          <a:lstStyle/>
          <a:p>
            <a:r>
              <a:rPr lang="en-US" sz="1600" b="1">
                <a:solidFill>
                  <a:srgbClr val="FF0000"/>
                </a:solidFill>
                <a:latin typeface="Sinkin Sans 600 SemiBold"/>
              </a:rPr>
              <a:t>-</a:t>
            </a:r>
          </a:p>
        </p:txBody>
      </p:sp>
      <p:sp>
        <p:nvSpPr>
          <p:cNvPr id="22" name="TextBox 21"/>
          <p:cNvSpPr txBox="1"/>
          <p:nvPr/>
        </p:nvSpPr>
        <p:spPr>
          <a:xfrm>
            <a:off x="6669451" y="1477031"/>
            <a:ext cx="284079" cy="338554"/>
          </a:xfrm>
          <a:prstGeom prst="rect">
            <a:avLst/>
          </a:prstGeom>
          <a:noFill/>
          <a:ln>
            <a:noFill/>
          </a:ln>
        </p:spPr>
        <p:txBody>
          <a:bodyPr wrap="square" rtlCol="0">
            <a:spAutoFit/>
          </a:bodyPr>
          <a:lstStyle/>
          <a:p>
            <a:r>
              <a:rPr lang="en-US" sz="1600" b="1">
                <a:solidFill>
                  <a:srgbClr val="FF0000"/>
                </a:solidFill>
                <a:latin typeface="Sinkin Sans 600 SemiBold"/>
              </a:rPr>
              <a:t>-</a:t>
            </a:r>
          </a:p>
        </p:txBody>
      </p:sp>
    </p:spTree>
    <p:extLst>
      <p:ext uri="{BB962C8B-B14F-4D97-AF65-F5344CB8AC3E}">
        <p14:creationId xmlns:p14="http://schemas.microsoft.com/office/powerpoint/2010/main" val="8534920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6"/>
          <p:cNvSpPr>
            <a:spLocks noChangeArrowheads="1" noChangeShapeType="1" noTextEdit="1"/>
          </p:cNvSpPr>
          <p:nvPr/>
        </p:nvSpPr>
        <p:spPr bwMode="gray">
          <a:xfrm>
            <a:off x="4399085" y="2819400"/>
            <a:ext cx="4343400" cy="609600"/>
          </a:xfrm>
          <a:prstGeom prst="rect">
            <a:avLst/>
          </a:prstGeom>
        </p:spPr>
        <p:txBody>
          <a:bodyPr wrap="none" fromWordArt="1">
            <a:prstTxWarp prst="textDeflate">
              <a:avLst>
                <a:gd name="adj" fmla="val 0"/>
              </a:avLst>
            </a:prstTxWarp>
          </a:bodyPr>
          <a:lstStyle/>
          <a:p>
            <a:pPr algn="ctr"/>
            <a:r>
              <a:rPr lang="en-US" sz="3600" b="1" kern="10">
                <a:ln w="28575">
                  <a:solidFill>
                    <a:srgbClr val="FFFFFF"/>
                  </a:solidFill>
                  <a:round/>
                  <a:headEnd/>
                  <a:tailEnd/>
                </a:ln>
                <a:solidFill>
                  <a:schemeClr val="accent2">
                    <a:lumMod val="75000"/>
                  </a:schemeClr>
                </a:solidFill>
                <a:effectLst>
                  <a:glow rad="228600">
                    <a:schemeClr val="accent3">
                      <a:satMod val="175000"/>
                      <a:alpha val="40000"/>
                    </a:schemeClr>
                  </a:glow>
                  <a:outerShdw dist="71842" dir="2700000" algn="ctr" rotWithShape="0">
                    <a:schemeClr val="tx1">
                      <a:alpha val="50000"/>
                    </a:schemeClr>
                  </a:outerShdw>
                </a:effectLst>
                <a:cs typeface="Arial" panose="020B0604020202020204" pitchFamily="34" charset="0"/>
              </a:rPr>
              <a:t>Thank You!</a:t>
            </a:r>
          </a:p>
        </p:txBody>
      </p:sp>
    </p:spTree>
    <p:extLst>
      <p:ext uri="{BB962C8B-B14F-4D97-AF65-F5344CB8AC3E}">
        <p14:creationId xmlns:p14="http://schemas.microsoft.com/office/powerpoint/2010/main" val="26271199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4645</TotalTime>
  <Words>2309</Words>
  <Application>Microsoft Office PowerPoint</Application>
  <PresentationFormat>Widescreen</PresentationFormat>
  <Paragraphs>218</Paragraphs>
  <Slides>24</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24</vt:i4>
      </vt:variant>
    </vt:vector>
  </HeadingPairs>
  <TitlesOfParts>
    <vt:vector size="38" baseType="lpstr">
      <vt:lpstr>Arial</vt:lpstr>
      <vt:lpstr>Calibri</vt:lpstr>
      <vt:lpstr>Calibri Light</vt:lpstr>
      <vt:lpstr>Cambria Math</vt:lpstr>
      <vt:lpstr>Gill Sans</vt:lpstr>
      <vt:lpstr>Lato</vt:lpstr>
      <vt:lpstr>Lato Regular</vt:lpstr>
      <vt:lpstr>Open Sans</vt:lpstr>
      <vt:lpstr>Sinkin Sans 300 Light</vt:lpstr>
      <vt:lpstr>Sinkin Sans 600 SemiBold</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Minh Luong (FIS HR HN)</dc:creator>
  <cp:lastModifiedBy>Nguyễn Công Sơn</cp:lastModifiedBy>
  <cp:revision>214</cp:revision>
  <dcterms:created xsi:type="dcterms:W3CDTF">2020-10-28T02:11:29Z</dcterms:created>
  <dcterms:modified xsi:type="dcterms:W3CDTF">2021-03-13T01:00:00Z</dcterms:modified>
</cp:coreProperties>
</file>