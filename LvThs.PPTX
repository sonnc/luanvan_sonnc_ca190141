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9"/>
  </p:notesMasterIdLst>
  <p:sldIdLst>
    <p:sldId id="310" r:id="rId2"/>
    <p:sldId id="312" r:id="rId3"/>
    <p:sldId id="320" r:id="rId4"/>
    <p:sldId id="322" r:id="rId5"/>
    <p:sldId id="323" r:id="rId6"/>
    <p:sldId id="314" r:id="rId7"/>
    <p:sldId id="324" r:id="rId8"/>
    <p:sldId id="325" r:id="rId9"/>
    <p:sldId id="329" r:id="rId10"/>
    <p:sldId id="331" r:id="rId11"/>
    <p:sldId id="332" r:id="rId12"/>
    <p:sldId id="326" r:id="rId13"/>
    <p:sldId id="315" r:id="rId14"/>
    <p:sldId id="333" r:id="rId15"/>
    <p:sldId id="328" r:id="rId16"/>
    <p:sldId id="334" r:id="rId17"/>
    <p:sldId id="327" r:id="rId18"/>
    <p:sldId id="336" r:id="rId19"/>
    <p:sldId id="335" r:id="rId20"/>
    <p:sldId id="337" r:id="rId21"/>
    <p:sldId id="302" r:id="rId22"/>
    <p:sldId id="305" r:id="rId23"/>
    <p:sldId id="309" r:id="rId24"/>
    <p:sldId id="316" r:id="rId25"/>
    <p:sldId id="317" r:id="rId26"/>
    <p:sldId id="339" r:id="rId27"/>
    <p:sldId id="340" r:id="rId28"/>
    <p:sldId id="338" r:id="rId29"/>
    <p:sldId id="341" r:id="rId30"/>
    <p:sldId id="344" r:id="rId31"/>
    <p:sldId id="343" r:id="rId32"/>
    <p:sldId id="345" r:id="rId33"/>
    <p:sldId id="346" r:id="rId34"/>
    <p:sldId id="318" r:id="rId35"/>
    <p:sldId id="342" r:id="rId36"/>
    <p:sldId id="319" r:id="rId37"/>
    <p:sldId id="269" r:id="rId3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Ngo Van Truong (FIS HR HN)" initials="NVT(HH" lastIdx="1" clrIdx="0">
    <p:extLst>
      <p:ext uri="{19B8F6BF-5375-455C-9EA6-DF929625EA0E}">
        <p15:presenceInfo xmlns:p15="http://schemas.microsoft.com/office/powerpoint/2012/main" userId="Ngo Van Truong (FIS HR HN)"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F8944"/>
    <a:srgbClr val="660033"/>
    <a:srgbClr val="FF99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975" autoAdjust="0"/>
    <p:restoredTop sz="62983" autoAdjust="0"/>
  </p:normalViewPr>
  <p:slideViewPr>
    <p:cSldViewPr snapToGrid="0">
      <p:cViewPr varScale="1">
        <p:scale>
          <a:sx n="69" d="100"/>
          <a:sy n="69" d="100"/>
        </p:scale>
        <p:origin x="576"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commentAuthors" Target="commentAuthor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8209061-6C39-450F-A509-8FFE57C1251C}" type="datetimeFigureOut">
              <a:rPr lang="en-US" smtClean="0"/>
              <a:t>3/14/2021</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DF9A174-BD37-4CF9-A3FC-30F95FD3068F}" type="slidenum">
              <a:rPr lang="en-US" smtClean="0"/>
              <a:t>‹#›</a:t>
            </a:fld>
            <a:endParaRPr lang="en-US"/>
          </a:p>
        </p:txBody>
      </p:sp>
    </p:spTree>
    <p:extLst>
      <p:ext uri="{BB962C8B-B14F-4D97-AF65-F5344CB8AC3E}">
        <p14:creationId xmlns:p14="http://schemas.microsoft.com/office/powerpoint/2010/main" val="225615615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nSpc>
                <a:spcPct val="150000"/>
              </a:lnSpc>
            </a:pPr>
            <a:r>
              <a:rPr lang="vi-VN" sz="1200" dirty="0">
                <a:latin typeface="Verdana" panose="020B0604030504040204" pitchFamily="34" charset="0"/>
                <a:ea typeface="Verdana" panose="020B0604030504040204" pitchFamily="34" charset="0"/>
              </a:rPr>
              <a:t>Tạo công việc, nhiệm vụ: Đó là đưa ra các công việc cần thực hiện có gắn với một mục đích nào đó và phải đảm bảo các yếu tố về thời gian, con người, nguồn lực, trí tuệ</a:t>
            </a:r>
          </a:p>
          <a:p>
            <a:pPr>
              <a:lnSpc>
                <a:spcPct val="150000"/>
              </a:lnSpc>
            </a:pPr>
            <a:r>
              <a:rPr lang="vi-VN" sz="1200" dirty="0">
                <a:latin typeface="Verdana" panose="020B0604030504040204" pitchFamily="34" charset="0"/>
                <a:ea typeface="Verdana" panose="020B0604030504040204" pitchFamily="34" charset="0"/>
              </a:rPr>
              <a:t>Sắp xếp và ưu tiên: đó là việc quan trọng nhất trong quản lý công việc. Bạn cần xem tất cả các nhân tố có thể ảnh hưởng đến việc thực hiện công việc của bạn và việc đánh giá của cấp trên đối với bạn. Do đó, cần phải thiết lập thứ tự ưu tiên các công việc và hoàn thành một cách hợp lý nhất.</a:t>
            </a:r>
          </a:p>
          <a:p>
            <a:pPr>
              <a:lnSpc>
                <a:spcPct val="150000"/>
              </a:lnSpc>
            </a:pPr>
            <a:r>
              <a:rPr lang="vi-VN" sz="1200" dirty="0">
                <a:latin typeface="Verdana" panose="020B0604030504040204" pitchFamily="34" charset="0"/>
                <a:ea typeface="Verdana" panose="020B0604030504040204" pitchFamily="34" charset="0"/>
              </a:rPr>
              <a:t>Theo dõi chặt chẽ các công việc của bạn hoặc công việc của cấp dưới. Nó được thực hiện khi một người bắt đầu xử lý công việc. Mọi hoạt động phải được kiểm soát một cách chặt chẽ để có thể thống kê, hoặc có giải pháp kịp thời nếu có tình huống bất ngờ xảy ra.</a:t>
            </a:r>
            <a:endParaRPr lang="en-US" sz="1200" dirty="0">
              <a:latin typeface="Verdana" panose="020B0604030504040204" pitchFamily="34" charset="0"/>
              <a:ea typeface="Verdana" panose="020B0604030504040204" pitchFamily="34" charset="0"/>
            </a:endParaRPr>
          </a:p>
          <a:p>
            <a:pPr>
              <a:lnSpc>
                <a:spcPct val="150000"/>
              </a:lnSpc>
            </a:pPr>
            <a:endParaRPr lang="en-US" sz="1200" dirty="0">
              <a:latin typeface="Verdana" panose="020B0604030504040204" pitchFamily="34" charset="0"/>
              <a:ea typeface="Verdana" panose="020B0604030504040204" pitchFamily="34" charset="0"/>
            </a:endParaRPr>
          </a:p>
          <a:p>
            <a:pPr>
              <a:lnSpc>
                <a:spcPct val="150000"/>
              </a:lnSpc>
            </a:pPr>
            <a:r>
              <a:rPr lang="en-US" sz="1200" dirty="0">
                <a:latin typeface="Verdana" panose="020B0604030504040204" pitchFamily="34" charset="0"/>
                <a:ea typeface="Verdana" panose="020B0604030504040204" pitchFamily="34" charset="0"/>
              </a:rPr>
              <a:t>--</a:t>
            </a:r>
          </a:p>
          <a:p>
            <a:pPr>
              <a:lnSpc>
                <a:spcPct val="150000"/>
              </a:lnSpc>
            </a:pPr>
            <a:r>
              <a:rPr lang="en-US" sz="1800" dirty="0" err="1">
                <a:solidFill>
                  <a:srgbClr val="000000"/>
                </a:solidFill>
                <a:effectLst/>
                <a:latin typeface="Times New Roman" panose="02020603050405020304" pitchFamily="18" charset="0"/>
                <a:ea typeface="Calibri" panose="020F0502020204030204" pitchFamily="34" charset="0"/>
              </a:rPr>
              <a:t>Việc</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đánh</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giá</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công</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việc</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cần</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phải</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được</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xác</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định</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từ</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hai</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yếu</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tố</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quan</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trọng</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đó</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là</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một</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là</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kết</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quả</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thực</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hiện</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được</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của</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nhân</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viên</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mang</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tính</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chất</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định</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lượng</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hai</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là</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kết</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quả</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các</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yếu</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tố</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mang</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tính</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chất</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định</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tính</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như</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thái</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độ</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chấp</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hành</a:t>
            </a:r>
            <a:r>
              <a:rPr lang="en-US" sz="1800" dirty="0">
                <a:solidFill>
                  <a:srgbClr val="000000"/>
                </a:solidFill>
                <a:effectLst/>
                <a:latin typeface="Times New Roman" panose="02020603050405020304" pitchFamily="18" charset="0"/>
                <a:ea typeface="Calibri" panose="020F0502020204030204" pitchFamily="34" charset="0"/>
              </a:rPr>
              <a:t> hay </a:t>
            </a:r>
            <a:r>
              <a:rPr lang="en-US" sz="1800" dirty="0" err="1">
                <a:solidFill>
                  <a:srgbClr val="000000"/>
                </a:solidFill>
                <a:effectLst/>
                <a:latin typeface="Times New Roman" panose="02020603050405020304" pitchFamily="18" charset="0"/>
                <a:ea typeface="Calibri" panose="020F0502020204030204" pitchFamily="34" charset="0"/>
              </a:rPr>
              <a:t>năng</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lực</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thực</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hiện</a:t>
            </a:r>
            <a:r>
              <a:rPr lang="en-US" sz="1800" dirty="0">
                <a:solidFill>
                  <a:srgbClr val="000000"/>
                </a:solidFill>
                <a:effectLst/>
                <a:latin typeface="Times New Roman" panose="02020603050405020304" pitchFamily="18" charset="0"/>
                <a:ea typeface="Calibri" panose="020F0502020204030204" pitchFamily="34" charset="0"/>
              </a:rPr>
              <a:t>. </a:t>
            </a:r>
            <a:endParaRPr lang="vi-VN" sz="1200" dirty="0">
              <a:latin typeface="Verdana" panose="020B0604030504040204" pitchFamily="34" charset="0"/>
              <a:ea typeface="Verdana" panose="020B0604030504040204" pitchFamily="34" charset="0"/>
            </a:endParaRPr>
          </a:p>
          <a:p>
            <a:pPr>
              <a:lnSpc>
                <a:spcPct val="150000"/>
              </a:lnSpc>
            </a:pPr>
            <a:endParaRPr lang="en-US" sz="1200" b="1" dirty="0">
              <a:latin typeface="Verdana" panose="020B0604030504040204" pitchFamily="34" charset="0"/>
              <a:ea typeface="Verdana" panose="020B0604030504040204" pitchFamily="34" charset="0"/>
            </a:endParaRPr>
          </a:p>
          <a:p>
            <a:endParaRPr lang="en-US" dirty="0"/>
          </a:p>
        </p:txBody>
      </p:sp>
      <p:sp>
        <p:nvSpPr>
          <p:cNvPr id="4" name="Slide Number Placeholder 3"/>
          <p:cNvSpPr>
            <a:spLocks noGrp="1"/>
          </p:cNvSpPr>
          <p:nvPr>
            <p:ph type="sldNum" sz="quarter" idx="5"/>
          </p:nvPr>
        </p:nvSpPr>
        <p:spPr/>
        <p:txBody>
          <a:bodyPr/>
          <a:lstStyle/>
          <a:p>
            <a:fld id="{6DF9A174-BD37-4CF9-A3FC-30F95FD3068F}" type="slidenum">
              <a:rPr lang="en-US" smtClean="0"/>
              <a:t>3</a:t>
            </a:fld>
            <a:endParaRPr lang="en-US"/>
          </a:p>
        </p:txBody>
      </p:sp>
    </p:spTree>
    <p:extLst>
      <p:ext uri="{BB962C8B-B14F-4D97-AF65-F5344CB8AC3E}">
        <p14:creationId xmlns:p14="http://schemas.microsoft.com/office/powerpoint/2010/main" val="79611051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nSpc>
                <a:spcPct val="150000"/>
              </a:lnSpc>
            </a:pPr>
            <a:r>
              <a:rPr lang="vi-VN" sz="1200" dirty="0">
                <a:latin typeface="Verdana" panose="020B0604030504040204" pitchFamily="34" charset="0"/>
                <a:ea typeface="Verdana" panose="020B0604030504040204" pitchFamily="34" charset="0"/>
              </a:rPr>
              <a:t>Tạo công việc, nhiệm vụ: Đó là đưa ra các công việc cần thực hiện có gắn với một mục đích nào đó và phải đảm bảo các yếu tố về thời gian, con người, nguồn lực, trí tuệ</a:t>
            </a:r>
          </a:p>
          <a:p>
            <a:pPr>
              <a:lnSpc>
                <a:spcPct val="150000"/>
              </a:lnSpc>
            </a:pPr>
            <a:r>
              <a:rPr lang="vi-VN" sz="1200" dirty="0">
                <a:latin typeface="Verdana" panose="020B0604030504040204" pitchFamily="34" charset="0"/>
                <a:ea typeface="Verdana" panose="020B0604030504040204" pitchFamily="34" charset="0"/>
              </a:rPr>
              <a:t>Sắp xếp và ưu tiên: đó là việc quan trọng nhất trong quản lý công việc. Bạn cần xem tất cả các nhân tố có thể ảnh hưởng đến việc thực hiện công việc của bạn và việc đánh giá của cấp trên đối với bạn. Do đó, cần phải thiết lập thứ tự ưu tiên các công việc và hoàn thành một cách hợp lý nhất.</a:t>
            </a:r>
          </a:p>
          <a:p>
            <a:pPr>
              <a:lnSpc>
                <a:spcPct val="150000"/>
              </a:lnSpc>
            </a:pPr>
            <a:r>
              <a:rPr lang="vi-VN" sz="1200" dirty="0">
                <a:latin typeface="Verdana" panose="020B0604030504040204" pitchFamily="34" charset="0"/>
                <a:ea typeface="Verdana" panose="020B0604030504040204" pitchFamily="34" charset="0"/>
              </a:rPr>
              <a:t>Theo dõi chặt chẽ các công việc của bạn hoặc công việc của cấp dưới. Nó được thực hiện khi một người bắt đầu xử lý công việc. Mọi hoạt động phải được kiểm soát một cách chặt chẽ để có thể thống kê, hoặc có giải pháp kịp thời nếu có tình huống bất ngờ xảy ra.</a:t>
            </a:r>
            <a:endParaRPr lang="en-US" sz="1200" dirty="0">
              <a:latin typeface="Verdana" panose="020B0604030504040204" pitchFamily="34" charset="0"/>
              <a:ea typeface="Verdana" panose="020B0604030504040204" pitchFamily="34" charset="0"/>
            </a:endParaRPr>
          </a:p>
          <a:p>
            <a:pPr>
              <a:lnSpc>
                <a:spcPct val="150000"/>
              </a:lnSpc>
            </a:pPr>
            <a:endParaRPr lang="en-US" sz="1200" dirty="0">
              <a:latin typeface="Verdana" panose="020B0604030504040204" pitchFamily="34" charset="0"/>
              <a:ea typeface="Verdana" panose="020B0604030504040204" pitchFamily="34" charset="0"/>
            </a:endParaRPr>
          </a:p>
          <a:p>
            <a:pPr>
              <a:lnSpc>
                <a:spcPct val="150000"/>
              </a:lnSpc>
            </a:pPr>
            <a:r>
              <a:rPr lang="en-US" sz="1200" dirty="0">
                <a:latin typeface="Verdana" panose="020B0604030504040204" pitchFamily="34" charset="0"/>
                <a:ea typeface="Verdana" panose="020B0604030504040204" pitchFamily="34" charset="0"/>
              </a:rPr>
              <a:t>--</a:t>
            </a:r>
          </a:p>
          <a:p>
            <a:pPr>
              <a:lnSpc>
                <a:spcPct val="150000"/>
              </a:lnSpc>
            </a:pPr>
            <a:r>
              <a:rPr lang="en-US" sz="1800" dirty="0" err="1">
                <a:solidFill>
                  <a:srgbClr val="000000"/>
                </a:solidFill>
                <a:effectLst/>
                <a:latin typeface="Times New Roman" panose="02020603050405020304" pitchFamily="18" charset="0"/>
                <a:ea typeface="Calibri" panose="020F0502020204030204" pitchFamily="34" charset="0"/>
              </a:rPr>
              <a:t>Việc</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đánh</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giá</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công</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việc</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cần</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phải</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được</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xác</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định</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từ</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hai</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yếu</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tố</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quan</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trọng</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đó</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là</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một</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là</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kết</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quả</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thực</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hiện</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được</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của</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nhân</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viên</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mang</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tính</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chất</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định</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lượng</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hai</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là</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kết</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quả</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các</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yếu</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tố</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mang</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tính</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chất</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định</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tính</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như</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thái</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độ</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chấp</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hành</a:t>
            </a:r>
            <a:r>
              <a:rPr lang="en-US" sz="1800" dirty="0">
                <a:solidFill>
                  <a:srgbClr val="000000"/>
                </a:solidFill>
                <a:effectLst/>
                <a:latin typeface="Times New Roman" panose="02020603050405020304" pitchFamily="18" charset="0"/>
                <a:ea typeface="Calibri" panose="020F0502020204030204" pitchFamily="34" charset="0"/>
              </a:rPr>
              <a:t> hay </a:t>
            </a:r>
            <a:r>
              <a:rPr lang="en-US" sz="1800" dirty="0" err="1">
                <a:solidFill>
                  <a:srgbClr val="000000"/>
                </a:solidFill>
                <a:effectLst/>
                <a:latin typeface="Times New Roman" panose="02020603050405020304" pitchFamily="18" charset="0"/>
                <a:ea typeface="Calibri" panose="020F0502020204030204" pitchFamily="34" charset="0"/>
              </a:rPr>
              <a:t>năng</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lực</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thực</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hiện</a:t>
            </a:r>
            <a:r>
              <a:rPr lang="en-US" sz="1800" dirty="0">
                <a:solidFill>
                  <a:srgbClr val="000000"/>
                </a:solidFill>
                <a:effectLst/>
                <a:latin typeface="Times New Roman" panose="02020603050405020304" pitchFamily="18" charset="0"/>
                <a:ea typeface="Calibri" panose="020F0502020204030204" pitchFamily="34" charset="0"/>
              </a:rPr>
              <a:t>. </a:t>
            </a:r>
            <a:endParaRPr lang="vi-VN" sz="1200" dirty="0">
              <a:latin typeface="Verdana" panose="020B0604030504040204" pitchFamily="34" charset="0"/>
              <a:ea typeface="Verdana" panose="020B0604030504040204" pitchFamily="34" charset="0"/>
            </a:endParaRPr>
          </a:p>
          <a:p>
            <a:pPr>
              <a:lnSpc>
                <a:spcPct val="150000"/>
              </a:lnSpc>
            </a:pPr>
            <a:endParaRPr lang="en-US" sz="1200" b="1" dirty="0">
              <a:latin typeface="Verdana" panose="020B0604030504040204" pitchFamily="34" charset="0"/>
              <a:ea typeface="Verdana" panose="020B0604030504040204" pitchFamily="34" charset="0"/>
            </a:endParaRPr>
          </a:p>
          <a:p>
            <a:endParaRPr lang="en-US" dirty="0"/>
          </a:p>
        </p:txBody>
      </p:sp>
      <p:sp>
        <p:nvSpPr>
          <p:cNvPr id="4" name="Slide Number Placeholder 3"/>
          <p:cNvSpPr>
            <a:spLocks noGrp="1"/>
          </p:cNvSpPr>
          <p:nvPr>
            <p:ph type="sldNum" sz="quarter" idx="5"/>
          </p:nvPr>
        </p:nvSpPr>
        <p:spPr/>
        <p:txBody>
          <a:bodyPr/>
          <a:lstStyle/>
          <a:p>
            <a:fld id="{6DF9A174-BD37-4CF9-A3FC-30F95FD3068F}" type="slidenum">
              <a:rPr lang="en-US" smtClean="0"/>
              <a:t>4</a:t>
            </a:fld>
            <a:endParaRPr lang="en-US"/>
          </a:p>
        </p:txBody>
      </p:sp>
    </p:spTree>
    <p:extLst>
      <p:ext uri="{BB962C8B-B14F-4D97-AF65-F5344CB8AC3E}">
        <p14:creationId xmlns:p14="http://schemas.microsoft.com/office/powerpoint/2010/main" val="264263490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nSpc>
                <a:spcPct val="150000"/>
              </a:lnSpc>
            </a:pPr>
            <a:r>
              <a:rPr lang="vi-VN" sz="1200" dirty="0">
                <a:latin typeface="Verdana" panose="020B0604030504040204" pitchFamily="34" charset="0"/>
                <a:ea typeface="Verdana" panose="020B0604030504040204" pitchFamily="34" charset="0"/>
              </a:rPr>
              <a:t>Tạo công việc, nhiệm vụ: Đó là đưa ra các công việc cần thực hiện có gắn với một mục đích nào đó và phải đảm bảo các yếu tố về thời gian, con người, nguồn lực, trí tuệ</a:t>
            </a:r>
          </a:p>
          <a:p>
            <a:pPr>
              <a:lnSpc>
                <a:spcPct val="150000"/>
              </a:lnSpc>
            </a:pPr>
            <a:r>
              <a:rPr lang="vi-VN" sz="1200" dirty="0">
                <a:latin typeface="Verdana" panose="020B0604030504040204" pitchFamily="34" charset="0"/>
                <a:ea typeface="Verdana" panose="020B0604030504040204" pitchFamily="34" charset="0"/>
              </a:rPr>
              <a:t>Sắp xếp và ưu tiên: đó là việc quan trọng nhất trong quản lý công việc. Bạn cần xem tất cả các nhân tố có thể ảnh hưởng đến việc thực hiện công việc của bạn và việc đánh giá của cấp trên đối với bạn. Do đó, cần phải thiết lập thứ tự ưu tiên các công việc và hoàn thành một cách hợp lý nhất.</a:t>
            </a:r>
          </a:p>
          <a:p>
            <a:pPr>
              <a:lnSpc>
                <a:spcPct val="150000"/>
              </a:lnSpc>
            </a:pPr>
            <a:r>
              <a:rPr lang="vi-VN" sz="1200" dirty="0">
                <a:latin typeface="Verdana" panose="020B0604030504040204" pitchFamily="34" charset="0"/>
                <a:ea typeface="Verdana" panose="020B0604030504040204" pitchFamily="34" charset="0"/>
              </a:rPr>
              <a:t>Theo dõi chặt chẽ các công việc của bạn hoặc công việc của cấp dưới. Nó được thực hiện khi một người bắt đầu xử lý công việc. Mọi hoạt động phải được kiểm soát một cách chặt chẽ để có thể thống kê, hoặc có giải pháp kịp thời nếu có tình huống bất ngờ xảy ra.</a:t>
            </a:r>
            <a:endParaRPr lang="en-US" sz="1200" dirty="0">
              <a:latin typeface="Verdana" panose="020B0604030504040204" pitchFamily="34" charset="0"/>
              <a:ea typeface="Verdana" panose="020B0604030504040204" pitchFamily="34" charset="0"/>
            </a:endParaRPr>
          </a:p>
          <a:p>
            <a:pPr>
              <a:lnSpc>
                <a:spcPct val="150000"/>
              </a:lnSpc>
            </a:pPr>
            <a:endParaRPr lang="en-US" sz="1200" dirty="0">
              <a:latin typeface="Verdana" panose="020B0604030504040204" pitchFamily="34" charset="0"/>
              <a:ea typeface="Verdana" panose="020B0604030504040204" pitchFamily="34" charset="0"/>
            </a:endParaRPr>
          </a:p>
          <a:p>
            <a:pPr>
              <a:lnSpc>
                <a:spcPct val="150000"/>
              </a:lnSpc>
            </a:pPr>
            <a:r>
              <a:rPr lang="en-US" sz="1200" dirty="0">
                <a:latin typeface="Verdana" panose="020B0604030504040204" pitchFamily="34" charset="0"/>
                <a:ea typeface="Verdana" panose="020B0604030504040204" pitchFamily="34" charset="0"/>
              </a:rPr>
              <a:t>--</a:t>
            </a:r>
          </a:p>
          <a:p>
            <a:pPr>
              <a:lnSpc>
                <a:spcPct val="150000"/>
              </a:lnSpc>
            </a:pPr>
            <a:r>
              <a:rPr lang="en-US" sz="1800" dirty="0" err="1">
                <a:solidFill>
                  <a:srgbClr val="000000"/>
                </a:solidFill>
                <a:effectLst/>
                <a:latin typeface="Times New Roman" panose="02020603050405020304" pitchFamily="18" charset="0"/>
                <a:ea typeface="Calibri" panose="020F0502020204030204" pitchFamily="34" charset="0"/>
              </a:rPr>
              <a:t>Việc</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đánh</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giá</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công</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việc</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cần</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phải</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được</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xác</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định</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từ</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hai</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yếu</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tố</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quan</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trọng</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đó</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là</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một</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là</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kết</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quả</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thực</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hiện</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được</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của</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nhân</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viên</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mang</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tính</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chất</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định</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lượng</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hai</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là</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kết</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quả</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các</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yếu</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tố</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mang</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tính</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chất</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định</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tính</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như</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thái</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độ</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chấp</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hành</a:t>
            </a:r>
            <a:r>
              <a:rPr lang="en-US" sz="1800" dirty="0">
                <a:solidFill>
                  <a:srgbClr val="000000"/>
                </a:solidFill>
                <a:effectLst/>
                <a:latin typeface="Times New Roman" panose="02020603050405020304" pitchFamily="18" charset="0"/>
                <a:ea typeface="Calibri" panose="020F0502020204030204" pitchFamily="34" charset="0"/>
              </a:rPr>
              <a:t> hay </a:t>
            </a:r>
            <a:r>
              <a:rPr lang="en-US" sz="1800" dirty="0" err="1">
                <a:solidFill>
                  <a:srgbClr val="000000"/>
                </a:solidFill>
                <a:effectLst/>
                <a:latin typeface="Times New Roman" panose="02020603050405020304" pitchFamily="18" charset="0"/>
                <a:ea typeface="Calibri" panose="020F0502020204030204" pitchFamily="34" charset="0"/>
              </a:rPr>
              <a:t>năng</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lực</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thực</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hiện</a:t>
            </a:r>
            <a:r>
              <a:rPr lang="en-US" sz="1800" dirty="0">
                <a:solidFill>
                  <a:srgbClr val="000000"/>
                </a:solidFill>
                <a:effectLst/>
                <a:latin typeface="Times New Roman" panose="02020603050405020304" pitchFamily="18" charset="0"/>
                <a:ea typeface="Calibri" panose="020F0502020204030204" pitchFamily="34" charset="0"/>
              </a:rPr>
              <a:t>. </a:t>
            </a:r>
            <a:endParaRPr lang="vi-VN" sz="1200" dirty="0">
              <a:latin typeface="Verdana" panose="020B0604030504040204" pitchFamily="34" charset="0"/>
              <a:ea typeface="Verdana" panose="020B0604030504040204" pitchFamily="34" charset="0"/>
            </a:endParaRPr>
          </a:p>
          <a:p>
            <a:pPr>
              <a:lnSpc>
                <a:spcPct val="150000"/>
              </a:lnSpc>
            </a:pPr>
            <a:endParaRPr lang="en-US" sz="1200" b="1" dirty="0">
              <a:latin typeface="Verdana" panose="020B0604030504040204" pitchFamily="34" charset="0"/>
              <a:ea typeface="Verdana" panose="020B0604030504040204" pitchFamily="34" charset="0"/>
            </a:endParaRPr>
          </a:p>
          <a:p>
            <a:endParaRPr lang="en-US" dirty="0"/>
          </a:p>
        </p:txBody>
      </p:sp>
      <p:sp>
        <p:nvSpPr>
          <p:cNvPr id="4" name="Slide Number Placeholder 3"/>
          <p:cNvSpPr>
            <a:spLocks noGrp="1"/>
          </p:cNvSpPr>
          <p:nvPr>
            <p:ph type="sldNum" sz="quarter" idx="5"/>
          </p:nvPr>
        </p:nvSpPr>
        <p:spPr/>
        <p:txBody>
          <a:bodyPr/>
          <a:lstStyle/>
          <a:p>
            <a:fld id="{6DF9A174-BD37-4CF9-A3FC-30F95FD3068F}" type="slidenum">
              <a:rPr lang="en-US" smtClean="0"/>
              <a:t>5</a:t>
            </a:fld>
            <a:endParaRPr lang="en-US"/>
          </a:p>
        </p:txBody>
      </p:sp>
    </p:spTree>
    <p:extLst>
      <p:ext uri="{BB962C8B-B14F-4D97-AF65-F5344CB8AC3E}">
        <p14:creationId xmlns:p14="http://schemas.microsoft.com/office/powerpoint/2010/main" val="3941598846"/>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1.jpeg"/><Relationship Id="rId1" Type="http://schemas.openxmlformats.org/officeDocument/2006/relationships/slideMaster" Target="../slideMasters/slideMaster1.xml"/><Relationship Id="rId5" Type="http://schemas.openxmlformats.org/officeDocument/2006/relationships/image" Target="../media/image4.png"/><Relationship Id="rId4" Type="http://schemas.openxmlformats.org/officeDocument/2006/relationships/image" Target="../media/image3.jpeg"/></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B0FC6D13-8211-4DDF-BE70-3D3E9CC80A4C}" type="datetimeFigureOut">
              <a:rPr lang="en-US" smtClean="0"/>
              <a:t>3/14/2021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83F326D-EC31-433E-A15A-5F39DE1CDC9D}" type="slidenum">
              <a:rPr lang="en-US" smtClean="0"/>
              <a:t>‹#›</a:t>
            </a:fld>
            <a:endParaRPr lang="en-US"/>
          </a:p>
        </p:txBody>
      </p:sp>
      <p:sp>
        <p:nvSpPr>
          <p:cNvPr id="16" name="Rectangle 15"/>
          <p:cNvSpPr>
            <a:spLocks noChangeArrowheads="1"/>
          </p:cNvSpPr>
          <p:nvPr userDrawn="1"/>
        </p:nvSpPr>
        <p:spPr bwMode="white">
          <a:xfrm>
            <a:off x="9524" y="4649787"/>
            <a:ext cx="12182475" cy="2219325"/>
          </a:xfrm>
          <a:prstGeom prst="rect">
            <a:avLst/>
          </a:prstGeom>
          <a:solidFill>
            <a:schemeClr val="bg1">
              <a:lumMod val="75000"/>
              <a:alpha val="30980"/>
            </a:schemeClr>
          </a:solidFill>
          <a:ln>
            <a:noFill/>
          </a:ln>
          <a:effectLst/>
        </p:spPr>
        <p:txBody>
          <a:bodyPr wrap="none" anchor="ct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defRPr/>
            </a:pPr>
            <a:endParaRPr lang="en-US"/>
          </a:p>
        </p:txBody>
      </p:sp>
      <p:sp>
        <p:nvSpPr>
          <p:cNvPr id="17" name="AutoShape 21"/>
          <p:cNvSpPr>
            <a:spLocks noChangeArrowheads="1"/>
          </p:cNvSpPr>
          <p:nvPr userDrawn="1"/>
        </p:nvSpPr>
        <p:spPr bwMode="gray">
          <a:xfrm>
            <a:off x="10844276" y="5953124"/>
            <a:ext cx="609600" cy="533400"/>
          </a:xfrm>
          <a:prstGeom prst="hexagon">
            <a:avLst>
              <a:gd name="adj" fmla="val 28571"/>
              <a:gd name="vf" fmla="val 115470"/>
            </a:avLst>
          </a:prstGeom>
          <a:solidFill>
            <a:schemeClr val="accent1">
              <a:lumMod val="75000"/>
            </a:schemeClr>
          </a:solidFill>
          <a:ln>
            <a:noFill/>
          </a:ln>
          <a:effectLst/>
        </p:spPr>
        <p:txBody>
          <a:bodyPr wrap="none" anchor="ct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defRPr/>
            </a:pPr>
            <a:endParaRPr lang="en-US"/>
          </a:p>
        </p:txBody>
      </p:sp>
      <p:sp>
        <p:nvSpPr>
          <p:cNvPr id="18" name="AutoShape 22"/>
          <p:cNvSpPr>
            <a:spLocks noChangeArrowheads="1"/>
          </p:cNvSpPr>
          <p:nvPr userDrawn="1"/>
        </p:nvSpPr>
        <p:spPr bwMode="gray">
          <a:xfrm>
            <a:off x="11353800" y="5609968"/>
            <a:ext cx="609600" cy="533400"/>
          </a:xfrm>
          <a:prstGeom prst="hexagon">
            <a:avLst>
              <a:gd name="adj" fmla="val 28571"/>
              <a:gd name="vf" fmla="val 115470"/>
            </a:avLst>
          </a:prstGeom>
          <a:solidFill>
            <a:schemeClr val="accent1">
              <a:lumMod val="75000"/>
            </a:schemeClr>
          </a:solidFill>
          <a:ln>
            <a:noFill/>
          </a:ln>
          <a:effectLst/>
        </p:spPr>
        <p:txBody>
          <a:bodyPr wrap="none" anchor="ct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defRPr/>
            </a:pPr>
            <a:endParaRPr lang="en-US"/>
          </a:p>
        </p:txBody>
      </p:sp>
      <p:sp>
        <p:nvSpPr>
          <p:cNvPr id="19" name="AutoShape 23"/>
          <p:cNvSpPr>
            <a:spLocks noChangeArrowheads="1"/>
          </p:cNvSpPr>
          <p:nvPr userDrawn="1"/>
        </p:nvSpPr>
        <p:spPr bwMode="gray">
          <a:xfrm>
            <a:off x="11377675" y="6272212"/>
            <a:ext cx="609600" cy="533400"/>
          </a:xfrm>
          <a:prstGeom prst="hexagon">
            <a:avLst>
              <a:gd name="adj" fmla="val 28571"/>
              <a:gd name="vf" fmla="val 115470"/>
            </a:avLst>
          </a:prstGeom>
          <a:solidFill>
            <a:schemeClr val="accent1">
              <a:lumMod val="75000"/>
            </a:schemeClr>
          </a:solidFill>
          <a:ln>
            <a:noFill/>
          </a:ln>
          <a:effectLst/>
        </p:spPr>
        <p:txBody>
          <a:bodyPr wrap="none" anchor="ct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defRPr/>
            </a:pPr>
            <a:endParaRPr lang="en-US"/>
          </a:p>
        </p:txBody>
      </p:sp>
      <p:sp>
        <p:nvSpPr>
          <p:cNvPr id="24" name="Rectangle 23"/>
          <p:cNvSpPr>
            <a:spLocks noChangeArrowheads="1"/>
          </p:cNvSpPr>
          <p:nvPr userDrawn="1"/>
        </p:nvSpPr>
        <p:spPr bwMode="gray">
          <a:xfrm>
            <a:off x="11182476" y="-112756"/>
            <a:ext cx="1009524" cy="6970756"/>
          </a:xfrm>
          <a:prstGeom prst="rect">
            <a:avLst/>
          </a:prstGeom>
          <a:solidFill>
            <a:schemeClr val="bg2">
              <a:alpha val="39999"/>
            </a:schemeClr>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defRPr/>
            </a:pPr>
            <a:endParaRPr lang="en-US"/>
          </a:p>
        </p:txBody>
      </p:sp>
      <p:sp>
        <p:nvSpPr>
          <p:cNvPr id="25" name="Rectangle 24"/>
          <p:cNvSpPr>
            <a:spLocks noChangeArrowheads="1"/>
          </p:cNvSpPr>
          <p:nvPr userDrawn="1"/>
        </p:nvSpPr>
        <p:spPr bwMode="gray">
          <a:xfrm>
            <a:off x="-1" y="1736727"/>
            <a:ext cx="12191999" cy="2911474"/>
          </a:xfrm>
          <a:prstGeom prst="rect">
            <a:avLst/>
          </a:prstGeom>
          <a:solidFill>
            <a:srgbClr val="002060"/>
          </a:solidFill>
          <a:ln>
            <a:noFill/>
          </a:ln>
          <a:effectLst/>
        </p:spPr>
        <p:txBody>
          <a:bodyPr wrap="none" anchor="ct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defRPr/>
            </a:pPr>
            <a:endParaRPr lang="en-US"/>
          </a:p>
        </p:txBody>
      </p:sp>
      <p:sp>
        <p:nvSpPr>
          <p:cNvPr id="26" name="Freeform 20"/>
          <p:cNvSpPr>
            <a:spLocks/>
          </p:cNvSpPr>
          <p:nvPr userDrawn="1"/>
        </p:nvSpPr>
        <p:spPr bwMode="gray">
          <a:xfrm>
            <a:off x="-9525" y="1735141"/>
            <a:ext cx="11182476" cy="2674934"/>
          </a:xfrm>
          <a:custGeom>
            <a:avLst/>
            <a:gdLst>
              <a:gd name="T0" fmla="*/ 0 w 5049"/>
              <a:gd name="T1" fmla="*/ 0 h 1471"/>
              <a:gd name="T2" fmla="*/ 2147483646 w 5049"/>
              <a:gd name="T3" fmla="*/ 2147483646 h 1471"/>
              <a:gd name="T4" fmla="*/ 2147483646 w 5049"/>
              <a:gd name="T5" fmla="*/ 2147483646 h 1471"/>
              <a:gd name="T6" fmla="*/ 0 w 5049"/>
              <a:gd name="T7" fmla="*/ 2147483646 h 1471"/>
              <a:gd name="T8" fmla="*/ 0 w 5049"/>
              <a:gd name="T9" fmla="*/ 0 h 147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049" h="1471">
                <a:moveTo>
                  <a:pt x="0" y="0"/>
                </a:moveTo>
                <a:lnTo>
                  <a:pt x="5049" y="2"/>
                </a:lnTo>
                <a:lnTo>
                  <a:pt x="5048" y="1458"/>
                </a:lnTo>
                <a:lnTo>
                  <a:pt x="0" y="1471"/>
                </a:lnTo>
                <a:lnTo>
                  <a:pt x="0" y="0"/>
                </a:lnTo>
                <a:close/>
              </a:path>
            </a:pathLst>
          </a:custGeom>
          <a:solidFill>
            <a:schemeClr val="accent1">
              <a:lumMod val="60000"/>
              <a:lumOff val="40000"/>
              <a:alpha val="72940"/>
            </a:schemeClr>
          </a:solidFill>
          <a:ln>
            <a:noFill/>
          </a:ln>
          <a:effectLst/>
        </p:spPr>
        <p:txBody>
          <a:bodyPr/>
          <a:lstStyle/>
          <a:p>
            <a:endParaRPr lang="en-US"/>
          </a:p>
        </p:txBody>
      </p:sp>
      <p:grpSp>
        <p:nvGrpSpPr>
          <p:cNvPr id="27" name="Group 116"/>
          <p:cNvGrpSpPr>
            <a:grpSpLocks/>
          </p:cNvGrpSpPr>
          <p:nvPr userDrawn="1"/>
        </p:nvGrpSpPr>
        <p:grpSpPr bwMode="auto">
          <a:xfrm>
            <a:off x="157548" y="1912208"/>
            <a:ext cx="3276600" cy="3314700"/>
            <a:chOff x="120" y="1464"/>
            <a:chExt cx="2064" cy="2088"/>
          </a:xfrm>
        </p:grpSpPr>
        <p:sp>
          <p:nvSpPr>
            <p:cNvPr id="28" name="AutoShape 113" descr="gdd01"/>
            <p:cNvSpPr>
              <a:spLocks noChangeArrowheads="1"/>
            </p:cNvSpPr>
            <p:nvPr userDrawn="1"/>
          </p:nvSpPr>
          <p:spPr bwMode="gray">
            <a:xfrm>
              <a:off x="120" y="1992"/>
              <a:ext cx="1104" cy="1008"/>
            </a:xfrm>
            <a:prstGeom prst="hexagon">
              <a:avLst>
                <a:gd name="adj" fmla="val 27381"/>
                <a:gd name="vf" fmla="val 115470"/>
              </a:avLst>
            </a:prstGeom>
            <a:blipFill dpi="0" rotWithShape="1">
              <a:blip r:embed="rId2"/>
              <a:srcRect/>
              <a:stretch>
                <a:fillRect/>
              </a:stretch>
            </a:blipFill>
            <a:ln w="28575">
              <a:solidFill>
                <a:schemeClr val="bg1"/>
              </a:solidFill>
              <a:miter lim="800000"/>
              <a:headEnd/>
              <a:tailEnd/>
            </a:ln>
            <a:effectLst>
              <a:outerShdw dist="125080" dir="1437749" algn="ctr" rotWithShape="0">
                <a:schemeClr val="bg2">
                  <a:alpha val="32001"/>
                </a:schemeClr>
              </a:outerShdw>
            </a:effectLst>
          </p:spPr>
          <p:txBody>
            <a:bodyPr wrap="none" anchor="ct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a:defRPr/>
              </a:pPr>
              <a:endParaRPr lang="ko-KR" altLang="en-US">
                <a:latin typeface="Times New Roman" panose="02020603050405020304" pitchFamily="18" charset="0"/>
                <a:ea typeface="Gulim" panose="020B0600000101010101" pitchFamily="34" charset="-127"/>
              </a:endParaRPr>
            </a:p>
          </p:txBody>
        </p:sp>
        <p:sp>
          <p:nvSpPr>
            <p:cNvPr id="29" name="AutoShape 114" descr="gdd04"/>
            <p:cNvSpPr>
              <a:spLocks noChangeArrowheads="1"/>
            </p:cNvSpPr>
            <p:nvPr userDrawn="1"/>
          </p:nvSpPr>
          <p:spPr bwMode="gray">
            <a:xfrm>
              <a:off x="1032" y="1464"/>
              <a:ext cx="1152" cy="1008"/>
            </a:xfrm>
            <a:prstGeom prst="hexagon">
              <a:avLst>
                <a:gd name="adj" fmla="val 28571"/>
                <a:gd name="vf" fmla="val 115470"/>
              </a:avLst>
            </a:prstGeom>
            <a:blipFill dpi="0" rotWithShape="1">
              <a:blip r:embed="rId3"/>
              <a:srcRect/>
              <a:stretch>
                <a:fillRect/>
              </a:stretch>
            </a:blipFill>
            <a:ln w="28575">
              <a:solidFill>
                <a:schemeClr val="bg1"/>
              </a:solidFill>
              <a:miter lim="800000"/>
              <a:headEnd/>
              <a:tailEnd/>
            </a:ln>
            <a:effectLst>
              <a:outerShdw dist="125080" dir="1437749" algn="ctr" rotWithShape="0">
                <a:schemeClr val="bg2">
                  <a:alpha val="32001"/>
                </a:schemeClr>
              </a:outerShdw>
            </a:effectLst>
          </p:spPr>
          <p:txBody>
            <a:bodyPr wrap="none" anchor="ct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a:defRPr/>
              </a:pPr>
              <a:endParaRPr lang="ko-KR" altLang="en-US">
                <a:latin typeface="Times New Roman" panose="02020603050405020304" pitchFamily="18" charset="0"/>
                <a:ea typeface="Gulim" panose="020B0600000101010101" pitchFamily="34" charset="-127"/>
              </a:endParaRPr>
            </a:p>
          </p:txBody>
        </p:sp>
        <p:sp>
          <p:nvSpPr>
            <p:cNvPr id="30" name="AutoShape 115" descr="gdd03"/>
            <p:cNvSpPr>
              <a:spLocks noChangeArrowheads="1"/>
            </p:cNvSpPr>
            <p:nvPr userDrawn="1"/>
          </p:nvSpPr>
          <p:spPr bwMode="gray">
            <a:xfrm>
              <a:off x="1008" y="2544"/>
              <a:ext cx="1152" cy="1008"/>
            </a:xfrm>
            <a:prstGeom prst="hexagon">
              <a:avLst>
                <a:gd name="adj" fmla="val 28571"/>
                <a:gd name="vf" fmla="val 115470"/>
              </a:avLst>
            </a:prstGeom>
            <a:blipFill dpi="0" rotWithShape="1">
              <a:blip r:embed="rId4"/>
              <a:srcRect/>
              <a:stretch>
                <a:fillRect/>
              </a:stretch>
            </a:blipFill>
            <a:ln w="28575">
              <a:solidFill>
                <a:schemeClr val="bg1"/>
              </a:solidFill>
              <a:miter lim="800000"/>
              <a:headEnd/>
              <a:tailEnd/>
            </a:ln>
            <a:effectLst>
              <a:outerShdw dist="125080" dir="1437749" algn="ctr" rotWithShape="0">
                <a:schemeClr val="bg2">
                  <a:alpha val="32001"/>
                </a:schemeClr>
              </a:outerShdw>
            </a:effectLst>
          </p:spPr>
          <p:txBody>
            <a:bodyPr wrap="none" anchor="ct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a:defRPr/>
              </a:pPr>
              <a:endParaRPr lang="ko-KR" altLang="en-US">
                <a:latin typeface="Times New Roman" panose="02020603050405020304" pitchFamily="18" charset="0"/>
                <a:ea typeface="Gulim" panose="020B0600000101010101" pitchFamily="34" charset="-127"/>
              </a:endParaRPr>
            </a:p>
          </p:txBody>
        </p:sp>
      </p:grpSp>
      <p:pic>
        <p:nvPicPr>
          <p:cNvPr id="20" name="Picture 19">
            <a:extLst>
              <a:ext uri="{FF2B5EF4-FFF2-40B4-BE49-F238E27FC236}">
                <a16:creationId xmlns:a16="http://schemas.microsoft.com/office/drawing/2014/main" id="{FA583ACA-C03D-43D9-B8AA-CDB37DD82A84}"/>
              </a:ext>
            </a:extLst>
          </p:cNvPr>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1811616" y="-1768678"/>
            <a:ext cx="6491020" cy="4510550"/>
          </a:xfrm>
          <a:prstGeom prst="rect">
            <a:avLst/>
          </a:prstGeom>
        </p:spPr>
      </p:pic>
    </p:spTree>
    <p:extLst>
      <p:ext uri="{BB962C8B-B14F-4D97-AF65-F5344CB8AC3E}">
        <p14:creationId xmlns:p14="http://schemas.microsoft.com/office/powerpoint/2010/main" val="17900060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B0FC6D13-8211-4DDF-BE70-3D3E9CC80A4C}" type="datetimeFigureOut">
              <a:rPr lang="en-US" smtClean="0"/>
              <a:t>3/14/2021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83F326D-EC31-433E-A15A-5F39DE1CDC9D}" type="slidenum">
              <a:rPr lang="en-US" smtClean="0"/>
              <a:t>‹#›</a:t>
            </a:fld>
            <a:endParaRPr lang="en-US"/>
          </a:p>
        </p:txBody>
      </p:sp>
      <p:sp>
        <p:nvSpPr>
          <p:cNvPr id="8" name="Rectangle 7"/>
          <p:cNvSpPr/>
          <p:nvPr userDrawn="1"/>
        </p:nvSpPr>
        <p:spPr>
          <a:xfrm>
            <a:off x="0" y="271849"/>
            <a:ext cx="12192000" cy="617838"/>
          </a:xfrm>
          <a:prstGeom prst="rect">
            <a:avLst/>
          </a:prstGeom>
          <a:solidFill>
            <a:schemeClr val="accent1">
              <a:lumMod val="75000"/>
            </a:schemeClr>
          </a:solidFill>
          <a:ln>
            <a:solidFill>
              <a:schemeClr val="accent1">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AutoShape 21"/>
          <p:cNvSpPr>
            <a:spLocks noChangeArrowheads="1"/>
          </p:cNvSpPr>
          <p:nvPr userDrawn="1"/>
        </p:nvSpPr>
        <p:spPr bwMode="gray">
          <a:xfrm>
            <a:off x="11353800" y="5618249"/>
            <a:ext cx="609600" cy="533400"/>
          </a:xfrm>
          <a:prstGeom prst="hexagon">
            <a:avLst>
              <a:gd name="adj" fmla="val 28571"/>
              <a:gd name="vf" fmla="val 115470"/>
            </a:avLst>
          </a:prstGeom>
          <a:solidFill>
            <a:schemeClr val="accent1">
              <a:lumMod val="60000"/>
              <a:lumOff val="40000"/>
            </a:schemeClr>
          </a:solidFill>
          <a:ln>
            <a:noFill/>
          </a:ln>
          <a:effectLst/>
        </p:spPr>
        <p:txBody>
          <a:bodyPr wrap="none" anchor="ct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defRPr/>
            </a:pPr>
            <a:endParaRPr lang="en-US"/>
          </a:p>
        </p:txBody>
      </p:sp>
      <p:sp>
        <p:nvSpPr>
          <p:cNvPr id="14" name="AutoShape 21"/>
          <p:cNvSpPr>
            <a:spLocks noChangeArrowheads="1"/>
          </p:cNvSpPr>
          <p:nvPr userDrawn="1"/>
        </p:nvSpPr>
        <p:spPr bwMode="gray">
          <a:xfrm>
            <a:off x="10877550" y="5920367"/>
            <a:ext cx="609600" cy="533400"/>
          </a:xfrm>
          <a:prstGeom prst="hexagon">
            <a:avLst>
              <a:gd name="adj" fmla="val 28571"/>
              <a:gd name="vf" fmla="val 115470"/>
            </a:avLst>
          </a:prstGeom>
          <a:solidFill>
            <a:schemeClr val="accent1">
              <a:lumMod val="60000"/>
              <a:lumOff val="40000"/>
            </a:schemeClr>
          </a:solidFill>
          <a:ln>
            <a:noFill/>
          </a:ln>
          <a:effectLst/>
        </p:spPr>
        <p:txBody>
          <a:bodyPr wrap="none" anchor="ct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defRPr/>
            </a:pPr>
            <a:endParaRPr lang="en-US"/>
          </a:p>
        </p:txBody>
      </p:sp>
      <p:sp>
        <p:nvSpPr>
          <p:cNvPr id="15" name="AutoShape 21"/>
          <p:cNvSpPr>
            <a:spLocks noChangeArrowheads="1"/>
          </p:cNvSpPr>
          <p:nvPr userDrawn="1"/>
        </p:nvSpPr>
        <p:spPr bwMode="gray">
          <a:xfrm>
            <a:off x="11365127" y="6188075"/>
            <a:ext cx="609600" cy="533400"/>
          </a:xfrm>
          <a:prstGeom prst="hexagon">
            <a:avLst>
              <a:gd name="adj" fmla="val 28571"/>
              <a:gd name="vf" fmla="val 115470"/>
            </a:avLst>
          </a:prstGeom>
          <a:solidFill>
            <a:schemeClr val="accent1">
              <a:lumMod val="60000"/>
              <a:lumOff val="40000"/>
            </a:schemeClr>
          </a:solidFill>
          <a:ln>
            <a:noFill/>
          </a:ln>
          <a:effectLst/>
        </p:spPr>
        <p:txBody>
          <a:bodyPr wrap="none" anchor="ct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defRPr/>
            </a:pPr>
            <a:endParaRPr lang="en-US"/>
          </a:p>
        </p:txBody>
      </p:sp>
      <p:sp>
        <p:nvSpPr>
          <p:cNvPr id="17" name="Rectangle 16"/>
          <p:cNvSpPr>
            <a:spLocks noChangeArrowheads="1"/>
          </p:cNvSpPr>
          <p:nvPr userDrawn="1"/>
        </p:nvSpPr>
        <p:spPr bwMode="gray">
          <a:xfrm>
            <a:off x="11182476" y="0"/>
            <a:ext cx="1009524" cy="6858000"/>
          </a:xfrm>
          <a:prstGeom prst="rect">
            <a:avLst/>
          </a:prstGeom>
          <a:solidFill>
            <a:schemeClr val="bg2">
              <a:alpha val="39999"/>
            </a:schemeClr>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defRPr/>
            </a:pPr>
            <a:endParaRPr lang="en-US"/>
          </a:p>
        </p:txBody>
      </p:sp>
      <p:sp>
        <p:nvSpPr>
          <p:cNvPr id="19" name="AutoShape 21"/>
          <p:cNvSpPr>
            <a:spLocks noChangeArrowheads="1"/>
          </p:cNvSpPr>
          <p:nvPr userDrawn="1"/>
        </p:nvSpPr>
        <p:spPr bwMode="gray">
          <a:xfrm>
            <a:off x="147655" y="386551"/>
            <a:ext cx="609600" cy="533400"/>
          </a:xfrm>
          <a:prstGeom prst="hexagon">
            <a:avLst>
              <a:gd name="adj" fmla="val 28571"/>
              <a:gd name="vf" fmla="val 115470"/>
            </a:avLst>
          </a:prstGeom>
          <a:solidFill>
            <a:srgbClr val="0070C0"/>
          </a:solidFill>
          <a:ln w="25400">
            <a:solidFill>
              <a:schemeClr val="bg1"/>
            </a:solidFill>
          </a:ln>
          <a:effectLst>
            <a:glow>
              <a:schemeClr val="accent1"/>
            </a:glow>
            <a:outerShdw dist="50800" sx="1000" sy="1000" algn="ctr" rotWithShape="0">
              <a:srgbClr val="000000"/>
            </a:outerShdw>
            <a:reflection stA="50000" endPos="0" dir="5400000" sy="-100000" algn="bl" rotWithShape="0"/>
            <a:softEdge rad="0"/>
          </a:effectLst>
        </p:spPr>
        <p:txBody>
          <a:bodyPr wrap="none" anchor="ct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defRPr/>
            </a:pPr>
            <a:endParaRPr lang="en-US"/>
          </a:p>
        </p:txBody>
      </p:sp>
      <p:sp>
        <p:nvSpPr>
          <p:cNvPr id="16" name="AutoShape 21"/>
          <p:cNvSpPr>
            <a:spLocks noChangeArrowheads="1"/>
          </p:cNvSpPr>
          <p:nvPr userDrawn="1"/>
        </p:nvSpPr>
        <p:spPr bwMode="gray">
          <a:xfrm>
            <a:off x="604918" y="660382"/>
            <a:ext cx="609600" cy="533400"/>
          </a:xfrm>
          <a:prstGeom prst="hexagon">
            <a:avLst>
              <a:gd name="adj" fmla="val 28571"/>
              <a:gd name="vf" fmla="val 115470"/>
            </a:avLst>
          </a:prstGeom>
          <a:solidFill>
            <a:srgbClr val="FF9900"/>
          </a:solidFill>
          <a:ln w="25400">
            <a:solidFill>
              <a:schemeClr val="bg1"/>
            </a:solidFill>
          </a:ln>
          <a:effectLst>
            <a:glow>
              <a:schemeClr val="accent1"/>
            </a:glow>
            <a:outerShdw dist="50800" sx="1000" sy="1000" algn="ctr" rotWithShape="0">
              <a:srgbClr val="000000"/>
            </a:outerShdw>
            <a:reflection stA="50000" endPos="0" dir="5400000" sy="-100000" algn="bl" rotWithShape="0"/>
            <a:softEdge rad="0"/>
          </a:effectLst>
        </p:spPr>
        <p:txBody>
          <a:bodyPr wrap="none" anchor="ct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defRPr/>
            </a:pPr>
            <a:endParaRPr lang="en-US"/>
          </a:p>
        </p:txBody>
      </p:sp>
      <p:sp>
        <p:nvSpPr>
          <p:cNvPr id="20" name="AutoShape 21"/>
          <p:cNvSpPr>
            <a:spLocks noChangeArrowheads="1"/>
          </p:cNvSpPr>
          <p:nvPr userDrawn="1"/>
        </p:nvSpPr>
        <p:spPr bwMode="gray">
          <a:xfrm>
            <a:off x="604918" y="118713"/>
            <a:ext cx="609600" cy="533400"/>
          </a:xfrm>
          <a:prstGeom prst="hexagon">
            <a:avLst>
              <a:gd name="adj" fmla="val 28571"/>
              <a:gd name="vf" fmla="val 115470"/>
            </a:avLst>
          </a:prstGeom>
          <a:solidFill>
            <a:srgbClr val="00B050"/>
          </a:solidFill>
          <a:ln w="25400">
            <a:solidFill>
              <a:schemeClr val="bg1"/>
            </a:solidFill>
          </a:ln>
          <a:effectLst>
            <a:glow>
              <a:schemeClr val="accent1"/>
            </a:glow>
            <a:outerShdw dist="50800" sx="1000" sy="1000" algn="ctr" rotWithShape="0">
              <a:srgbClr val="000000"/>
            </a:outerShdw>
            <a:reflection stA="50000" endPos="0" dir="5400000" sy="-100000" algn="bl" rotWithShape="0"/>
            <a:softEdge rad="0"/>
          </a:effectLst>
        </p:spPr>
        <p:txBody>
          <a:bodyPr wrap="none" anchor="ct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defRPr/>
            </a:pPr>
            <a:endParaRPr lang="en-US"/>
          </a:p>
        </p:txBody>
      </p:sp>
      <p:pic>
        <p:nvPicPr>
          <p:cNvPr id="21" name="Picture 20"/>
          <p:cNvPicPr>
            <a:picLocks noChangeAspect="1"/>
          </p:cNvPicPr>
          <p:nvPr userDrawn="1"/>
        </p:nvPicPr>
        <p:blipFill>
          <a:blip r:embed="rId2"/>
          <a:stretch>
            <a:fillRect/>
          </a:stretch>
        </p:blipFill>
        <p:spPr>
          <a:xfrm>
            <a:off x="11182476" y="271849"/>
            <a:ext cx="1021345" cy="617838"/>
          </a:xfrm>
          <a:prstGeom prst="rect">
            <a:avLst/>
          </a:prstGeom>
        </p:spPr>
      </p:pic>
    </p:spTree>
    <p:extLst>
      <p:ext uri="{BB962C8B-B14F-4D97-AF65-F5344CB8AC3E}">
        <p14:creationId xmlns:p14="http://schemas.microsoft.com/office/powerpoint/2010/main" val="7176644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B0FC6D13-8211-4DDF-BE70-3D3E9CC80A4C}" type="datetimeFigureOut">
              <a:rPr lang="en-US" smtClean="0"/>
              <a:t>3/14/2021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83F326D-EC31-433E-A15A-5F39DE1CDC9D}" type="slidenum">
              <a:rPr lang="en-US" smtClean="0"/>
              <a:t>‹#›</a:t>
            </a:fld>
            <a:endParaRPr lang="en-US"/>
          </a:p>
        </p:txBody>
      </p:sp>
    </p:spTree>
    <p:extLst>
      <p:ext uri="{BB962C8B-B14F-4D97-AF65-F5344CB8AC3E}">
        <p14:creationId xmlns:p14="http://schemas.microsoft.com/office/powerpoint/2010/main" val="97255600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B0FC6D13-8211-4DDF-BE70-3D3E9CC80A4C}" type="datetimeFigureOut">
              <a:rPr lang="en-US" smtClean="0"/>
              <a:t>3/14/2021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83F326D-EC31-433E-A15A-5F39DE1CDC9D}" type="slidenum">
              <a:rPr lang="en-US" smtClean="0"/>
              <a:t>‹#›</a:t>
            </a:fld>
            <a:endParaRPr lang="en-US"/>
          </a:p>
        </p:txBody>
      </p:sp>
    </p:spTree>
    <p:extLst>
      <p:ext uri="{BB962C8B-B14F-4D97-AF65-F5344CB8AC3E}">
        <p14:creationId xmlns:p14="http://schemas.microsoft.com/office/powerpoint/2010/main" val="289563827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B0FC6D13-8211-4DDF-BE70-3D3E9CC80A4C}" type="datetimeFigureOut">
              <a:rPr lang="en-US" smtClean="0"/>
              <a:t>3/14/2021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83F326D-EC31-433E-A15A-5F39DE1CDC9D}" type="slidenum">
              <a:rPr lang="en-US" smtClean="0"/>
              <a:t>‹#›</a:t>
            </a:fld>
            <a:endParaRPr lang="en-US"/>
          </a:p>
        </p:txBody>
      </p:sp>
    </p:spTree>
    <p:extLst>
      <p:ext uri="{BB962C8B-B14F-4D97-AF65-F5344CB8AC3E}">
        <p14:creationId xmlns:p14="http://schemas.microsoft.com/office/powerpoint/2010/main" val="333628922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B0FC6D13-8211-4DDF-BE70-3D3E9CC80A4C}" type="datetimeFigureOut">
              <a:rPr lang="en-US" smtClean="0"/>
              <a:t>3/14/2021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83F326D-EC31-433E-A15A-5F39DE1CDC9D}" type="slidenum">
              <a:rPr lang="en-US" smtClean="0"/>
              <a:t>‹#›</a:t>
            </a:fld>
            <a:endParaRPr lang="en-US"/>
          </a:p>
        </p:txBody>
      </p:sp>
    </p:spTree>
    <p:extLst>
      <p:ext uri="{BB962C8B-B14F-4D97-AF65-F5344CB8AC3E}">
        <p14:creationId xmlns:p14="http://schemas.microsoft.com/office/powerpoint/2010/main" val="160805737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0FC6D13-8211-4DDF-BE70-3D3E9CC80A4C}" type="datetimeFigureOut">
              <a:rPr lang="en-US" smtClean="0"/>
              <a:t>3/14/2021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83F326D-EC31-433E-A15A-5F39DE1CDC9D}" type="slidenum">
              <a:rPr lang="en-US" smtClean="0"/>
              <a:t>‹#›</a:t>
            </a:fld>
            <a:endParaRPr lang="en-US"/>
          </a:p>
        </p:txBody>
      </p:sp>
    </p:spTree>
    <p:extLst>
      <p:ext uri="{BB962C8B-B14F-4D97-AF65-F5344CB8AC3E}">
        <p14:creationId xmlns:p14="http://schemas.microsoft.com/office/powerpoint/2010/main" val="178953130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B0FC6D13-8211-4DDF-BE70-3D3E9CC80A4C}" type="datetimeFigureOut">
              <a:rPr lang="en-US" smtClean="0"/>
              <a:t>3/14/2021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83F326D-EC31-433E-A15A-5F39DE1CDC9D}" type="slidenum">
              <a:rPr lang="en-US" smtClean="0"/>
              <a:t>‹#›</a:t>
            </a:fld>
            <a:endParaRPr lang="en-US"/>
          </a:p>
        </p:txBody>
      </p:sp>
    </p:spTree>
    <p:extLst>
      <p:ext uri="{BB962C8B-B14F-4D97-AF65-F5344CB8AC3E}">
        <p14:creationId xmlns:p14="http://schemas.microsoft.com/office/powerpoint/2010/main" val="130920603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B0FC6D13-8211-4DDF-BE70-3D3E9CC80A4C}" type="datetimeFigureOut">
              <a:rPr lang="en-US" smtClean="0"/>
              <a:t>3/14/2021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83F326D-EC31-433E-A15A-5F39DE1CDC9D}" type="slidenum">
              <a:rPr lang="en-US" smtClean="0"/>
              <a:t>‹#›</a:t>
            </a:fld>
            <a:endParaRPr lang="en-US"/>
          </a:p>
        </p:txBody>
      </p:sp>
    </p:spTree>
    <p:extLst>
      <p:ext uri="{BB962C8B-B14F-4D97-AF65-F5344CB8AC3E}">
        <p14:creationId xmlns:p14="http://schemas.microsoft.com/office/powerpoint/2010/main" val="168821691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B0FC6D13-8211-4DDF-BE70-3D3E9CC80A4C}" type="datetimeFigureOut">
              <a:rPr lang="en-US" smtClean="0"/>
              <a:t>3/14/2021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83F326D-EC31-433E-A15A-5F39DE1CDC9D}" type="slidenum">
              <a:rPr lang="en-US" smtClean="0"/>
              <a:t>‹#›</a:t>
            </a:fld>
            <a:endParaRPr lang="en-US"/>
          </a:p>
        </p:txBody>
      </p:sp>
    </p:spTree>
    <p:extLst>
      <p:ext uri="{BB962C8B-B14F-4D97-AF65-F5344CB8AC3E}">
        <p14:creationId xmlns:p14="http://schemas.microsoft.com/office/powerpoint/2010/main" val="225955718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B0FC6D13-8211-4DDF-BE70-3D3E9CC80A4C}" type="datetimeFigureOut">
              <a:rPr lang="en-US" smtClean="0"/>
              <a:t>3/14/2021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83F326D-EC31-433E-A15A-5F39DE1CDC9D}" type="slidenum">
              <a:rPr lang="en-US" smtClean="0"/>
              <a:t>‹#›</a:t>
            </a:fld>
            <a:endParaRPr lang="en-US"/>
          </a:p>
        </p:txBody>
      </p:sp>
    </p:spTree>
    <p:extLst>
      <p:ext uri="{BB962C8B-B14F-4D97-AF65-F5344CB8AC3E}">
        <p14:creationId xmlns:p14="http://schemas.microsoft.com/office/powerpoint/2010/main" val="373409385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0FC6D13-8211-4DDF-BE70-3D3E9CC80A4C}" type="datetimeFigureOut">
              <a:rPr lang="en-US" smtClean="0"/>
              <a:t>3/14/2021</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83F326D-EC31-433E-A15A-5F39DE1CDC9D}" type="slidenum">
              <a:rPr lang="en-US" smtClean="0"/>
              <a:t>‹#›</a:t>
            </a:fld>
            <a:endParaRPr lang="en-US"/>
          </a:p>
        </p:txBody>
      </p:sp>
    </p:spTree>
    <p:extLst>
      <p:ext uri="{BB962C8B-B14F-4D97-AF65-F5344CB8AC3E}">
        <p14:creationId xmlns:p14="http://schemas.microsoft.com/office/powerpoint/2010/main" val="219418385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cid:image001.png@01D710DE.C5846010" TargetMode="External"/><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p:cNvSpPr txBox="1">
            <a:spLocks/>
          </p:cNvSpPr>
          <p:nvPr/>
        </p:nvSpPr>
        <p:spPr>
          <a:xfrm>
            <a:off x="1094509" y="900545"/>
            <a:ext cx="10155382" cy="5860473"/>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lnSpc>
                <a:spcPct val="150000"/>
              </a:lnSpc>
            </a:pPr>
            <a:r>
              <a:rPr lang="vi-VN" sz="2800" b="1" dirty="0">
                <a:latin typeface="+mn-lt"/>
                <a:ea typeface="Verdana" panose="020B0604030504040204" pitchFamily="34" charset="0"/>
              </a:rPr>
              <a:t>LUẬN VĂN THẠC SỸ</a:t>
            </a:r>
          </a:p>
          <a:p>
            <a:pPr algn="ctr">
              <a:lnSpc>
                <a:spcPct val="150000"/>
              </a:lnSpc>
            </a:pPr>
            <a:r>
              <a:rPr lang="vi-VN" sz="2100" b="1" dirty="0">
                <a:latin typeface="+mn-lt"/>
                <a:ea typeface="Verdana" panose="020B0604030504040204" pitchFamily="34" charset="0"/>
              </a:rPr>
              <a:t>Ngành: Công nghệ thông tin</a:t>
            </a:r>
          </a:p>
          <a:p>
            <a:pPr algn="ctr">
              <a:lnSpc>
                <a:spcPct val="150000"/>
              </a:lnSpc>
            </a:pPr>
            <a:endParaRPr lang="vi-VN" sz="2800" b="1" dirty="0">
              <a:latin typeface="+mn-lt"/>
              <a:ea typeface="Verdana" panose="020B0604030504040204" pitchFamily="34" charset="0"/>
            </a:endParaRPr>
          </a:p>
          <a:p>
            <a:pPr algn="ctr">
              <a:lnSpc>
                <a:spcPct val="150000"/>
              </a:lnSpc>
            </a:pPr>
            <a:r>
              <a:rPr lang="vi-VN" sz="1800" b="1" dirty="0">
                <a:latin typeface="+mn-lt"/>
                <a:ea typeface="Verdana" panose="020B0604030504040204" pitchFamily="34" charset="0"/>
              </a:rPr>
              <a:t>ĐỀ TÀI</a:t>
            </a:r>
          </a:p>
          <a:p>
            <a:pPr algn="ctr">
              <a:lnSpc>
                <a:spcPct val="150000"/>
              </a:lnSpc>
            </a:pPr>
            <a:r>
              <a:rPr lang="vi-VN" sz="1800" b="1" dirty="0">
                <a:latin typeface="+mn-lt"/>
                <a:ea typeface="Verdana" panose="020B0604030504040204" pitchFamily="34" charset="0"/>
              </a:rPr>
              <a:t>Đề xuất ứng dụng quản lý công việc và đánh giá KPI nhân viên theo chính sách mới 2021</a:t>
            </a:r>
          </a:p>
          <a:p>
            <a:pPr algn="ctr">
              <a:lnSpc>
                <a:spcPct val="150000"/>
              </a:lnSpc>
            </a:pPr>
            <a:r>
              <a:rPr lang="vi-VN" sz="1800" b="1" dirty="0">
                <a:latin typeface="+mn-lt"/>
                <a:ea typeface="Verdana" panose="020B0604030504040204" pitchFamily="34" charset="0"/>
              </a:rPr>
              <a:t>cho phòng PrBBNKBIDV, khối Ngân hàng tài chính FIS-BANK,  </a:t>
            </a:r>
          </a:p>
          <a:p>
            <a:pPr algn="ctr">
              <a:lnSpc>
                <a:spcPct val="150000"/>
              </a:lnSpc>
            </a:pPr>
            <a:r>
              <a:rPr lang="vi-VN" sz="1800" b="1" dirty="0">
                <a:latin typeface="+mn-lt"/>
                <a:ea typeface="Verdana" panose="020B0604030504040204" pitchFamily="34" charset="0"/>
              </a:rPr>
              <a:t>Công ty TNHH Hệ thống thông tin FPT</a:t>
            </a:r>
          </a:p>
          <a:p>
            <a:pPr algn="ctr">
              <a:lnSpc>
                <a:spcPct val="150000"/>
              </a:lnSpc>
            </a:pPr>
            <a:endParaRPr lang="vi-VN" sz="1800" b="1" dirty="0">
              <a:latin typeface="Verdana" panose="020B0604030504040204" pitchFamily="34" charset="0"/>
              <a:ea typeface="Verdana" panose="020B0604030504040204" pitchFamily="34" charset="0"/>
            </a:endParaRPr>
          </a:p>
          <a:p>
            <a:pPr algn="ctr">
              <a:lnSpc>
                <a:spcPct val="150000"/>
              </a:lnSpc>
            </a:pPr>
            <a:endParaRPr lang="vi-VN" sz="1800" b="1" dirty="0">
              <a:latin typeface="Verdana" panose="020B0604030504040204" pitchFamily="34" charset="0"/>
              <a:ea typeface="Verdana" panose="020B0604030504040204" pitchFamily="34" charset="0"/>
            </a:endParaRPr>
          </a:p>
          <a:p>
            <a:pPr algn="ctr">
              <a:lnSpc>
                <a:spcPct val="150000"/>
              </a:lnSpc>
            </a:pPr>
            <a:endParaRPr lang="vi-VN" sz="1800" b="1" dirty="0">
              <a:latin typeface="Verdana" panose="020B0604030504040204" pitchFamily="34" charset="0"/>
              <a:ea typeface="Verdana" panose="020B0604030504040204" pitchFamily="34" charset="0"/>
            </a:endParaRPr>
          </a:p>
          <a:p>
            <a:pPr algn="ctr">
              <a:lnSpc>
                <a:spcPct val="150000"/>
              </a:lnSpc>
            </a:pPr>
            <a:endParaRPr lang="vi-VN" sz="1800" b="1" dirty="0">
              <a:latin typeface="Verdana" panose="020B0604030504040204" pitchFamily="34" charset="0"/>
              <a:ea typeface="Verdana" panose="020B0604030504040204" pitchFamily="34" charset="0"/>
            </a:endParaRPr>
          </a:p>
          <a:p>
            <a:pPr algn="ctr">
              <a:lnSpc>
                <a:spcPct val="150000"/>
              </a:lnSpc>
            </a:pPr>
            <a:endParaRPr lang="en-US" sz="1800" b="1" dirty="0">
              <a:latin typeface="Verdana" panose="020B0604030504040204" pitchFamily="34" charset="0"/>
              <a:ea typeface="Verdana" panose="020B0604030504040204" pitchFamily="34" charset="0"/>
            </a:endParaRPr>
          </a:p>
        </p:txBody>
      </p:sp>
      <p:graphicFrame>
        <p:nvGraphicFramePr>
          <p:cNvPr id="5" name="Table 5">
            <a:extLst>
              <a:ext uri="{FF2B5EF4-FFF2-40B4-BE49-F238E27FC236}">
                <a16:creationId xmlns:a16="http://schemas.microsoft.com/office/drawing/2014/main" id="{992690CE-C451-427E-8209-3AB9576BC69E}"/>
              </a:ext>
            </a:extLst>
          </p:cNvPr>
          <p:cNvGraphicFramePr>
            <a:graphicFrameLocks noGrp="1"/>
          </p:cNvGraphicFramePr>
          <p:nvPr>
            <p:extLst>
              <p:ext uri="{D42A27DB-BD31-4B8C-83A1-F6EECF244321}">
                <p14:modId xmlns:p14="http://schemas.microsoft.com/office/powerpoint/2010/main" val="1257042288"/>
              </p:ext>
            </p:extLst>
          </p:nvPr>
        </p:nvGraphicFramePr>
        <p:xfrm>
          <a:off x="5708073" y="4938684"/>
          <a:ext cx="5140036" cy="1483360"/>
        </p:xfrm>
        <a:graphic>
          <a:graphicData uri="http://schemas.openxmlformats.org/drawingml/2006/table">
            <a:tbl>
              <a:tblPr firstRow="1" bandRow="1">
                <a:tableStyleId>{5C22544A-7EE6-4342-B048-85BDC9FD1C3A}</a:tableStyleId>
              </a:tblPr>
              <a:tblGrid>
                <a:gridCol w="2327563">
                  <a:extLst>
                    <a:ext uri="{9D8B030D-6E8A-4147-A177-3AD203B41FA5}">
                      <a16:colId xmlns:a16="http://schemas.microsoft.com/office/drawing/2014/main" val="657563812"/>
                    </a:ext>
                  </a:extLst>
                </a:gridCol>
                <a:gridCol w="2812473">
                  <a:extLst>
                    <a:ext uri="{9D8B030D-6E8A-4147-A177-3AD203B41FA5}">
                      <a16:colId xmlns:a16="http://schemas.microsoft.com/office/drawing/2014/main" val="1945289148"/>
                    </a:ext>
                  </a:extLst>
                </a:gridCol>
              </a:tblGrid>
              <a:tr h="370840">
                <a:tc>
                  <a:txBody>
                    <a:bodyPr/>
                    <a:lstStyle/>
                    <a:p>
                      <a:r>
                        <a:rPr lang="vi-VN" sz="1500" dirty="0">
                          <a:solidFill>
                            <a:schemeClr val="tx1"/>
                          </a:solidFill>
                          <a:latin typeface="+mn-lt"/>
                        </a:rPr>
                        <a:t>Giảng viên hướng dẫn</a:t>
                      </a:r>
                      <a:endParaRPr lang="en-US" sz="1500" dirty="0">
                        <a:solidFill>
                          <a:schemeClr val="tx1"/>
                        </a:solidFill>
                        <a:latin typeface="+mn-lt"/>
                      </a:endParaRPr>
                    </a:p>
                  </a:txBody>
                  <a:tcPr>
                    <a:solidFill>
                      <a:schemeClr val="bg1"/>
                    </a:solidFill>
                  </a:tcPr>
                </a:tc>
                <a:tc>
                  <a:txBody>
                    <a:bodyPr/>
                    <a:lstStyle/>
                    <a:p>
                      <a:r>
                        <a:rPr lang="vi-VN" sz="1500" b="1" dirty="0">
                          <a:solidFill>
                            <a:schemeClr val="tx1"/>
                          </a:solidFill>
                          <a:latin typeface="+mn-lt"/>
                          <a:ea typeface="Verdana" panose="020B0604030504040204" pitchFamily="34" charset="0"/>
                        </a:rPr>
                        <a:t>TS. Vũ Thị Hương Giang</a:t>
                      </a:r>
                      <a:endParaRPr lang="en-US" sz="1500" dirty="0">
                        <a:solidFill>
                          <a:schemeClr val="tx1"/>
                        </a:solidFill>
                        <a:latin typeface="+mn-lt"/>
                      </a:endParaRPr>
                    </a:p>
                  </a:txBody>
                  <a:tcPr>
                    <a:solidFill>
                      <a:schemeClr val="bg1"/>
                    </a:solidFill>
                  </a:tcPr>
                </a:tc>
                <a:extLst>
                  <a:ext uri="{0D108BD9-81ED-4DB2-BD59-A6C34878D82A}">
                    <a16:rowId xmlns:a16="http://schemas.microsoft.com/office/drawing/2014/main" val="825393035"/>
                  </a:ext>
                </a:extLst>
              </a:tr>
              <a:tr h="370840">
                <a:tc>
                  <a:txBody>
                    <a:bodyPr/>
                    <a:lstStyle/>
                    <a:p>
                      <a:r>
                        <a:rPr lang="vi-VN" sz="1500" b="1" dirty="0">
                          <a:solidFill>
                            <a:schemeClr val="tx1"/>
                          </a:solidFill>
                          <a:latin typeface="+mn-lt"/>
                          <a:ea typeface="Verdana" panose="020B0604030504040204" pitchFamily="34" charset="0"/>
                        </a:rPr>
                        <a:t>Thực hiện</a:t>
                      </a:r>
                      <a:endParaRPr lang="en-US" sz="1500" dirty="0">
                        <a:solidFill>
                          <a:schemeClr val="tx1"/>
                        </a:solidFill>
                        <a:latin typeface="+mn-lt"/>
                      </a:endParaRPr>
                    </a:p>
                  </a:txBody>
                  <a:tcPr>
                    <a:solidFill>
                      <a:schemeClr val="bg1"/>
                    </a:solidFill>
                  </a:tcPr>
                </a:tc>
                <a:tc>
                  <a:txBody>
                    <a:bodyPr/>
                    <a:lstStyle/>
                    <a:p>
                      <a:r>
                        <a:rPr lang="vi-VN" sz="1500" b="1" dirty="0">
                          <a:solidFill>
                            <a:schemeClr val="tx1"/>
                          </a:solidFill>
                          <a:latin typeface="+mn-lt"/>
                          <a:ea typeface="Verdana" panose="020B0604030504040204" pitchFamily="34" charset="0"/>
                        </a:rPr>
                        <a:t>Nguyễn Công Sơn</a:t>
                      </a:r>
                      <a:endParaRPr lang="en-US" sz="1500" dirty="0">
                        <a:solidFill>
                          <a:schemeClr val="tx1"/>
                        </a:solidFill>
                        <a:latin typeface="+mn-lt"/>
                      </a:endParaRPr>
                    </a:p>
                  </a:txBody>
                  <a:tcPr>
                    <a:solidFill>
                      <a:schemeClr val="bg1"/>
                    </a:solidFill>
                  </a:tcPr>
                </a:tc>
                <a:extLst>
                  <a:ext uri="{0D108BD9-81ED-4DB2-BD59-A6C34878D82A}">
                    <a16:rowId xmlns:a16="http://schemas.microsoft.com/office/drawing/2014/main" val="1290297034"/>
                  </a:ext>
                </a:extLst>
              </a:tr>
              <a:tr h="370840">
                <a:tc>
                  <a:txBody>
                    <a:bodyPr/>
                    <a:lstStyle/>
                    <a:p>
                      <a:r>
                        <a:rPr lang="vi-VN" sz="1500" b="1" dirty="0">
                          <a:solidFill>
                            <a:schemeClr val="tx1"/>
                          </a:solidFill>
                          <a:latin typeface="+mn-lt"/>
                          <a:ea typeface="Verdana" panose="020B0604030504040204" pitchFamily="34" charset="0"/>
                        </a:rPr>
                        <a:t>Lớp</a:t>
                      </a:r>
                      <a:endParaRPr lang="en-US" sz="1500" dirty="0">
                        <a:solidFill>
                          <a:schemeClr val="tx1"/>
                        </a:solidFill>
                        <a:latin typeface="+mn-lt"/>
                      </a:endParaRPr>
                    </a:p>
                  </a:txBody>
                  <a:tcPr>
                    <a:solidFill>
                      <a:schemeClr val="bg1"/>
                    </a:solidFill>
                  </a:tcPr>
                </a:tc>
                <a:tc>
                  <a:txBody>
                    <a:bodyPr/>
                    <a:lstStyle/>
                    <a:p>
                      <a:r>
                        <a:rPr lang="vi-VN" sz="1500" b="1" dirty="0">
                          <a:solidFill>
                            <a:schemeClr val="tx1"/>
                          </a:solidFill>
                          <a:latin typeface="+mn-lt"/>
                          <a:ea typeface="Verdana" panose="020B0604030504040204" pitchFamily="34" charset="0"/>
                        </a:rPr>
                        <a:t>19AMMT</a:t>
                      </a:r>
                      <a:endParaRPr lang="en-US" sz="1500" dirty="0">
                        <a:solidFill>
                          <a:schemeClr val="tx1"/>
                        </a:solidFill>
                        <a:latin typeface="+mn-lt"/>
                      </a:endParaRPr>
                    </a:p>
                  </a:txBody>
                  <a:tcPr>
                    <a:solidFill>
                      <a:schemeClr val="bg1"/>
                    </a:solidFill>
                  </a:tcPr>
                </a:tc>
                <a:extLst>
                  <a:ext uri="{0D108BD9-81ED-4DB2-BD59-A6C34878D82A}">
                    <a16:rowId xmlns:a16="http://schemas.microsoft.com/office/drawing/2014/main" val="1934773621"/>
                  </a:ext>
                </a:extLst>
              </a:tr>
              <a:tr h="370840">
                <a:tc>
                  <a:txBody>
                    <a:bodyPr/>
                    <a:lstStyle/>
                    <a:p>
                      <a:r>
                        <a:rPr lang="vi-VN" sz="1500" b="1" dirty="0">
                          <a:solidFill>
                            <a:schemeClr val="tx1"/>
                          </a:solidFill>
                          <a:latin typeface="+mn-lt"/>
                          <a:ea typeface="Verdana" panose="020B0604030504040204" pitchFamily="34" charset="0"/>
                        </a:rPr>
                        <a:t>Khóa</a:t>
                      </a:r>
                      <a:endParaRPr lang="en-US" sz="1500" dirty="0">
                        <a:solidFill>
                          <a:schemeClr val="tx1"/>
                        </a:solidFill>
                        <a:latin typeface="+mn-lt"/>
                      </a:endParaRPr>
                    </a:p>
                  </a:txBody>
                  <a:tcPr>
                    <a:solidFill>
                      <a:schemeClr val="bg1"/>
                    </a:solidFill>
                  </a:tcPr>
                </a:tc>
                <a:tc>
                  <a:txBody>
                    <a:bodyPr/>
                    <a:lstStyle/>
                    <a:p>
                      <a:r>
                        <a:rPr lang="vi-VN" sz="1500" b="1" dirty="0">
                          <a:solidFill>
                            <a:schemeClr val="tx1"/>
                          </a:solidFill>
                          <a:latin typeface="+mn-lt"/>
                          <a:ea typeface="Verdana" panose="020B0604030504040204" pitchFamily="34" charset="0"/>
                        </a:rPr>
                        <a:t>2019A</a:t>
                      </a:r>
                      <a:endParaRPr lang="en-US" sz="1500" dirty="0">
                        <a:solidFill>
                          <a:schemeClr val="tx1"/>
                        </a:solidFill>
                        <a:latin typeface="+mn-lt"/>
                      </a:endParaRPr>
                    </a:p>
                  </a:txBody>
                  <a:tcPr>
                    <a:solidFill>
                      <a:schemeClr val="bg1"/>
                    </a:solidFill>
                  </a:tcPr>
                </a:tc>
                <a:extLst>
                  <a:ext uri="{0D108BD9-81ED-4DB2-BD59-A6C34878D82A}">
                    <a16:rowId xmlns:a16="http://schemas.microsoft.com/office/drawing/2014/main" val="4246440069"/>
                  </a:ext>
                </a:extLst>
              </a:tr>
            </a:tbl>
          </a:graphicData>
        </a:graphic>
      </p:graphicFrame>
    </p:spTree>
    <p:extLst>
      <p:ext uri="{BB962C8B-B14F-4D97-AF65-F5344CB8AC3E}">
        <p14:creationId xmlns:p14="http://schemas.microsoft.com/office/powerpoint/2010/main" val="62078341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 name="Rectangle 47"/>
          <p:cNvSpPr/>
          <p:nvPr/>
        </p:nvSpPr>
        <p:spPr>
          <a:xfrm>
            <a:off x="1333896" y="327184"/>
            <a:ext cx="9888286" cy="492443"/>
          </a:xfrm>
          <a:prstGeom prst="rect">
            <a:avLst/>
          </a:prstGeom>
        </p:spPr>
        <p:txBody>
          <a:bodyPr wrap="square">
            <a:spAutoFit/>
          </a:bodyPr>
          <a:lstStyle/>
          <a:p>
            <a:r>
              <a:rPr lang="vi-VN" sz="2600" b="1" dirty="0">
                <a:solidFill>
                  <a:schemeClr val="bg1"/>
                </a:solidFill>
                <a:latin typeface="Verdana" panose="020B0604030504040204" pitchFamily="34" charset="0"/>
                <a:ea typeface="Verdana" panose="020B0604030504040204" pitchFamily="34" charset="0"/>
              </a:rPr>
              <a:t>MỤC LỤC</a:t>
            </a:r>
          </a:p>
        </p:txBody>
      </p:sp>
      <p:sp>
        <p:nvSpPr>
          <p:cNvPr id="19" name="Title 1">
            <a:extLst>
              <a:ext uri="{FF2B5EF4-FFF2-40B4-BE49-F238E27FC236}">
                <a16:creationId xmlns:a16="http://schemas.microsoft.com/office/drawing/2014/main" id="{E5883B25-2CEF-4F89-91E7-0A41E3647E40}"/>
              </a:ext>
            </a:extLst>
          </p:cNvPr>
          <p:cNvSpPr txBox="1">
            <a:spLocks/>
          </p:cNvSpPr>
          <p:nvPr/>
        </p:nvSpPr>
        <p:spPr>
          <a:xfrm>
            <a:off x="1094509" y="1136073"/>
            <a:ext cx="10307782" cy="5394743"/>
          </a:xfrm>
          <a:prstGeom prst="rect">
            <a:avLst/>
          </a:prstGeom>
        </p:spPr>
        <p:txBody>
          <a:bodyPr vert="horz" lIns="91440" tIns="45720" rIns="91440" bIns="45720" rtlCol="0" anchor="t">
            <a:normAutofit fontScale="97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342900" indent="-342900">
              <a:lnSpc>
                <a:spcPct val="250000"/>
              </a:lnSpc>
              <a:buAutoNum type="arabicPeriod"/>
            </a:pPr>
            <a:r>
              <a:rPr lang="vi-VN" sz="1800" b="1" dirty="0">
                <a:latin typeface="Verdana" panose="020B0604030504040204" pitchFamily="34" charset="0"/>
                <a:ea typeface="Verdana" panose="020B0604030504040204" pitchFamily="34" charset="0"/>
              </a:rPr>
              <a:t>Giới thiệu quản lý công việc và đánh giá hiệu quả</a:t>
            </a:r>
          </a:p>
          <a:p>
            <a:pPr marL="342900" indent="-342900">
              <a:lnSpc>
                <a:spcPct val="250000"/>
              </a:lnSpc>
              <a:buAutoNum type="arabicPeriod"/>
            </a:pPr>
            <a:r>
              <a:rPr lang="vi-VN" sz="1800" b="1" dirty="0">
                <a:latin typeface="Verdana" panose="020B0604030504040204" pitchFamily="34" charset="0"/>
                <a:ea typeface="Verdana" panose="020B0604030504040204" pitchFamily="34" charset="0"/>
              </a:rPr>
              <a:t>Thực trạng quản lý công việc và đánh giá công việc tại PrBBNKBIDV</a:t>
            </a:r>
          </a:p>
          <a:p>
            <a:pPr marL="342900" indent="-342900">
              <a:lnSpc>
                <a:spcPct val="250000"/>
              </a:lnSpc>
              <a:buAutoNum type="arabicPeriod"/>
            </a:pPr>
            <a:r>
              <a:rPr lang="vi-VN" sz="1800" b="1" dirty="0">
                <a:latin typeface="Verdana" panose="020B0604030504040204" pitchFamily="34" charset="0"/>
                <a:ea typeface="Verdana" panose="020B0604030504040204" pitchFamily="34" charset="0"/>
              </a:rPr>
              <a:t>Cơ sở xây dựng hệ thống quản lý và đánh giá KPI tại PrBBNKBIDV</a:t>
            </a:r>
          </a:p>
          <a:p>
            <a:pPr marL="342900" indent="-342900">
              <a:lnSpc>
                <a:spcPct val="250000"/>
              </a:lnSpc>
              <a:buAutoNum type="arabicPeriod"/>
            </a:pPr>
            <a:r>
              <a:rPr lang="vi-VN" sz="1800" b="1" dirty="0">
                <a:latin typeface="Verdana" panose="020B0604030504040204" pitchFamily="34" charset="0"/>
                <a:ea typeface="Verdana" panose="020B0604030504040204" pitchFamily="34" charset="0"/>
              </a:rPr>
              <a:t>Ứng dụng – Phân tích thiết kế hệ thống</a:t>
            </a:r>
          </a:p>
          <a:p>
            <a:pPr marL="342900" indent="-342900">
              <a:lnSpc>
                <a:spcPct val="250000"/>
              </a:lnSpc>
              <a:buAutoNum type="arabicPeriod"/>
            </a:pPr>
            <a:r>
              <a:rPr lang="vi-VN" sz="1800" b="1" dirty="0">
                <a:latin typeface="Verdana" panose="020B0604030504040204" pitchFamily="34" charset="0"/>
                <a:ea typeface="Verdana" panose="020B0604030504040204" pitchFamily="34" charset="0"/>
              </a:rPr>
              <a:t>Cài đặt thực nghiệm</a:t>
            </a:r>
          </a:p>
          <a:p>
            <a:pPr marL="342900" indent="-342900">
              <a:lnSpc>
                <a:spcPct val="250000"/>
              </a:lnSpc>
              <a:buAutoNum type="arabicPeriod"/>
            </a:pPr>
            <a:r>
              <a:rPr lang="vi-VN" sz="1800" b="1" dirty="0">
                <a:latin typeface="Verdana" panose="020B0604030504040204" pitchFamily="34" charset="0"/>
                <a:ea typeface="Verdana" panose="020B0604030504040204" pitchFamily="34" charset="0"/>
              </a:rPr>
              <a:t>Kết luận </a:t>
            </a:r>
          </a:p>
          <a:p>
            <a:pPr marL="342900" indent="-342900">
              <a:lnSpc>
                <a:spcPct val="250000"/>
              </a:lnSpc>
              <a:buAutoNum type="arabicPeriod"/>
            </a:pPr>
            <a:r>
              <a:rPr lang="vi-VN" sz="1800" b="1" dirty="0">
                <a:latin typeface="Verdana" panose="020B0604030504040204" pitchFamily="34" charset="0"/>
                <a:ea typeface="Verdana" panose="020B0604030504040204" pitchFamily="34" charset="0"/>
              </a:rPr>
              <a:t>Tài liệu tham khảo</a:t>
            </a:r>
          </a:p>
          <a:p>
            <a:pPr marL="342900" indent="-342900">
              <a:lnSpc>
                <a:spcPct val="150000"/>
              </a:lnSpc>
              <a:buAutoNum type="arabicPeriod"/>
            </a:pPr>
            <a:endParaRPr lang="en-US" sz="1800" b="1" dirty="0">
              <a:latin typeface="Verdana" panose="020B0604030504040204" pitchFamily="34" charset="0"/>
              <a:ea typeface="Verdana" panose="020B0604030504040204" pitchFamily="34" charset="0"/>
            </a:endParaRPr>
          </a:p>
        </p:txBody>
      </p:sp>
    </p:spTree>
    <p:extLst>
      <p:ext uri="{BB962C8B-B14F-4D97-AF65-F5344CB8AC3E}">
        <p14:creationId xmlns:p14="http://schemas.microsoft.com/office/powerpoint/2010/main" val="21203224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 name="Rectangle 47"/>
          <p:cNvSpPr/>
          <p:nvPr/>
        </p:nvSpPr>
        <p:spPr>
          <a:xfrm>
            <a:off x="1333896" y="327184"/>
            <a:ext cx="9888286" cy="492443"/>
          </a:xfrm>
          <a:prstGeom prst="rect">
            <a:avLst/>
          </a:prstGeom>
        </p:spPr>
        <p:txBody>
          <a:bodyPr wrap="square">
            <a:spAutoFit/>
          </a:bodyPr>
          <a:lstStyle/>
          <a:p>
            <a:r>
              <a:rPr lang="vi-VN" sz="2600" b="1" dirty="0">
                <a:solidFill>
                  <a:schemeClr val="bg1"/>
                </a:solidFill>
                <a:latin typeface="Verdana" panose="020B0604030504040204" pitchFamily="34" charset="0"/>
                <a:ea typeface="Verdana" panose="020B0604030504040204" pitchFamily="34" charset="0"/>
              </a:rPr>
              <a:t>1. Giới thiệu quản lý công việc và đánh giá hiệu quả</a:t>
            </a:r>
            <a:endParaRPr lang="en-US" sz="2600" b="1" dirty="0">
              <a:solidFill>
                <a:schemeClr val="bg1"/>
              </a:solidFill>
              <a:latin typeface="Verdana" panose="020B0604030504040204" pitchFamily="34" charset="0"/>
              <a:ea typeface="Verdana" panose="020B0604030504040204" pitchFamily="34" charset="0"/>
            </a:endParaRPr>
          </a:p>
        </p:txBody>
      </p:sp>
      <p:sp>
        <p:nvSpPr>
          <p:cNvPr id="4" name="Title 1">
            <a:extLst>
              <a:ext uri="{FF2B5EF4-FFF2-40B4-BE49-F238E27FC236}">
                <a16:creationId xmlns:a16="http://schemas.microsoft.com/office/drawing/2014/main" id="{D6309B9C-1924-4E7A-82A1-DDBA755727BE}"/>
              </a:ext>
            </a:extLst>
          </p:cNvPr>
          <p:cNvSpPr txBox="1">
            <a:spLocks/>
          </p:cNvSpPr>
          <p:nvPr/>
        </p:nvSpPr>
        <p:spPr>
          <a:xfrm>
            <a:off x="1094509" y="1136073"/>
            <a:ext cx="10127673" cy="5394743"/>
          </a:xfrm>
          <a:prstGeom prst="rect">
            <a:avLst/>
          </a:prstGeom>
        </p:spPr>
        <p:txBody>
          <a:bodyPr vert="horz" lIns="91440" tIns="45720" rIns="91440" bIns="45720" rtlCol="0" anchor="t">
            <a:normAutofit fontScale="97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342900" indent="-342900">
              <a:lnSpc>
                <a:spcPct val="150000"/>
              </a:lnSpc>
              <a:buAutoNum type="arabicPeriod"/>
            </a:pPr>
            <a:endParaRPr lang="en-US" sz="1800" b="1" dirty="0">
              <a:latin typeface="Verdana" panose="020B0604030504040204" pitchFamily="34" charset="0"/>
              <a:ea typeface="Verdana" panose="020B0604030504040204" pitchFamily="34" charset="0"/>
            </a:endParaRPr>
          </a:p>
        </p:txBody>
      </p:sp>
      <p:sp>
        <p:nvSpPr>
          <p:cNvPr id="5" name="Title 1">
            <a:extLst>
              <a:ext uri="{FF2B5EF4-FFF2-40B4-BE49-F238E27FC236}">
                <a16:creationId xmlns:a16="http://schemas.microsoft.com/office/drawing/2014/main" id="{56541AD8-9D9B-4D9C-BDFF-103129E96583}"/>
              </a:ext>
            </a:extLst>
          </p:cNvPr>
          <p:cNvSpPr txBox="1">
            <a:spLocks/>
          </p:cNvSpPr>
          <p:nvPr/>
        </p:nvSpPr>
        <p:spPr>
          <a:xfrm>
            <a:off x="1094509" y="1136073"/>
            <a:ext cx="10307782" cy="5549540"/>
          </a:xfrm>
          <a:prstGeom prst="rect">
            <a:avLst/>
          </a:prstGeom>
        </p:spPr>
        <p:txBody>
          <a:bodyPr vert="horz" lIns="91440" tIns="45720" rIns="91440" bIns="45720" rtlCol="0" anchor="t">
            <a:normAutofit fontScale="97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342900" indent="-342900">
              <a:lnSpc>
                <a:spcPct val="200000"/>
              </a:lnSpc>
              <a:buAutoNum type="arabicPeriod"/>
            </a:pPr>
            <a:r>
              <a:rPr lang="en-US" sz="1800" b="1" dirty="0" err="1">
                <a:latin typeface="Verdana" panose="020B0604030504040204" pitchFamily="34" charset="0"/>
                <a:ea typeface="Verdana" panose="020B0604030504040204" pitchFamily="34" charset="0"/>
              </a:rPr>
              <a:t>Quản</a:t>
            </a:r>
            <a:r>
              <a:rPr lang="en-US" sz="1800" b="1" dirty="0">
                <a:latin typeface="Verdana" panose="020B0604030504040204" pitchFamily="34" charset="0"/>
                <a:ea typeface="Verdana" panose="020B0604030504040204" pitchFamily="34" charset="0"/>
              </a:rPr>
              <a:t> </a:t>
            </a:r>
            <a:r>
              <a:rPr lang="en-US" sz="1800" b="1" dirty="0" err="1">
                <a:latin typeface="Verdana" panose="020B0604030504040204" pitchFamily="34" charset="0"/>
                <a:ea typeface="Verdana" panose="020B0604030504040204" pitchFamily="34" charset="0"/>
              </a:rPr>
              <a:t>lý</a:t>
            </a:r>
            <a:r>
              <a:rPr lang="en-US" sz="1800" b="1" dirty="0">
                <a:latin typeface="Verdana" panose="020B0604030504040204" pitchFamily="34" charset="0"/>
                <a:ea typeface="Verdana" panose="020B0604030504040204" pitchFamily="34" charset="0"/>
              </a:rPr>
              <a:t> </a:t>
            </a:r>
            <a:r>
              <a:rPr lang="en-US" sz="1800" b="1" dirty="0" err="1">
                <a:latin typeface="Verdana" panose="020B0604030504040204" pitchFamily="34" charset="0"/>
                <a:ea typeface="Verdana" panose="020B0604030504040204" pitchFamily="34" charset="0"/>
              </a:rPr>
              <a:t>và</a:t>
            </a:r>
            <a:r>
              <a:rPr lang="en-US" sz="1800" b="1" dirty="0">
                <a:latin typeface="Verdana" panose="020B0604030504040204" pitchFamily="34" charset="0"/>
                <a:ea typeface="Verdana" panose="020B0604030504040204" pitchFamily="34" charset="0"/>
              </a:rPr>
              <a:t> </a:t>
            </a:r>
            <a:r>
              <a:rPr lang="en-US" sz="1800" b="1" dirty="0" err="1">
                <a:latin typeface="Verdana" panose="020B0604030504040204" pitchFamily="34" charset="0"/>
                <a:ea typeface="Verdana" panose="020B0604030504040204" pitchFamily="34" charset="0"/>
              </a:rPr>
              <a:t>đánh</a:t>
            </a:r>
            <a:r>
              <a:rPr lang="en-US" sz="1800" b="1" dirty="0">
                <a:latin typeface="Verdana" panose="020B0604030504040204" pitchFamily="34" charset="0"/>
                <a:ea typeface="Verdana" panose="020B0604030504040204" pitchFamily="34" charset="0"/>
              </a:rPr>
              <a:t> </a:t>
            </a:r>
            <a:r>
              <a:rPr lang="en-US" sz="1800" b="1" dirty="0" err="1">
                <a:latin typeface="Verdana" panose="020B0604030504040204" pitchFamily="34" charset="0"/>
                <a:ea typeface="Verdana" panose="020B0604030504040204" pitchFamily="34" charset="0"/>
              </a:rPr>
              <a:t>giá</a:t>
            </a:r>
            <a:r>
              <a:rPr lang="en-US" sz="1800" b="1" dirty="0">
                <a:latin typeface="Verdana" panose="020B0604030504040204" pitchFamily="34" charset="0"/>
                <a:ea typeface="Verdana" panose="020B0604030504040204" pitchFamily="34" charset="0"/>
              </a:rPr>
              <a:t> </a:t>
            </a:r>
            <a:r>
              <a:rPr lang="en-US" sz="1800" b="1" dirty="0" err="1">
                <a:latin typeface="Verdana" panose="020B0604030504040204" pitchFamily="34" charset="0"/>
                <a:ea typeface="Verdana" panose="020B0604030504040204" pitchFamily="34" charset="0"/>
              </a:rPr>
              <a:t>thực</a:t>
            </a:r>
            <a:r>
              <a:rPr lang="en-US" sz="1800" b="1" dirty="0">
                <a:latin typeface="Verdana" panose="020B0604030504040204" pitchFamily="34" charset="0"/>
                <a:ea typeface="Verdana" panose="020B0604030504040204" pitchFamily="34" charset="0"/>
              </a:rPr>
              <a:t> </a:t>
            </a:r>
            <a:r>
              <a:rPr lang="en-US" sz="1800" b="1" dirty="0" err="1">
                <a:latin typeface="Verdana" panose="020B0604030504040204" pitchFamily="34" charset="0"/>
                <a:ea typeface="Verdana" panose="020B0604030504040204" pitchFamily="34" charset="0"/>
              </a:rPr>
              <a:t>hiện</a:t>
            </a:r>
            <a:r>
              <a:rPr lang="en-US" sz="1800" b="1" dirty="0">
                <a:latin typeface="Verdana" panose="020B0604030504040204" pitchFamily="34" charset="0"/>
                <a:ea typeface="Verdana" panose="020B0604030504040204" pitchFamily="34" charset="0"/>
              </a:rPr>
              <a:t> </a:t>
            </a:r>
            <a:r>
              <a:rPr lang="en-US" sz="1800" b="1" dirty="0" err="1">
                <a:latin typeface="Verdana" panose="020B0604030504040204" pitchFamily="34" charset="0"/>
                <a:ea typeface="Verdana" panose="020B0604030504040204" pitchFamily="34" charset="0"/>
              </a:rPr>
              <a:t>công</a:t>
            </a:r>
            <a:r>
              <a:rPr lang="en-US" sz="1800" b="1" dirty="0">
                <a:latin typeface="Verdana" panose="020B0604030504040204" pitchFamily="34" charset="0"/>
                <a:ea typeface="Verdana" panose="020B0604030504040204" pitchFamily="34" charset="0"/>
              </a:rPr>
              <a:t> </a:t>
            </a:r>
            <a:r>
              <a:rPr lang="en-US" sz="1800" b="1" dirty="0" err="1">
                <a:latin typeface="Verdana" panose="020B0604030504040204" pitchFamily="34" charset="0"/>
                <a:ea typeface="Verdana" panose="020B0604030504040204" pitchFamily="34" charset="0"/>
              </a:rPr>
              <a:t>việc</a:t>
            </a:r>
            <a:endParaRPr lang="en-US" sz="1800" b="1" dirty="0">
              <a:latin typeface="Verdana" panose="020B0604030504040204" pitchFamily="34" charset="0"/>
              <a:ea typeface="Verdana" panose="020B0604030504040204" pitchFamily="34" charset="0"/>
            </a:endParaRPr>
          </a:p>
          <a:p>
            <a:pPr>
              <a:lnSpc>
                <a:spcPct val="200000"/>
              </a:lnSpc>
            </a:pPr>
            <a:r>
              <a:rPr lang="en-US" sz="1800" dirty="0" err="1">
                <a:latin typeface="Verdana" panose="020B0604030504040204" pitchFamily="34" charset="0"/>
                <a:ea typeface="Verdana" panose="020B0604030504040204" pitchFamily="34" charset="0"/>
              </a:rPr>
              <a:t>Quản</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lý</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công</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việc</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là</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việc</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xử</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lý</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các</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công</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việc</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từ</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khi</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nhận</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được</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hoặc</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được</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tạo</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từ</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một</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người</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khác</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cho</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đến</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khi</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kết</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thúc</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công</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việc</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đó</a:t>
            </a:r>
            <a:r>
              <a:rPr lang="en-US" sz="1800" dirty="0">
                <a:latin typeface="Verdana" panose="020B0604030504040204" pitchFamily="34" charset="0"/>
                <a:ea typeface="Verdana" panose="020B0604030504040204" pitchFamily="34" charset="0"/>
              </a:rPr>
              <a:t>.</a:t>
            </a:r>
          </a:p>
          <a:p>
            <a:pPr marL="749300" indent="-285750">
              <a:lnSpc>
                <a:spcPct val="200000"/>
              </a:lnSpc>
              <a:buFont typeface="Wingdings" panose="05000000000000000000" pitchFamily="2" charset="2"/>
              <a:buChar char="Ø"/>
            </a:pPr>
            <a:r>
              <a:rPr lang="vi-VN" sz="1800" dirty="0">
                <a:latin typeface="Verdana" panose="020B0604030504040204" pitchFamily="34" charset="0"/>
                <a:ea typeface="Verdana" panose="020B0604030504040204" pitchFamily="34" charset="0"/>
              </a:rPr>
              <a:t>Tạo công việc, nhiệm vụ</a:t>
            </a:r>
          </a:p>
          <a:p>
            <a:pPr marL="749300" indent="-285750">
              <a:lnSpc>
                <a:spcPct val="200000"/>
              </a:lnSpc>
              <a:buFont typeface="Wingdings" panose="05000000000000000000" pitchFamily="2" charset="2"/>
              <a:buChar char="Ø"/>
            </a:pPr>
            <a:r>
              <a:rPr lang="vi-VN" sz="1800" dirty="0">
                <a:latin typeface="Verdana" panose="020B0604030504040204" pitchFamily="34" charset="0"/>
                <a:ea typeface="Verdana" panose="020B0604030504040204" pitchFamily="34" charset="0"/>
              </a:rPr>
              <a:t>Sắp xếp và ưu tiên</a:t>
            </a:r>
            <a:endParaRPr lang="en-US" sz="1800" dirty="0">
              <a:latin typeface="Verdana" panose="020B0604030504040204" pitchFamily="34" charset="0"/>
              <a:ea typeface="Verdana" panose="020B0604030504040204" pitchFamily="34" charset="0"/>
            </a:endParaRPr>
          </a:p>
          <a:p>
            <a:pPr marL="749300" indent="-285750">
              <a:lnSpc>
                <a:spcPct val="200000"/>
              </a:lnSpc>
              <a:buFont typeface="Wingdings" panose="05000000000000000000" pitchFamily="2" charset="2"/>
              <a:buChar char="Ø"/>
            </a:pPr>
            <a:r>
              <a:rPr lang="en-US" sz="1800" dirty="0">
                <a:latin typeface="Verdana" panose="020B0604030504040204" pitchFamily="34" charset="0"/>
                <a:ea typeface="Verdana" panose="020B0604030504040204" pitchFamily="34" charset="0"/>
              </a:rPr>
              <a:t>T</a:t>
            </a:r>
            <a:r>
              <a:rPr lang="vi-VN" sz="1800" dirty="0">
                <a:latin typeface="Verdana" panose="020B0604030504040204" pitchFamily="34" charset="0"/>
                <a:ea typeface="Verdana" panose="020B0604030504040204" pitchFamily="34" charset="0"/>
              </a:rPr>
              <a:t>heo dõi chặt chẽ các công việc</a:t>
            </a:r>
            <a:endParaRPr lang="en-US" sz="1800" dirty="0">
              <a:latin typeface="Verdana" panose="020B0604030504040204" pitchFamily="34" charset="0"/>
              <a:ea typeface="Verdana" panose="020B0604030504040204" pitchFamily="34" charset="0"/>
            </a:endParaRPr>
          </a:p>
          <a:p>
            <a:pPr>
              <a:lnSpc>
                <a:spcPct val="200000"/>
              </a:lnSpc>
            </a:pPr>
            <a:r>
              <a:rPr lang="vi-VN" sz="1800" dirty="0">
                <a:latin typeface="Verdana" panose="020B0604030504040204" pitchFamily="34" charset="0"/>
                <a:ea typeface="Verdana" panose="020B0604030504040204" pitchFamily="34" charset="0"/>
              </a:rPr>
              <a:t>Đánh giá thực hiện công việc là việc thực hiện đưa ra mức độ hoàn thành công việc của một cá nhân</a:t>
            </a:r>
            <a:r>
              <a:rPr lang="en-US" sz="1800" dirty="0">
                <a:latin typeface="Verdana" panose="020B0604030504040204" pitchFamily="34" charset="0"/>
                <a:ea typeface="Verdana" panose="020B0604030504040204" pitchFamily="34" charset="0"/>
              </a:rPr>
              <a:t>. </a:t>
            </a:r>
          </a:p>
          <a:p>
            <a:pPr marL="749300" indent="-285750">
              <a:lnSpc>
                <a:spcPct val="200000"/>
              </a:lnSpc>
              <a:buFont typeface="Wingdings" panose="05000000000000000000" pitchFamily="2" charset="2"/>
              <a:buChar char="Ø"/>
            </a:pPr>
            <a:r>
              <a:rPr lang="en-US" sz="1800" dirty="0" err="1">
                <a:latin typeface="Verdana" panose="020B0604030504040204" pitchFamily="34" charset="0"/>
                <a:ea typeface="Verdana" panose="020B0604030504040204" pitchFamily="34" charset="0"/>
              </a:rPr>
              <a:t>Định</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lượng</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số</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công</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việc</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thực</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hiện</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số</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dự</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án</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tham</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gia</a:t>
            </a:r>
            <a:r>
              <a:rPr lang="en-US" sz="1800" dirty="0">
                <a:latin typeface="Verdana" panose="020B0604030504040204" pitchFamily="34" charset="0"/>
                <a:ea typeface="Verdana" panose="020B0604030504040204" pitchFamily="34" charset="0"/>
              </a:rPr>
              <a:t>)</a:t>
            </a:r>
          </a:p>
          <a:p>
            <a:pPr marL="749300" indent="-285750">
              <a:lnSpc>
                <a:spcPct val="200000"/>
              </a:lnSpc>
              <a:buFont typeface="Wingdings" panose="05000000000000000000" pitchFamily="2" charset="2"/>
              <a:buChar char="Ø"/>
            </a:pPr>
            <a:r>
              <a:rPr lang="en-US" sz="1800" dirty="0" err="1">
                <a:latin typeface="Verdana" panose="020B0604030504040204" pitchFamily="34" charset="0"/>
                <a:ea typeface="Verdana" panose="020B0604030504040204" pitchFamily="34" charset="0"/>
              </a:rPr>
              <a:t>Định</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tính</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thái</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độ</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năng</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lực</a:t>
            </a:r>
            <a:r>
              <a:rPr lang="en-US" sz="1800" dirty="0">
                <a:latin typeface="Verdana" panose="020B0604030504040204" pitchFamily="34" charset="0"/>
                <a:ea typeface="Verdana" panose="020B0604030504040204" pitchFamily="34" charset="0"/>
              </a:rPr>
              <a:t>,…)</a:t>
            </a:r>
          </a:p>
          <a:p>
            <a:pPr>
              <a:lnSpc>
                <a:spcPct val="150000"/>
              </a:lnSpc>
            </a:pPr>
            <a:endParaRPr lang="en-US" sz="1800" dirty="0">
              <a:latin typeface="Verdana" panose="020B0604030504040204" pitchFamily="34" charset="0"/>
              <a:ea typeface="Verdana" panose="020B0604030504040204" pitchFamily="34" charset="0"/>
            </a:endParaRPr>
          </a:p>
        </p:txBody>
      </p:sp>
    </p:spTree>
    <p:extLst>
      <p:ext uri="{BB962C8B-B14F-4D97-AF65-F5344CB8AC3E}">
        <p14:creationId xmlns:p14="http://schemas.microsoft.com/office/powerpoint/2010/main" val="195217041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 name="Rectangle 47"/>
          <p:cNvSpPr/>
          <p:nvPr/>
        </p:nvSpPr>
        <p:spPr>
          <a:xfrm>
            <a:off x="1333896" y="327184"/>
            <a:ext cx="9888286" cy="492443"/>
          </a:xfrm>
          <a:prstGeom prst="rect">
            <a:avLst/>
          </a:prstGeom>
        </p:spPr>
        <p:txBody>
          <a:bodyPr wrap="square">
            <a:spAutoFit/>
          </a:bodyPr>
          <a:lstStyle/>
          <a:p>
            <a:r>
              <a:rPr lang="vi-VN" sz="2600" b="1" dirty="0">
                <a:solidFill>
                  <a:schemeClr val="bg1"/>
                </a:solidFill>
                <a:latin typeface="Verdana" panose="020B0604030504040204" pitchFamily="34" charset="0"/>
                <a:ea typeface="Verdana" panose="020B0604030504040204" pitchFamily="34" charset="0"/>
              </a:rPr>
              <a:t>1. Giới thiệu quản lý công việc và đánh giá hiệu quả</a:t>
            </a:r>
            <a:endParaRPr lang="en-US" sz="2600" b="1" dirty="0">
              <a:solidFill>
                <a:schemeClr val="bg1"/>
              </a:solidFill>
              <a:latin typeface="Verdana" panose="020B0604030504040204" pitchFamily="34" charset="0"/>
              <a:ea typeface="Verdana" panose="020B0604030504040204" pitchFamily="34" charset="0"/>
            </a:endParaRPr>
          </a:p>
        </p:txBody>
      </p:sp>
      <p:sp>
        <p:nvSpPr>
          <p:cNvPr id="4" name="Title 1">
            <a:extLst>
              <a:ext uri="{FF2B5EF4-FFF2-40B4-BE49-F238E27FC236}">
                <a16:creationId xmlns:a16="http://schemas.microsoft.com/office/drawing/2014/main" id="{D6309B9C-1924-4E7A-82A1-DDBA755727BE}"/>
              </a:ext>
            </a:extLst>
          </p:cNvPr>
          <p:cNvSpPr txBox="1">
            <a:spLocks/>
          </p:cNvSpPr>
          <p:nvPr/>
        </p:nvSpPr>
        <p:spPr>
          <a:xfrm>
            <a:off x="1094509" y="1136073"/>
            <a:ext cx="10127673" cy="5394743"/>
          </a:xfrm>
          <a:prstGeom prst="rect">
            <a:avLst/>
          </a:prstGeom>
        </p:spPr>
        <p:txBody>
          <a:bodyPr vert="horz" lIns="91440" tIns="45720" rIns="91440" bIns="45720" rtlCol="0" anchor="t">
            <a:normAutofit fontScale="97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342900" indent="-342900">
              <a:lnSpc>
                <a:spcPct val="150000"/>
              </a:lnSpc>
              <a:buAutoNum type="arabicPeriod"/>
            </a:pPr>
            <a:endParaRPr lang="en-US" sz="1800" b="1" dirty="0">
              <a:latin typeface="Verdana" panose="020B0604030504040204" pitchFamily="34" charset="0"/>
              <a:ea typeface="Verdana" panose="020B0604030504040204" pitchFamily="34" charset="0"/>
            </a:endParaRPr>
          </a:p>
        </p:txBody>
      </p:sp>
      <p:sp>
        <p:nvSpPr>
          <p:cNvPr id="5" name="Title 1">
            <a:extLst>
              <a:ext uri="{FF2B5EF4-FFF2-40B4-BE49-F238E27FC236}">
                <a16:creationId xmlns:a16="http://schemas.microsoft.com/office/drawing/2014/main" id="{56541AD8-9D9B-4D9C-BDFF-103129E96583}"/>
              </a:ext>
            </a:extLst>
          </p:cNvPr>
          <p:cNvSpPr txBox="1">
            <a:spLocks/>
          </p:cNvSpPr>
          <p:nvPr/>
        </p:nvSpPr>
        <p:spPr>
          <a:xfrm>
            <a:off x="1094509" y="1136073"/>
            <a:ext cx="10307782" cy="5549540"/>
          </a:xfrm>
          <a:prstGeom prst="rect">
            <a:avLst/>
          </a:prstGeom>
        </p:spPr>
        <p:txBody>
          <a:bodyPr vert="horz" lIns="91440" tIns="45720" rIns="91440" bIns="45720" rtlCol="0" anchor="t">
            <a:normAutofit fontScale="97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nSpc>
                <a:spcPct val="200000"/>
              </a:lnSpc>
            </a:pPr>
            <a:r>
              <a:rPr lang="en-US" sz="1800" b="1" dirty="0">
                <a:latin typeface="Verdana" panose="020B0604030504040204" pitchFamily="34" charset="0"/>
                <a:ea typeface="Verdana" panose="020B0604030504040204" pitchFamily="34" charset="0"/>
              </a:rPr>
              <a:t>2. </a:t>
            </a:r>
            <a:r>
              <a:rPr lang="en-US" sz="1800" b="1" dirty="0" err="1">
                <a:latin typeface="Verdana" panose="020B0604030504040204" pitchFamily="34" charset="0"/>
                <a:ea typeface="Verdana" panose="020B0604030504040204" pitchFamily="34" charset="0"/>
              </a:rPr>
              <a:t>Đánh</a:t>
            </a:r>
            <a:r>
              <a:rPr lang="en-US" sz="1800" b="1" dirty="0">
                <a:latin typeface="Verdana" panose="020B0604030504040204" pitchFamily="34" charset="0"/>
                <a:ea typeface="Verdana" panose="020B0604030504040204" pitchFamily="34" charset="0"/>
              </a:rPr>
              <a:t> </a:t>
            </a:r>
            <a:r>
              <a:rPr lang="en-US" sz="1800" b="1" dirty="0" err="1">
                <a:latin typeface="Verdana" panose="020B0604030504040204" pitchFamily="34" charset="0"/>
                <a:ea typeface="Verdana" panose="020B0604030504040204" pitchFamily="34" charset="0"/>
              </a:rPr>
              <a:t>giá</a:t>
            </a:r>
            <a:r>
              <a:rPr lang="en-US" sz="1800" b="1" dirty="0">
                <a:latin typeface="Verdana" panose="020B0604030504040204" pitchFamily="34" charset="0"/>
                <a:ea typeface="Verdana" panose="020B0604030504040204" pitchFamily="34" charset="0"/>
              </a:rPr>
              <a:t> </a:t>
            </a:r>
            <a:r>
              <a:rPr lang="en-US" sz="1800" b="1" dirty="0" err="1">
                <a:latin typeface="Verdana" panose="020B0604030504040204" pitchFamily="34" charset="0"/>
                <a:ea typeface="Verdana" panose="020B0604030504040204" pitchFamily="34" charset="0"/>
              </a:rPr>
              <a:t>hiệu</a:t>
            </a:r>
            <a:r>
              <a:rPr lang="en-US" sz="1800" b="1" dirty="0">
                <a:latin typeface="Verdana" panose="020B0604030504040204" pitchFamily="34" charset="0"/>
                <a:ea typeface="Verdana" panose="020B0604030504040204" pitchFamily="34" charset="0"/>
              </a:rPr>
              <a:t> </a:t>
            </a:r>
            <a:r>
              <a:rPr lang="en-US" sz="1800" b="1" dirty="0" err="1">
                <a:latin typeface="Verdana" panose="020B0604030504040204" pitchFamily="34" charset="0"/>
                <a:ea typeface="Verdana" panose="020B0604030504040204" pitchFamily="34" charset="0"/>
              </a:rPr>
              <a:t>suất</a:t>
            </a:r>
            <a:r>
              <a:rPr lang="en-US" sz="1800" b="1" dirty="0">
                <a:latin typeface="Verdana" panose="020B0604030504040204" pitchFamily="34" charset="0"/>
                <a:ea typeface="Verdana" panose="020B0604030504040204" pitchFamily="34" charset="0"/>
              </a:rPr>
              <a:t> </a:t>
            </a:r>
            <a:r>
              <a:rPr lang="en-US" sz="1800" b="1" dirty="0" err="1">
                <a:latin typeface="Verdana" panose="020B0604030504040204" pitchFamily="34" charset="0"/>
                <a:ea typeface="Verdana" panose="020B0604030504040204" pitchFamily="34" charset="0"/>
              </a:rPr>
              <a:t>công</a:t>
            </a:r>
            <a:r>
              <a:rPr lang="en-US" sz="1800" b="1" dirty="0">
                <a:latin typeface="Verdana" panose="020B0604030504040204" pitchFamily="34" charset="0"/>
                <a:ea typeface="Verdana" panose="020B0604030504040204" pitchFamily="34" charset="0"/>
              </a:rPr>
              <a:t> </a:t>
            </a:r>
            <a:r>
              <a:rPr lang="en-US" sz="1800" b="1" dirty="0" err="1">
                <a:latin typeface="Verdana" panose="020B0604030504040204" pitchFamily="34" charset="0"/>
                <a:ea typeface="Verdana" panose="020B0604030504040204" pitchFamily="34" charset="0"/>
              </a:rPr>
              <a:t>việc</a:t>
            </a:r>
            <a:r>
              <a:rPr lang="en-US" sz="1800" b="1" dirty="0">
                <a:latin typeface="Verdana" panose="020B0604030504040204" pitchFamily="34" charset="0"/>
                <a:ea typeface="Verdana" panose="020B0604030504040204" pitchFamily="34" charset="0"/>
              </a:rPr>
              <a:t> </a:t>
            </a:r>
            <a:r>
              <a:rPr lang="en-US" sz="1800" b="1" dirty="0" err="1">
                <a:latin typeface="Verdana" panose="020B0604030504040204" pitchFamily="34" charset="0"/>
                <a:ea typeface="Verdana" panose="020B0604030504040204" pitchFamily="34" charset="0"/>
              </a:rPr>
              <a:t>và</a:t>
            </a:r>
            <a:r>
              <a:rPr lang="en-US" sz="1800" b="1" dirty="0">
                <a:latin typeface="Verdana" panose="020B0604030504040204" pitchFamily="34" charset="0"/>
                <a:ea typeface="Verdana" panose="020B0604030504040204" pitchFamily="34" charset="0"/>
              </a:rPr>
              <a:t> </a:t>
            </a:r>
            <a:r>
              <a:rPr lang="en-US" sz="1800" b="1" dirty="0" err="1">
                <a:latin typeface="Verdana" panose="020B0604030504040204" pitchFamily="34" charset="0"/>
                <a:ea typeface="Verdana" panose="020B0604030504040204" pitchFamily="34" charset="0"/>
              </a:rPr>
              <a:t>phương</a:t>
            </a:r>
            <a:r>
              <a:rPr lang="en-US" sz="1800" b="1" dirty="0">
                <a:latin typeface="Verdana" panose="020B0604030504040204" pitchFamily="34" charset="0"/>
                <a:ea typeface="Verdana" panose="020B0604030504040204" pitchFamily="34" charset="0"/>
              </a:rPr>
              <a:t> </a:t>
            </a:r>
            <a:r>
              <a:rPr lang="en-US" sz="1800" b="1" dirty="0" err="1">
                <a:latin typeface="Verdana" panose="020B0604030504040204" pitchFamily="34" charset="0"/>
                <a:ea typeface="Verdana" panose="020B0604030504040204" pitchFamily="34" charset="0"/>
              </a:rPr>
              <a:t>pháp</a:t>
            </a:r>
            <a:r>
              <a:rPr lang="en-US" sz="1800" b="1" dirty="0">
                <a:latin typeface="Verdana" panose="020B0604030504040204" pitchFamily="34" charset="0"/>
                <a:ea typeface="Verdana" panose="020B0604030504040204" pitchFamily="34" charset="0"/>
              </a:rPr>
              <a:t> </a:t>
            </a:r>
            <a:r>
              <a:rPr lang="en-US" sz="1800" b="1" dirty="0" err="1">
                <a:latin typeface="Verdana" panose="020B0604030504040204" pitchFamily="34" charset="0"/>
                <a:ea typeface="Verdana" panose="020B0604030504040204" pitchFamily="34" charset="0"/>
              </a:rPr>
              <a:t>đánh</a:t>
            </a:r>
            <a:r>
              <a:rPr lang="en-US" sz="1800" b="1" dirty="0">
                <a:latin typeface="Verdana" panose="020B0604030504040204" pitchFamily="34" charset="0"/>
                <a:ea typeface="Verdana" panose="020B0604030504040204" pitchFamily="34" charset="0"/>
              </a:rPr>
              <a:t> </a:t>
            </a:r>
            <a:r>
              <a:rPr lang="en-US" sz="1800" b="1" dirty="0" err="1">
                <a:latin typeface="Verdana" panose="020B0604030504040204" pitchFamily="34" charset="0"/>
                <a:ea typeface="Verdana" panose="020B0604030504040204" pitchFamily="34" charset="0"/>
              </a:rPr>
              <a:t>giá</a:t>
            </a:r>
            <a:endParaRPr lang="en-US" sz="1800" b="1" dirty="0">
              <a:latin typeface="Verdana" panose="020B0604030504040204" pitchFamily="34" charset="0"/>
              <a:ea typeface="Verdana" panose="020B0604030504040204" pitchFamily="34" charset="0"/>
            </a:endParaRPr>
          </a:p>
          <a:p>
            <a:pPr>
              <a:lnSpc>
                <a:spcPct val="200000"/>
              </a:lnSpc>
            </a:pPr>
            <a:r>
              <a:rPr lang="en-US" sz="1800" dirty="0" err="1">
                <a:latin typeface="Verdana" panose="020B0604030504040204" pitchFamily="34" charset="0"/>
                <a:ea typeface="Verdana" panose="020B0604030504040204" pitchFamily="34" charset="0"/>
              </a:rPr>
              <a:t>Đánh</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giá</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hiệu</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suất</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công</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việc</a:t>
            </a:r>
            <a:endParaRPr lang="en-US" sz="1800" dirty="0">
              <a:latin typeface="Verdana" panose="020B0604030504040204" pitchFamily="34" charset="0"/>
              <a:ea typeface="Verdana" panose="020B0604030504040204" pitchFamily="34" charset="0"/>
            </a:endParaRPr>
          </a:p>
          <a:p>
            <a:pPr marL="285750" indent="-285750">
              <a:lnSpc>
                <a:spcPct val="200000"/>
              </a:lnSpc>
              <a:buFont typeface="Wingdings" panose="05000000000000000000" pitchFamily="2" charset="2"/>
              <a:buChar char="Ø"/>
            </a:pPr>
            <a:r>
              <a:rPr lang="vi-VN" sz="1800" dirty="0">
                <a:latin typeface="Verdana" panose="020B0604030504040204" pitchFamily="34" charset="0"/>
                <a:ea typeface="Verdana" panose="020B0604030504040204" pitchFamily="34" charset="0"/>
              </a:rPr>
              <a:t>Xây dựng các tiêu chuẩn trong thực hiện công việc</a:t>
            </a:r>
          </a:p>
          <a:p>
            <a:pPr marL="285750" indent="-285750">
              <a:lnSpc>
                <a:spcPct val="200000"/>
              </a:lnSpc>
              <a:buFont typeface="Wingdings" panose="05000000000000000000" pitchFamily="2" charset="2"/>
              <a:buChar char="Ø"/>
            </a:pPr>
            <a:r>
              <a:rPr lang="vi-VN" sz="1800" dirty="0">
                <a:latin typeface="Verdana" panose="020B0604030504040204" pitchFamily="34" charset="0"/>
                <a:ea typeface="Verdana" panose="020B0604030504040204" pitchFamily="34" charset="0"/>
              </a:rPr>
              <a:t>Đo lường được việc thực hiện công việc theo các tiêu chuẩn</a:t>
            </a:r>
          </a:p>
          <a:p>
            <a:pPr marL="285750" indent="-285750">
              <a:lnSpc>
                <a:spcPct val="200000"/>
              </a:lnSpc>
              <a:buFont typeface="Wingdings" panose="05000000000000000000" pitchFamily="2" charset="2"/>
              <a:buChar char="Ø"/>
            </a:pPr>
            <a:r>
              <a:rPr lang="vi-VN" sz="1800" dirty="0">
                <a:latin typeface="Verdana" panose="020B0604030504040204" pitchFamily="34" charset="0"/>
                <a:ea typeface="Verdana" panose="020B0604030504040204" pitchFamily="34" charset="0"/>
              </a:rPr>
              <a:t>Dữ liệu phản hồi của người đánh giá, người được đánh giá</a:t>
            </a:r>
            <a:endParaRPr lang="en-US" sz="1800" dirty="0">
              <a:latin typeface="Verdana" panose="020B0604030504040204" pitchFamily="34" charset="0"/>
              <a:ea typeface="Verdana" panose="020B0604030504040204" pitchFamily="34" charset="0"/>
            </a:endParaRPr>
          </a:p>
          <a:p>
            <a:pPr>
              <a:lnSpc>
                <a:spcPct val="200000"/>
              </a:lnSpc>
            </a:pPr>
            <a:r>
              <a:rPr lang="en-US" sz="1800" dirty="0" err="1">
                <a:latin typeface="Verdana" panose="020B0604030504040204" pitchFamily="34" charset="0"/>
                <a:ea typeface="Verdana" panose="020B0604030504040204" pitchFamily="34" charset="0"/>
              </a:rPr>
              <a:t>Phương</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pháp</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đánh</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giá</a:t>
            </a:r>
            <a:endParaRPr lang="en-US" sz="1800" dirty="0">
              <a:latin typeface="Verdana" panose="020B0604030504040204" pitchFamily="34" charset="0"/>
              <a:ea typeface="Verdana" panose="020B0604030504040204" pitchFamily="34" charset="0"/>
            </a:endParaRPr>
          </a:p>
          <a:p>
            <a:pPr marL="285750" indent="-285750">
              <a:lnSpc>
                <a:spcPct val="200000"/>
              </a:lnSpc>
              <a:buFont typeface="Wingdings" panose="05000000000000000000" pitchFamily="2" charset="2"/>
              <a:buChar char="ü"/>
            </a:pPr>
            <a:r>
              <a:rPr lang="vi-VN" sz="1800" dirty="0">
                <a:latin typeface="Verdana" panose="020B0604030504040204" pitchFamily="34" charset="0"/>
                <a:ea typeface="Verdana" panose="020B0604030504040204" pitchFamily="34" charset="0"/>
              </a:rPr>
              <a:t>Phương pháp đánh giá bằng bảng điểm và đồ thị</a:t>
            </a:r>
            <a:endParaRPr lang="en-US" sz="1800" dirty="0">
              <a:latin typeface="Verdana" panose="020B0604030504040204" pitchFamily="34" charset="0"/>
              <a:ea typeface="Verdana" panose="020B0604030504040204" pitchFamily="34" charset="0"/>
            </a:endParaRPr>
          </a:p>
          <a:p>
            <a:pPr marL="285750" indent="-285750">
              <a:lnSpc>
                <a:spcPct val="200000"/>
              </a:lnSpc>
              <a:buFont typeface="Wingdings" panose="05000000000000000000" pitchFamily="2" charset="2"/>
              <a:buChar char="ü"/>
            </a:pPr>
            <a:r>
              <a:rPr lang="vi-VN" sz="1800" dirty="0">
                <a:latin typeface="Verdana" panose="020B0604030504040204" pitchFamily="34" charset="0"/>
                <a:ea typeface="Verdana" panose="020B0604030504040204" pitchFamily="34" charset="0"/>
              </a:rPr>
              <a:t>Phương pháp so sánh cặp</a:t>
            </a:r>
            <a:endParaRPr lang="en-US" sz="1800" dirty="0">
              <a:latin typeface="Verdana" panose="020B0604030504040204" pitchFamily="34" charset="0"/>
              <a:ea typeface="Verdana" panose="020B0604030504040204" pitchFamily="34" charset="0"/>
            </a:endParaRPr>
          </a:p>
          <a:p>
            <a:pPr marL="285750" indent="-285750">
              <a:lnSpc>
                <a:spcPct val="200000"/>
              </a:lnSpc>
              <a:buFont typeface="Wingdings" panose="05000000000000000000" pitchFamily="2" charset="2"/>
              <a:buChar char="ü"/>
            </a:pPr>
            <a:r>
              <a:rPr lang="vi-VN" sz="1800" dirty="0">
                <a:latin typeface="Verdana" panose="020B0604030504040204" pitchFamily="34" charset="0"/>
                <a:ea typeface="Verdana" panose="020B0604030504040204" pitchFamily="34" charset="0"/>
              </a:rPr>
              <a:t>Phương pháp quản trị bằng mục tiêu</a:t>
            </a:r>
            <a:endParaRPr lang="en-US" sz="1800" dirty="0">
              <a:latin typeface="Verdana" panose="020B0604030504040204" pitchFamily="34" charset="0"/>
              <a:ea typeface="Verdana" panose="020B0604030504040204" pitchFamily="34" charset="0"/>
            </a:endParaRPr>
          </a:p>
          <a:p>
            <a:pPr marL="285750" indent="-285750">
              <a:lnSpc>
                <a:spcPct val="200000"/>
              </a:lnSpc>
              <a:buFont typeface="Wingdings" panose="05000000000000000000" pitchFamily="2" charset="2"/>
              <a:buChar char="ü"/>
            </a:pPr>
            <a:r>
              <a:rPr lang="en-US" sz="1800" dirty="0">
                <a:latin typeface="Verdana" panose="020B0604030504040204" pitchFamily="34" charset="0"/>
                <a:ea typeface="Verdana" panose="020B0604030504040204" pitchFamily="34" charset="0"/>
              </a:rPr>
              <a:t>….</a:t>
            </a:r>
          </a:p>
        </p:txBody>
      </p:sp>
    </p:spTree>
    <p:extLst>
      <p:ext uri="{BB962C8B-B14F-4D97-AF65-F5344CB8AC3E}">
        <p14:creationId xmlns:p14="http://schemas.microsoft.com/office/powerpoint/2010/main" val="326341014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 name="Rectangle 47"/>
          <p:cNvSpPr/>
          <p:nvPr/>
        </p:nvSpPr>
        <p:spPr>
          <a:xfrm>
            <a:off x="1333896" y="327184"/>
            <a:ext cx="9888286" cy="492443"/>
          </a:xfrm>
          <a:prstGeom prst="rect">
            <a:avLst/>
          </a:prstGeom>
        </p:spPr>
        <p:txBody>
          <a:bodyPr wrap="square">
            <a:spAutoFit/>
          </a:bodyPr>
          <a:lstStyle/>
          <a:p>
            <a:r>
              <a:rPr lang="vi-VN" sz="2600" b="1" dirty="0">
                <a:solidFill>
                  <a:schemeClr val="bg1"/>
                </a:solidFill>
                <a:latin typeface="Verdana" panose="020B0604030504040204" pitchFamily="34" charset="0"/>
                <a:ea typeface="Verdana" panose="020B0604030504040204" pitchFamily="34" charset="0"/>
              </a:rPr>
              <a:t>1. Giới thiệu quản lý công việc và đánh giá hiệu quả</a:t>
            </a:r>
            <a:endParaRPr lang="en-US" sz="2600" b="1" dirty="0">
              <a:solidFill>
                <a:schemeClr val="bg1"/>
              </a:solidFill>
              <a:latin typeface="Verdana" panose="020B0604030504040204" pitchFamily="34" charset="0"/>
              <a:ea typeface="Verdana" panose="020B0604030504040204" pitchFamily="34" charset="0"/>
            </a:endParaRPr>
          </a:p>
        </p:txBody>
      </p:sp>
      <p:sp>
        <p:nvSpPr>
          <p:cNvPr id="4" name="Title 1">
            <a:extLst>
              <a:ext uri="{FF2B5EF4-FFF2-40B4-BE49-F238E27FC236}">
                <a16:creationId xmlns:a16="http://schemas.microsoft.com/office/drawing/2014/main" id="{D6309B9C-1924-4E7A-82A1-DDBA755727BE}"/>
              </a:ext>
            </a:extLst>
          </p:cNvPr>
          <p:cNvSpPr txBox="1">
            <a:spLocks/>
          </p:cNvSpPr>
          <p:nvPr/>
        </p:nvSpPr>
        <p:spPr>
          <a:xfrm>
            <a:off x="1094509" y="1136073"/>
            <a:ext cx="10127673" cy="5394743"/>
          </a:xfrm>
          <a:prstGeom prst="rect">
            <a:avLst/>
          </a:prstGeom>
        </p:spPr>
        <p:txBody>
          <a:bodyPr vert="horz" lIns="91440" tIns="45720" rIns="91440" bIns="45720" rtlCol="0" anchor="t">
            <a:normAutofit fontScale="97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342900" indent="-342900">
              <a:lnSpc>
                <a:spcPct val="150000"/>
              </a:lnSpc>
              <a:buAutoNum type="arabicPeriod"/>
            </a:pPr>
            <a:endParaRPr lang="en-US" sz="1800" b="1" dirty="0">
              <a:latin typeface="Verdana" panose="020B0604030504040204" pitchFamily="34" charset="0"/>
              <a:ea typeface="Verdana" panose="020B0604030504040204" pitchFamily="34" charset="0"/>
            </a:endParaRPr>
          </a:p>
        </p:txBody>
      </p:sp>
      <p:sp>
        <p:nvSpPr>
          <p:cNvPr id="5" name="Title 1">
            <a:extLst>
              <a:ext uri="{FF2B5EF4-FFF2-40B4-BE49-F238E27FC236}">
                <a16:creationId xmlns:a16="http://schemas.microsoft.com/office/drawing/2014/main" id="{56541AD8-9D9B-4D9C-BDFF-103129E96583}"/>
              </a:ext>
            </a:extLst>
          </p:cNvPr>
          <p:cNvSpPr txBox="1">
            <a:spLocks/>
          </p:cNvSpPr>
          <p:nvPr/>
        </p:nvSpPr>
        <p:spPr>
          <a:xfrm>
            <a:off x="1094509" y="1136073"/>
            <a:ext cx="10307782" cy="5549540"/>
          </a:xfrm>
          <a:prstGeom prst="rect">
            <a:avLst/>
          </a:prstGeom>
        </p:spPr>
        <p:txBody>
          <a:bodyPr vert="horz" lIns="91440" tIns="45720" rIns="91440" bIns="45720" rtlCol="0" anchor="t">
            <a:normAutofit fontScale="97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nSpc>
                <a:spcPct val="200000"/>
              </a:lnSpc>
            </a:pPr>
            <a:r>
              <a:rPr lang="en-US" sz="1800" b="1" dirty="0">
                <a:latin typeface="Verdana" panose="020B0604030504040204" pitchFamily="34" charset="0"/>
                <a:ea typeface="Verdana" panose="020B0604030504040204" pitchFamily="34" charset="0"/>
              </a:rPr>
              <a:t>3. </a:t>
            </a:r>
            <a:r>
              <a:rPr lang="en-US" sz="1800" b="1" dirty="0" err="1">
                <a:latin typeface="Verdana" panose="020B0604030504040204" pitchFamily="34" charset="0"/>
                <a:ea typeface="Verdana" panose="020B0604030504040204" pitchFamily="34" charset="0"/>
              </a:rPr>
              <a:t>Hệ</a:t>
            </a:r>
            <a:r>
              <a:rPr lang="en-US" sz="1800" b="1" dirty="0">
                <a:latin typeface="Verdana" panose="020B0604030504040204" pitchFamily="34" charset="0"/>
                <a:ea typeface="Verdana" panose="020B0604030504040204" pitchFamily="34" charset="0"/>
              </a:rPr>
              <a:t> </a:t>
            </a:r>
            <a:r>
              <a:rPr lang="en-US" sz="1800" b="1" dirty="0" err="1">
                <a:latin typeface="Verdana" panose="020B0604030504040204" pitchFamily="34" charset="0"/>
                <a:ea typeface="Verdana" panose="020B0604030504040204" pitchFamily="34" charset="0"/>
              </a:rPr>
              <a:t>thống</a:t>
            </a:r>
            <a:r>
              <a:rPr lang="en-US" sz="1800" b="1" dirty="0">
                <a:latin typeface="Verdana" panose="020B0604030504040204" pitchFamily="34" charset="0"/>
                <a:ea typeface="Verdana" panose="020B0604030504040204" pitchFamily="34" charset="0"/>
              </a:rPr>
              <a:t> KPIs </a:t>
            </a:r>
            <a:r>
              <a:rPr lang="en-US" sz="1800" b="1" dirty="0" err="1">
                <a:latin typeface="Verdana" panose="020B0604030504040204" pitchFamily="34" charset="0"/>
                <a:ea typeface="Verdana" panose="020B0604030504040204" pitchFamily="34" charset="0"/>
              </a:rPr>
              <a:t>và</a:t>
            </a:r>
            <a:r>
              <a:rPr lang="en-US" sz="1800" b="1" dirty="0">
                <a:latin typeface="Verdana" panose="020B0604030504040204" pitchFamily="34" charset="0"/>
                <a:ea typeface="Verdana" panose="020B0604030504040204" pitchFamily="34" charset="0"/>
              </a:rPr>
              <a:t> </a:t>
            </a:r>
            <a:r>
              <a:rPr lang="en-US" sz="1800" b="1" dirty="0" err="1">
                <a:latin typeface="Verdana" panose="020B0604030504040204" pitchFamily="34" charset="0"/>
                <a:ea typeface="Verdana" panose="020B0604030504040204" pitchFamily="34" charset="0"/>
              </a:rPr>
              <a:t>khái</a:t>
            </a:r>
            <a:r>
              <a:rPr lang="en-US" sz="1800" b="1" dirty="0">
                <a:latin typeface="Verdana" panose="020B0604030504040204" pitchFamily="34" charset="0"/>
                <a:ea typeface="Verdana" panose="020B0604030504040204" pitchFamily="34" charset="0"/>
              </a:rPr>
              <a:t> </a:t>
            </a:r>
            <a:r>
              <a:rPr lang="en-US" sz="1800" b="1" dirty="0" err="1">
                <a:latin typeface="Verdana" panose="020B0604030504040204" pitchFamily="34" charset="0"/>
                <a:ea typeface="Verdana" panose="020B0604030504040204" pitchFamily="34" charset="0"/>
              </a:rPr>
              <a:t>niệm</a:t>
            </a:r>
            <a:r>
              <a:rPr lang="en-US" sz="1800" b="1" dirty="0">
                <a:latin typeface="Verdana" panose="020B0604030504040204" pitchFamily="34" charset="0"/>
                <a:ea typeface="Verdana" panose="020B0604030504040204" pitchFamily="34" charset="0"/>
              </a:rPr>
              <a:t> </a:t>
            </a:r>
            <a:r>
              <a:rPr lang="en-US" sz="1800" b="1" dirty="0" err="1">
                <a:latin typeface="Verdana" panose="020B0604030504040204" pitchFamily="34" charset="0"/>
                <a:ea typeface="Verdana" panose="020B0604030504040204" pitchFamily="34" charset="0"/>
              </a:rPr>
              <a:t>chỉ</a:t>
            </a:r>
            <a:r>
              <a:rPr lang="en-US" sz="1800" b="1" dirty="0">
                <a:latin typeface="Verdana" panose="020B0604030504040204" pitchFamily="34" charset="0"/>
                <a:ea typeface="Verdana" panose="020B0604030504040204" pitchFamily="34" charset="0"/>
              </a:rPr>
              <a:t> </a:t>
            </a:r>
            <a:r>
              <a:rPr lang="en-US" sz="1800" b="1" dirty="0" err="1">
                <a:latin typeface="Verdana" panose="020B0604030504040204" pitchFamily="34" charset="0"/>
                <a:ea typeface="Verdana" panose="020B0604030504040204" pitchFamily="34" charset="0"/>
              </a:rPr>
              <a:t>số</a:t>
            </a:r>
            <a:r>
              <a:rPr lang="en-US" sz="1800" b="1" dirty="0">
                <a:latin typeface="Verdana" panose="020B0604030504040204" pitchFamily="34" charset="0"/>
                <a:ea typeface="Verdana" panose="020B0604030504040204" pitchFamily="34" charset="0"/>
              </a:rPr>
              <a:t> </a:t>
            </a:r>
            <a:r>
              <a:rPr lang="en-US" sz="1800" b="1" dirty="0" err="1">
                <a:latin typeface="Verdana" panose="020B0604030504040204" pitchFamily="34" charset="0"/>
                <a:ea typeface="Verdana" panose="020B0604030504040204" pitchFamily="34" charset="0"/>
              </a:rPr>
              <a:t>đo</a:t>
            </a:r>
            <a:r>
              <a:rPr lang="en-US" sz="1800" b="1" dirty="0">
                <a:latin typeface="Verdana" panose="020B0604030504040204" pitchFamily="34" charset="0"/>
                <a:ea typeface="Verdana" panose="020B0604030504040204" pitchFamily="34" charset="0"/>
              </a:rPr>
              <a:t> </a:t>
            </a:r>
            <a:r>
              <a:rPr lang="en-US" sz="1800" b="1" dirty="0" err="1">
                <a:latin typeface="Verdana" panose="020B0604030504040204" pitchFamily="34" charset="0"/>
                <a:ea typeface="Verdana" panose="020B0604030504040204" pitchFamily="34" charset="0"/>
              </a:rPr>
              <a:t>lường</a:t>
            </a:r>
            <a:r>
              <a:rPr lang="en-US" sz="1800" b="1" dirty="0">
                <a:latin typeface="Verdana" panose="020B0604030504040204" pitchFamily="34" charset="0"/>
                <a:ea typeface="Verdana" panose="020B0604030504040204" pitchFamily="34" charset="0"/>
              </a:rPr>
              <a:t> </a:t>
            </a:r>
            <a:r>
              <a:rPr lang="en-US" sz="1800" b="1" dirty="0" err="1">
                <a:latin typeface="Verdana" panose="020B0604030504040204" pitchFamily="34" charset="0"/>
                <a:ea typeface="Verdana" panose="020B0604030504040204" pitchFamily="34" charset="0"/>
              </a:rPr>
              <a:t>hiệu</a:t>
            </a:r>
            <a:r>
              <a:rPr lang="en-US" sz="1800" b="1" dirty="0">
                <a:latin typeface="Verdana" panose="020B0604030504040204" pitchFamily="34" charset="0"/>
                <a:ea typeface="Verdana" panose="020B0604030504040204" pitchFamily="34" charset="0"/>
              </a:rPr>
              <a:t> </a:t>
            </a:r>
            <a:r>
              <a:rPr lang="en-US" sz="1800" b="1" dirty="0" err="1">
                <a:latin typeface="Verdana" panose="020B0604030504040204" pitchFamily="34" charset="0"/>
                <a:ea typeface="Verdana" panose="020B0604030504040204" pitchFamily="34" charset="0"/>
              </a:rPr>
              <a:t>suất</a:t>
            </a:r>
            <a:endParaRPr lang="en-US" sz="1800" b="1" dirty="0">
              <a:latin typeface="Verdana" panose="020B0604030504040204" pitchFamily="34" charset="0"/>
              <a:ea typeface="Verdana" panose="020B0604030504040204" pitchFamily="34" charset="0"/>
            </a:endParaRPr>
          </a:p>
          <a:p>
            <a:pPr>
              <a:lnSpc>
                <a:spcPct val="200000"/>
              </a:lnSpc>
            </a:pPr>
            <a:r>
              <a:rPr lang="vi-VN" sz="1800" dirty="0">
                <a:latin typeface="Verdana" panose="020B0604030504040204" pitchFamily="34" charset="0"/>
                <a:ea typeface="Verdana" panose="020B0604030504040204" pitchFamily="34" charset="0"/>
              </a:rPr>
              <a:t>KPI lại được chia làm 2 loại chính là: </a:t>
            </a:r>
            <a:endParaRPr lang="en-US" sz="1800" dirty="0">
              <a:latin typeface="Verdana" panose="020B0604030504040204" pitchFamily="34" charset="0"/>
              <a:ea typeface="Verdana" panose="020B0604030504040204" pitchFamily="34" charset="0"/>
            </a:endParaRPr>
          </a:p>
          <a:p>
            <a:pPr marL="914400" indent="-285750">
              <a:lnSpc>
                <a:spcPct val="200000"/>
              </a:lnSpc>
              <a:buFont typeface="Wingdings" panose="05000000000000000000" pitchFamily="2" charset="2"/>
              <a:buChar char="Ø"/>
            </a:pPr>
            <a:r>
              <a:rPr lang="vi-VN" sz="1800" dirty="0">
                <a:latin typeface="Verdana" panose="020B0604030504040204" pitchFamily="34" charset="0"/>
                <a:ea typeface="Verdana" panose="020B0604030504040204" pitchFamily="34" charset="0"/>
              </a:rPr>
              <a:t>KPI mang mục tiêu chiến lược</a:t>
            </a:r>
            <a:endParaRPr lang="en-US" sz="1800" dirty="0">
              <a:latin typeface="Verdana" panose="020B0604030504040204" pitchFamily="34" charset="0"/>
              <a:ea typeface="Verdana" panose="020B0604030504040204" pitchFamily="34" charset="0"/>
            </a:endParaRPr>
          </a:p>
          <a:p>
            <a:pPr marL="914400" indent="-285750">
              <a:lnSpc>
                <a:spcPct val="200000"/>
              </a:lnSpc>
              <a:buFont typeface="Wingdings" panose="05000000000000000000" pitchFamily="2" charset="2"/>
              <a:buChar char="Ø"/>
            </a:pPr>
            <a:r>
              <a:rPr lang="vi-VN" sz="1800" dirty="0">
                <a:latin typeface="Verdana" panose="020B0604030504040204" pitchFamily="34" charset="0"/>
                <a:ea typeface="Verdana" panose="020B0604030504040204" pitchFamily="34" charset="0"/>
              </a:rPr>
              <a:t>KPI mang mục tiêu chiến thuật</a:t>
            </a:r>
            <a:endParaRPr lang="en-US" sz="1800" dirty="0">
              <a:latin typeface="Verdana" panose="020B0604030504040204" pitchFamily="34" charset="0"/>
              <a:ea typeface="Verdana" panose="020B0604030504040204" pitchFamily="34" charset="0"/>
            </a:endParaRPr>
          </a:p>
          <a:p>
            <a:pPr>
              <a:lnSpc>
                <a:spcPct val="200000"/>
              </a:lnSpc>
            </a:pPr>
            <a:r>
              <a:rPr lang="vi-VN" sz="1800" dirty="0">
                <a:latin typeface="Verdana" panose="020B0604030504040204" pitchFamily="34" charset="0"/>
                <a:ea typeface="Verdana" panose="020B0604030504040204" pitchFamily="34" charset="0"/>
              </a:rPr>
              <a:t>Ưu</a:t>
            </a:r>
            <a:r>
              <a:rPr lang="en-US" sz="1800" dirty="0">
                <a:latin typeface="Verdana" panose="020B0604030504040204" pitchFamily="34" charset="0"/>
                <a:ea typeface="Verdana" panose="020B0604030504040204" pitchFamily="34" charset="0"/>
              </a:rPr>
              <a:t> </a:t>
            </a:r>
            <a:r>
              <a:rPr lang="vi-VN" sz="1800" dirty="0">
                <a:latin typeface="Verdana" panose="020B0604030504040204" pitchFamily="34" charset="0"/>
                <a:ea typeface="Verdana" panose="020B0604030504040204" pitchFamily="34" charset="0"/>
              </a:rPr>
              <a:t>điểm của KPIs</a:t>
            </a:r>
            <a:endParaRPr lang="en-US" sz="1800" dirty="0">
              <a:latin typeface="Verdana" panose="020B0604030504040204" pitchFamily="34" charset="0"/>
              <a:ea typeface="Verdana" panose="020B0604030504040204" pitchFamily="34" charset="0"/>
            </a:endParaRPr>
          </a:p>
          <a:p>
            <a:pPr marL="914400" indent="-285750">
              <a:lnSpc>
                <a:spcPct val="200000"/>
              </a:lnSpc>
              <a:buFont typeface="Wingdings" panose="05000000000000000000" pitchFamily="2" charset="2"/>
              <a:buChar char="ü"/>
            </a:pPr>
            <a:r>
              <a:rPr lang="en-US" sz="1800" dirty="0" err="1">
                <a:latin typeface="Verdana" panose="020B0604030504040204" pitchFamily="34" charset="0"/>
                <a:ea typeface="Verdana" panose="020B0604030504040204" pitchFamily="34" charset="0"/>
              </a:rPr>
              <a:t>Đo</a:t>
            </a:r>
            <a:r>
              <a:rPr lang="vi-VN" sz="1800" dirty="0">
                <a:latin typeface="Verdana" panose="020B0604030504040204" pitchFamily="34" charset="0"/>
                <a:ea typeface="Verdana" panose="020B0604030504040204" pitchFamily="34" charset="0"/>
              </a:rPr>
              <a:t>lường sức tăng trường so với mục tiêu một cách rõ r</a:t>
            </a:r>
            <a:r>
              <a:rPr lang="en-US" sz="1800" dirty="0">
                <a:latin typeface="Verdana" panose="020B0604030504040204" pitchFamily="34" charset="0"/>
                <a:ea typeface="Verdana" panose="020B0604030504040204" pitchFamily="34" charset="0"/>
              </a:rPr>
              <a:t>à</a:t>
            </a:r>
            <a:r>
              <a:rPr lang="vi-VN" sz="1800" dirty="0">
                <a:latin typeface="Verdana" panose="020B0604030504040204" pitchFamily="34" charset="0"/>
                <a:ea typeface="Verdana" panose="020B0604030504040204" pitchFamily="34" charset="0"/>
              </a:rPr>
              <a:t>ng</a:t>
            </a:r>
          </a:p>
          <a:p>
            <a:pPr marL="914400" indent="-285750">
              <a:lnSpc>
                <a:spcPct val="200000"/>
              </a:lnSpc>
              <a:buFont typeface="Wingdings" panose="05000000000000000000" pitchFamily="2" charset="2"/>
              <a:buChar char="ü"/>
            </a:pPr>
            <a:r>
              <a:rPr lang="vi-VN" sz="1800" dirty="0">
                <a:latin typeface="Verdana" panose="020B0604030504040204" pitchFamily="34" charset="0"/>
                <a:ea typeface="Verdana" panose="020B0604030504040204" pitchFamily="34" charset="0"/>
              </a:rPr>
              <a:t>nắm rõ được hiệu suất, hiệu quả làm </a:t>
            </a:r>
          </a:p>
          <a:p>
            <a:pPr>
              <a:lnSpc>
                <a:spcPct val="200000"/>
              </a:lnSpc>
            </a:pPr>
            <a:r>
              <a:rPr lang="vi-VN" sz="1800" dirty="0">
                <a:latin typeface="Verdana" panose="020B0604030504040204" pitchFamily="34" charset="0"/>
                <a:ea typeface="Verdana" panose="020B0604030504040204" pitchFamily="34" charset="0"/>
              </a:rPr>
              <a:t>Nhược điểm</a:t>
            </a:r>
          </a:p>
          <a:p>
            <a:pPr marL="914400" indent="-285750">
              <a:lnSpc>
                <a:spcPct val="200000"/>
              </a:lnSpc>
              <a:buFont typeface="Wingdings" panose="05000000000000000000" pitchFamily="2" charset="2"/>
              <a:buChar char="ü"/>
            </a:pPr>
            <a:r>
              <a:rPr lang="vi-VN" sz="1800" dirty="0">
                <a:latin typeface="Verdana" panose="020B0604030504040204" pitchFamily="34" charset="0"/>
                <a:ea typeface="Verdana" panose="020B0604030504040204" pitchFamily="34" charset="0"/>
              </a:rPr>
              <a:t>Người xây dựng phải có chuyện môn cao</a:t>
            </a:r>
          </a:p>
          <a:p>
            <a:pPr marL="914400" indent="-285750">
              <a:lnSpc>
                <a:spcPct val="200000"/>
              </a:lnSpc>
              <a:buFont typeface="Wingdings" panose="05000000000000000000" pitchFamily="2" charset="2"/>
              <a:buChar char="ü"/>
            </a:pPr>
            <a:r>
              <a:rPr lang="vi-VN" sz="1800" dirty="0">
                <a:latin typeface="Verdana" panose="020B0604030504040204" pitchFamily="34" charset="0"/>
                <a:ea typeface="Verdana" panose="020B0604030504040204" pitchFamily="34" charset="0"/>
              </a:rPr>
              <a:t>Hiệu quả không cao áp dụng trong thời gian dài.</a:t>
            </a:r>
          </a:p>
          <a:p>
            <a:pPr>
              <a:lnSpc>
                <a:spcPct val="200000"/>
              </a:lnSpc>
            </a:pPr>
            <a:endParaRPr lang="en-US" sz="1800" dirty="0">
              <a:latin typeface="Verdana" panose="020B0604030504040204" pitchFamily="34" charset="0"/>
              <a:ea typeface="Verdana" panose="020B0604030504040204" pitchFamily="34" charset="0"/>
            </a:endParaRPr>
          </a:p>
        </p:txBody>
      </p:sp>
    </p:spTree>
    <p:extLst>
      <p:ext uri="{BB962C8B-B14F-4D97-AF65-F5344CB8AC3E}">
        <p14:creationId xmlns:p14="http://schemas.microsoft.com/office/powerpoint/2010/main" val="325830784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 name="Rectangle 47"/>
          <p:cNvSpPr/>
          <p:nvPr/>
        </p:nvSpPr>
        <p:spPr>
          <a:xfrm>
            <a:off x="1333896" y="327184"/>
            <a:ext cx="9823541" cy="492443"/>
          </a:xfrm>
          <a:prstGeom prst="rect">
            <a:avLst/>
          </a:prstGeom>
        </p:spPr>
        <p:txBody>
          <a:bodyPr wrap="square">
            <a:spAutoFit/>
          </a:bodyPr>
          <a:lstStyle/>
          <a:p>
            <a:r>
              <a:rPr lang="vi-VN" sz="2600" b="1" dirty="0">
                <a:solidFill>
                  <a:schemeClr val="bg1"/>
                </a:solidFill>
                <a:latin typeface="Verdana" panose="020B0604030504040204" pitchFamily="34" charset="0"/>
                <a:ea typeface="Verdana" panose="020B0604030504040204" pitchFamily="34" charset="0"/>
              </a:rPr>
              <a:t>2. Thực trạng quản lý và đánh giá tại PrBBNKBIDV</a:t>
            </a:r>
            <a:endParaRPr lang="en-US" sz="2600" b="1" dirty="0">
              <a:solidFill>
                <a:schemeClr val="bg1"/>
              </a:solidFill>
              <a:latin typeface="Verdana" panose="020B0604030504040204" pitchFamily="34" charset="0"/>
              <a:ea typeface="Verdana" panose="020B0604030504040204" pitchFamily="34" charset="0"/>
            </a:endParaRPr>
          </a:p>
        </p:txBody>
      </p:sp>
      <p:sp>
        <p:nvSpPr>
          <p:cNvPr id="3" name="Title 1">
            <a:extLst>
              <a:ext uri="{FF2B5EF4-FFF2-40B4-BE49-F238E27FC236}">
                <a16:creationId xmlns:a16="http://schemas.microsoft.com/office/drawing/2014/main" id="{0E528855-E7C4-4EB7-8D52-4B5C2D03B187}"/>
              </a:ext>
            </a:extLst>
          </p:cNvPr>
          <p:cNvSpPr txBox="1">
            <a:spLocks/>
          </p:cNvSpPr>
          <p:nvPr/>
        </p:nvSpPr>
        <p:spPr>
          <a:xfrm>
            <a:off x="1094509" y="1136073"/>
            <a:ext cx="10307782" cy="5549540"/>
          </a:xfrm>
          <a:prstGeom prst="rect">
            <a:avLst/>
          </a:prstGeom>
        </p:spPr>
        <p:txBody>
          <a:bodyPr vert="horz" lIns="91440" tIns="45720" rIns="91440" bIns="45720" rtlCol="0" anchor="t">
            <a:normAutofit fontScale="97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nSpc>
                <a:spcPct val="200000"/>
              </a:lnSpc>
            </a:pPr>
            <a:r>
              <a:rPr lang="en-US" sz="1800" b="1" dirty="0" err="1">
                <a:latin typeface="Verdana" panose="020B0604030504040204" pitchFamily="34" charset="0"/>
                <a:ea typeface="Verdana" panose="020B0604030504040204" pitchFamily="34" charset="0"/>
              </a:rPr>
              <a:t>Tổng</a:t>
            </a:r>
            <a:r>
              <a:rPr lang="en-US" sz="1800" b="1" dirty="0">
                <a:latin typeface="Verdana" panose="020B0604030504040204" pitchFamily="34" charset="0"/>
                <a:ea typeface="Verdana" panose="020B0604030504040204" pitchFamily="34" charset="0"/>
              </a:rPr>
              <a:t> </a:t>
            </a:r>
            <a:r>
              <a:rPr lang="en-US" sz="1800" b="1" dirty="0" err="1">
                <a:latin typeface="Verdana" panose="020B0604030504040204" pitchFamily="34" charset="0"/>
                <a:ea typeface="Verdana" panose="020B0604030504040204" pitchFamily="34" charset="0"/>
              </a:rPr>
              <a:t>quan</a:t>
            </a:r>
            <a:r>
              <a:rPr lang="en-US" sz="1800" b="1" dirty="0">
                <a:latin typeface="Verdana" panose="020B0604030504040204" pitchFamily="34" charset="0"/>
                <a:ea typeface="Verdana" panose="020B0604030504040204" pitchFamily="34" charset="0"/>
              </a:rPr>
              <a:t> Công ty TNHH </a:t>
            </a:r>
            <a:r>
              <a:rPr lang="en-US" sz="1800" b="1" dirty="0" err="1">
                <a:latin typeface="Verdana" panose="020B0604030504040204" pitchFamily="34" charset="0"/>
                <a:ea typeface="Verdana" panose="020B0604030504040204" pitchFamily="34" charset="0"/>
              </a:rPr>
              <a:t>Hệ</a:t>
            </a:r>
            <a:r>
              <a:rPr lang="en-US" sz="1800" b="1" dirty="0">
                <a:latin typeface="Verdana" panose="020B0604030504040204" pitchFamily="34" charset="0"/>
                <a:ea typeface="Verdana" panose="020B0604030504040204" pitchFamily="34" charset="0"/>
              </a:rPr>
              <a:t> </a:t>
            </a:r>
            <a:r>
              <a:rPr lang="en-US" sz="1800" b="1" dirty="0" err="1">
                <a:latin typeface="Verdana" panose="020B0604030504040204" pitchFamily="34" charset="0"/>
                <a:ea typeface="Verdana" panose="020B0604030504040204" pitchFamily="34" charset="0"/>
              </a:rPr>
              <a:t>thống</a:t>
            </a:r>
            <a:r>
              <a:rPr lang="en-US" sz="1800" b="1" dirty="0">
                <a:latin typeface="Verdana" panose="020B0604030504040204" pitchFamily="34" charset="0"/>
                <a:ea typeface="Verdana" panose="020B0604030504040204" pitchFamily="34" charset="0"/>
              </a:rPr>
              <a:t> </a:t>
            </a:r>
            <a:r>
              <a:rPr lang="en-US" sz="1800" b="1" dirty="0" err="1">
                <a:latin typeface="Verdana" panose="020B0604030504040204" pitchFamily="34" charset="0"/>
                <a:ea typeface="Verdana" panose="020B0604030504040204" pitchFamily="34" charset="0"/>
              </a:rPr>
              <a:t>thông</a:t>
            </a:r>
            <a:r>
              <a:rPr lang="en-US" sz="1800" b="1" dirty="0">
                <a:latin typeface="Verdana" panose="020B0604030504040204" pitchFamily="34" charset="0"/>
                <a:ea typeface="Verdana" panose="020B0604030504040204" pitchFamily="34" charset="0"/>
              </a:rPr>
              <a:t> tin FPT</a:t>
            </a:r>
          </a:p>
          <a:p>
            <a:pPr>
              <a:lnSpc>
                <a:spcPct val="200000"/>
              </a:lnSpc>
            </a:pPr>
            <a:r>
              <a:rPr lang="en-US" sz="1800" dirty="0" err="1">
                <a:latin typeface="Verdana" panose="020B0604030504040204" pitchFamily="34" charset="0"/>
                <a:ea typeface="Verdana" panose="020B0604030504040204" pitchFamily="34" charset="0"/>
              </a:rPr>
              <a:t>Tên</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công</a:t>
            </a:r>
            <a:r>
              <a:rPr lang="en-US" sz="1800" dirty="0">
                <a:latin typeface="Verdana" panose="020B0604030504040204" pitchFamily="34" charset="0"/>
                <a:ea typeface="Verdana" panose="020B0604030504040204" pitchFamily="34" charset="0"/>
              </a:rPr>
              <a:t> ty: Công ty TNHH </a:t>
            </a:r>
            <a:r>
              <a:rPr lang="en-US" sz="1800" dirty="0" err="1">
                <a:latin typeface="Verdana" panose="020B0604030504040204" pitchFamily="34" charset="0"/>
                <a:ea typeface="Verdana" panose="020B0604030504040204" pitchFamily="34" charset="0"/>
              </a:rPr>
              <a:t>Hệ</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thống</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thông</a:t>
            </a:r>
            <a:r>
              <a:rPr lang="en-US" sz="1800" dirty="0">
                <a:latin typeface="Verdana" panose="020B0604030504040204" pitchFamily="34" charset="0"/>
                <a:ea typeface="Verdana" panose="020B0604030504040204" pitchFamily="34" charset="0"/>
              </a:rPr>
              <a:t> tin FPT (FPT Information System)</a:t>
            </a:r>
          </a:p>
          <a:p>
            <a:pPr>
              <a:lnSpc>
                <a:spcPct val="200000"/>
              </a:lnSpc>
            </a:pPr>
            <a:r>
              <a:rPr lang="en-US" sz="1800" dirty="0" err="1">
                <a:latin typeface="Verdana" panose="020B0604030504040204" pitchFamily="34" charset="0"/>
                <a:ea typeface="Verdana" panose="020B0604030504040204" pitchFamily="34" charset="0"/>
              </a:rPr>
              <a:t>Trụ</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sở</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chính</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tầng</a:t>
            </a:r>
            <a:r>
              <a:rPr lang="en-US" sz="1800" dirty="0">
                <a:latin typeface="Verdana" panose="020B0604030504040204" pitchFamily="34" charset="0"/>
                <a:ea typeface="Verdana" panose="020B0604030504040204" pitchFamily="34" charset="0"/>
              </a:rPr>
              <a:t> 22 </a:t>
            </a:r>
            <a:r>
              <a:rPr lang="en-US" sz="1800" dirty="0" err="1">
                <a:latin typeface="Verdana" panose="020B0604030504040204" pitchFamily="34" charset="0"/>
                <a:ea typeface="Verdana" panose="020B0604030504040204" pitchFamily="34" charset="0"/>
              </a:rPr>
              <a:t>Keang</a:t>
            </a:r>
            <a:r>
              <a:rPr lang="en-US" sz="1800" dirty="0">
                <a:latin typeface="Verdana" panose="020B0604030504040204" pitchFamily="34" charset="0"/>
                <a:ea typeface="Verdana" panose="020B0604030504040204" pitchFamily="34" charset="0"/>
              </a:rPr>
              <a:t> Nam, Nam </a:t>
            </a:r>
            <a:r>
              <a:rPr lang="en-US" sz="1800" dirty="0" err="1">
                <a:latin typeface="Verdana" panose="020B0604030504040204" pitchFamily="34" charset="0"/>
                <a:ea typeface="Verdana" panose="020B0604030504040204" pitchFamily="34" charset="0"/>
              </a:rPr>
              <a:t>Từ</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Niêm</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Hà</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Nội</a:t>
            </a:r>
            <a:endParaRPr lang="en-US" sz="1800" dirty="0">
              <a:latin typeface="Verdana" panose="020B0604030504040204" pitchFamily="34" charset="0"/>
              <a:ea typeface="Verdana" panose="020B0604030504040204" pitchFamily="34" charset="0"/>
            </a:endParaRPr>
          </a:p>
          <a:p>
            <a:pPr>
              <a:lnSpc>
                <a:spcPct val="200000"/>
              </a:lnSpc>
            </a:pPr>
            <a:r>
              <a:rPr lang="en-US" sz="1800" dirty="0" err="1">
                <a:latin typeface="Verdana" panose="020B0604030504040204" pitchFamily="34" charset="0"/>
                <a:ea typeface="Verdana" panose="020B0604030504040204" pitchFamily="34" charset="0"/>
              </a:rPr>
              <a:t>Thành</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lập</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năm</a:t>
            </a:r>
            <a:r>
              <a:rPr lang="en-US" sz="1800" dirty="0">
                <a:latin typeface="Verdana" panose="020B0604030504040204" pitchFamily="34" charset="0"/>
                <a:ea typeface="Verdana" panose="020B0604030504040204" pitchFamily="34" charset="0"/>
              </a:rPr>
              <a:t> 1994</a:t>
            </a:r>
          </a:p>
          <a:p>
            <a:pPr>
              <a:lnSpc>
                <a:spcPct val="200000"/>
              </a:lnSpc>
            </a:pPr>
            <a:endParaRPr lang="en-US" sz="1800" dirty="0">
              <a:latin typeface="Verdana" panose="020B0604030504040204" pitchFamily="34" charset="0"/>
              <a:ea typeface="Verdana" panose="020B0604030504040204" pitchFamily="34" charset="0"/>
            </a:endParaRPr>
          </a:p>
          <a:p>
            <a:pPr>
              <a:lnSpc>
                <a:spcPct val="200000"/>
              </a:lnSpc>
            </a:pPr>
            <a:endParaRPr lang="en-US" sz="1800" dirty="0">
              <a:latin typeface="Verdana" panose="020B0604030504040204" pitchFamily="34" charset="0"/>
              <a:ea typeface="Verdana" panose="020B0604030504040204" pitchFamily="34" charset="0"/>
            </a:endParaRPr>
          </a:p>
          <a:p>
            <a:pPr>
              <a:lnSpc>
                <a:spcPct val="200000"/>
              </a:lnSpc>
            </a:pPr>
            <a:endParaRPr lang="en-US" sz="1800" dirty="0">
              <a:latin typeface="Verdana" panose="020B0604030504040204" pitchFamily="34" charset="0"/>
              <a:ea typeface="Verdana" panose="020B0604030504040204" pitchFamily="34" charset="0"/>
            </a:endParaRPr>
          </a:p>
        </p:txBody>
      </p:sp>
    </p:spTree>
    <p:extLst>
      <p:ext uri="{BB962C8B-B14F-4D97-AF65-F5344CB8AC3E}">
        <p14:creationId xmlns:p14="http://schemas.microsoft.com/office/powerpoint/2010/main" val="904751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 name="Rectangle 47"/>
          <p:cNvSpPr/>
          <p:nvPr/>
        </p:nvSpPr>
        <p:spPr>
          <a:xfrm>
            <a:off x="1333896" y="327184"/>
            <a:ext cx="9823541" cy="492443"/>
          </a:xfrm>
          <a:prstGeom prst="rect">
            <a:avLst/>
          </a:prstGeom>
        </p:spPr>
        <p:txBody>
          <a:bodyPr wrap="square">
            <a:spAutoFit/>
          </a:bodyPr>
          <a:lstStyle/>
          <a:p>
            <a:r>
              <a:rPr lang="vi-VN" sz="2600" b="1" dirty="0">
                <a:solidFill>
                  <a:schemeClr val="bg1"/>
                </a:solidFill>
                <a:latin typeface="Verdana" panose="020B0604030504040204" pitchFamily="34" charset="0"/>
                <a:ea typeface="Verdana" panose="020B0604030504040204" pitchFamily="34" charset="0"/>
              </a:rPr>
              <a:t>2. Thực trạng quản lý và đánh giá tại PrBBNKBIDV</a:t>
            </a:r>
            <a:endParaRPr lang="en-US" sz="2600" b="1" dirty="0">
              <a:solidFill>
                <a:schemeClr val="bg1"/>
              </a:solidFill>
              <a:latin typeface="Verdana" panose="020B0604030504040204" pitchFamily="34" charset="0"/>
              <a:ea typeface="Verdana" panose="020B0604030504040204" pitchFamily="34" charset="0"/>
            </a:endParaRPr>
          </a:p>
        </p:txBody>
      </p:sp>
      <p:sp>
        <p:nvSpPr>
          <p:cNvPr id="3" name="Title 1">
            <a:extLst>
              <a:ext uri="{FF2B5EF4-FFF2-40B4-BE49-F238E27FC236}">
                <a16:creationId xmlns:a16="http://schemas.microsoft.com/office/drawing/2014/main" id="{0E528855-E7C4-4EB7-8D52-4B5C2D03B187}"/>
              </a:ext>
            </a:extLst>
          </p:cNvPr>
          <p:cNvSpPr txBox="1">
            <a:spLocks/>
          </p:cNvSpPr>
          <p:nvPr/>
        </p:nvSpPr>
        <p:spPr>
          <a:xfrm>
            <a:off x="1094509" y="969818"/>
            <a:ext cx="10307782" cy="5715795"/>
          </a:xfrm>
          <a:prstGeom prst="rect">
            <a:avLst/>
          </a:prstGeom>
        </p:spPr>
        <p:txBody>
          <a:bodyPr vert="horz" lIns="91440" tIns="45720" rIns="91440" bIns="45720" rtlCol="0" anchor="t">
            <a:normAutofit fontScale="97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nSpc>
                <a:spcPct val="200000"/>
              </a:lnSpc>
            </a:pPr>
            <a:r>
              <a:rPr lang="en-US" sz="1800" b="1" dirty="0" err="1">
                <a:latin typeface="Verdana" panose="020B0604030504040204" pitchFamily="34" charset="0"/>
                <a:ea typeface="Verdana" panose="020B0604030504040204" pitchFamily="34" charset="0"/>
              </a:rPr>
              <a:t>Thực</a:t>
            </a:r>
            <a:r>
              <a:rPr lang="en-US" sz="1800" b="1" dirty="0">
                <a:latin typeface="Verdana" panose="020B0604030504040204" pitchFamily="34" charset="0"/>
                <a:ea typeface="Verdana" panose="020B0604030504040204" pitchFamily="34" charset="0"/>
              </a:rPr>
              <a:t> </a:t>
            </a:r>
            <a:r>
              <a:rPr lang="en-US" sz="1800" b="1" dirty="0" err="1">
                <a:latin typeface="Verdana" panose="020B0604030504040204" pitchFamily="34" charset="0"/>
                <a:ea typeface="Verdana" panose="020B0604030504040204" pitchFamily="34" charset="0"/>
              </a:rPr>
              <a:t>trạng</a:t>
            </a:r>
            <a:r>
              <a:rPr lang="en-US" sz="1800" b="1" dirty="0">
                <a:latin typeface="Verdana" panose="020B0604030504040204" pitchFamily="34" charset="0"/>
                <a:ea typeface="Verdana" panose="020B0604030504040204" pitchFamily="34" charset="0"/>
              </a:rPr>
              <a:t> </a:t>
            </a:r>
            <a:r>
              <a:rPr lang="en-US" sz="1800" b="1" dirty="0" err="1">
                <a:latin typeface="Verdana" panose="020B0604030504040204" pitchFamily="34" charset="0"/>
                <a:ea typeface="Verdana" panose="020B0604030504040204" pitchFamily="34" charset="0"/>
              </a:rPr>
              <a:t>quản</a:t>
            </a:r>
            <a:r>
              <a:rPr lang="en-US" sz="1800" b="1" dirty="0">
                <a:latin typeface="Verdana" panose="020B0604030504040204" pitchFamily="34" charset="0"/>
                <a:ea typeface="Verdana" panose="020B0604030504040204" pitchFamily="34" charset="0"/>
              </a:rPr>
              <a:t> </a:t>
            </a:r>
            <a:r>
              <a:rPr lang="en-US" sz="1800" b="1" dirty="0" err="1">
                <a:latin typeface="Verdana" panose="020B0604030504040204" pitchFamily="34" charset="0"/>
                <a:ea typeface="Verdana" panose="020B0604030504040204" pitchFamily="34" charset="0"/>
              </a:rPr>
              <a:t>lý</a:t>
            </a:r>
            <a:r>
              <a:rPr lang="en-US" sz="1800" b="1" dirty="0">
                <a:latin typeface="Verdana" panose="020B0604030504040204" pitchFamily="34" charset="0"/>
                <a:ea typeface="Verdana" panose="020B0604030504040204" pitchFamily="34" charset="0"/>
              </a:rPr>
              <a:t> </a:t>
            </a:r>
            <a:r>
              <a:rPr lang="en-US" sz="1800" b="1" dirty="0" err="1">
                <a:latin typeface="Verdana" panose="020B0604030504040204" pitchFamily="34" charset="0"/>
                <a:ea typeface="Verdana" panose="020B0604030504040204" pitchFamily="34" charset="0"/>
              </a:rPr>
              <a:t>công</a:t>
            </a:r>
            <a:r>
              <a:rPr lang="en-US" sz="1800" b="1" dirty="0">
                <a:latin typeface="Verdana" panose="020B0604030504040204" pitchFamily="34" charset="0"/>
                <a:ea typeface="Verdana" panose="020B0604030504040204" pitchFamily="34" charset="0"/>
              </a:rPr>
              <a:t> </a:t>
            </a:r>
            <a:r>
              <a:rPr lang="en-US" sz="1800" b="1" dirty="0" err="1">
                <a:latin typeface="Verdana" panose="020B0604030504040204" pitchFamily="34" charset="0"/>
                <a:ea typeface="Verdana" panose="020B0604030504040204" pitchFamily="34" charset="0"/>
              </a:rPr>
              <a:t>việc</a:t>
            </a:r>
            <a:endParaRPr lang="en-US" sz="1800" dirty="0">
              <a:latin typeface="Verdana" panose="020B0604030504040204" pitchFamily="34" charset="0"/>
              <a:ea typeface="Verdana" panose="020B0604030504040204" pitchFamily="34" charset="0"/>
            </a:endParaRPr>
          </a:p>
          <a:p>
            <a:pPr marL="3319463" indent="-285750">
              <a:lnSpc>
                <a:spcPct val="200000"/>
              </a:lnSpc>
              <a:buFont typeface="Wingdings" panose="05000000000000000000" pitchFamily="2" charset="2"/>
              <a:buChar char="ü"/>
            </a:pPr>
            <a:r>
              <a:rPr lang="en-US" sz="1800" dirty="0" err="1">
                <a:latin typeface="Verdana" panose="020B0604030504040204" pitchFamily="34" charset="0"/>
                <a:ea typeface="Verdana" panose="020B0604030504040204" pitchFamily="34" charset="0"/>
              </a:rPr>
              <a:t>Quản</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lý</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trên</a:t>
            </a:r>
            <a:r>
              <a:rPr lang="en-US" sz="1800" dirty="0">
                <a:latin typeface="Verdana" panose="020B0604030504040204" pitchFamily="34" charset="0"/>
                <a:ea typeface="Verdana" panose="020B0604030504040204" pitchFamily="34" charset="0"/>
              </a:rPr>
              <a:t> JIRA: </a:t>
            </a:r>
            <a:r>
              <a:rPr lang="en-US" sz="1800" dirty="0" err="1">
                <a:latin typeface="Verdana" panose="020B0604030504040204" pitchFamily="34" charset="0"/>
                <a:ea typeface="Verdana" panose="020B0604030504040204" pitchFamily="34" charset="0"/>
              </a:rPr>
              <a:t>các</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vấn</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đề</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lỗi</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trong</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các</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giai</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đoạn</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phát</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triển</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phần</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mềm</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với</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khách</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hàng</a:t>
            </a:r>
            <a:endParaRPr lang="en-US" sz="1800" dirty="0">
              <a:latin typeface="Verdana" panose="020B0604030504040204" pitchFamily="34" charset="0"/>
              <a:ea typeface="Verdana" panose="020B0604030504040204" pitchFamily="34" charset="0"/>
            </a:endParaRPr>
          </a:p>
          <a:p>
            <a:pPr marL="3319463" indent="-285750">
              <a:lnSpc>
                <a:spcPct val="200000"/>
              </a:lnSpc>
              <a:buFont typeface="Wingdings" panose="05000000000000000000" pitchFamily="2" charset="2"/>
              <a:buChar char="ü"/>
            </a:pPr>
            <a:r>
              <a:rPr lang="en-US" sz="1800" dirty="0" err="1">
                <a:latin typeface="Verdana" panose="020B0604030504040204" pitchFamily="34" charset="0"/>
                <a:ea typeface="Verdana" panose="020B0604030504040204" pitchFamily="34" charset="0"/>
              </a:rPr>
              <a:t>Khai</a:t>
            </a:r>
            <a:r>
              <a:rPr lang="en-US" sz="1800" dirty="0">
                <a:latin typeface="Verdana" panose="020B0604030504040204" pitchFamily="34" charset="0"/>
                <a:ea typeface="Verdana" panose="020B0604030504040204" pitchFamily="34" charset="0"/>
              </a:rPr>
              <a:t> timesheet, </a:t>
            </a:r>
            <a:r>
              <a:rPr lang="en-US" sz="1800" dirty="0" err="1">
                <a:latin typeface="Verdana" panose="020B0604030504040204" pitchFamily="34" charset="0"/>
                <a:ea typeface="Verdana" panose="020B0604030504040204" pitchFamily="34" charset="0"/>
              </a:rPr>
              <a:t>các</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công</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việc</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quản</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lý</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khác</a:t>
            </a:r>
            <a:endParaRPr lang="en-US" sz="1800" dirty="0">
              <a:latin typeface="Verdana" panose="020B0604030504040204" pitchFamily="34" charset="0"/>
              <a:ea typeface="Verdana" panose="020B0604030504040204" pitchFamily="34" charset="0"/>
            </a:endParaRPr>
          </a:p>
          <a:p>
            <a:pPr marL="3319463" indent="-285750">
              <a:lnSpc>
                <a:spcPct val="200000"/>
              </a:lnSpc>
              <a:buFont typeface="Wingdings" panose="05000000000000000000" pitchFamily="2" charset="2"/>
              <a:buChar char="ü"/>
            </a:pPr>
            <a:r>
              <a:rPr lang="en-US" sz="1800" dirty="0" err="1">
                <a:latin typeface="Verdana" panose="020B0604030504040204" pitchFamily="34" charset="0"/>
                <a:ea typeface="Verdana" panose="020B0604030504040204" pitchFamily="34" charset="0"/>
              </a:rPr>
              <a:t>Phân</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bổ</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nguồn</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lực</a:t>
            </a:r>
            <a:endParaRPr lang="en-US" sz="1800" dirty="0">
              <a:latin typeface="Verdana" panose="020B0604030504040204" pitchFamily="34" charset="0"/>
              <a:ea typeface="Verdana" panose="020B0604030504040204" pitchFamily="34" charset="0"/>
            </a:endParaRPr>
          </a:p>
          <a:p>
            <a:pPr marL="3033713">
              <a:lnSpc>
                <a:spcPct val="200000"/>
              </a:lnSpc>
            </a:pPr>
            <a:endParaRPr lang="en-US" sz="1800" dirty="0">
              <a:latin typeface="Verdana" panose="020B0604030504040204" pitchFamily="34" charset="0"/>
              <a:ea typeface="Verdana" panose="020B0604030504040204" pitchFamily="34" charset="0"/>
            </a:endParaRPr>
          </a:p>
          <a:p>
            <a:pPr marL="3319463" indent="-285750">
              <a:lnSpc>
                <a:spcPct val="200000"/>
              </a:lnSpc>
              <a:buFont typeface="Wingdings" panose="05000000000000000000" pitchFamily="2" charset="2"/>
              <a:buChar char="ü"/>
            </a:pPr>
            <a:r>
              <a:rPr lang="en-US" sz="1800" dirty="0" err="1">
                <a:latin typeface="Verdana" panose="020B0604030504040204" pitchFamily="34" charset="0"/>
                <a:ea typeface="Verdana" panose="020B0604030504040204" pitchFamily="34" charset="0"/>
              </a:rPr>
              <a:t>Quản</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lý</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các</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công</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việc</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được</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giao</a:t>
            </a:r>
            <a:endParaRPr lang="en-US" sz="1800" dirty="0">
              <a:latin typeface="Verdana" panose="020B0604030504040204" pitchFamily="34" charset="0"/>
              <a:ea typeface="Verdana" panose="020B0604030504040204" pitchFamily="34" charset="0"/>
            </a:endParaRPr>
          </a:p>
          <a:p>
            <a:pPr marL="3319463" indent="-285750">
              <a:lnSpc>
                <a:spcPct val="200000"/>
              </a:lnSpc>
              <a:buFont typeface="Wingdings" panose="05000000000000000000" pitchFamily="2" charset="2"/>
              <a:buChar char="ü"/>
            </a:pPr>
            <a:r>
              <a:rPr lang="en-US" sz="1800" dirty="0" err="1">
                <a:latin typeface="Verdana" panose="020B0604030504040204" pitchFamily="34" charset="0"/>
                <a:ea typeface="Verdana" panose="020B0604030504040204" pitchFamily="34" charset="0"/>
              </a:rPr>
              <a:t>Quản</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lý</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các</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nhiệm</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vụ</a:t>
            </a:r>
            <a:endParaRPr lang="en-US" sz="1800" dirty="0">
              <a:latin typeface="Verdana" panose="020B0604030504040204" pitchFamily="34" charset="0"/>
              <a:ea typeface="Verdana" panose="020B0604030504040204" pitchFamily="34" charset="0"/>
            </a:endParaRPr>
          </a:p>
          <a:p>
            <a:pPr marL="3319463" indent="-285750">
              <a:lnSpc>
                <a:spcPct val="200000"/>
              </a:lnSpc>
              <a:buFont typeface="Wingdings" panose="05000000000000000000" pitchFamily="2" charset="2"/>
              <a:buChar char="ü"/>
            </a:pPr>
            <a:r>
              <a:rPr lang="en-US" sz="1800" dirty="0" err="1">
                <a:latin typeface="Verdana" panose="020B0604030504040204" pitchFamily="34" charset="0"/>
                <a:ea typeface="Verdana" panose="020B0604030504040204" pitchFamily="34" charset="0"/>
              </a:rPr>
              <a:t>Tích</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hợp</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hệ</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thống</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nội</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bộ</a:t>
            </a:r>
            <a:endParaRPr lang="en-US" sz="1800" dirty="0">
              <a:latin typeface="Verdana" panose="020B0604030504040204" pitchFamily="34" charset="0"/>
              <a:ea typeface="Verdana" panose="020B0604030504040204" pitchFamily="34" charset="0"/>
            </a:endParaRPr>
          </a:p>
          <a:p>
            <a:pPr marL="3319463" indent="-285750">
              <a:lnSpc>
                <a:spcPct val="200000"/>
              </a:lnSpc>
              <a:buFont typeface="Wingdings" panose="05000000000000000000" pitchFamily="2" charset="2"/>
              <a:buChar char="ü"/>
            </a:pPr>
            <a:endParaRPr lang="en-US" sz="1800" dirty="0">
              <a:latin typeface="Verdana" panose="020B0604030504040204" pitchFamily="34" charset="0"/>
              <a:ea typeface="Verdana" panose="020B0604030504040204" pitchFamily="34" charset="0"/>
            </a:endParaRPr>
          </a:p>
          <a:p>
            <a:pPr>
              <a:lnSpc>
                <a:spcPct val="200000"/>
              </a:lnSpc>
            </a:pPr>
            <a:endParaRPr lang="en-US" sz="1800" dirty="0">
              <a:latin typeface="Verdana" panose="020B0604030504040204" pitchFamily="34" charset="0"/>
              <a:ea typeface="Verdana" panose="020B0604030504040204" pitchFamily="34" charset="0"/>
            </a:endParaRPr>
          </a:p>
        </p:txBody>
      </p:sp>
      <p:pic>
        <p:nvPicPr>
          <p:cNvPr id="4" name="Picture 3">
            <a:extLst>
              <a:ext uri="{FF2B5EF4-FFF2-40B4-BE49-F238E27FC236}">
                <a16:creationId xmlns:a16="http://schemas.microsoft.com/office/drawing/2014/main" id="{8721B9DF-94AD-4872-9404-19135AB8D239}"/>
              </a:ext>
            </a:extLst>
          </p:cNvPr>
          <p:cNvPicPr>
            <a:picLocks noChangeAspect="1"/>
          </p:cNvPicPr>
          <p:nvPr/>
        </p:nvPicPr>
        <p:blipFill>
          <a:blip r:embed="rId2"/>
          <a:stretch>
            <a:fillRect/>
          </a:stretch>
        </p:blipFill>
        <p:spPr>
          <a:xfrm>
            <a:off x="1333896" y="4510463"/>
            <a:ext cx="2808613" cy="1144686"/>
          </a:xfrm>
          <a:prstGeom prst="rect">
            <a:avLst/>
          </a:prstGeom>
        </p:spPr>
      </p:pic>
      <p:pic>
        <p:nvPicPr>
          <p:cNvPr id="1026" name="Picture 2" descr="Best JIRA Alternatives - AptGadget.com">
            <a:extLst>
              <a:ext uri="{FF2B5EF4-FFF2-40B4-BE49-F238E27FC236}">
                <a16:creationId xmlns:a16="http://schemas.microsoft.com/office/drawing/2014/main" id="{87B77479-C5F2-409B-8E41-0B7E37625A6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14202" y="2160015"/>
            <a:ext cx="2808613" cy="98496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5018287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 name="Rectangle 47"/>
          <p:cNvSpPr/>
          <p:nvPr/>
        </p:nvSpPr>
        <p:spPr>
          <a:xfrm>
            <a:off x="1333896" y="327184"/>
            <a:ext cx="9823541" cy="492443"/>
          </a:xfrm>
          <a:prstGeom prst="rect">
            <a:avLst/>
          </a:prstGeom>
        </p:spPr>
        <p:txBody>
          <a:bodyPr wrap="square">
            <a:spAutoFit/>
          </a:bodyPr>
          <a:lstStyle/>
          <a:p>
            <a:r>
              <a:rPr lang="vi-VN" sz="2600" b="1" dirty="0">
                <a:solidFill>
                  <a:schemeClr val="bg1"/>
                </a:solidFill>
                <a:latin typeface="Verdana" panose="020B0604030504040204" pitchFamily="34" charset="0"/>
                <a:ea typeface="Verdana" panose="020B0604030504040204" pitchFamily="34" charset="0"/>
              </a:rPr>
              <a:t>2. Thực trạng quản lý và đánh giá tại PrBBNKBIDV</a:t>
            </a:r>
            <a:endParaRPr lang="en-US" sz="2600" b="1" dirty="0">
              <a:solidFill>
                <a:schemeClr val="bg1"/>
              </a:solidFill>
              <a:latin typeface="Verdana" panose="020B0604030504040204" pitchFamily="34" charset="0"/>
              <a:ea typeface="Verdana" panose="020B0604030504040204" pitchFamily="34" charset="0"/>
            </a:endParaRPr>
          </a:p>
        </p:txBody>
      </p:sp>
      <p:sp>
        <p:nvSpPr>
          <p:cNvPr id="3" name="Title 1">
            <a:extLst>
              <a:ext uri="{FF2B5EF4-FFF2-40B4-BE49-F238E27FC236}">
                <a16:creationId xmlns:a16="http://schemas.microsoft.com/office/drawing/2014/main" id="{0E528855-E7C4-4EB7-8D52-4B5C2D03B187}"/>
              </a:ext>
            </a:extLst>
          </p:cNvPr>
          <p:cNvSpPr txBox="1">
            <a:spLocks/>
          </p:cNvSpPr>
          <p:nvPr/>
        </p:nvSpPr>
        <p:spPr>
          <a:xfrm>
            <a:off x="1094509" y="969818"/>
            <a:ext cx="10307782" cy="5715795"/>
          </a:xfrm>
          <a:prstGeom prst="rect">
            <a:avLst/>
          </a:prstGeom>
        </p:spPr>
        <p:txBody>
          <a:bodyPr vert="horz" lIns="91440" tIns="45720" rIns="91440" bIns="45720" rtlCol="0" anchor="t">
            <a:normAutofit fontScale="97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nSpc>
                <a:spcPct val="200000"/>
              </a:lnSpc>
            </a:pPr>
            <a:r>
              <a:rPr lang="en-US" sz="1800" b="1" dirty="0" err="1">
                <a:latin typeface="Verdana" panose="020B0604030504040204" pitchFamily="34" charset="0"/>
                <a:ea typeface="Verdana" panose="020B0604030504040204" pitchFamily="34" charset="0"/>
              </a:rPr>
              <a:t>Thực</a:t>
            </a:r>
            <a:r>
              <a:rPr lang="en-US" sz="1800" b="1" dirty="0">
                <a:latin typeface="Verdana" panose="020B0604030504040204" pitchFamily="34" charset="0"/>
                <a:ea typeface="Verdana" panose="020B0604030504040204" pitchFamily="34" charset="0"/>
              </a:rPr>
              <a:t> </a:t>
            </a:r>
            <a:r>
              <a:rPr lang="en-US" sz="1800" b="1" dirty="0" err="1">
                <a:latin typeface="Verdana" panose="020B0604030504040204" pitchFamily="34" charset="0"/>
                <a:ea typeface="Verdana" panose="020B0604030504040204" pitchFamily="34" charset="0"/>
              </a:rPr>
              <a:t>trạng</a:t>
            </a:r>
            <a:r>
              <a:rPr lang="en-US" sz="1800" b="1" dirty="0">
                <a:latin typeface="Verdana" panose="020B0604030504040204" pitchFamily="34" charset="0"/>
                <a:ea typeface="Verdana" panose="020B0604030504040204" pitchFamily="34" charset="0"/>
              </a:rPr>
              <a:t> </a:t>
            </a:r>
            <a:r>
              <a:rPr lang="en-US" sz="1800" b="1" dirty="0" err="1">
                <a:latin typeface="Verdana" panose="020B0604030504040204" pitchFamily="34" charset="0"/>
                <a:ea typeface="Verdana" panose="020B0604030504040204" pitchFamily="34" charset="0"/>
              </a:rPr>
              <a:t>quản</a:t>
            </a:r>
            <a:r>
              <a:rPr lang="en-US" sz="1800" b="1" dirty="0">
                <a:latin typeface="Verdana" panose="020B0604030504040204" pitchFamily="34" charset="0"/>
                <a:ea typeface="Verdana" panose="020B0604030504040204" pitchFamily="34" charset="0"/>
              </a:rPr>
              <a:t> </a:t>
            </a:r>
            <a:r>
              <a:rPr lang="en-US" sz="1800" b="1" dirty="0" err="1">
                <a:latin typeface="Verdana" panose="020B0604030504040204" pitchFamily="34" charset="0"/>
                <a:ea typeface="Verdana" panose="020B0604030504040204" pitchFamily="34" charset="0"/>
              </a:rPr>
              <a:t>lý</a:t>
            </a:r>
            <a:r>
              <a:rPr lang="en-US" sz="1800" b="1" dirty="0">
                <a:latin typeface="Verdana" panose="020B0604030504040204" pitchFamily="34" charset="0"/>
                <a:ea typeface="Verdana" panose="020B0604030504040204" pitchFamily="34" charset="0"/>
              </a:rPr>
              <a:t> </a:t>
            </a:r>
            <a:r>
              <a:rPr lang="en-US" sz="1800" b="1" dirty="0" err="1">
                <a:latin typeface="Verdana" panose="020B0604030504040204" pitchFamily="34" charset="0"/>
                <a:ea typeface="Verdana" panose="020B0604030504040204" pitchFamily="34" charset="0"/>
              </a:rPr>
              <a:t>công</a:t>
            </a:r>
            <a:r>
              <a:rPr lang="en-US" sz="1800" b="1" dirty="0">
                <a:latin typeface="Verdana" panose="020B0604030504040204" pitchFamily="34" charset="0"/>
                <a:ea typeface="Verdana" panose="020B0604030504040204" pitchFamily="34" charset="0"/>
              </a:rPr>
              <a:t> </a:t>
            </a:r>
            <a:r>
              <a:rPr lang="en-US" sz="1800" b="1" dirty="0" err="1">
                <a:latin typeface="Verdana" panose="020B0604030504040204" pitchFamily="34" charset="0"/>
                <a:ea typeface="Verdana" panose="020B0604030504040204" pitchFamily="34" charset="0"/>
              </a:rPr>
              <a:t>việc</a:t>
            </a:r>
            <a:endParaRPr lang="en-US" sz="1800" dirty="0">
              <a:latin typeface="Verdana" panose="020B0604030504040204" pitchFamily="34" charset="0"/>
              <a:ea typeface="Verdana" panose="020B0604030504040204" pitchFamily="34" charset="0"/>
            </a:endParaRPr>
          </a:p>
          <a:p>
            <a:pPr marL="285750" indent="-285750">
              <a:lnSpc>
                <a:spcPct val="200000"/>
              </a:lnSpc>
              <a:buFont typeface="Wingdings" panose="05000000000000000000" pitchFamily="2" charset="2"/>
              <a:buChar char="Ø"/>
            </a:pPr>
            <a:r>
              <a:rPr lang="vi-VN" sz="1800" dirty="0">
                <a:latin typeface="Verdana" panose="020B0604030504040204" pitchFamily="34" charset="0"/>
                <a:ea typeface="Verdana" panose="020B0604030504040204" pitchFamily="34" charset="0"/>
              </a:rPr>
              <a:t>BA/Tester sẽ thực hiện xem FSD, kiểm thử hệ thống, nếu hệ thống có lỗi phát sinh, cần chỉnh sửa thì sẽ được tạo một log công việc với mô tả các lỗi có thể tái hiện và chuyển vể cho dev lead.</a:t>
            </a:r>
          </a:p>
          <a:p>
            <a:pPr marL="285750" indent="-285750">
              <a:lnSpc>
                <a:spcPct val="200000"/>
              </a:lnSpc>
              <a:buFont typeface="Wingdings" panose="05000000000000000000" pitchFamily="2" charset="2"/>
              <a:buChar char="Ø"/>
            </a:pPr>
            <a:r>
              <a:rPr lang="vi-VN" sz="1800" dirty="0">
                <a:latin typeface="Verdana" panose="020B0604030504040204" pitchFamily="34" charset="0"/>
                <a:ea typeface="Verdana" panose="020B0604030504040204" pitchFamily="34" charset="0"/>
              </a:rPr>
              <a:t>Dev lead sẽ xem xét và chuyển giao cho nhân viên (dev) có khả năng thực hiện được trong team để xử lý</a:t>
            </a:r>
          </a:p>
          <a:p>
            <a:pPr marL="285750" indent="-285750">
              <a:lnSpc>
                <a:spcPct val="200000"/>
              </a:lnSpc>
              <a:buFont typeface="Wingdings" panose="05000000000000000000" pitchFamily="2" charset="2"/>
              <a:buChar char="Ø"/>
            </a:pPr>
            <a:r>
              <a:rPr lang="vi-VN" sz="1800" dirty="0">
                <a:latin typeface="Verdana" panose="020B0604030504040204" pitchFamily="34" charset="0"/>
                <a:ea typeface="Verdana" panose="020B0604030504040204" pitchFamily="34" charset="0"/>
              </a:rPr>
              <a:t>Dev được giao việc sẽ tiếp nhận công việc và thực hiện xử lý</a:t>
            </a:r>
          </a:p>
          <a:p>
            <a:pPr marL="285750" indent="-285750">
              <a:lnSpc>
                <a:spcPct val="200000"/>
              </a:lnSpc>
              <a:buFont typeface="Wingdings" panose="05000000000000000000" pitchFamily="2" charset="2"/>
              <a:buChar char="Ø"/>
            </a:pPr>
            <a:r>
              <a:rPr lang="vi-VN" sz="1800" dirty="0">
                <a:latin typeface="Verdana" panose="020B0604030504040204" pitchFamily="34" charset="0"/>
                <a:ea typeface="Verdana" panose="020B0604030504040204" pitchFamily="34" charset="0"/>
              </a:rPr>
              <a:t>Sau khi dev hoàn thành công việc, chuyển Jira về cho BA/ tester kiểm tra lại</a:t>
            </a:r>
            <a:endParaRPr lang="en-US" sz="1800" dirty="0">
              <a:latin typeface="Verdana" panose="020B0604030504040204" pitchFamily="34" charset="0"/>
              <a:ea typeface="Verdana" panose="020B0604030504040204" pitchFamily="34" charset="0"/>
            </a:endParaRPr>
          </a:p>
          <a:p>
            <a:pPr>
              <a:lnSpc>
                <a:spcPct val="200000"/>
              </a:lnSpc>
            </a:pPr>
            <a:r>
              <a:rPr lang="en-US" sz="1800" b="1" i="1" dirty="0">
                <a:latin typeface="Verdana" panose="020B0604030504040204" pitchFamily="34" charset="0"/>
                <a:ea typeface="Verdana" panose="020B0604030504040204" pitchFamily="34" charset="0"/>
              </a:rPr>
              <a:t> =&gt; </a:t>
            </a:r>
            <a:r>
              <a:rPr lang="en-US" sz="1800" b="1" i="1" dirty="0" err="1">
                <a:latin typeface="Verdana" panose="020B0604030504040204" pitchFamily="34" charset="0"/>
                <a:ea typeface="Verdana" panose="020B0604030504040204" pitchFamily="34" charset="0"/>
              </a:rPr>
              <a:t>Các</a:t>
            </a:r>
            <a:r>
              <a:rPr lang="en-US" sz="1800" b="1" i="1" dirty="0">
                <a:latin typeface="Verdana" panose="020B0604030504040204" pitchFamily="34" charset="0"/>
                <a:ea typeface="Verdana" panose="020B0604030504040204" pitchFamily="34" charset="0"/>
              </a:rPr>
              <a:t> </a:t>
            </a:r>
            <a:r>
              <a:rPr lang="en-US" sz="1800" b="1" i="1" dirty="0" err="1">
                <a:latin typeface="Verdana" panose="020B0604030504040204" pitchFamily="34" charset="0"/>
                <a:ea typeface="Verdana" panose="020B0604030504040204" pitchFamily="34" charset="0"/>
              </a:rPr>
              <a:t>công</a:t>
            </a:r>
            <a:r>
              <a:rPr lang="en-US" sz="1800" b="1" i="1" dirty="0">
                <a:latin typeface="Verdana" panose="020B0604030504040204" pitchFamily="34" charset="0"/>
                <a:ea typeface="Verdana" panose="020B0604030504040204" pitchFamily="34" charset="0"/>
              </a:rPr>
              <a:t> </a:t>
            </a:r>
            <a:r>
              <a:rPr lang="en-US" sz="1800" b="1" i="1" dirty="0" err="1">
                <a:latin typeface="Verdana" panose="020B0604030504040204" pitchFamily="34" charset="0"/>
                <a:ea typeface="Verdana" panose="020B0604030504040204" pitchFamily="34" charset="0"/>
              </a:rPr>
              <a:t>việc</a:t>
            </a:r>
            <a:r>
              <a:rPr lang="en-US" sz="1800" b="1" i="1" dirty="0">
                <a:latin typeface="Verdana" panose="020B0604030504040204" pitchFamily="34" charset="0"/>
                <a:ea typeface="Verdana" panose="020B0604030504040204" pitchFamily="34" charset="0"/>
              </a:rPr>
              <a:t> </a:t>
            </a:r>
            <a:r>
              <a:rPr lang="en-US" sz="1800" b="1" i="1" dirty="0" err="1">
                <a:latin typeface="Verdana" panose="020B0604030504040204" pitchFamily="34" charset="0"/>
                <a:ea typeface="Verdana" panose="020B0604030504040204" pitchFamily="34" charset="0"/>
              </a:rPr>
              <a:t>khác</a:t>
            </a:r>
            <a:r>
              <a:rPr lang="en-US" sz="1800" b="1" i="1" dirty="0">
                <a:latin typeface="Verdana" panose="020B0604030504040204" pitchFamily="34" charset="0"/>
                <a:ea typeface="Verdana" panose="020B0604030504040204" pitchFamily="34" charset="0"/>
              </a:rPr>
              <a:t> </a:t>
            </a:r>
            <a:r>
              <a:rPr lang="en-US" sz="1800" b="1" i="1" dirty="0" err="1">
                <a:latin typeface="Verdana" panose="020B0604030504040204" pitchFamily="34" charset="0"/>
                <a:ea typeface="Verdana" panose="020B0604030504040204" pitchFamily="34" charset="0"/>
              </a:rPr>
              <a:t>không</a:t>
            </a:r>
            <a:r>
              <a:rPr lang="en-US" sz="1800" b="1" i="1" dirty="0">
                <a:latin typeface="Verdana" panose="020B0604030504040204" pitchFamily="34" charset="0"/>
                <a:ea typeface="Verdana" panose="020B0604030504040204" pitchFamily="34" charset="0"/>
              </a:rPr>
              <a:t> </a:t>
            </a:r>
            <a:r>
              <a:rPr lang="en-US" sz="1800" b="1" i="1" dirty="0" err="1">
                <a:latin typeface="Verdana" panose="020B0604030504040204" pitchFamily="34" charset="0"/>
                <a:ea typeface="Verdana" panose="020B0604030504040204" pitchFamily="34" charset="0"/>
              </a:rPr>
              <a:t>được</a:t>
            </a:r>
            <a:r>
              <a:rPr lang="en-US" sz="1800" b="1" i="1" dirty="0">
                <a:latin typeface="Verdana" panose="020B0604030504040204" pitchFamily="34" charset="0"/>
                <a:ea typeface="Verdana" panose="020B0604030504040204" pitchFamily="34" charset="0"/>
              </a:rPr>
              <a:t> </a:t>
            </a:r>
            <a:r>
              <a:rPr lang="en-US" sz="1800" b="1" i="1" dirty="0" err="1">
                <a:latin typeface="Verdana" panose="020B0604030504040204" pitchFamily="34" charset="0"/>
                <a:ea typeface="Verdana" panose="020B0604030504040204" pitchFamily="34" charset="0"/>
              </a:rPr>
              <a:t>đưa</a:t>
            </a:r>
            <a:r>
              <a:rPr lang="en-US" sz="1800" b="1" i="1" dirty="0">
                <a:latin typeface="Verdana" panose="020B0604030504040204" pitchFamily="34" charset="0"/>
                <a:ea typeface="Verdana" panose="020B0604030504040204" pitchFamily="34" charset="0"/>
              </a:rPr>
              <a:t> </a:t>
            </a:r>
            <a:r>
              <a:rPr lang="en-US" sz="1800" b="1" i="1" dirty="0" err="1">
                <a:latin typeface="Verdana" panose="020B0604030504040204" pitchFamily="34" charset="0"/>
                <a:ea typeface="Verdana" panose="020B0604030504040204" pitchFamily="34" charset="0"/>
              </a:rPr>
              <a:t>vào</a:t>
            </a:r>
            <a:r>
              <a:rPr lang="en-US" sz="1800" b="1" i="1" dirty="0">
                <a:latin typeface="Verdana" panose="020B0604030504040204" pitchFamily="34" charset="0"/>
                <a:ea typeface="Verdana" panose="020B0604030504040204" pitchFamily="34" charset="0"/>
              </a:rPr>
              <a:t> JIRA</a:t>
            </a:r>
            <a:endParaRPr lang="vi-VN" sz="1800" b="1" i="1" dirty="0">
              <a:latin typeface="Verdana" panose="020B0604030504040204" pitchFamily="34" charset="0"/>
              <a:ea typeface="Verdana" panose="020B0604030504040204" pitchFamily="34" charset="0"/>
            </a:endParaRPr>
          </a:p>
          <a:p>
            <a:pPr>
              <a:lnSpc>
                <a:spcPct val="200000"/>
              </a:lnSpc>
            </a:pPr>
            <a:endParaRPr lang="en-US" sz="1800" b="1" dirty="0">
              <a:latin typeface="Verdana" panose="020B0604030504040204" pitchFamily="34" charset="0"/>
              <a:ea typeface="Verdana" panose="020B0604030504040204" pitchFamily="34" charset="0"/>
            </a:endParaRPr>
          </a:p>
          <a:p>
            <a:pPr>
              <a:lnSpc>
                <a:spcPct val="200000"/>
              </a:lnSpc>
            </a:pPr>
            <a:endParaRPr lang="en-US" sz="1800" dirty="0">
              <a:latin typeface="Verdana" panose="020B0604030504040204" pitchFamily="34" charset="0"/>
              <a:ea typeface="Verdana" panose="020B0604030504040204" pitchFamily="34" charset="0"/>
            </a:endParaRPr>
          </a:p>
          <a:p>
            <a:pPr>
              <a:lnSpc>
                <a:spcPct val="200000"/>
              </a:lnSpc>
            </a:pPr>
            <a:endParaRPr lang="en-US" sz="1800" dirty="0">
              <a:latin typeface="Verdana" panose="020B0604030504040204" pitchFamily="34" charset="0"/>
              <a:ea typeface="Verdana" panose="020B0604030504040204" pitchFamily="34" charset="0"/>
            </a:endParaRPr>
          </a:p>
        </p:txBody>
      </p:sp>
    </p:spTree>
    <p:extLst>
      <p:ext uri="{BB962C8B-B14F-4D97-AF65-F5344CB8AC3E}">
        <p14:creationId xmlns:p14="http://schemas.microsoft.com/office/powerpoint/2010/main" val="373596753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 name="Rectangle 47"/>
          <p:cNvSpPr/>
          <p:nvPr/>
        </p:nvSpPr>
        <p:spPr>
          <a:xfrm>
            <a:off x="1333896" y="327184"/>
            <a:ext cx="9823541" cy="492443"/>
          </a:xfrm>
          <a:prstGeom prst="rect">
            <a:avLst/>
          </a:prstGeom>
        </p:spPr>
        <p:txBody>
          <a:bodyPr wrap="square">
            <a:spAutoFit/>
          </a:bodyPr>
          <a:lstStyle/>
          <a:p>
            <a:r>
              <a:rPr lang="vi-VN" sz="2600" b="1" dirty="0">
                <a:solidFill>
                  <a:schemeClr val="bg1"/>
                </a:solidFill>
                <a:latin typeface="Verdana" panose="020B0604030504040204" pitchFamily="34" charset="0"/>
                <a:ea typeface="Verdana" panose="020B0604030504040204" pitchFamily="34" charset="0"/>
              </a:rPr>
              <a:t>2. Thực trạng quản lý và đánh giá tại PrBBNKBIDV</a:t>
            </a:r>
            <a:endParaRPr lang="en-US" sz="2600" b="1" dirty="0">
              <a:solidFill>
                <a:schemeClr val="bg1"/>
              </a:solidFill>
              <a:latin typeface="Verdana" panose="020B0604030504040204" pitchFamily="34" charset="0"/>
              <a:ea typeface="Verdana" panose="020B0604030504040204" pitchFamily="34" charset="0"/>
            </a:endParaRPr>
          </a:p>
        </p:txBody>
      </p:sp>
      <p:sp>
        <p:nvSpPr>
          <p:cNvPr id="3" name="Title 1">
            <a:extLst>
              <a:ext uri="{FF2B5EF4-FFF2-40B4-BE49-F238E27FC236}">
                <a16:creationId xmlns:a16="http://schemas.microsoft.com/office/drawing/2014/main" id="{0E528855-E7C4-4EB7-8D52-4B5C2D03B187}"/>
              </a:ext>
            </a:extLst>
          </p:cNvPr>
          <p:cNvSpPr txBox="1">
            <a:spLocks/>
          </p:cNvSpPr>
          <p:nvPr/>
        </p:nvSpPr>
        <p:spPr>
          <a:xfrm>
            <a:off x="1094509" y="969818"/>
            <a:ext cx="10307782" cy="5715795"/>
          </a:xfrm>
          <a:prstGeom prst="rect">
            <a:avLst/>
          </a:prstGeom>
        </p:spPr>
        <p:txBody>
          <a:bodyPr vert="horz" lIns="91440" tIns="45720" rIns="91440" bIns="45720" rtlCol="0" anchor="t">
            <a:normAutofit fontScale="97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nSpc>
                <a:spcPct val="200000"/>
              </a:lnSpc>
            </a:pPr>
            <a:r>
              <a:rPr lang="en-US" sz="1800" b="1" dirty="0" err="1">
                <a:latin typeface="Verdana" panose="020B0604030504040204" pitchFamily="34" charset="0"/>
                <a:ea typeface="Verdana" panose="020B0604030504040204" pitchFamily="34" charset="0"/>
              </a:rPr>
              <a:t>Thực</a:t>
            </a:r>
            <a:r>
              <a:rPr lang="en-US" sz="1800" b="1" dirty="0">
                <a:latin typeface="Verdana" panose="020B0604030504040204" pitchFamily="34" charset="0"/>
                <a:ea typeface="Verdana" panose="020B0604030504040204" pitchFamily="34" charset="0"/>
              </a:rPr>
              <a:t> </a:t>
            </a:r>
            <a:r>
              <a:rPr lang="en-US" sz="1800" b="1" dirty="0" err="1">
                <a:latin typeface="Verdana" panose="020B0604030504040204" pitchFamily="34" charset="0"/>
                <a:ea typeface="Verdana" panose="020B0604030504040204" pitchFamily="34" charset="0"/>
              </a:rPr>
              <a:t>trạng</a:t>
            </a:r>
            <a:r>
              <a:rPr lang="en-US" sz="1800" b="1" dirty="0">
                <a:latin typeface="Verdana" panose="020B0604030504040204" pitchFamily="34" charset="0"/>
                <a:ea typeface="Verdana" panose="020B0604030504040204" pitchFamily="34" charset="0"/>
              </a:rPr>
              <a:t> </a:t>
            </a:r>
            <a:r>
              <a:rPr lang="en-US" sz="1800" b="1" dirty="0" err="1">
                <a:latin typeface="Verdana" panose="020B0604030504040204" pitchFamily="34" charset="0"/>
                <a:ea typeface="Verdana" panose="020B0604030504040204" pitchFamily="34" charset="0"/>
              </a:rPr>
              <a:t>đánh</a:t>
            </a:r>
            <a:r>
              <a:rPr lang="en-US" sz="1800" b="1" dirty="0">
                <a:latin typeface="Verdana" panose="020B0604030504040204" pitchFamily="34" charset="0"/>
                <a:ea typeface="Verdana" panose="020B0604030504040204" pitchFamily="34" charset="0"/>
              </a:rPr>
              <a:t> </a:t>
            </a:r>
            <a:r>
              <a:rPr lang="en-US" sz="1800" b="1" dirty="0" err="1">
                <a:latin typeface="Verdana" panose="020B0604030504040204" pitchFamily="34" charset="0"/>
                <a:ea typeface="Verdana" panose="020B0604030504040204" pitchFamily="34" charset="0"/>
              </a:rPr>
              <a:t>giá</a:t>
            </a:r>
            <a:r>
              <a:rPr lang="en-US" sz="1800" b="1" dirty="0">
                <a:latin typeface="Verdana" panose="020B0604030504040204" pitchFamily="34" charset="0"/>
                <a:ea typeface="Verdana" panose="020B0604030504040204" pitchFamily="34" charset="0"/>
              </a:rPr>
              <a:t> </a:t>
            </a:r>
            <a:r>
              <a:rPr lang="en-US" sz="1800" b="1" dirty="0" err="1">
                <a:latin typeface="Verdana" panose="020B0604030504040204" pitchFamily="34" charset="0"/>
                <a:ea typeface="Verdana" panose="020B0604030504040204" pitchFamily="34" charset="0"/>
              </a:rPr>
              <a:t>hiệu</a:t>
            </a:r>
            <a:r>
              <a:rPr lang="en-US" sz="1800" b="1" dirty="0">
                <a:latin typeface="Verdana" panose="020B0604030504040204" pitchFamily="34" charset="0"/>
                <a:ea typeface="Verdana" panose="020B0604030504040204" pitchFamily="34" charset="0"/>
              </a:rPr>
              <a:t> </a:t>
            </a:r>
            <a:r>
              <a:rPr lang="en-US" sz="1800" b="1" dirty="0" err="1">
                <a:latin typeface="Verdana" panose="020B0604030504040204" pitchFamily="34" charset="0"/>
                <a:ea typeface="Verdana" panose="020B0604030504040204" pitchFamily="34" charset="0"/>
              </a:rPr>
              <a:t>quả</a:t>
            </a:r>
            <a:r>
              <a:rPr lang="en-US" sz="1800" b="1" dirty="0">
                <a:latin typeface="Verdana" panose="020B0604030504040204" pitchFamily="34" charset="0"/>
                <a:ea typeface="Verdana" panose="020B0604030504040204" pitchFamily="34" charset="0"/>
              </a:rPr>
              <a:t> </a:t>
            </a:r>
            <a:r>
              <a:rPr lang="en-US" sz="1800" b="1" dirty="0" err="1">
                <a:latin typeface="Verdana" panose="020B0604030504040204" pitchFamily="34" charset="0"/>
                <a:ea typeface="Verdana" panose="020B0604030504040204" pitchFamily="34" charset="0"/>
              </a:rPr>
              <a:t>công</a:t>
            </a:r>
            <a:r>
              <a:rPr lang="en-US" sz="1800" b="1" dirty="0">
                <a:latin typeface="Verdana" panose="020B0604030504040204" pitchFamily="34" charset="0"/>
                <a:ea typeface="Verdana" panose="020B0604030504040204" pitchFamily="34" charset="0"/>
              </a:rPr>
              <a:t> </a:t>
            </a:r>
            <a:r>
              <a:rPr lang="en-US" sz="1800" b="1" dirty="0" err="1">
                <a:latin typeface="Verdana" panose="020B0604030504040204" pitchFamily="34" charset="0"/>
                <a:ea typeface="Verdana" panose="020B0604030504040204" pitchFamily="34" charset="0"/>
              </a:rPr>
              <a:t>việc</a:t>
            </a:r>
            <a:endParaRPr lang="en-US" sz="1800" b="1" dirty="0">
              <a:latin typeface="Verdana" panose="020B0604030504040204" pitchFamily="34" charset="0"/>
              <a:ea typeface="Verdana" panose="020B0604030504040204" pitchFamily="34" charset="0"/>
            </a:endParaRPr>
          </a:p>
          <a:p>
            <a:pPr>
              <a:lnSpc>
                <a:spcPct val="200000"/>
              </a:lnSpc>
            </a:pPr>
            <a:r>
              <a:rPr lang="en-US" sz="1800" dirty="0" err="1">
                <a:latin typeface="Verdana" panose="020B0604030504040204" pitchFamily="34" charset="0"/>
                <a:ea typeface="Verdana" panose="020B0604030504040204" pitchFamily="34" charset="0"/>
              </a:rPr>
              <a:t>Mục</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đích</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xác</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định</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mức</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độ</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hoàn</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thành</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công</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việc</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xác</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định</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các</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điểm</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mạnh</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yếu</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của</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mỗi</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nhân</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viên</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Là</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cở</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sở</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để</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khen</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thưởng</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phạt</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đào</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tạo</a:t>
            </a:r>
            <a:endParaRPr lang="en-US" sz="1800" dirty="0">
              <a:latin typeface="Verdana" panose="020B0604030504040204" pitchFamily="34" charset="0"/>
              <a:ea typeface="Verdana" panose="020B0604030504040204" pitchFamily="34" charset="0"/>
            </a:endParaRPr>
          </a:p>
          <a:p>
            <a:pPr>
              <a:lnSpc>
                <a:spcPct val="200000"/>
              </a:lnSpc>
            </a:pPr>
            <a:r>
              <a:rPr lang="en-US" sz="1800" dirty="0" err="1">
                <a:latin typeface="Verdana" panose="020B0604030504040204" pitchFamily="34" charset="0"/>
                <a:ea typeface="Verdana" panose="020B0604030504040204" pitchFamily="34" charset="0"/>
              </a:rPr>
              <a:t>Cở</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sở</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đánh</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giá</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đánh</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giá</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hàng</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tháng</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tổng</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hợp</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làm</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cơ</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sở</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tính</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khoán</a:t>
            </a:r>
            <a:r>
              <a:rPr lang="en-US" sz="1800" dirty="0">
                <a:latin typeface="Verdana" panose="020B0604030504040204" pitchFamily="34" charset="0"/>
                <a:ea typeface="Verdana" panose="020B0604030504040204" pitchFamily="34" charset="0"/>
              </a:rPr>
              <a:t> HQDA</a:t>
            </a:r>
          </a:p>
          <a:p>
            <a:pPr>
              <a:lnSpc>
                <a:spcPct val="200000"/>
              </a:lnSpc>
            </a:pPr>
            <a:r>
              <a:rPr lang="en-US" sz="1800" u="sng" dirty="0" err="1">
                <a:latin typeface="Verdana" panose="020B0604030504040204" pitchFamily="34" charset="0"/>
                <a:ea typeface="Verdana" panose="020B0604030504040204" pitchFamily="34" charset="0"/>
              </a:rPr>
              <a:t>Tiêu</a:t>
            </a:r>
            <a:r>
              <a:rPr lang="en-US" sz="1800" u="sng" dirty="0">
                <a:latin typeface="Verdana" panose="020B0604030504040204" pitchFamily="34" charset="0"/>
                <a:ea typeface="Verdana" panose="020B0604030504040204" pitchFamily="34" charset="0"/>
              </a:rPr>
              <a:t> </a:t>
            </a:r>
            <a:r>
              <a:rPr lang="en-US" sz="1800" u="sng" dirty="0" err="1">
                <a:latin typeface="Verdana" panose="020B0604030504040204" pitchFamily="34" charset="0"/>
                <a:ea typeface="Verdana" panose="020B0604030504040204" pitchFamily="34" charset="0"/>
              </a:rPr>
              <a:t>chí</a:t>
            </a:r>
            <a:r>
              <a:rPr lang="en-US" sz="1800" u="sng" dirty="0">
                <a:latin typeface="Verdana" panose="020B0604030504040204" pitchFamily="34" charset="0"/>
                <a:ea typeface="Verdana" panose="020B0604030504040204" pitchFamily="34" charset="0"/>
              </a:rPr>
              <a:t> </a:t>
            </a:r>
            <a:r>
              <a:rPr lang="en-US" sz="1800" u="sng" dirty="0" err="1">
                <a:latin typeface="Verdana" panose="020B0604030504040204" pitchFamily="34" charset="0"/>
                <a:ea typeface="Verdana" panose="020B0604030504040204" pitchFamily="34" charset="0"/>
              </a:rPr>
              <a:t>với</a:t>
            </a:r>
            <a:r>
              <a:rPr lang="en-US" sz="1800" u="sng" dirty="0">
                <a:latin typeface="Verdana" panose="020B0604030504040204" pitchFamily="34" charset="0"/>
                <a:ea typeface="Verdana" panose="020B0604030504040204" pitchFamily="34" charset="0"/>
              </a:rPr>
              <a:t> 5 thang </a:t>
            </a:r>
            <a:r>
              <a:rPr lang="en-US" sz="1800" u="sng" dirty="0" err="1">
                <a:latin typeface="Verdana" panose="020B0604030504040204" pitchFamily="34" charset="0"/>
                <a:ea typeface="Verdana" panose="020B0604030504040204" pitchFamily="34" charset="0"/>
              </a:rPr>
              <a:t>đểm</a:t>
            </a:r>
            <a:r>
              <a:rPr lang="en-US" sz="1800" u="sng" dirty="0">
                <a:latin typeface="Verdana" panose="020B0604030504040204" pitchFamily="34" charset="0"/>
                <a:ea typeface="Verdana" panose="020B0604030504040204" pitchFamily="34" charset="0"/>
              </a:rPr>
              <a:t>:</a:t>
            </a:r>
          </a:p>
          <a:p>
            <a:pPr marL="342900" indent="-342900">
              <a:lnSpc>
                <a:spcPct val="200000"/>
              </a:lnSpc>
              <a:buFont typeface="+mj-lt"/>
              <a:buAutoNum type="arabicPeriod"/>
            </a:pPr>
            <a:r>
              <a:rPr lang="en-US" sz="1800" dirty="0" err="1">
                <a:latin typeface="Verdana" panose="020B0604030504040204" pitchFamily="34" charset="0"/>
                <a:ea typeface="Verdana" panose="020B0604030504040204" pitchFamily="34" charset="0"/>
              </a:rPr>
              <a:t>Khối</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lượng</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độ</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phức</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tạp</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trọng</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số</a:t>
            </a:r>
            <a:r>
              <a:rPr lang="en-US" sz="1800" dirty="0">
                <a:latin typeface="Verdana" panose="020B0604030504040204" pitchFamily="34" charset="0"/>
                <a:ea typeface="Verdana" panose="020B0604030504040204" pitchFamily="34" charset="0"/>
              </a:rPr>
              <a:t> 26.7%)</a:t>
            </a:r>
          </a:p>
          <a:p>
            <a:pPr marL="342900" indent="-342900">
              <a:lnSpc>
                <a:spcPct val="200000"/>
              </a:lnSpc>
              <a:buFont typeface="+mj-lt"/>
              <a:buAutoNum type="arabicPeriod"/>
            </a:pPr>
            <a:r>
              <a:rPr lang="en-US" sz="1800" dirty="0" err="1">
                <a:latin typeface="Verdana" panose="020B0604030504040204" pitchFamily="34" charset="0"/>
                <a:ea typeface="Verdana" panose="020B0604030504040204" pitchFamily="34" charset="0"/>
              </a:rPr>
              <a:t>Tiến</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độ</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trọng</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số</a:t>
            </a:r>
            <a:r>
              <a:rPr lang="en-US" sz="1800" dirty="0">
                <a:latin typeface="Verdana" panose="020B0604030504040204" pitchFamily="34" charset="0"/>
                <a:ea typeface="Verdana" panose="020B0604030504040204" pitchFamily="34" charset="0"/>
              </a:rPr>
              <a:t> 26.7%)</a:t>
            </a:r>
          </a:p>
          <a:p>
            <a:pPr marL="342900" indent="-342900">
              <a:lnSpc>
                <a:spcPct val="200000"/>
              </a:lnSpc>
              <a:buFont typeface="+mj-lt"/>
              <a:buAutoNum type="arabicPeriod"/>
            </a:pPr>
            <a:r>
              <a:rPr lang="en-US" sz="1800" dirty="0" err="1">
                <a:latin typeface="Verdana" panose="020B0604030504040204" pitchFamily="34" charset="0"/>
                <a:ea typeface="Verdana" panose="020B0604030504040204" pitchFamily="34" charset="0"/>
              </a:rPr>
              <a:t>Chất</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lượng</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công</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việc</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trọng</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số</a:t>
            </a:r>
            <a:r>
              <a:rPr lang="en-US" sz="1800" dirty="0">
                <a:latin typeface="Verdana" panose="020B0604030504040204" pitchFamily="34" charset="0"/>
                <a:ea typeface="Verdana" panose="020B0604030504040204" pitchFamily="34" charset="0"/>
              </a:rPr>
              <a:t> 26.7%)</a:t>
            </a:r>
          </a:p>
          <a:p>
            <a:pPr marL="342900" indent="-342900">
              <a:lnSpc>
                <a:spcPct val="200000"/>
              </a:lnSpc>
              <a:buFont typeface="+mj-lt"/>
              <a:buAutoNum type="arabicPeriod"/>
            </a:pPr>
            <a:r>
              <a:rPr lang="en-US" sz="1800" dirty="0" err="1">
                <a:latin typeface="Verdana" panose="020B0604030504040204" pitchFamily="34" charset="0"/>
                <a:ea typeface="Verdana" panose="020B0604030504040204" pitchFamily="34" charset="0"/>
              </a:rPr>
              <a:t>Tuân</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thủ</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kỷ</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luật</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và</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thái</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độ</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công</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việc</a:t>
            </a:r>
            <a:r>
              <a:rPr lang="en-US" sz="1800" dirty="0">
                <a:latin typeface="Verdana" panose="020B0604030504040204" pitchFamily="34" charset="0"/>
                <a:ea typeface="Verdana" panose="020B0604030504040204" pitchFamily="34" charset="0"/>
              </a:rPr>
              <a:t> </a:t>
            </a:r>
          </a:p>
          <a:p>
            <a:pPr>
              <a:lnSpc>
                <a:spcPct val="200000"/>
              </a:lnSpc>
            </a:pP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trọng</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số</a:t>
            </a:r>
            <a:r>
              <a:rPr lang="en-US" sz="1800" dirty="0">
                <a:latin typeface="Verdana" panose="020B0604030504040204" pitchFamily="34" charset="0"/>
                <a:ea typeface="Verdana" panose="020B0604030504040204" pitchFamily="34" charset="0"/>
              </a:rPr>
              <a:t> 20%)</a:t>
            </a:r>
          </a:p>
          <a:p>
            <a:pPr>
              <a:lnSpc>
                <a:spcPct val="200000"/>
              </a:lnSpc>
            </a:pPr>
            <a:endParaRPr lang="en-US" sz="1800" dirty="0">
              <a:latin typeface="Verdana" panose="020B0604030504040204" pitchFamily="34" charset="0"/>
              <a:ea typeface="Verdana" panose="020B0604030504040204" pitchFamily="34" charset="0"/>
            </a:endParaRPr>
          </a:p>
          <a:p>
            <a:pPr>
              <a:lnSpc>
                <a:spcPct val="200000"/>
              </a:lnSpc>
            </a:pPr>
            <a:endParaRPr lang="en-US" sz="1800" dirty="0">
              <a:latin typeface="Verdana" panose="020B0604030504040204" pitchFamily="34" charset="0"/>
              <a:ea typeface="Verdana" panose="020B0604030504040204" pitchFamily="34" charset="0"/>
            </a:endParaRPr>
          </a:p>
        </p:txBody>
      </p:sp>
      <p:pic>
        <p:nvPicPr>
          <p:cNvPr id="4" name="Picture 3">
            <a:extLst>
              <a:ext uri="{FF2B5EF4-FFF2-40B4-BE49-F238E27FC236}">
                <a16:creationId xmlns:a16="http://schemas.microsoft.com/office/drawing/2014/main" id="{4681CCCF-8303-4795-A0C7-F02AFC293627}"/>
              </a:ext>
            </a:extLst>
          </p:cNvPr>
          <p:cNvPicPr/>
          <p:nvPr/>
        </p:nvPicPr>
        <p:blipFill>
          <a:blip r:embed="rId2" r:link="rId3">
            <a:extLst>
              <a:ext uri="{28A0092B-C50C-407E-A947-70E740481C1C}">
                <a14:useLocalDpi xmlns:a14="http://schemas.microsoft.com/office/drawing/2010/main" val="0"/>
              </a:ext>
            </a:extLst>
          </a:blip>
          <a:srcRect/>
          <a:stretch>
            <a:fillRect/>
          </a:stretch>
        </p:blipFill>
        <p:spPr bwMode="auto">
          <a:xfrm>
            <a:off x="6629400" y="3638550"/>
            <a:ext cx="5162550" cy="2892266"/>
          </a:xfrm>
          <a:prstGeom prst="rect">
            <a:avLst/>
          </a:prstGeom>
          <a:noFill/>
          <a:ln>
            <a:noFill/>
          </a:ln>
        </p:spPr>
      </p:pic>
    </p:spTree>
    <p:extLst>
      <p:ext uri="{BB962C8B-B14F-4D97-AF65-F5344CB8AC3E}">
        <p14:creationId xmlns:p14="http://schemas.microsoft.com/office/powerpoint/2010/main" val="317959492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 name="Rectangle 47"/>
          <p:cNvSpPr/>
          <p:nvPr/>
        </p:nvSpPr>
        <p:spPr>
          <a:xfrm>
            <a:off x="1333896" y="327184"/>
            <a:ext cx="9823541" cy="492443"/>
          </a:xfrm>
          <a:prstGeom prst="rect">
            <a:avLst/>
          </a:prstGeom>
        </p:spPr>
        <p:txBody>
          <a:bodyPr wrap="square">
            <a:spAutoFit/>
          </a:bodyPr>
          <a:lstStyle/>
          <a:p>
            <a:r>
              <a:rPr lang="vi-VN" sz="2600" b="1" dirty="0">
                <a:solidFill>
                  <a:schemeClr val="bg1"/>
                </a:solidFill>
                <a:latin typeface="Verdana" panose="020B0604030504040204" pitchFamily="34" charset="0"/>
                <a:ea typeface="Verdana" panose="020B0604030504040204" pitchFamily="34" charset="0"/>
              </a:rPr>
              <a:t>2. Thực trạng quản lý và đánh giá tại PrBBNKBIDV</a:t>
            </a:r>
            <a:endParaRPr lang="en-US" sz="2600" b="1" dirty="0">
              <a:solidFill>
                <a:schemeClr val="bg1"/>
              </a:solidFill>
              <a:latin typeface="Verdana" panose="020B0604030504040204" pitchFamily="34" charset="0"/>
              <a:ea typeface="Verdana" panose="020B0604030504040204" pitchFamily="34" charset="0"/>
            </a:endParaRPr>
          </a:p>
        </p:txBody>
      </p:sp>
      <p:sp>
        <p:nvSpPr>
          <p:cNvPr id="3" name="Title 1">
            <a:extLst>
              <a:ext uri="{FF2B5EF4-FFF2-40B4-BE49-F238E27FC236}">
                <a16:creationId xmlns:a16="http://schemas.microsoft.com/office/drawing/2014/main" id="{0E528855-E7C4-4EB7-8D52-4B5C2D03B187}"/>
              </a:ext>
            </a:extLst>
          </p:cNvPr>
          <p:cNvSpPr txBox="1">
            <a:spLocks/>
          </p:cNvSpPr>
          <p:nvPr/>
        </p:nvSpPr>
        <p:spPr>
          <a:xfrm>
            <a:off x="1094509" y="969818"/>
            <a:ext cx="10307782" cy="5715795"/>
          </a:xfrm>
          <a:prstGeom prst="rect">
            <a:avLst/>
          </a:prstGeom>
        </p:spPr>
        <p:txBody>
          <a:bodyPr vert="horz" lIns="91440" tIns="45720" rIns="91440" bIns="45720" rtlCol="0" anchor="t">
            <a:normAutofit fontScale="97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nSpc>
                <a:spcPct val="200000"/>
              </a:lnSpc>
            </a:pPr>
            <a:r>
              <a:rPr lang="en-US" sz="1800" dirty="0" err="1">
                <a:latin typeface="Verdana" panose="020B0604030504040204" pitchFamily="34" charset="0"/>
                <a:ea typeface="Verdana" panose="020B0604030504040204" pitchFamily="34" charset="0"/>
              </a:rPr>
              <a:t>Tổ</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chức</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thực</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hiện</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đánh</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giá</a:t>
            </a:r>
            <a:r>
              <a:rPr lang="en-US" sz="1800" dirty="0">
                <a:latin typeface="Verdana" panose="020B0604030504040204" pitchFamily="34" charset="0"/>
                <a:ea typeface="Verdana" panose="020B0604030504040204" pitchFamily="34" charset="0"/>
              </a:rPr>
              <a:t>:</a:t>
            </a:r>
          </a:p>
          <a:p>
            <a:pPr marL="914400" indent="-285750">
              <a:lnSpc>
                <a:spcPct val="200000"/>
              </a:lnSpc>
              <a:buFont typeface="Wingdings" panose="05000000000000000000" pitchFamily="2" charset="2"/>
              <a:buChar char="Ø"/>
            </a:pPr>
            <a:r>
              <a:rPr lang="vi-VN" sz="1800" dirty="0">
                <a:latin typeface="Verdana" panose="020B0604030504040204" pitchFamily="34" charset="0"/>
                <a:ea typeface="Verdana" panose="020B0604030504040204" pitchFamily="34" charset="0"/>
              </a:rPr>
              <a:t>Nhân viên tự đánh giá hàng tháng trên hệ thống theo các tiêu chí: Khối lượng, tiến độ, chất lượng, tuân thủ</a:t>
            </a:r>
          </a:p>
          <a:p>
            <a:pPr marL="914400" indent="-285750">
              <a:lnSpc>
                <a:spcPct val="200000"/>
              </a:lnSpc>
              <a:buFont typeface="Wingdings" panose="05000000000000000000" pitchFamily="2" charset="2"/>
              <a:buChar char="Ø"/>
            </a:pPr>
            <a:r>
              <a:rPr lang="vi-VN" sz="1800" dirty="0">
                <a:latin typeface="Verdana" panose="020B0604030504040204" pitchFamily="34" charset="0"/>
                <a:ea typeface="Verdana" panose="020B0604030504040204" pitchFamily="34" charset="0"/>
              </a:rPr>
              <a:t>Cán bộ quản lý đánh giá và phê duyệt</a:t>
            </a:r>
          </a:p>
          <a:p>
            <a:pPr marL="914400" indent="-285750">
              <a:lnSpc>
                <a:spcPct val="200000"/>
              </a:lnSpc>
              <a:buFont typeface="Wingdings" panose="05000000000000000000" pitchFamily="2" charset="2"/>
              <a:buChar char="Ø"/>
            </a:pPr>
            <a:r>
              <a:rPr lang="vi-VN" sz="1800" dirty="0">
                <a:latin typeface="Verdana" panose="020B0604030504040204" pitchFamily="34" charset="0"/>
                <a:ea typeface="Verdana" panose="020B0604030504040204" pitchFamily="34" charset="0"/>
              </a:rPr>
              <a:t>Nhân viên phòng tổ chức thông báo và thống kê</a:t>
            </a:r>
            <a:endParaRPr lang="en-US" sz="1800" dirty="0">
              <a:latin typeface="Verdana" panose="020B0604030504040204" pitchFamily="34" charset="0"/>
              <a:ea typeface="Verdana" panose="020B0604030504040204" pitchFamily="34" charset="0"/>
            </a:endParaRPr>
          </a:p>
          <a:p>
            <a:pPr>
              <a:lnSpc>
                <a:spcPct val="200000"/>
              </a:lnSpc>
            </a:pPr>
            <a:r>
              <a:rPr lang="en-US" sz="1800" dirty="0" err="1">
                <a:latin typeface="Verdana" panose="020B0604030504040204" pitchFamily="34" charset="0"/>
                <a:ea typeface="Verdana" panose="020B0604030504040204" pitchFamily="34" charset="0"/>
              </a:rPr>
              <a:t>Yêu</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cầu</a:t>
            </a:r>
            <a:r>
              <a:rPr lang="en-US" sz="1800" dirty="0">
                <a:latin typeface="Verdana" panose="020B0604030504040204" pitchFamily="34" charset="0"/>
                <a:ea typeface="Verdana" panose="020B0604030504040204" pitchFamily="34" charset="0"/>
              </a:rPr>
              <a:t>:</a:t>
            </a:r>
          </a:p>
          <a:p>
            <a:pPr marL="285750" indent="-285750">
              <a:lnSpc>
                <a:spcPct val="200000"/>
              </a:lnSpc>
              <a:buFont typeface="Symbol" panose="05050102010706020507" pitchFamily="18" charset="2"/>
              <a:buChar char="Þ"/>
            </a:pPr>
            <a:r>
              <a:rPr lang="vi-VN" sz="1800" dirty="0">
                <a:latin typeface="Verdana" panose="020B0604030504040204" pitchFamily="34" charset="0"/>
                <a:ea typeface="Verdana" panose="020B0604030504040204" pitchFamily="34" charset="0"/>
              </a:rPr>
              <a:t>Chu kỳ đánh giá được tổ chức thực hiện một tháng một lần và vào mỗi cuối tháng.</a:t>
            </a:r>
            <a:endParaRPr lang="en-US" sz="1800" dirty="0">
              <a:latin typeface="Verdana" panose="020B0604030504040204" pitchFamily="34" charset="0"/>
              <a:ea typeface="Verdana" panose="020B0604030504040204" pitchFamily="34" charset="0"/>
            </a:endParaRPr>
          </a:p>
          <a:p>
            <a:pPr marL="285750" indent="-285750">
              <a:lnSpc>
                <a:spcPct val="200000"/>
              </a:lnSpc>
              <a:buFont typeface="Symbol" panose="05050102010706020507" pitchFamily="18" charset="2"/>
              <a:buChar char="Þ"/>
            </a:pPr>
            <a:r>
              <a:rPr lang="en-US" sz="1800" dirty="0" err="1">
                <a:latin typeface="Verdana" panose="020B0604030504040204" pitchFamily="34" charset="0"/>
                <a:ea typeface="Verdana" panose="020B0604030504040204" pitchFamily="34" charset="0"/>
              </a:rPr>
              <a:t>Mỗi</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một</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cán</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bộ</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quản</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lý</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cần</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đánh</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giá</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và</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nêu</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rõ</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vấn</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đề</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của</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từng</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thành</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viên</a:t>
            </a:r>
            <a:endParaRPr lang="en-US" sz="1800" dirty="0">
              <a:latin typeface="Verdana" panose="020B0604030504040204" pitchFamily="34" charset="0"/>
              <a:ea typeface="Verdana" panose="020B0604030504040204" pitchFamily="34" charset="0"/>
            </a:endParaRPr>
          </a:p>
          <a:p>
            <a:pPr>
              <a:lnSpc>
                <a:spcPct val="200000"/>
              </a:lnSpc>
            </a:pPr>
            <a:endParaRPr lang="en-US" sz="1800" dirty="0">
              <a:latin typeface="Verdana" panose="020B0604030504040204" pitchFamily="34" charset="0"/>
              <a:ea typeface="Verdana" panose="020B0604030504040204" pitchFamily="34" charset="0"/>
            </a:endParaRPr>
          </a:p>
        </p:txBody>
      </p:sp>
    </p:spTree>
    <p:extLst>
      <p:ext uri="{BB962C8B-B14F-4D97-AF65-F5344CB8AC3E}">
        <p14:creationId xmlns:p14="http://schemas.microsoft.com/office/powerpoint/2010/main" val="215740712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 name="Rectangle 47"/>
          <p:cNvSpPr/>
          <p:nvPr/>
        </p:nvSpPr>
        <p:spPr>
          <a:xfrm>
            <a:off x="1333896" y="327184"/>
            <a:ext cx="9823541" cy="492443"/>
          </a:xfrm>
          <a:prstGeom prst="rect">
            <a:avLst/>
          </a:prstGeom>
        </p:spPr>
        <p:txBody>
          <a:bodyPr wrap="square">
            <a:spAutoFit/>
          </a:bodyPr>
          <a:lstStyle/>
          <a:p>
            <a:r>
              <a:rPr lang="vi-VN" sz="2600" b="1" dirty="0">
                <a:solidFill>
                  <a:schemeClr val="bg1"/>
                </a:solidFill>
                <a:latin typeface="Verdana" panose="020B0604030504040204" pitchFamily="34" charset="0"/>
                <a:ea typeface="Verdana" panose="020B0604030504040204" pitchFamily="34" charset="0"/>
              </a:rPr>
              <a:t>2. Thực trạng quản lý và đánh giá tại PrBBNKBIDV</a:t>
            </a:r>
            <a:endParaRPr lang="en-US" sz="2600" b="1" dirty="0">
              <a:solidFill>
                <a:schemeClr val="bg1"/>
              </a:solidFill>
              <a:latin typeface="Verdana" panose="020B0604030504040204" pitchFamily="34" charset="0"/>
              <a:ea typeface="Verdana" panose="020B0604030504040204" pitchFamily="34" charset="0"/>
            </a:endParaRPr>
          </a:p>
        </p:txBody>
      </p:sp>
      <p:sp>
        <p:nvSpPr>
          <p:cNvPr id="3" name="Title 1">
            <a:extLst>
              <a:ext uri="{FF2B5EF4-FFF2-40B4-BE49-F238E27FC236}">
                <a16:creationId xmlns:a16="http://schemas.microsoft.com/office/drawing/2014/main" id="{0E528855-E7C4-4EB7-8D52-4B5C2D03B187}"/>
              </a:ext>
            </a:extLst>
          </p:cNvPr>
          <p:cNvSpPr txBox="1">
            <a:spLocks/>
          </p:cNvSpPr>
          <p:nvPr/>
        </p:nvSpPr>
        <p:spPr>
          <a:xfrm>
            <a:off x="1094509" y="969818"/>
            <a:ext cx="10307782" cy="5715795"/>
          </a:xfrm>
          <a:prstGeom prst="rect">
            <a:avLst/>
          </a:prstGeom>
        </p:spPr>
        <p:txBody>
          <a:bodyPr vert="horz" lIns="91440" tIns="45720" rIns="91440" bIns="45720" rtlCol="0" anchor="t">
            <a:normAutofit fontScale="97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nSpc>
                <a:spcPct val="200000"/>
              </a:lnSpc>
            </a:pPr>
            <a:r>
              <a:rPr lang="en-US" sz="1800" dirty="0" err="1">
                <a:latin typeface="Verdana" panose="020B0604030504040204" pitchFamily="34" charset="0"/>
                <a:ea typeface="Verdana" panose="020B0604030504040204" pitchFamily="34" charset="0"/>
              </a:rPr>
              <a:t>Quy</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trình</a:t>
            </a:r>
            <a:endParaRPr lang="en-US" sz="1800" dirty="0">
              <a:latin typeface="Verdana" panose="020B0604030504040204" pitchFamily="34" charset="0"/>
              <a:ea typeface="Verdana" panose="020B0604030504040204" pitchFamily="34" charset="0"/>
            </a:endParaRPr>
          </a:p>
          <a:p>
            <a:pPr marL="342900" indent="-342900">
              <a:lnSpc>
                <a:spcPct val="200000"/>
              </a:lnSpc>
              <a:buFont typeface="+mj-lt"/>
              <a:buAutoNum type="arabicPeriod"/>
            </a:pPr>
            <a:r>
              <a:rPr lang="en-US" sz="1800" dirty="0" err="1">
                <a:latin typeface="Verdana" panose="020B0604030504040204" pitchFamily="34" charset="0"/>
                <a:ea typeface="Verdana" panose="020B0604030504040204" pitchFamily="34" charset="0"/>
              </a:rPr>
              <a:t>Cán</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bộ</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thực</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hiện</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đánh</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giá</a:t>
            </a:r>
            <a:endParaRPr lang="en-US" sz="1800" dirty="0">
              <a:latin typeface="Verdana" panose="020B0604030504040204" pitchFamily="34" charset="0"/>
              <a:ea typeface="Verdana" panose="020B0604030504040204" pitchFamily="34" charset="0"/>
            </a:endParaRPr>
          </a:p>
          <a:p>
            <a:pPr marL="342900" indent="-342900">
              <a:lnSpc>
                <a:spcPct val="200000"/>
              </a:lnSpc>
              <a:buFont typeface="+mj-lt"/>
              <a:buAutoNum type="arabicPeriod"/>
            </a:pPr>
            <a:r>
              <a:rPr lang="en-US" sz="1800" dirty="0">
                <a:latin typeface="Verdana" panose="020B0604030504040204" pitchFamily="34" charset="0"/>
                <a:ea typeface="Verdana" panose="020B0604030504040204" pitchFamily="34" charset="0"/>
              </a:rPr>
              <a:t>PM </a:t>
            </a:r>
            <a:r>
              <a:rPr lang="en-US" sz="1800" dirty="0" err="1">
                <a:latin typeface="Verdana" panose="020B0604030504040204" pitchFamily="34" charset="0"/>
                <a:ea typeface="Verdana" panose="020B0604030504040204" pitchFamily="34" charset="0"/>
              </a:rPr>
              <a:t>dự</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án</a:t>
            </a:r>
            <a:r>
              <a:rPr lang="en-US" sz="1800" dirty="0">
                <a:latin typeface="Verdana" panose="020B0604030504040204" pitchFamily="34" charset="0"/>
                <a:ea typeface="Verdana" panose="020B0604030504040204" pitchFamily="34" charset="0"/>
              </a:rPr>
              <a:t>/ PM </a:t>
            </a:r>
            <a:r>
              <a:rPr lang="en-US" sz="1800" dirty="0" err="1">
                <a:latin typeface="Verdana" panose="020B0604030504040204" pitchFamily="34" charset="0"/>
                <a:ea typeface="Verdana" panose="020B0604030504040204" pitchFamily="34" charset="0"/>
              </a:rPr>
              <a:t>nhóm</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khoán</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các</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dự</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án</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thực</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hiện</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đánh</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giá</a:t>
            </a:r>
            <a:r>
              <a:rPr lang="en-US" sz="1800" dirty="0">
                <a:latin typeface="Verdana" panose="020B0604030504040204" pitchFamily="34" charset="0"/>
                <a:ea typeface="Verdana" panose="020B0604030504040204" pitchFamily="34" charset="0"/>
              </a:rPr>
              <a:t>. </a:t>
            </a:r>
          </a:p>
          <a:p>
            <a:pPr marL="342900" indent="-342900">
              <a:lnSpc>
                <a:spcPct val="200000"/>
              </a:lnSpc>
              <a:buFont typeface="+mj-lt"/>
              <a:buAutoNum type="arabicPeriod"/>
            </a:pPr>
            <a:r>
              <a:rPr lang="en-US" sz="1800" dirty="0">
                <a:latin typeface="Verdana" panose="020B0604030504040204" pitchFamily="34" charset="0"/>
                <a:ea typeface="Verdana" panose="020B0604030504040204" pitchFamily="34" charset="0"/>
              </a:rPr>
              <a:t>PMO </a:t>
            </a:r>
            <a:r>
              <a:rPr lang="en-US" sz="1800" dirty="0" err="1">
                <a:latin typeface="Verdana" panose="020B0604030504040204" pitchFamily="34" charset="0"/>
                <a:ea typeface="Verdana" panose="020B0604030504040204" pitchFamily="34" charset="0"/>
              </a:rPr>
              <a:t>thực</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hiện</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đánh</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giá</a:t>
            </a:r>
            <a:endParaRPr lang="en-US" sz="1800" dirty="0">
              <a:latin typeface="Verdana" panose="020B0604030504040204" pitchFamily="34" charset="0"/>
              <a:ea typeface="Verdana" panose="020B0604030504040204" pitchFamily="34" charset="0"/>
            </a:endParaRPr>
          </a:p>
          <a:p>
            <a:pPr marL="342900" indent="-342900">
              <a:lnSpc>
                <a:spcPct val="200000"/>
              </a:lnSpc>
              <a:buFont typeface="+mj-lt"/>
              <a:buAutoNum type="arabicPeriod"/>
            </a:pPr>
            <a:r>
              <a:rPr lang="en-US" sz="1800" dirty="0" err="1">
                <a:latin typeface="Verdana" panose="020B0604030504040204" pitchFamily="34" charset="0"/>
                <a:ea typeface="Verdana" panose="020B0604030504040204" pitchFamily="34" charset="0"/>
              </a:rPr>
              <a:t>Quản</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lý</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trực</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tiếp</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thực</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hiện</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đánh</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giá</a:t>
            </a:r>
            <a:r>
              <a:rPr lang="en-US" sz="1800" dirty="0">
                <a:latin typeface="Verdana" panose="020B0604030504040204" pitchFamily="34" charset="0"/>
                <a:ea typeface="Verdana" panose="020B0604030504040204" pitchFamily="34" charset="0"/>
              </a:rPr>
              <a:t>. </a:t>
            </a:r>
          </a:p>
          <a:p>
            <a:pPr marL="342900" indent="-342900">
              <a:lnSpc>
                <a:spcPct val="200000"/>
              </a:lnSpc>
              <a:buFont typeface="+mj-lt"/>
              <a:buAutoNum type="arabicPeriod"/>
            </a:pPr>
            <a:r>
              <a:rPr lang="vi-VN" sz="1800" dirty="0">
                <a:latin typeface="Verdana" panose="020B0604030504040204" pitchFamily="34" charset="0"/>
                <a:ea typeface="Verdana" panose="020B0604030504040204" pitchFamily="34" charset="0"/>
              </a:rPr>
              <a:t>Người duyệt kết quả đánh giá thực hiện đánh giá. </a:t>
            </a:r>
            <a:endParaRPr lang="en-US" sz="1800" dirty="0">
              <a:latin typeface="Verdana" panose="020B0604030504040204" pitchFamily="34" charset="0"/>
              <a:ea typeface="Verdana" panose="020B0604030504040204" pitchFamily="34" charset="0"/>
            </a:endParaRPr>
          </a:p>
          <a:p>
            <a:pPr>
              <a:lnSpc>
                <a:spcPct val="200000"/>
              </a:lnSpc>
            </a:pPr>
            <a:r>
              <a:rPr lang="en-US" sz="1800" dirty="0" err="1">
                <a:latin typeface="Verdana" panose="020B0604030504040204" pitchFamily="34" charset="0"/>
                <a:ea typeface="Verdana" panose="020B0604030504040204" pitchFamily="34" charset="0"/>
              </a:rPr>
              <a:t>Đánh</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giá</a:t>
            </a:r>
            <a:r>
              <a:rPr lang="en-US" sz="1800" dirty="0">
                <a:latin typeface="Verdana" panose="020B0604030504040204" pitchFamily="34" charset="0"/>
                <a:ea typeface="Verdana" panose="020B0604030504040204" pitchFamily="34" charset="0"/>
              </a:rPr>
              <a:t> qua </a:t>
            </a:r>
            <a:r>
              <a:rPr lang="en-US" sz="1800" dirty="0" err="1">
                <a:latin typeface="Verdana" panose="020B0604030504040204" pitchFamily="34" charset="0"/>
                <a:ea typeface="Verdana" panose="020B0604030504040204" pitchFamily="34" charset="0"/>
              </a:rPr>
              <a:t>hệ</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thống</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với</a:t>
            </a:r>
            <a:r>
              <a:rPr lang="en-US" sz="1800" dirty="0">
                <a:latin typeface="Verdana" panose="020B0604030504040204" pitchFamily="34" charset="0"/>
                <a:ea typeface="Verdana" panose="020B0604030504040204" pitchFamily="34" charset="0"/>
              </a:rPr>
              <a:t> 4 </a:t>
            </a:r>
            <a:r>
              <a:rPr lang="en-US" sz="1800" dirty="0" err="1">
                <a:latin typeface="Verdana" panose="020B0604030504040204" pitchFamily="34" charset="0"/>
                <a:ea typeface="Verdana" panose="020B0604030504040204" pitchFamily="34" charset="0"/>
              </a:rPr>
              <a:t>tiêu</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chí</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được</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trình</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bày</a:t>
            </a:r>
            <a:r>
              <a:rPr lang="en-US" sz="1800" dirty="0">
                <a:latin typeface="Verdana" panose="020B0604030504040204" pitchFamily="34" charset="0"/>
                <a:ea typeface="Verdana" panose="020B0604030504040204" pitchFamily="34" charset="0"/>
              </a:rPr>
              <a:t> ở </a:t>
            </a:r>
            <a:r>
              <a:rPr lang="en-US" sz="1800" dirty="0" err="1">
                <a:latin typeface="Verdana" panose="020B0604030504040204" pitchFamily="34" charset="0"/>
                <a:ea typeface="Verdana" panose="020B0604030504040204" pitchFamily="34" charset="0"/>
              </a:rPr>
              <a:t>phía</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trên</a:t>
            </a:r>
            <a:endParaRPr lang="en-US" sz="1800" dirty="0">
              <a:latin typeface="Verdana" panose="020B0604030504040204" pitchFamily="34" charset="0"/>
              <a:ea typeface="Verdana" panose="020B0604030504040204" pitchFamily="34" charset="0"/>
            </a:endParaRPr>
          </a:p>
        </p:txBody>
      </p:sp>
    </p:spTree>
    <p:extLst>
      <p:ext uri="{BB962C8B-B14F-4D97-AF65-F5344CB8AC3E}">
        <p14:creationId xmlns:p14="http://schemas.microsoft.com/office/powerpoint/2010/main" val="320056811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 name="Rectangle 47"/>
          <p:cNvSpPr/>
          <p:nvPr/>
        </p:nvSpPr>
        <p:spPr>
          <a:xfrm>
            <a:off x="1333896" y="327184"/>
            <a:ext cx="9823541" cy="492443"/>
          </a:xfrm>
          <a:prstGeom prst="rect">
            <a:avLst/>
          </a:prstGeom>
        </p:spPr>
        <p:txBody>
          <a:bodyPr wrap="square">
            <a:spAutoFit/>
          </a:bodyPr>
          <a:lstStyle/>
          <a:p>
            <a:r>
              <a:rPr lang="vi-VN" sz="2600" b="1" dirty="0">
                <a:solidFill>
                  <a:schemeClr val="bg1"/>
                </a:solidFill>
                <a:latin typeface="Verdana" panose="020B0604030504040204" pitchFamily="34" charset="0"/>
                <a:ea typeface="Verdana" panose="020B0604030504040204" pitchFamily="34" charset="0"/>
              </a:rPr>
              <a:t>2. Thực trạng quản lý và đánh giá tại PrBBNKBIDV</a:t>
            </a:r>
            <a:endParaRPr lang="en-US" sz="2600" b="1" dirty="0">
              <a:solidFill>
                <a:schemeClr val="bg1"/>
              </a:solidFill>
              <a:latin typeface="Verdana" panose="020B0604030504040204" pitchFamily="34" charset="0"/>
              <a:ea typeface="Verdana" panose="020B0604030504040204" pitchFamily="34" charset="0"/>
            </a:endParaRPr>
          </a:p>
        </p:txBody>
      </p:sp>
      <p:sp>
        <p:nvSpPr>
          <p:cNvPr id="3" name="Title 1">
            <a:extLst>
              <a:ext uri="{FF2B5EF4-FFF2-40B4-BE49-F238E27FC236}">
                <a16:creationId xmlns:a16="http://schemas.microsoft.com/office/drawing/2014/main" id="{0E528855-E7C4-4EB7-8D52-4B5C2D03B187}"/>
              </a:ext>
            </a:extLst>
          </p:cNvPr>
          <p:cNvSpPr txBox="1">
            <a:spLocks/>
          </p:cNvSpPr>
          <p:nvPr/>
        </p:nvSpPr>
        <p:spPr>
          <a:xfrm>
            <a:off x="1094509" y="969818"/>
            <a:ext cx="10307782" cy="5715795"/>
          </a:xfrm>
          <a:prstGeom prst="rect">
            <a:avLst/>
          </a:prstGeom>
        </p:spPr>
        <p:txBody>
          <a:bodyPr vert="horz" lIns="91440" tIns="45720" rIns="91440" bIns="45720" rtlCol="0" anchor="t">
            <a:normAutofit fontScale="97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nSpc>
                <a:spcPct val="200000"/>
              </a:lnSpc>
            </a:pPr>
            <a:endParaRPr lang="en-US" sz="1800" b="1" dirty="0">
              <a:latin typeface="Verdana" panose="020B0604030504040204" pitchFamily="34" charset="0"/>
              <a:ea typeface="Verdana" panose="020B0604030504040204" pitchFamily="34" charset="0"/>
            </a:endParaRPr>
          </a:p>
          <a:p>
            <a:pPr>
              <a:lnSpc>
                <a:spcPct val="200000"/>
              </a:lnSpc>
            </a:pPr>
            <a:endParaRPr lang="en-US" sz="1800" dirty="0">
              <a:latin typeface="Verdana" panose="020B0604030504040204" pitchFamily="34" charset="0"/>
              <a:ea typeface="Verdana" panose="020B0604030504040204" pitchFamily="34" charset="0"/>
            </a:endParaRPr>
          </a:p>
          <a:p>
            <a:pPr>
              <a:lnSpc>
                <a:spcPct val="200000"/>
              </a:lnSpc>
            </a:pPr>
            <a:endParaRPr lang="en-US" sz="1800" dirty="0">
              <a:latin typeface="Verdana" panose="020B0604030504040204" pitchFamily="34" charset="0"/>
              <a:ea typeface="Verdana" panose="020B0604030504040204" pitchFamily="34" charset="0"/>
            </a:endParaRPr>
          </a:p>
        </p:txBody>
      </p:sp>
      <p:pic>
        <p:nvPicPr>
          <p:cNvPr id="7" name="Picture 6">
            <a:extLst>
              <a:ext uri="{FF2B5EF4-FFF2-40B4-BE49-F238E27FC236}">
                <a16:creationId xmlns:a16="http://schemas.microsoft.com/office/drawing/2014/main" id="{96DE454B-78BE-496D-BF6D-82AA02710E4F}"/>
              </a:ext>
            </a:extLst>
          </p:cNvPr>
          <p:cNvPicPr>
            <a:picLocks noChangeAspect="1"/>
          </p:cNvPicPr>
          <p:nvPr/>
        </p:nvPicPr>
        <p:blipFill>
          <a:blip r:embed="rId2"/>
          <a:stretch>
            <a:fillRect/>
          </a:stretch>
        </p:blipFill>
        <p:spPr>
          <a:xfrm>
            <a:off x="1243853" y="1191491"/>
            <a:ext cx="9913584" cy="5339325"/>
          </a:xfrm>
          <a:prstGeom prst="rect">
            <a:avLst/>
          </a:prstGeom>
          <a:ln>
            <a:solidFill>
              <a:schemeClr val="tx1"/>
            </a:solidFill>
          </a:ln>
        </p:spPr>
      </p:pic>
    </p:spTree>
    <p:extLst>
      <p:ext uri="{BB962C8B-B14F-4D97-AF65-F5344CB8AC3E}">
        <p14:creationId xmlns:p14="http://schemas.microsoft.com/office/powerpoint/2010/main" val="28019840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 name="Rectangle 47"/>
          <p:cNvSpPr/>
          <p:nvPr/>
        </p:nvSpPr>
        <p:spPr>
          <a:xfrm>
            <a:off x="1333896" y="327184"/>
            <a:ext cx="9823541" cy="492443"/>
          </a:xfrm>
          <a:prstGeom prst="rect">
            <a:avLst/>
          </a:prstGeom>
        </p:spPr>
        <p:txBody>
          <a:bodyPr wrap="square">
            <a:spAutoFit/>
          </a:bodyPr>
          <a:lstStyle/>
          <a:p>
            <a:r>
              <a:rPr lang="en-US" sz="2600" b="1" dirty="0">
                <a:solidFill>
                  <a:schemeClr val="bg1"/>
                </a:solidFill>
                <a:latin typeface="Verdana" panose="020B0604030504040204" pitchFamily="34" charset="0"/>
                <a:ea typeface="Verdana" panose="020B0604030504040204" pitchFamily="34" charset="0"/>
              </a:rPr>
              <a:t>2. </a:t>
            </a:r>
            <a:r>
              <a:rPr lang="vi-VN" sz="2600" b="1" dirty="0">
                <a:solidFill>
                  <a:schemeClr val="bg1"/>
                </a:solidFill>
                <a:latin typeface="Verdana" panose="020B0604030504040204" pitchFamily="34" charset="0"/>
                <a:ea typeface="Verdana" panose="020B0604030504040204" pitchFamily="34" charset="0"/>
              </a:rPr>
              <a:t>Thực trạng quản lý và đánh giá tại PrBBNKBIDV</a:t>
            </a:r>
            <a:endParaRPr lang="en-US" sz="2600" b="1" dirty="0">
              <a:solidFill>
                <a:schemeClr val="bg1"/>
              </a:solidFill>
              <a:latin typeface="Verdana" panose="020B0604030504040204" pitchFamily="34" charset="0"/>
              <a:ea typeface="Verdana" panose="020B0604030504040204" pitchFamily="34" charset="0"/>
            </a:endParaRPr>
          </a:p>
        </p:txBody>
      </p:sp>
      <p:sp>
        <p:nvSpPr>
          <p:cNvPr id="3" name="Title 1">
            <a:extLst>
              <a:ext uri="{FF2B5EF4-FFF2-40B4-BE49-F238E27FC236}">
                <a16:creationId xmlns:a16="http://schemas.microsoft.com/office/drawing/2014/main" id="{4EA4B999-0292-4585-9244-F440F390AA65}"/>
              </a:ext>
            </a:extLst>
          </p:cNvPr>
          <p:cNvSpPr txBox="1">
            <a:spLocks/>
          </p:cNvSpPr>
          <p:nvPr/>
        </p:nvSpPr>
        <p:spPr>
          <a:xfrm>
            <a:off x="1094509" y="969818"/>
            <a:ext cx="10307782" cy="5715795"/>
          </a:xfrm>
          <a:prstGeom prst="rect">
            <a:avLst/>
          </a:prstGeom>
        </p:spPr>
        <p:txBody>
          <a:bodyPr vert="horz" lIns="91440" tIns="45720" rIns="91440" bIns="45720" rtlCol="0" anchor="t">
            <a:normAutofit fontScale="97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nSpc>
                <a:spcPct val="200000"/>
              </a:lnSpc>
            </a:pPr>
            <a:r>
              <a:rPr lang="en-US" sz="1800" b="1" dirty="0" err="1">
                <a:latin typeface="Verdana" panose="020B0604030504040204" pitchFamily="34" charset="0"/>
                <a:ea typeface="Verdana" panose="020B0604030504040204" pitchFamily="34" charset="0"/>
              </a:rPr>
              <a:t>Khoán</a:t>
            </a:r>
            <a:r>
              <a:rPr lang="en-US" sz="1800" b="1" dirty="0">
                <a:latin typeface="Verdana" panose="020B0604030504040204" pitchFamily="34" charset="0"/>
                <a:ea typeface="Verdana" panose="020B0604030504040204" pitchFamily="34" charset="0"/>
              </a:rPr>
              <a:t> </a:t>
            </a:r>
            <a:r>
              <a:rPr lang="en-US" sz="1800" b="1" dirty="0" err="1">
                <a:latin typeface="Verdana" panose="020B0604030504040204" pitchFamily="34" charset="0"/>
                <a:ea typeface="Verdana" panose="020B0604030504040204" pitchFamily="34" charset="0"/>
              </a:rPr>
              <a:t>thu</a:t>
            </a:r>
            <a:r>
              <a:rPr lang="en-US" sz="1800" b="1" dirty="0">
                <a:latin typeface="Verdana" panose="020B0604030504040204" pitchFamily="34" charset="0"/>
                <a:ea typeface="Verdana" panose="020B0604030504040204" pitchFamily="34" charset="0"/>
              </a:rPr>
              <a:t> </a:t>
            </a:r>
            <a:r>
              <a:rPr lang="en-US" sz="1800" b="1" dirty="0" err="1">
                <a:latin typeface="Verdana" panose="020B0604030504040204" pitchFamily="34" charset="0"/>
                <a:ea typeface="Verdana" panose="020B0604030504040204" pitchFamily="34" charset="0"/>
              </a:rPr>
              <a:t>nhập</a:t>
            </a:r>
            <a:r>
              <a:rPr lang="en-US" sz="1800" b="1" dirty="0">
                <a:latin typeface="Verdana" panose="020B0604030504040204" pitchFamily="34" charset="0"/>
                <a:ea typeface="Verdana" panose="020B0604030504040204" pitchFamily="34" charset="0"/>
              </a:rPr>
              <a:t> </a:t>
            </a:r>
            <a:r>
              <a:rPr lang="en-US" sz="1800" b="1" dirty="0" err="1">
                <a:latin typeface="Verdana" panose="020B0604030504040204" pitchFamily="34" charset="0"/>
                <a:ea typeface="Verdana" panose="020B0604030504040204" pitchFamily="34" charset="0"/>
              </a:rPr>
              <a:t>và</a:t>
            </a:r>
            <a:r>
              <a:rPr lang="en-US" sz="1800" b="1" dirty="0">
                <a:latin typeface="Verdana" panose="020B0604030504040204" pitchFamily="34" charset="0"/>
                <a:ea typeface="Verdana" panose="020B0604030504040204" pitchFamily="34" charset="0"/>
              </a:rPr>
              <a:t> </a:t>
            </a:r>
            <a:r>
              <a:rPr lang="en-US" sz="1800" b="1" dirty="0" err="1">
                <a:latin typeface="Verdana" panose="020B0604030504040204" pitchFamily="34" charset="0"/>
                <a:ea typeface="Verdana" panose="020B0604030504040204" pitchFamily="34" charset="0"/>
              </a:rPr>
              <a:t>áp</a:t>
            </a:r>
            <a:r>
              <a:rPr lang="en-US" sz="1800" b="1" dirty="0">
                <a:latin typeface="Verdana" panose="020B0604030504040204" pitchFamily="34" charset="0"/>
                <a:ea typeface="Verdana" panose="020B0604030504040204" pitchFamily="34" charset="0"/>
              </a:rPr>
              <a:t> </a:t>
            </a:r>
            <a:r>
              <a:rPr lang="en-US" sz="1800" b="1" dirty="0" err="1">
                <a:latin typeface="Verdana" panose="020B0604030504040204" pitchFamily="34" charset="0"/>
                <a:ea typeface="Verdana" panose="020B0604030504040204" pitchFamily="34" charset="0"/>
              </a:rPr>
              <a:t>dụng</a:t>
            </a:r>
            <a:r>
              <a:rPr lang="en-US" sz="1800" b="1" dirty="0">
                <a:latin typeface="Verdana" panose="020B0604030504040204" pitchFamily="34" charset="0"/>
                <a:ea typeface="Verdana" panose="020B0604030504040204" pitchFamily="34" charset="0"/>
              </a:rPr>
              <a:t> </a:t>
            </a:r>
            <a:r>
              <a:rPr lang="en-US" sz="1800" b="1" dirty="0" err="1">
                <a:latin typeface="Verdana" panose="020B0604030504040204" pitchFamily="34" charset="0"/>
                <a:ea typeface="Verdana" panose="020B0604030504040204" pitchFamily="34" charset="0"/>
              </a:rPr>
              <a:t>tính</a:t>
            </a:r>
            <a:r>
              <a:rPr lang="en-US" sz="1800" b="1" dirty="0">
                <a:latin typeface="Verdana" panose="020B0604030504040204" pitchFamily="34" charset="0"/>
                <a:ea typeface="Verdana" panose="020B0604030504040204" pitchFamily="34" charset="0"/>
              </a:rPr>
              <a:t> </a:t>
            </a:r>
            <a:r>
              <a:rPr lang="en-US" sz="1800" b="1" dirty="0" err="1">
                <a:latin typeface="Verdana" panose="020B0604030504040204" pitchFamily="34" charset="0"/>
                <a:ea typeface="Verdana" panose="020B0604030504040204" pitchFamily="34" charset="0"/>
              </a:rPr>
              <a:t>khoán</a:t>
            </a:r>
            <a:endParaRPr lang="en-US" sz="1800" b="1" dirty="0">
              <a:latin typeface="Verdana" panose="020B0604030504040204" pitchFamily="34" charset="0"/>
              <a:ea typeface="Verdana" panose="020B0604030504040204" pitchFamily="34" charset="0"/>
            </a:endParaRPr>
          </a:p>
          <a:p>
            <a:pPr>
              <a:lnSpc>
                <a:spcPct val="200000"/>
              </a:lnSpc>
            </a:pPr>
            <a:r>
              <a:rPr lang="vi-VN" sz="1800" dirty="0">
                <a:latin typeface="Verdana" panose="020B0604030504040204" pitchFamily="34" charset="0"/>
                <a:ea typeface="Verdana" panose="020B0604030504040204" pitchFamily="34" charset="0"/>
              </a:rPr>
              <a:t>Chính sách khoán của FIS là việc áp dụng khoán, thưởng vào trong quản lý và sản xuất. Việc thay đổi với mục đích là tăng thu nhập theo từng tháng cho cán bộ nhân viên theo mức độ đóng góp thực tế của mỗi nhân viên và đáp ứng một cách kịp thời, chính xác, minh bạch.</a:t>
            </a:r>
            <a:endParaRPr lang="en-US" sz="1800" dirty="0">
              <a:latin typeface="Verdana" panose="020B0604030504040204" pitchFamily="34" charset="0"/>
              <a:ea typeface="Verdana" panose="020B0604030504040204" pitchFamily="34" charset="0"/>
            </a:endParaRPr>
          </a:p>
          <a:p>
            <a:pPr marL="342900" indent="-342900">
              <a:lnSpc>
                <a:spcPct val="200000"/>
              </a:lnSpc>
              <a:buFont typeface="+mj-lt"/>
              <a:buAutoNum type="arabicPeriod"/>
            </a:pPr>
            <a:r>
              <a:rPr lang="en-US" sz="1800" dirty="0" err="1">
                <a:latin typeface="Verdana" panose="020B0604030504040204" pitchFamily="34" charset="0"/>
                <a:ea typeface="Verdana" panose="020B0604030504040204" pitchFamily="34" charset="0"/>
              </a:rPr>
              <a:t>Trả</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thu</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nhập</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sớm</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nhất</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và</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không</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giới</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hạn</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theo</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đúng</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mức</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độ</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đóng</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góp</a:t>
            </a:r>
            <a:endParaRPr lang="en-US" sz="1800" dirty="0">
              <a:latin typeface="Verdana" panose="020B0604030504040204" pitchFamily="34" charset="0"/>
              <a:ea typeface="Verdana" panose="020B0604030504040204" pitchFamily="34" charset="0"/>
            </a:endParaRPr>
          </a:p>
          <a:p>
            <a:pPr marL="342900" indent="-342900">
              <a:lnSpc>
                <a:spcPct val="200000"/>
              </a:lnSpc>
              <a:buFont typeface="+mj-lt"/>
              <a:buAutoNum type="arabicPeriod"/>
            </a:pPr>
            <a:r>
              <a:rPr lang="en-US" sz="1800" dirty="0" err="1">
                <a:latin typeface="Verdana" panose="020B0604030504040204" pitchFamily="34" charset="0"/>
                <a:ea typeface="Verdana" panose="020B0604030504040204" pitchFamily="34" charset="0"/>
              </a:rPr>
              <a:t>Không</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còn</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khái</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niệm</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thu</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nhập</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năm</a:t>
            </a:r>
            <a:endParaRPr lang="en-US" sz="1800" dirty="0">
              <a:latin typeface="Verdana" panose="020B0604030504040204" pitchFamily="34" charset="0"/>
              <a:ea typeface="Verdana" panose="020B0604030504040204" pitchFamily="34" charset="0"/>
            </a:endParaRPr>
          </a:p>
          <a:p>
            <a:pPr marL="342900" indent="-342900">
              <a:lnSpc>
                <a:spcPct val="200000"/>
              </a:lnSpc>
              <a:buFont typeface="+mj-lt"/>
              <a:buAutoNum type="arabicPeriod"/>
            </a:pPr>
            <a:r>
              <a:rPr lang="en-US" sz="1800" dirty="0">
                <a:latin typeface="Verdana" panose="020B0604030504040204" pitchFamily="34" charset="0"/>
                <a:ea typeface="Verdana" panose="020B0604030504040204" pitchFamily="34" charset="0"/>
              </a:rPr>
              <a:t>Thu </a:t>
            </a:r>
            <a:r>
              <a:rPr lang="en-US" sz="1800" dirty="0" err="1">
                <a:latin typeface="Verdana" panose="020B0604030504040204" pitchFamily="34" charset="0"/>
                <a:ea typeface="Verdana" panose="020B0604030504040204" pitchFamily="34" charset="0"/>
              </a:rPr>
              <a:t>nhập</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không</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giới</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hạn</a:t>
            </a:r>
            <a:endParaRPr lang="en-US" sz="1800" dirty="0">
              <a:latin typeface="Verdana" panose="020B0604030504040204" pitchFamily="34" charset="0"/>
              <a:ea typeface="Verdana" panose="020B0604030504040204" pitchFamily="34" charset="0"/>
            </a:endParaRPr>
          </a:p>
          <a:p>
            <a:pPr>
              <a:lnSpc>
                <a:spcPct val="200000"/>
              </a:lnSpc>
            </a:pPr>
            <a:endParaRPr lang="en-US" sz="1800" dirty="0">
              <a:latin typeface="Verdana" panose="020B0604030504040204" pitchFamily="34" charset="0"/>
              <a:ea typeface="Verdana" panose="020B0604030504040204" pitchFamily="34" charset="0"/>
            </a:endParaRPr>
          </a:p>
          <a:p>
            <a:pPr>
              <a:lnSpc>
                <a:spcPct val="200000"/>
              </a:lnSpc>
            </a:pPr>
            <a:endParaRPr lang="en-US" sz="1800" dirty="0">
              <a:latin typeface="Verdana" panose="020B0604030504040204" pitchFamily="34" charset="0"/>
              <a:ea typeface="Verdana" panose="020B0604030504040204" pitchFamily="34" charset="0"/>
            </a:endParaRPr>
          </a:p>
        </p:txBody>
      </p:sp>
    </p:spTree>
    <p:extLst>
      <p:ext uri="{BB962C8B-B14F-4D97-AF65-F5344CB8AC3E}">
        <p14:creationId xmlns:p14="http://schemas.microsoft.com/office/powerpoint/2010/main" val="382500742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 name="Rectangle 47"/>
          <p:cNvSpPr/>
          <p:nvPr/>
        </p:nvSpPr>
        <p:spPr>
          <a:xfrm>
            <a:off x="1333896" y="327184"/>
            <a:ext cx="9823541" cy="492443"/>
          </a:xfrm>
          <a:prstGeom prst="rect">
            <a:avLst/>
          </a:prstGeom>
        </p:spPr>
        <p:txBody>
          <a:bodyPr wrap="square">
            <a:spAutoFit/>
          </a:bodyPr>
          <a:lstStyle/>
          <a:p>
            <a:r>
              <a:rPr lang="en-US" sz="2600" b="1" dirty="0">
                <a:solidFill>
                  <a:schemeClr val="bg1"/>
                </a:solidFill>
                <a:latin typeface="Verdana" panose="020B0604030504040204" pitchFamily="34" charset="0"/>
                <a:ea typeface="Verdana" panose="020B0604030504040204" pitchFamily="34" charset="0"/>
              </a:rPr>
              <a:t>2. </a:t>
            </a:r>
            <a:r>
              <a:rPr lang="vi-VN" sz="2600" b="1" dirty="0">
                <a:solidFill>
                  <a:schemeClr val="bg1"/>
                </a:solidFill>
                <a:latin typeface="Verdana" panose="020B0604030504040204" pitchFamily="34" charset="0"/>
                <a:ea typeface="Verdana" panose="020B0604030504040204" pitchFamily="34" charset="0"/>
              </a:rPr>
              <a:t>Thực trạng quản lý và đánh giá tại PrBBNKBIDV</a:t>
            </a:r>
            <a:endParaRPr lang="en-US" sz="2600" b="1" dirty="0">
              <a:solidFill>
                <a:schemeClr val="bg1"/>
              </a:solidFill>
              <a:latin typeface="Verdana" panose="020B0604030504040204" pitchFamily="34" charset="0"/>
              <a:ea typeface="Verdana" panose="020B0604030504040204" pitchFamily="34" charset="0"/>
            </a:endParaRPr>
          </a:p>
        </p:txBody>
      </p:sp>
      <p:sp>
        <p:nvSpPr>
          <p:cNvPr id="3" name="Title 1">
            <a:extLst>
              <a:ext uri="{FF2B5EF4-FFF2-40B4-BE49-F238E27FC236}">
                <a16:creationId xmlns:a16="http://schemas.microsoft.com/office/drawing/2014/main" id="{4EA4B999-0292-4585-9244-F440F390AA65}"/>
              </a:ext>
            </a:extLst>
          </p:cNvPr>
          <p:cNvSpPr txBox="1">
            <a:spLocks/>
          </p:cNvSpPr>
          <p:nvPr/>
        </p:nvSpPr>
        <p:spPr>
          <a:xfrm>
            <a:off x="1094509" y="969818"/>
            <a:ext cx="10307782" cy="5715795"/>
          </a:xfrm>
          <a:prstGeom prst="rect">
            <a:avLst/>
          </a:prstGeom>
        </p:spPr>
        <p:txBody>
          <a:bodyPr vert="horz" lIns="91440" tIns="45720" rIns="91440" bIns="45720" rtlCol="0" anchor="t">
            <a:normAutofit fontScale="97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nSpc>
                <a:spcPct val="200000"/>
              </a:lnSpc>
            </a:pPr>
            <a:r>
              <a:rPr lang="en-US" sz="1800" b="1" dirty="0" err="1">
                <a:latin typeface="Verdana" panose="020B0604030504040204" pitchFamily="34" charset="0"/>
                <a:ea typeface="Verdana" panose="020B0604030504040204" pitchFamily="34" charset="0"/>
              </a:rPr>
              <a:t>Vấn</a:t>
            </a:r>
            <a:r>
              <a:rPr lang="en-US" sz="1800" b="1" dirty="0">
                <a:latin typeface="Verdana" panose="020B0604030504040204" pitchFamily="34" charset="0"/>
                <a:ea typeface="Verdana" panose="020B0604030504040204" pitchFamily="34" charset="0"/>
              </a:rPr>
              <a:t> </a:t>
            </a:r>
            <a:r>
              <a:rPr lang="en-US" sz="1800" b="1" dirty="0" err="1">
                <a:latin typeface="Verdana" panose="020B0604030504040204" pitchFamily="34" charset="0"/>
                <a:ea typeface="Verdana" panose="020B0604030504040204" pitchFamily="34" charset="0"/>
              </a:rPr>
              <a:t>đề</a:t>
            </a:r>
            <a:r>
              <a:rPr lang="en-US" sz="1800" b="1" dirty="0">
                <a:latin typeface="Verdana" panose="020B0604030504040204" pitchFamily="34" charset="0"/>
                <a:ea typeface="Verdana" panose="020B0604030504040204" pitchFamily="34" charset="0"/>
              </a:rPr>
              <a:t> </a:t>
            </a:r>
            <a:r>
              <a:rPr lang="en-US" sz="1800" b="1" dirty="0" err="1">
                <a:latin typeface="Verdana" panose="020B0604030504040204" pitchFamily="34" charset="0"/>
                <a:ea typeface="Verdana" panose="020B0604030504040204" pitchFamily="34" charset="0"/>
              </a:rPr>
              <a:t>và</a:t>
            </a:r>
            <a:r>
              <a:rPr lang="en-US" sz="1800" b="1" dirty="0">
                <a:latin typeface="Verdana" panose="020B0604030504040204" pitchFamily="34" charset="0"/>
                <a:ea typeface="Verdana" panose="020B0604030504040204" pitchFamily="34" charset="0"/>
              </a:rPr>
              <a:t> </a:t>
            </a:r>
            <a:r>
              <a:rPr lang="en-US" sz="1800" b="1" dirty="0" err="1">
                <a:latin typeface="Verdana" panose="020B0604030504040204" pitchFamily="34" charset="0"/>
                <a:ea typeface="Verdana" panose="020B0604030504040204" pitchFamily="34" charset="0"/>
              </a:rPr>
              <a:t>đề</a:t>
            </a:r>
            <a:r>
              <a:rPr lang="en-US" sz="1800" b="1" dirty="0">
                <a:latin typeface="Verdana" panose="020B0604030504040204" pitchFamily="34" charset="0"/>
                <a:ea typeface="Verdana" panose="020B0604030504040204" pitchFamily="34" charset="0"/>
              </a:rPr>
              <a:t> </a:t>
            </a:r>
            <a:r>
              <a:rPr lang="en-US" sz="1800" b="1" dirty="0" err="1">
                <a:latin typeface="Verdana" panose="020B0604030504040204" pitchFamily="34" charset="0"/>
                <a:ea typeface="Verdana" panose="020B0604030504040204" pitchFamily="34" charset="0"/>
              </a:rPr>
              <a:t>xuất</a:t>
            </a:r>
            <a:r>
              <a:rPr lang="en-US" sz="1800" b="1" dirty="0">
                <a:latin typeface="Verdana" panose="020B0604030504040204" pitchFamily="34" charset="0"/>
                <a:ea typeface="Verdana" panose="020B0604030504040204" pitchFamily="34" charset="0"/>
              </a:rPr>
              <a:t> </a:t>
            </a:r>
            <a:r>
              <a:rPr lang="en-US" sz="1800" b="1" dirty="0" err="1">
                <a:latin typeface="Verdana" panose="020B0604030504040204" pitchFamily="34" charset="0"/>
                <a:ea typeface="Verdana" panose="020B0604030504040204" pitchFamily="34" charset="0"/>
              </a:rPr>
              <a:t>trong</a:t>
            </a:r>
            <a:r>
              <a:rPr lang="en-US" sz="1800" b="1" dirty="0">
                <a:latin typeface="Verdana" panose="020B0604030504040204" pitchFamily="34" charset="0"/>
                <a:ea typeface="Verdana" panose="020B0604030504040204" pitchFamily="34" charset="0"/>
              </a:rPr>
              <a:t> </a:t>
            </a:r>
            <a:r>
              <a:rPr lang="en-US" sz="1800" b="1" dirty="0" err="1">
                <a:latin typeface="Verdana" panose="020B0604030504040204" pitchFamily="34" charset="0"/>
                <a:ea typeface="Verdana" panose="020B0604030504040204" pitchFamily="34" charset="0"/>
              </a:rPr>
              <a:t>quản</a:t>
            </a:r>
            <a:r>
              <a:rPr lang="en-US" sz="1800" b="1" dirty="0">
                <a:latin typeface="Verdana" panose="020B0604030504040204" pitchFamily="34" charset="0"/>
                <a:ea typeface="Verdana" panose="020B0604030504040204" pitchFamily="34" charset="0"/>
              </a:rPr>
              <a:t> </a:t>
            </a:r>
            <a:r>
              <a:rPr lang="en-US" sz="1800" b="1" dirty="0" err="1">
                <a:latin typeface="Verdana" panose="020B0604030504040204" pitchFamily="34" charset="0"/>
                <a:ea typeface="Verdana" panose="020B0604030504040204" pitchFamily="34" charset="0"/>
              </a:rPr>
              <a:t>lý</a:t>
            </a:r>
            <a:r>
              <a:rPr lang="en-US" sz="1800" b="1" dirty="0">
                <a:latin typeface="Verdana" panose="020B0604030504040204" pitchFamily="34" charset="0"/>
                <a:ea typeface="Verdana" panose="020B0604030504040204" pitchFamily="34" charset="0"/>
              </a:rPr>
              <a:t> </a:t>
            </a:r>
            <a:r>
              <a:rPr lang="en-US" sz="1800" b="1" dirty="0" err="1">
                <a:latin typeface="Verdana" panose="020B0604030504040204" pitchFamily="34" charset="0"/>
                <a:ea typeface="Verdana" panose="020B0604030504040204" pitchFamily="34" charset="0"/>
              </a:rPr>
              <a:t>công</a:t>
            </a:r>
            <a:r>
              <a:rPr lang="en-US" sz="1800" b="1" dirty="0">
                <a:latin typeface="Verdana" panose="020B0604030504040204" pitchFamily="34" charset="0"/>
                <a:ea typeface="Verdana" panose="020B0604030504040204" pitchFamily="34" charset="0"/>
              </a:rPr>
              <a:t> </a:t>
            </a:r>
            <a:r>
              <a:rPr lang="en-US" sz="1800" b="1" dirty="0" err="1">
                <a:latin typeface="Verdana" panose="020B0604030504040204" pitchFamily="34" charset="0"/>
                <a:ea typeface="Verdana" panose="020B0604030504040204" pitchFamily="34" charset="0"/>
              </a:rPr>
              <a:t>việc</a:t>
            </a:r>
            <a:r>
              <a:rPr lang="en-US" sz="1800" b="1" dirty="0">
                <a:latin typeface="Verdana" panose="020B0604030504040204" pitchFamily="34" charset="0"/>
                <a:ea typeface="Verdana" panose="020B0604030504040204" pitchFamily="34" charset="0"/>
              </a:rPr>
              <a:t>, </a:t>
            </a:r>
            <a:r>
              <a:rPr lang="en-US" sz="1800" b="1" dirty="0" err="1">
                <a:latin typeface="Verdana" panose="020B0604030504040204" pitchFamily="34" charset="0"/>
                <a:ea typeface="Verdana" panose="020B0604030504040204" pitchFamily="34" charset="0"/>
              </a:rPr>
              <a:t>đánh</a:t>
            </a:r>
            <a:r>
              <a:rPr lang="en-US" sz="1800" b="1" dirty="0">
                <a:latin typeface="Verdana" panose="020B0604030504040204" pitchFamily="34" charset="0"/>
                <a:ea typeface="Verdana" panose="020B0604030504040204" pitchFamily="34" charset="0"/>
              </a:rPr>
              <a:t> </a:t>
            </a:r>
            <a:r>
              <a:rPr lang="en-US" sz="1800" b="1" dirty="0" err="1">
                <a:latin typeface="Verdana" panose="020B0604030504040204" pitchFamily="34" charset="0"/>
                <a:ea typeface="Verdana" panose="020B0604030504040204" pitchFamily="34" charset="0"/>
              </a:rPr>
              <a:t>giá</a:t>
            </a:r>
            <a:r>
              <a:rPr lang="en-US" sz="1800" b="1" dirty="0">
                <a:latin typeface="Verdana" panose="020B0604030504040204" pitchFamily="34" charset="0"/>
                <a:ea typeface="Verdana" panose="020B0604030504040204" pitchFamily="34" charset="0"/>
              </a:rPr>
              <a:t> </a:t>
            </a:r>
            <a:r>
              <a:rPr lang="en-US" sz="1800" b="1" dirty="0" err="1">
                <a:latin typeface="Verdana" panose="020B0604030504040204" pitchFamily="34" charset="0"/>
                <a:ea typeface="Verdana" panose="020B0604030504040204" pitchFamily="34" charset="0"/>
              </a:rPr>
              <a:t>và</a:t>
            </a:r>
            <a:r>
              <a:rPr lang="en-US" sz="1800" b="1" dirty="0">
                <a:latin typeface="Verdana" panose="020B0604030504040204" pitchFamily="34" charset="0"/>
                <a:ea typeface="Verdana" panose="020B0604030504040204" pitchFamily="34" charset="0"/>
              </a:rPr>
              <a:t> </a:t>
            </a:r>
            <a:r>
              <a:rPr lang="en-US" sz="1800" b="1" dirty="0" err="1">
                <a:latin typeface="Verdana" panose="020B0604030504040204" pitchFamily="34" charset="0"/>
                <a:ea typeface="Verdana" panose="020B0604030504040204" pitchFamily="34" charset="0"/>
              </a:rPr>
              <a:t>tính</a:t>
            </a:r>
            <a:r>
              <a:rPr lang="en-US" sz="1800" b="1" dirty="0">
                <a:latin typeface="Verdana" panose="020B0604030504040204" pitchFamily="34" charset="0"/>
                <a:ea typeface="Verdana" panose="020B0604030504040204" pitchFamily="34" charset="0"/>
              </a:rPr>
              <a:t> </a:t>
            </a:r>
            <a:r>
              <a:rPr lang="en-US" sz="1800" b="1" dirty="0" err="1">
                <a:latin typeface="Verdana" panose="020B0604030504040204" pitchFamily="34" charset="0"/>
                <a:ea typeface="Verdana" panose="020B0604030504040204" pitchFamily="34" charset="0"/>
              </a:rPr>
              <a:t>khoán</a:t>
            </a:r>
            <a:endParaRPr lang="en-US" sz="1800" b="1" dirty="0">
              <a:latin typeface="Verdana" panose="020B0604030504040204" pitchFamily="34" charset="0"/>
              <a:ea typeface="Verdana" panose="020B0604030504040204" pitchFamily="34" charset="0"/>
            </a:endParaRPr>
          </a:p>
          <a:p>
            <a:pPr marL="914400" indent="-342900">
              <a:lnSpc>
                <a:spcPct val="200000"/>
              </a:lnSpc>
              <a:buFont typeface="+mj-lt"/>
              <a:buAutoNum type="arabicPeriod"/>
            </a:pPr>
            <a:r>
              <a:rPr lang="en-US" sz="1800" dirty="0" err="1">
                <a:latin typeface="Verdana" panose="020B0604030504040204" pitchFamily="34" charset="0"/>
                <a:ea typeface="Verdana" panose="020B0604030504040204" pitchFamily="34" charset="0"/>
              </a:rPr>
              <a:t>Các</a:t>
            </a:r>
            <a:r>
              <a:rPr lang="vi-VN" sz="1800" dirty="0">
                <a:latin typeface="Verdana" panose="020B0604030504040204" pitchFamily="34" charset="0"/>
                <a:ea typeface="Verdana" panose="020B0604030504040204" pitchFamily="34" charset="0"/>
              </a:rPr>
              <a:t> công việc</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không</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nằm</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trong</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dự</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án</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thì</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không</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được</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quản</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lý</a:t>
            </a:r>
            <a:endParaRPr lang="en-US" sz="1800" dirty="0">
              <a:latin typeface="Verdana" panose="020B0604030504040204" pitchFamily="34" charset="0"/>
              <a:ea typeface="Verdana" panose="020B0604030504040204" pitchFamily="34" charset="0"/>
            </a:endParaRPr>
          </a:p>
          <a:p>
            <a:pPr marL="914400" indent="-342900">
              <a:lnSpc>
                <a:spcPct val="200000"/>
              </a:lnSpc>
              <a:buFont typeface="+mj-lt"/>
              <a:buAutoNum type="arabicPeriod"/>
            </a:pPr>
            <a:r>
              <a:rPr lang="vi-VN" sz="1800" dirty="0">
                <a:latin typeface="Verdana" panose="020B0604030504040204" pitchFamily="34" charset="0"/>
                <a:ea typeface="Verdana" panose="020B0604030504040204" pitchFamily="34" charset="0"/>
              </a:rPr>
              <a:t>vấn đề </a:t>
            </a:r>
            <a:r>
              <a:rPr lang="en-US" sz="1800" dirty="0" err="1">
                <a:latin typeface="Verdana" panose="020B0604030504040204" pitchFamily="34" charset="0"/>
                <a:ea typeface="Verdana" panose="020B0604030504040204" pitchFamily="34" charset="0"/>
              </a:rPr>
              <a:t>thưởng</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công</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việc</a:t>
            </a:r>
            <a:r>
              <a:rPr lang="vi-VN" sz="1800" dirty="0">
                <a:latin typeface="Verdana" panose="020B0604030504040204" pitchFamily="34" charset="0"/>
                <a:ea typeface="Verdana" panose="020B0604030504040204" pitchFamily="34" charset="0"/>
              </a:rPr>
              <a:t> chưa được rõ ràng từ lúc giao nhiệm vụ đến khi kết thúc.</a:t>
            </a:r>
            <a:endParaRPr lang="en-US" sz="1800" dirty="0">
              <a:latin typeface="Verdana" panose="020B0604030504040204" pitchFamily="34" charset="0"/>
              <a:ea typeface="Verdana" panose="020B0604030504040204" pitchFamily="34" charset="0"/>
            </a:endParaRPr>
          </a:p>
          <a:p>
            <a:pPr marL="914400" indent="-342900">
              <a:lnSpc>
                <a:spcPct val="200000"/>
              </a:lnSpc>
              <a:buFont typeface="+mj-lt"/>
              <a:buAutoNum type="arabicPeriod"/>
            </a:pPr>
            <a:r>
              <a:rPr lang="en-US" sz="1800" dirty="0" err="1">
                <a:latin typeface="Verdana" panose="020B0604030504040204" pitchFamily="34" charset="0"/>
                <a:ea typeface="Verdana" panose="020B0604030504040204" pitchFamily="34" charset="0"/>
              </a:rPr>
              <a:t>Đánh</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giá</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nhân</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viên</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chỉ</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có</a:t>
            </a:r>
            <a:r>
              <a:rPr lang="en-US" sz="1800" dirty="0">
                <a:latin typeface="Verdana" panose="020B0604030504040204" pitchFamily="34" charset="0"/>
                <a:ea typeface="Verdana" panose="020B0604030504040204" pitchFamily="34" charset="0"/>
              </a:rPr>
              <a:t> 4 </a:t>
            </a:r>
            <a:r>
              <a:rPr lang="en-US" sz="1800" dirty="0" err="1">
                <a:latin typeface="Verdana" panose="020B0604030504040204" pitchFamily="34" charset="0"/>
                <a:ea typeface="Verdana" panose="020B0604030504040204" pitchFamily="34" charset="0"/>
              </a:rPr>
              <a:t>chỉ</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tiêu</a:t>
            </a:r>
            <a:r>
              <a:rPr lang="en-US" sz="1800" dirty="0">
                <a:latin typeface="Verdana" panose="020B0604030504040204" pitchFamily="34" charset="0"/>
                <a:ea typeface="Verdana" panose="020B0604030504040204" pitchFamily="34" charset="0"/>
              </a:rPr>
              <a:t> =&gt; </a:t>
            </a:r>
            <a:r>
              <a:rPr lang="en-US" sz="1800" dirty="0" err="1">
                <a:latin typeface="Verdana" panose="020B0604030504040204" pitchFamily="34" charset="0"/>
                <a:ea typeface="Verdana" panose="020B0604030504040204" pitchFamily="34" charset="0"/>
              </a:rPr>
              <a:t>kết</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quả</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định</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tính</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cao</a:t>
            </a:r>
            <a:endParaRPr lang="en-US" sz="1800" dirty="0">
              <a:latin typeface="Verdana" panose="020B0604030504040204" pitchFamily="34" charset="0"/>
              <a:ea typeface="Verdana" panose="020B0604030504040204" pitchFamily="34" charset="0"/>
            </a:endParaRPr>
          </a:p>
          <a:p>
            <a:pPr marL="914400" indent="-342900">
              <a:lnSpc>
                <a:spcPct val="200000"/>
              </a:lnSpc>
              <a:buFont typeface="+mj-lt"/>
              <a:buAutoNum type="arabicPeriod"/>
            </a:pPr>
            <a:r>
              <a:rPr lang="vi-VN" sz="1800" dirty="0">
                <a:latin typeface="Verdana" panose="020B0604030504040204" pitchFamily="34" charset="0"/>
                <a:ea typeface="Verdana" panose="020B0604030504040204" pitchFamily="34" charset="0"/>
              </a:rPr>
              <a:t>Việc tính khoán, lương thưởng còn chưa cụ thể, chưa rõ ràng, chưa khai thác được mức độ đóng góp của nhân viên để đưa ra mức lương thưởng hợp lý</a:t>
            </a:r>
            <a:endParaRPr lang="en-US" sz="1800" dirty="0">
              <a:latin typeface="Verdana" panose="020B0604030504040204" pitchFamily="34" charset="0"/>
              <a:ea typeface="Verdana" panose="020B0604030504040204" pitchFamily="34" charset="0"/>
            </a:endParaRPr>
          </a:p>
          <a:p>
            <a:pPr>
              <a:lnSpc>
                <a:spcPct val="200000"/>
              </a:lnSpc>
            </a:pPr>
            <a:r>
              <a:rPr lang="vi-VN" sz="1800" dirty="0">
                <a:latin typeface="Verdana" panose="020B0604030504040204" pitchFamily="34" charset="0"/>
                <a:ea typeface="Verdana" panose="020B0604030504040204" pitchFamily="34" charset="0"/>
              </a:rPr>
              <a:t> </a:t>
            </a:r>
            <a:endParaRPr lang="en-US" sz="1800" dirty="0">
              <a:latin typeface="Verdana" panose="020B0604030504040204" pitchFamily="34" charset="0"/>
              <a:ea typeface="Verdana" panose="020B0604030504040204" pitchFamily="34" charset="0"/>
            </a:endParaRPr>
          </a:p>
        </p:txBody>
      </p:sp>
    </p:spTree>
    <p:extLst>
      <p:ext uri="{BB962C8B-B14F-4D97-AF65-F5344CB8AC3E}">
        <p14:creationId xmlns:p14="http://schemas.microsoft.com/office/powerpoint/2010/main" val="45689702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 name="Rectangle 47"/>
          <p:cNvSpPr/>
          <p:nvPr/>
        </p:nvSpPr>
        <p:spPr>
          <a:xfrm>
            <a:off x="1333896" y="327184"/>
            <a:ext cx="9823541" cy="492443"/>
          </a:xfrm>
          <a:prstGeom prst="rect">
            <a:avLst/>
          </a:prstGeom>
        </p:spPr>
        <p:txBody>
          <a:bodyPr wrap="square">
            <a:spAutoFit/>
          </a:bodyPr>
          <a:lstStyle/>
          <a:p>
            <a:r>
              <a:rPr lang="vi-VN" sz="2600" b="1" dirty="0">
                <a:solidFill>
                  <a:schemeClr val="bg1"/>
                </a:solidFill>
                <a:latin typeface="Verdana" panose="020B0604030504040204" pitchFamily="34" charset="0"/>
                <a:ea typeface="Verdana" panose="020B0604030504040204" pitchFamily="34" charset="0"/>
              </a:rPr>
              <a:t>3. Cơ sở và xây dựng hệ thống</a:t>
            </a:r>
            <a:endParaRPr lang="en-US" sz="2600" b="1" dirty="0">
              <a:solidFill>
                <a:schemeClr val="bg1"/>
              </a:solidFill>
              <a:latin typeface="Verdana" panose="020B0604030504040204" pitchFamily="34" charset="0"/>
              <a:ea typeface="Verdana" panose="020B0604030504040204" pitchFamily="34" charset="0"/>
            </a:endParaRPr>
          </a:p>
        </p:txBody>
      </p:sp>
      <p:sp>
        <p:nvSpPr>
          <p:cNvPr id="3" name="Title 1">
            <a:extLst>
              <a:ext uri="{FF2B5EF4-FFF2-40B4-BE49-F238E27FC236}">
                <a16:creationId xmlns:a16="http://schemas.microsoft.com/office/drawing/2014/main" id="{4EA4B999-0292-4585-9244-F440F390AA65}"/>
              </a:ext>
            </a:extLst>
          </p:cNvPr>
          <p:cNvSpPr txBox="1">
            <a:spLocks/>
          </p:cNvSpPr>
          <p:nvPr/>
        </p:nvSpPr>
        <p:spPr>
          <a:xfrm>
            <a:off x="1094509" y="969818"/>
            <a:ext cx="10307782" cy="5715795"/>
          </a:xfrm>
          <a:prstGeom prst="rect">
            <a:avLst/>
          </a:prstGeom>
        </p:spPr>
        <p:txBody>
          <a:bodyPr vert="horz" lIns="91440" tIns="45720" rIns="91440" bIns="45720" rtlCol="0" anchor="t">
            <a:normAutofit fontScale="97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nSpc>
                <a:spcPct val="200000"/>
              </a:lnSpc>
            </a:pPr>
            <a:r>
              <a:rPr lang="en-US" sz="1800" b="1" dirty="0" err="1">
                <a:latin typeface="Verdana" panose="020B0604030504040204" pitchFamily="34" charset="0"/>
                <a:ea typeface="Verdana" panose="020B0604030504040204" pitchFamily="34" charset="0"/>
              </a:rPr>
              <a:t>Cơ</a:t>
            </a:r>
            <a:r>
              <a:rPr lang="en-US" sz="1800" b="1" dirty="0">
                <a:latin typeface="Verdana" panose="020B0604030504040204" pitchFamily="34" charset="0"/>
                <a:ea typeface="Verdana" panose="020B0604030504040204" pitchFamily="34" charset="0"/>
              </a:rPr>
              <a:t> </a:t>
            </a:r>
            <a:r>
              <a:rPr lang="en-US" sz="1800" b="1" dirty="0" err="1">
                <a:latin typeface="Verdana" panose="020B0604030504040204" pitchFamily="34" charset="0"/>
                <a:ea typeface="Verdana" panose="020B0604030504040204" pitchFamily="34" charset="0"/>
              </a:rPr>
              <a:t>sở</a:t>
            </a:r>
            <a:r>
              <a:rPr lang="en-US" sz="1800" b="1" dirty="0">
                <a:latin typeface="Verdana" panose="020B0604030504040204" pitchFamily="34" charset="0"/>
                <a:ea typeface="Verdana" panose="020B0604030504040204" pitchFamily="34" charset="0"/>
              </a:rPr>
              <a:t> </a:t>
            </a:r>
            <a:r>
              <a:rPr lang="en-US" sz="1800" b="1" dirty="0" err="1">
                <a:latin typeface="Verdana" panose="020B0604030504040204" pitchFamily="34" charset="0"/>
                <a:ea typeface="Verdana" panose="020B0604030504040204" pitchFamily="34" charset="0"/>
              </a:rPr>
              <a:t>xây</a:t>
            </a:r>
            <a:r>
              <a:rPr lang="en-US" sz="1800" b="1" dirty="0">
                <a:latin typeface="Verdana" panose="020B0604030504040204" pitchFamily="34" charset="0"/>
                <a:ea typeface="Verdana" panose="020B0604030504040204" pitchFamily="34" charset="0"/>
              </a:rPr>
              <a:t> </a:t>
            </a:r>
            <a:r>
              <a:rPr lang="en-US" sz="1800" b="1" dirty="0" err="1">
                <a:latin typeface="Verdana" panose="020B0604030504040204" pitchFamily="34" charset="0"/>
                <a:ea typeface="Verdana" panose="020B0604030504040204" pitchFamily="34" charset="0"/>
              </a:rPr>
              <a:t>dựng</a:t>
            </a:r>
            <a:r>
              <a:rPr lang="en-US" sz="1800" b="1" dirty="0">
                <a:latin typeface="Verdana" panose="020B0604030504040204" pitchFamily="34" charset="0"/>
                <a:ea typeface="Verdana" panose="020B0604030504040204" pitchFamily="34" charset="0"/>
              </a:rPr>
              <a:t> HT </a:t>
            </a:r>
            <a:r>
              <a:rPr lang="en-US" sz="1800" b="1" dirty="0" err="1">
                <a:latin typeface="Verdana" panose="020B0604030504040204" pitchFamily="34" charset="0"/>
                <a:ea typeface="Verdana" panose="020B0604030504040204" pitchFamily="34" charset="0"/>
              </a:rPr>
              <a:t>quản</a:t>
            </a:r>
            <a:r>
              <a:rPr lang="en-US" sz="1800" b="1" dirty="0">
                <a:latin typeface="Verdana" panose="020B0604030504040204" pitchFamily="34" charset="0"/>
                <a:ea typeface="Verdana" panose="020B0604030504040204" pitchFamily="34" charset="0"/>
              </a:rPr>
              <a:t> </a:t>
            </a:r>
            <a:r>
              <a:rPr lang="en-US" sz="1800" b="1" dirty="0" err="1">
                <a:latin typeface="Verdana" panose="020B0604030504040204" pitchFamily="34" charset="0"/>
                <a:ea typeface="Verdana" panose="020B0604030504040204" pitchFamily="34" charset="0"/>
              </a:rPr>
              <a:t>lý</a:t>
            </a:r>
            <a:r>
              <a:rPr lang="en-US" sz="1800" b="1" dirty="0">
                <a:latin typeface="Verdana" panose="020B0604030504040204" pitchFamily="34" charset="0"/>
                <a:ea typeface="Verdana" panose="020B0604030504040204" pitchFamily="34" charset="0"/>
              </a:rPr>
              <a:t> </a:t>
            </a:r>
            <a:r>
              <a:rPr lang="en-US" sz="1800" b="1" dirty="0" err="1">
                <a:latin typeface="Verdana" panose="020B0604030504040204" pitchFamily="34" charset="0"/>
                <a:ea typeface="Verdana" panose="020B0604030504040204" pitchFamily="34" charset="0"/>
              </a:rPr>
              <a:t>công</a:t>
            </a:r>
            <a:r>
              <a:rPr lang="en-US" sz="1800" b="1" dirty="0">
                <a:latin typeface="Verdana" panose="020B0604030504040204" pitchFamily="34" charset="0"/>
                <a:ea typeface="Verdana" panose="020B0604030504040204" pitchFamily="34" charset="0"/>
              </a:rPr>
              <a:t> </a:t>
            </a:r>
            <a:r>
              <a:rPr lang="en-US" sz="1800" b="1" dirty="0" err="1">
                <a:latin typeface="Verdana" panose="020B0604030504040204" pitchFamily="34" charset="0"/>
                <a:ea typeface="Verdana" panose="020B0604030504040204" pitchFamily="34" charset="0"/>
              </a:rPr>
              <a:t>việc</a:t>
            </a:r>
            <a:endParaRPr lang="en-US" sz="1800" b="1" dirty="0">
              <a:latin typeface="Verdana" panose="020B0604030504040204" pitchFamily="34" charset="0"/>
              <a:ea typeface="Verdana" panose="020B0604030504040204" pitchFamily="34" charset="0"/>
            </a:endParaRPr>
          </a:p>
          <a:p>
            <a:pPr>
              <a:lnSpc>
                <a:spcPct val="200000"/>
              </a:lnSpc>
            </a:pPr>
            <a:endParaRPr lang="en-US" sz="1800" b="1" dirty="0">
              <a:latin typeface="Verdana" panose="020B0604030504040204" pitchFamily="34" charset="0"/>
              <a:ea typeface="Verdana" panose="020B0604030504040204" pitchFamily="34" charset="0"/>
            </a:endParaRPr>
          </a:p>
          <a:p>
            <a:pPr>
              <a:lnSpc>
                <a:spcPct val="200000"/>
              </a:lnSpc>
            </a:pPr>
            <a:endParaRPr lang="en-US" sz="1800" b="1" dirty="0">
              <a:latin typeface="Verdana" panose="020B0604030504040204" pitchFamily="34" charset="0"/>
              <a:ea typeface="Verdana" panose="020B0604030504040204" pitchFamily="34" charset="0"/>
            </a:endParaRPr>
          </a:p>
          <a:p>
            <a:pPr>
              <a:lnSpc>
                <a:spcPct val="200000"/>
              </a:lnSpc>
            </a:pPr>
            <a:endParaRPr lang="en-US" sz="1800" dirty="0">
              <a:latin typeface="Verdana" panose="020B0604030504040204" pitchFamily="34" charset="0"/>
              <a:ea typeface="Verdana" panose="020B0604030504040204" pitchFamily="34" charset="0"/>
            </a:endParaRPr>
          </a:p>
          <a:p>
            <a:pPr>
              <a:lnSpc>
                <a:spcPct val="200000"/>
              </a:lnSpc>
            </a:pPr>
            <a:endParaRPr lang="en-US" sz="1800" dirty="0">
              <a:latin typeface="Verdana" panose="020B0604030504040204" pitchFamily="34" charset="0"/>
              <a:ea typeface="Verdana" panose="020B0604030504040204" pitchFamily="34" charset="0"/>
            </a:endParaRPr>
          </a:p>
        </p:txBody>
      </p:sp>
      <p:pic>
        <p:nvPicPr>
          <p:cNvPr id="4" name="Picture 3">
            <a:extLst>
              <a:ext uri="{FF2B5EF4-FFF2-40B4-BE49-F238E27FC236}">
                <a16:creationId xmlns:a16="http://schemas.microsoft.com/office/drawing/2014/main" id="{02AB8925-7FCF-46A9-A23F-5CEFE920AE41}"/>
              </a:ext>
            </a:extLst>
          </p:cNvPr>
          <p:cNvPicPr>
            <a:picLocks noChangeAspect="1"/>
          </p:cNvPicPr>
          <p:nvPr/>
        </p:nvPicPr>
        <p:blipFill>
          <a:blip r:embed="rId2"/>
          <a:stretch>
            <a:fillRect/>
          </a:stretch>
        </p:blipFill>
        <p:spPr>
          <a:xfrm>
            <a:off x="3314701" y="1588770"/>
            <a:ext cx="6510566" cy="5096843"/>
          </a:xfrm>
          <a:prstGeom prst="rect">
            <a:avLst/>
          </a:prstGeom>
        </p:spPr>
      </p:pic>
    </p:spTree>
    <p:extLst>
      <p:ext uri="{BB962C8B-B14F-4D97-AF65-F5344CB8AC3E}">
        <p14:creationId xmlns:p14="http://schemas.microsoft.com/office/powerpoint/2010/main" val="325587644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 name="Rectangle 47"/>
          <p:cNvSpPr/>
          <p:nvPr/>
        </p:nvSpPr>
        <p:spPr>
          <a:xfrm>
            <a:off x="1333896" y="327184"/>
            <a:ext cx="9823541" cy="492443"/>
          </a:xfrm>
          <a:prstGeom prst="rect">
            <a:avLst/>
          </a:prstGeom>
        </p:spPr>
        <p:txBody>
          <a:bodyPr wrap="square">
            <a:spAutoFit/>
          </a:bodyPr>
          <a:lstStyle/>
          <a:p>
            <a:r>
              <a:rPr lang="vi-VN" sz="2600" b="1" dirty="0">
                <a:solidFill>
                  <a:schemeClr val="bg1"/>
                </a:solidFill>
                <a:latin typeface="Verdana" panose="020B0604030504040204" pitchFamily="34" charset="0"/>
                <a:ea typeface="Verdana" panose="020B0604030504040204" pitchFamily="34" charset="0"/>
              </a:rPr>
              <a:t>3. Cơ sở và xây dựng hệ thống</a:t>
            </a:r>
            <a:endParaRPr lang="en-US" sz="2600" b="1" dirty="0">
              <a:solidFill>
                <a:schemeClr val="bg1"/>
              </a:solidFill>
              <a:latin typeface="Verdana" panose="020B0604030504040204" pitchFamily="34" charset="0"/>
              <a:ea typeface="Verdana" panose="020B0604030504040204" pitchFamily="34" charset="0"/>
            </a:endParaRPr>
          </a:p>
        </p:txBody>
      </p:sp>
      <p:sp>
        <p:nvSpPr>
          <p:cNvPr id="3" name="Title 1">
            <a:extLst>
              <a:ext uri="{FF2B5EF4-FFF2-40B4-BE49-F238E27FC236}">
                <a16:creationId xmlns:a16="http://schemas.microsoft.com/office/drawing/2014/main" id="{4EA4B999-0292-4585-9244-F440F390AA65}"/>
              </a:ext>
            </a:extLst>
          </p:cNvPr>
          <p:cNvSpPr txBox="1">
            <a:spLocks/>
          </p:cNvSpPr>
          <p:nvPr/>
        </p:nvSpPr>
        <p:spPr>
          <a:xfrm>
            <a:off x="1094509" y="969818"/>
            <a:ext cx="10307782" cy="5715795"/>
          </a:xfrm>
          <a:prstGeom prst="rect">
            <a:avLst/>
          </a:prstGeom>
        </p:spPr>
        <p:txBody>
          <a:bodyPr vert="horz" lIns="91440" tIns="45720" rIns="91440" bIns="45720" rtlCol="0" anchor="t">
            <a:normAutofit fontScale="97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nSpc>
                <a:spcPct val="200000"/>
              </a:lnSpc>
            </a:pPr>
            <a:r>
              <a:rPr lang="en-US" sz="1800" b="1" dirty="0" err="1">
                <a:latin typeface="Verdana" panose="020B0604030504040204" pitchFamily="34" charset="0"/>
                <a:ea typeface="Verdana" panose="020B0604030504040204" pitchFamily="34" charset="0"/>
              </a:rPr>
              <a:t>Cơ</a:t>
            </a:r>
            <a:r>
              <a:rPr lang="en-US" sz="1800" b="1" dirty="0">
                <a:latin typeface="Verdana" panose="020B0604030504040204" pitchFamily="34" charset="0"/>
                <a:ea typeface="Verdana" panose="020B0604030504040204" pitchFamily="34" charset="0"/>
              </a:rPr>
              <a:t> </a:t>
            </a:r>
            <a:r>
              <a:rPr lang="en-US" sz="1800" b="1" dirty="0" err="1">
                <a:latin typeface="Verdana" panose="020B0604030504040204" pitchFamily="34" charset="0"/>
                <a:ea typeface="Verdana" panose="020B0604030504040204" pitchFamily="34" charset="0"/>
              </a:rPr>
              <a:t>sở</a:t>
            </a:r>
            <a:r>
              <a:rPr lang="en-US" sz="1800" b="1" dirty="0">
                <a:latin typeface="Verdana" panose="020B0604030504040204" pitchFamily="34" charset="0"/>
                <a:ea typeface="Verdana" panose="020B0604030504040204" pitchFamily="34" charset="0"/>
              </a:rPr>
              <a:t> </a:t>
            </a:r>
            <a:r>
              <a:rPr lang="en-US" sz="1800" b="1" dirty="0" err="1">
                <a:latin typeface="Verdana" panose="020B0604030504040204" pitchFamily="34" charset="0"/>
                <a:ea typeface="Verdana" panose="020B0604030504040204" pitchFamily="34" charset="0"/>
              </a:rPr>
              <a:t>xây</a:t>
            </a:r>
            <a:r>
              <a:rPr lang="en-US" sz="1800" b="1" dirty="0">
                <a:latin typeface="Verdana" panose="020B0604030504040204" pitchFamily="34" charset="0"/>
                <a:ea typeface="Verdana" panose="020B0604030504040204" pitchFamily="34" charset="0"/>
              </a:rPr>
              <a:t> </a:t>
            </a:r>
            <a:r>
              <a:rPr lang="en-US" sz="1800" b="1" dirty="0" err="1">
                <a:latin typeface="Verdana" panose="020B0604030504040204" pitchFamily="34" charset="0"/>
                <a:ea typeface="Verdana" panose="020B0604030504040204" pitchFamily="34" charset="0"/>
              </a:rPr>
              <a:t>dựng</a:t>
            </a:r>
            <a:r>
              <a:rPr lang="en-US" sz="1800" b="1" dirty="0">
                <a:latin typeface="Verdana" panose="020B0604030504040204" pitchFamily="34" charset="0"/>
                <a:ea typeface="Verdana" panose="020B0604030504040204" pitchFamily="34" charset="0"/>
              </a:rPr>
              <a:t> HT KPI</a:t>
            </a:r>
          </a:p>
          <a:p>
            <a:pPr>
              <a:lnSpc>
                <a:spcPct val="200000"/>
              </a:lnSpc>
            </a:pPr>
            <a:endParaRPr lang="en-US" sz="1800" b="1" dirty="0">
              <a:latin typeface="Verdana" panose="020B0604030504040204" pitchFamily="34" charset="0"/>
              <a:ea typeface="Verdana" panose="020B0604030504040204" pitchFamily="34" charset="0"/>
            </a:endParaRPr>
          </a:p>
          <a:p>
            <a:pPr>
              <a:lnSpc>
                <a:spcPct val="200000"/>
              </a:lnSpc>
            </a:pPr>
            <a:endParaRPr lang="en-US" sz="1800" b="1" dirty="0">
              <a:latin typeface="Verdana" panose="020B0604030504040204" pitchFamily="34" charset="0"/>
              <a:ea typeface="Verdana" panose="020B0604030504040204" pitchFamily="34" charset="0"/>
            </a:endParaRPr>
          </a:p>
          <a:p>
            <a:pPr>
              <a:lnSpc>
                <a:spcPct val="200000"/>
              </a:lnSpc>
            </a:pPr>
            <a:endParaRPr lang="en-US" sz="1800" dirty="0">
              <a:latin typeface="Verdana" panose="020B0604030504040204" pitchFamily="34" charset="0"/>
              <a:ea typeface="Verdana" panose="020B0604030504040204" pitchFamily="34" charset="0"/>
            </a:endParaRPr>
          </a:p>
          <a:p>
            <a:pPr>
              <a:lnSpc>
                <a:spcPct val="200000"/>
              </a:lnSpc>
            </a:pPr>
            <a:endParaRPr lang="en-US" sz="1800" dirty="0">
              <a:latin typeface="Verdana" panose="020B0604030504040204" pitchFamily="34" charset="0"/>
              <a:ea typeface="Verdana" panose="020B0604030504040204" pitchFamily="34" charset="0"/>
            </a:endParaRPr>
          </a:p>
        </p:txBody>
      </p:sp>
      <p:pic>
        <p:nvPicPr>
          <p:cNvPr id="5" name="Picture 4">
            <a:extLst>
              <a:ext uri="{FF2B5EF4-FFF2-40B4-BE49-F238E27FC236}">
                <a16:creationId xmlns:a16="http://schemas.microsoft.com/office/drawing/2014/main" id="{B258F886-D696-4FBD-A30A-D946B922B82E}"/>
              </a:ext>
            </a:extLst>
          </p:cNvPr>
          <p:cNvPicPr>
            <a:picLocks noChangeAspect="1"/>
          </p:cNvPicPr>
          <p:nvPr/>
        </p:nvPicPr>
        <p:blipFill>
          <a:blip r:embed="rId2"/>
          <a:stretch>
            <a:fillRect/>
          </a:stretch>
        </p:blipFill>
        <p:spPr>
          <a:xfrm>
            <a:off x="1333896" y="1844329"/>
            <a:ext cx="9841890" cy="4043853"/>
          </a:xfrm>
          <a:prstGeom prst="rect">
            <a:avLst/>
          </a:prstGeom>
        </p:spPr>
      </p:pic>
    </p:spTree>
    <p:extLst>
      <p:ext uri="{BB962C8B-B14F-4D97-AF65-F5344CB8AC3E}">
        <p14:creationId xmlns:p14="http://schemas.microsoft.com/office/powerpoint/2010/main" val="425542062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 name="Rectangle 47"/>
          <p:cNvSpPr/>
          <p:nvPr/>
        </p:nvSpPr>
        <p:spPr>
          <a:xfrm>
            <a:off x="1333896" y="327184"/>
            <a:ext cx="9823541" cy="492443"/>
          </a:xfrm>
          <a:prstGeom prst="rect">
            <a:avLst/>
          </a:prstGeom>
        </p:spPr>
        <p:txBody>
          <a:bodyPr wrap="square">
            <a:spAutoFit/>
          </a:bodyPr>
          <a:lstStyle/>
          <a:p>
            <a:r>
              <a:rPr lang="vi-VN" sz="2600" b="1" dirty="0">
                <a:solidFill>
                  <a:schemeClr val="bg1"/>
                </a:solidFill>
                <a:latin typeface="Verdana" panose="020B0604030504040204" pitchFamily="34" charset="0"/>
                <a:ea typeface="Verdana" panose="020B0604030504040204" pitchFamily="34" charset="0"/>
              </a:rPr>
              <a:t>3. Cơ sở và xây dựng hệ thống</a:t>
            </a:r>
            <a:endParaRPr lang="en-US" sz="2600" b="1" dirty="0">
              <a:solidFill>
                <a:schemeClr val="bg1"/>
              </a:solidFill>
              <a:latin typeface="Verdana" panose="020B0604030504040204" pitchFamily="34" charset="0"/>
              <a:ea typeface="Verdana" panose="020B0604030504040204" pitchFamily="34" charset="0"/>
            </a:endParaRPr>
          </a:p>
        </p:txBody>
      </p:sp>
      <p:sp>
        <p:nvSpPr>
          <p:cNvPr id="3" name="Title 1">
            <a:extLst>
              <a:ext uri="{FF2B5EF4-FFF2-40B4-BE49-F238E27FC236}">
                <a16:creationId xmlns:a16="http://schemas.microsoft.com/office/drawing/2014/main" id="{4EA4B999-0292-4585-9244-F440F390AA65}"/>
              </a:ext>
            </a:extLst>
          </p:cNvPr>
          <p:cNvSpPr txBox="1">
            <a:spLocks/>
          </p:cNvSpPr>
          <p:nvPr/>
        </p:nvSpPr>
        <p:spPr>
          <a:xfrm>
            <a:off x="1094508" y="969818"/>
            <a:ext cx="10564091" cy="5715795"/>
          </a:xfrm>
          <a:prstGeom prst="rect">
            <a:avLst/>
          </a:prstGeom>
        </p:spPr>
        <p:txBody>
          <a:bodyPr vert="horz" lIns="91440" tIns="45720" rIns="91440" bIns="45720" rtlCol="0" anchor="t">
            <a:normAutofit fontScale="97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nSpc>
                <a:spcPct val="200000"/>
              </a:lnSpc>
            </a:pPr>
            <a:r>
              <a:rPr lang="en-US" sz="1800" b="1" dirty="0">
                <a:latin typeface="Verdana" panose="020B0604030504040204" pitchFamily="34" charset="0"/>
                <a:ea typeface="Verdana" panose="020B0604030504040204" pitchFamily="34" charset="0"/>
              </a:rPr>
              <a:t>RACI</a:t>
            </a:r>
          </a:p>
          <a:p>
            <a:pPr marL="914400" indent="-285750">
              <a:lnSpc>
                <a:spcPct val="200000"/>
              </a:lnSpc>
              <a:buFont typeface="Wingdings" panose="05000000000000000000" pitchFamily="2" charset="2"/>
              <a:buChar char="v"/>
            </a:pPr>
            <a:r>
              <a:rPr lang="vi-VN" sz="1800" dirty="0">
                <a:latin typeface="Verdana" panose="020B0604030504040204" pitchFamily="34" charset="0"/>
                <a:ea typeface="Verdana" panose="020B0604030504040204" pitchFamily="34" charset="0"/>
              </a:rPr>
              <a:t>R- Resposible: thực hiện công việc để hoàn thành nhiệm vụ. </a:t>
            </a:r>
            <a:endParaRPr lang="en-US" sz="1800" dirty="0">
              <a:latin typeface="Verdana" panose="020B0604030504040204" pitchFamily="34" charset="0"/>
              <a:ea typeface="Verdana" panose="020B0604030504040204" pitchFamily="34" charset="0"/>
            </a:endParaRPr>
          </a:p>
          <a:p>
            <a:pPr marL="914400" indent="-285750">
              <a:lnSpc>
                <a:spcPct val="200000"/>
              </a:lnSpc>
              <a:buFont typeface="Wingdings" panose="05000000000000000000" pitchFamily="2" charset="2"/>
              <a:buChar char="v"/>
            </a:pPr>
            <a:r>
              <a:rPr lang="vi-VN" sz="1800" dirty="0">
                <a:latin typeface="Verdana" panose="020B0604030504040204" pitchFamily="34" charset="0"/>
                <a:ea typeface="Verdana" panose="020B0604030504040204" pitchFamily="34" charset="0"/>
              </a:rPr>
              <a:t>A- Acountable: người cuối cùng chịu trách nhiệm đối với việc hoàn thành công việc/ nhiệm vụ một cách chính xác và toàn diện về kết quả</a:t>
            </a:r>
            <a:endParaRPr lang="en-US" sz="1800" dirty="0">
              <a:latin typeface="Verdana" panose="020B0604030504040204" pitchFamily="34" charset="0"/>
              <a:ea typeface="Verdana" panose="020B0604030504040204" pitchFamily="34" charset="0"/>
            </a:endParaRPr>
          </a:p>
          <a:p>
            <a:pPr marL="914400" indent="-285750">
              <a:lnSpc>
                <a:spcPct val="200000"/>
              </a:lnSpc>
              <a:buFont typeface="Wingdings" panose="05000000000000000000" pitchFamily="2" charset="2"/>
              <a:buChar char="v"/>
            </a:pPr>
            <a:r>
              <a:rPr lang="vi-VN" sz="1800" dirty="0">
                <a:latin typeface="Verdana" panose="020B0604030504040204" pitchFamily="34" charset="0"/>
                <a:ea typeface="Verdana" panose="020B0604030504040204" pitchFamily="34" charset="0"/>
              </a:rPr>
              <a:t>C- Consulted: tham gia vào quá trình xử lý công việc/ nhiệm vụ</a:t>
            </a:r>
            <a:endParaRPr lang="en-US" sz="1800" dirty="0">
              <a:latin typeface="Verdana" panose="020B0604030504040204" pitchFamily="34" charset="0"/>
              <a:ea typeface="Verdana" panose="020B0604030504040204" pitchFamily="34" charset="0"/>
            </a:endParaRPr>
          </a:p>
          <a:p>
            <a:pPr marL="914400" indent="-285750">
              <a:lnSpc>
                <a:spcPct val="200000"/>
              </a:lnSpc>
              <a:buFont typeface="Wingdings" panose="05000000000000000000" pitchFamily="2" charset="2"/>
              <a:buChar char="v"/>
            </a:pPr>
            <a:r>
              <a:rPr lang="vi-VN" sz="1800" dirty="0">
                <a:latin typeface="Verdana" panose="020B0604030504040204" pitchFamily="34" charset="0"/>
                <a:ea typeface="Verdana" panose="020B0604030504040204" pitchFamily="34" charset="0"/>
              </a:rPr>
              <a:t>I- Informed: đầu mối công việc</a:t>
            </a:r>
            <a:endParaRPr lang="en-US" sz="1800" dirty="0">
              <a:latin typeface="Verdana" panose="020B0604030504040204" pitchFamily="34" charset="0"/>
              <a:ea typeface="Verdana" panose="020B0604030504040204" pitchFamily="34" charset="0"/>
            </a:endParaRPr>
          </a:p>
          <a:p>
            <a:pPr>
              <a:lnSpc>
                <a:spcPct val="200000"/>
              </a:lnSpc>
            </a:pPr>
            <a:r>
              <a:rPr lang="vi-VN" sz="1800" b="1" i="1" dirty="0">
                <a:latin typeface="Verdana" panose="020B0604030504040204" pitchFamily="34" charset="0"/>
                <a:ea typeface="Verdana" panose="020B0604030504040204" pitchFamily="34" charset="0"/>
              </a:rPr>
              <a:t>Lợi ích RACI</a:t>
            </a:r>
          </a:p>
          <a:p>
            <a:pPr marL="285750" indent="-285750">
              <a:lnSpc>
                <a:spcPct val="200000"/>
              </a:lnSpc>
              <a:buFont typeface="Wingdings" panose="05000000000000000000" pitchFamily="2" charset="2"/>
              <a:buChar char="Ø"/>
            </a:pPr>
            <a:r>
              <a:rPr lang="vi-VN" sz="1800" dirty="0">
                <a:latin typeface="Verdana" panose="020B0604030504040204" pitchFamily="34" charset="0"/>
                <a:ea typeface="Verdana" panose="020B0604030504040204" pitchFamily="34" charset="0"/>
              </a:rPr>
              <a:t>hiển thị một cách rõ ràng và tường minh về vai trò và trách</a:t>
            </a:r>
          </a:p>
          <a:p>
            <a:pPr marL="285750" indent="-285750">
              <a:lnSpc>
                <a:spcPct val="200000"/>
              </a:lnSpc>
              <a:buFont typeface="Wingdings" panose="05000000000000000000" pitchFamily="2" charset="2"/>
              <a:buChar char="Ø"/>
            </a:pPr>
            <a:r>
              <a:rPr lang="vi-VN" sz="1800" dirty="0">
                <a:latin typeface="Verdana" panose="020B0604030504040204" pitchFamily="34" charset="0"/>
                <a:ea typeface="Verdana" panose="020B0604030504040204" pitchFamily="34" charset="0"/>
              </a:rPr>
              <a:t>kiểm soát được công việc</a:t>
            </a:r>
            <a:endParaRPr lang="en-US" sz="1800" dirty="0">
              <a:latin typeface="Verdana" panose="020B0604030504040204" pitchFamily="34" charset="0"/>
              <a:ea typeface="Verdana" panose="020B0604030504040204" pitchFamily="34" charset="0"/>
            </a:endParaRPr>
          </a:p>
          <a:p>
            <a:pPr marL="285750" indent="-285750">
              <a:lnSpc>
                <a:spcPct val="200000"/>
              </a:lnSpc>
              <a:buFont typeface="Wingdings" panose="05000000000000000000" pitchFamily="2" charset="2"/>
              <a:buChar char="Ø"/>
            </a:pPr>
            <a:r>
              <a:rPr lang="vi-VN" sz="1800" dirty="0">
                <a:latin typeface="Verdana" panose="020B0604030504040204" pitchFamily="34" charset="0"/>
                <a:ea typeface="Verdana" panose="020B0604030504040204" pitchFamily="34" charset="0"/>
              </a:rPr>
              <a:t>chịu trách nhiệm với công việc thực hiện của họ</a:t>
            </a:r>
            <a:endParaRPr lang="en-US" sz="1800" dirty="0">
              <a:latin typeface="Verdana" panose="020B0604030504040204" pitchFamily="34" charset="0"/>
              <a:ea typeface="Verdana" panose="020B0604030504040204" pitchFamily="34" charset="0"/>
            </a:endParaRPr>
          </a:p>
        </p:txBody>
      </p:sp>
    </p:spTree>
    <p:extLst>
      <p:ext uri="{BB962C8B-B14F-4D97-AF65-F5344CB8AC3E}">
        <p14:creationId xmlns:p14="http://schemas.microsoft.com/office/powerpoint/2010/main" val="156063843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 name="Rectangle 47"/>
          <p:cNvSpPr/>
          <p:nvPr/>
        </p:nvSpPr>
        <p:spPr>
          <a:xfrm>
            <a:off x="1333896" y="327184"/>
            <a:ext cx="9823541" cy="492443"/>
          </a:xfrm>
          <a:prstGeom prst="rect">
            <a:avLst/>
          </a:prstGeom>
        </p:spPr>
        <p:txBody>
          <a:bodyPr wrap="square">
            <a:spAutoFit/>
          </a:bodyPr>
          <a:lstStyle/>
          <a:p>
            <a:r>
              <a:rPr lang="vi-VN" sz="2600" b="1" dirty="0">
                <a:solidFill>
                  <a:schemeClr val="bg1"/>
                </a:solidFill>
                <a:latin typeface="Verdana" panose="020B0604030504040204" pitchFamily="34" charset="0"/>
                <a:ea typeface="Verdana" panose="020B0604030504040204" pitchFamily="34" charset="0"/>
              </a:rPr>
              <a:t>3. Cơ sở và xây dựng hệ thống</a:t>
            </a:r>
            <a:endParaRPr lang="en-US" sz="2600" b="1" dirty="0">
              <a:solidFill>
                <a:schemeClr val="bg1"/>
              </a:solidFill>
              <a:latin typeface="Verdana" panose="020B0604030504040204" pitchFamily="34" charset="0"/>
              <a:ea typeface="Verdana" panose="020B0604030504040204" pitchFamily="34" charset="0"/>
            </a:endParaRPr>
          </a:p>
        </p:txBody>
      </p:sp>
      <p:sp>
        <p:nvSpPr>
          <p:cNvPr id="3" name="Title 1">
            <a:extLst>
              <a:ext uri="{FF2B5EF4-FFF2-40B4-BE49-F238E27FC236}">
                <a16:creationId xmlns:a16="http://schemas.microsoft.com/office/drawing/2014/main" id="{4EA4B999-0292-4585-9244-F440F390AA65}"/>
              </a:ext>
            </a:extLst>
          </p:cNvPr>
          <p:cNvSpPr txBox="1">
            <a:spLocks/>
          </p:cNvSpPr>
          <p:nvPr/>
        </p:nvSpPr>
        <p:spPr>
          <a:xfrm>
            <a:off x="1094508" y="969818"/>
            <a:ext cx="10564091" cy="5715795"/>
          </a:xfrm>
          <a:prstGeom prst="rect">
            <a:avLst/>
          </a:prstGeom>
        </p:spPr>
        <p:txBody>
          <a:bodyPr vert="horz" lIns="91440" tIns="45720" rIns="91440" bIns="45720" rtlCol="0" anchor="t">
            <a:normAutofit fontScale="97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nSpc>
                <a:spcPct val="200000"/>
              </a:lnSpc>
            </a:pPr>
            <a:endParaRPr lang="en-US" sz="1800" dirty="0">
              <a:latin typeface="Verdana" panose="020B0604030504040204" pitchFamily="34" charset="0"/>
              <a:ea typeface="Verdana" panose="020B0604030504040204" pitchFamily="34" charset="0"/>
            </a:endParaRPr>
          </a:p>
        </p:txBody>
      </p:sp>
      <p:graphicFrame>
        <p:nvGraphicFramePr>
          <p:cNvPr id="2" name="Table 1">
            <a:extLst>
              <a:ext uri="{FF2B5EF4-FFF2-40B4-BE49-F238E27FC236}">
                <a16:creationId xmlns:a16="http://schemas.microsoft.com/office/drawing/2014/main" id="{F244ECF4-66A8-4A46-A435-3DED3B521E45}"/>
              </a:ext>
            </a:extLst>
          </p:cNvPr>
          <p:cNvGraphicFramePr>
            <a:graphicFrameLocks noGrp="1"/>
          </p:cNvGraphicFramePr>
          <p:nvPr>
            <p:extLst>
              <p:ext uri="{D42A27DB-BD31-4B8C-83A1-F6EECF244321}">
                <p14:modId xmlns:p14="http://schemas.microsoft.com/office/powerpoint/2010/main" val="1798120367"/>
              </p:ext>
            </p:extLst>
          </p:nvPr>
        </p:nvGraphicFramePr>
        <p:xfrm>
          <a:off x="1333896" y="1695450"/>
          <a:ext cx="9823541" cy="4192730"/>
        </p:xfrm>
        <a:graphic>
          <a:graphicData uri="http://schemas.openxmlformats.org/drawingml/2006/table">
            <a:tbl>
              <a:tblPr firstRow="1" firstCol="1" bandRow="1">
                <a:tableStyleId>{5C22544A-7EE6-4342-B048-85BDC9FD1C3A}</a:tableStyleId>
              </a:tblPr>
              <a:tblGrid>
                <a:gridCol w="914004">
                  <a:extLst>
                    <a:ext uri="{9D8B030D-6E8A-4147-A177-3AD203B41FA5}">
                      <a16:colId xmlns:a16="http://schemas.microsoft.com/office/drawing/2014/main" val="3923594808"/>
                    </a:ext>
                  </a:extLst>
                </a:gridCol>
                <a:gridCol w="1892722">
                  <a:extLst>
                    <a:ext uri="{9D8B030D-6E8A-4147-A177-3AD203B41FA5}">
                      <a16:colId xmlns:a16="http://schemas.microsoft.com/office/drawing/2014/main" val="1646850261"/>
                    </a:ext>
                  </a:extLst>
                </a:gridCol>
                <a:gridCol w="1403363">
                  <a:extLst>
                    <a:ext uri="{9D8B030D-6E8A-4147-A177-3AD203B41FA5}">
                      <a16:colId xmlns:a16="http://schemas.microsoft.com/office/drawing/2014/main" val="2731064333"/>
                    </a:ext>
                  </a:extLst>
                </a:gridCol>
                <a:gridCol w="1403363">
                  <a:extLst>
                    <a:ext uri="{9D8B030D-6E8A-4147-A177-3AD203B41FA5}">
                      <a16:colId xmlns:a16="http://schemas.microsoft.com/office/drawing/2014/main" val="2699740106"/>
                    </a:ext>
                  </a:extLst>
                </a:gridCol>
                <a:gridCol w="1403363">
                  <a:extLst>
                    <a:ext uri="{9D8B030D-6E8A-4147-A177-3AD203B41FA5}">
                      <a16:colId xmlns:a16="http://schemas.microsoft.com/office/drawing/2014/main" val="654872467"/>
                    </a:ext>
                  </a:extLst>
                </a:gridCol>
                <a:gridCol w="1403363">
                  <a:extLst>
                    <a:ext uri="{9D8B030D-6E8A-4147-A177-3AD203B41FA5}">
                      <a16:colId xmlns:a16="http://schemas.microsoft.com/office/drawing/2014/main" val="1134611637"/>
                    </a:ext>
                  </a:extLst>
                </a:gridCol>
                <a:gridCol w="1403363">
                  <a:extLst>
                    <a:ext uri="{9D8B030D-6E8A-4147-A177-3AD203B41FA5}">
                      <a16:colId xmlns:a16="http://schemas.microsoft.com/office/drawing/2014/main" val="1173254177"/>
                    </a:ext>
                  </a:extLst>
                </a:gridCol>
              </a:tblGrid>
              <a:tr h="1136025">
                <a:tc>
                  <a:txBody>
                    <a:bodyPr/>
                    <a:lstStyle/>
                    <a:p>
                      <a:pPr marL="0" marR="0" algn="ctr">
                        <a:spcBef>
                          <a:spcPts val="0"/>
                        </a:spcBef>
                        <a:spcAft>
                          <a:spcPts val="0"/>
                        </a:spcAft>
                      </a:pPr>
                      <a:r>
                        <a:rPr lang="en-US" sz="1800" dirty="0">
                          <a:effectLst/>
                          <a:latin typeface="Verdana" panose="020B0604030504040204" pitchFamily="34" charset="0"/>
                          <a:ea typeface="Verdana" panose="020B0604030504040204" pitchFamily="34" charset="0"/>
                        </a:rPr>
                        <a:t>STT</a:t>
                      </a:r>
                    </a:p>
                  </a:txBody>
                  <a:tcPr marL="68580" marR="68580" marT="0" marB="0"/>
                </a:tc>
                <a:tc>
                  <a:txBody>
                    <a:bodyPr/>
                    <a:lstStyle/>
                    <a:p>
                      <a:pPr marL="0" marR="0" algn="ctr">
                        <a:spcBef>
                          <a:spcPts val="0"/>
                        </a:spcBef>
                        <a:spcAft>
                          <a:spcPts val="0"/>
                        </a:spcAft>
                      </a:pPr>
                      <a:r>
                        <a:rPr lang="en-US" sz="1800" dirty="0" err="1">
                          <a:effectLst/>
                          <a:latin typeface="Verdana" panose="020B0604030504040204" pitchFamily="34" charset="0"/>
                          <a:ea typeface="Verdana" panose="020B0604030504040204" pitchFamily="34" charset="0"/>
                        </a:rPr>
                        <a:t>Nhiệm</a:t>
                      </a:r>
                      <a:r>
                        <a:rPr lang="en-US" sz="1800" dirty="0">
                          <a:effectLst/>
                          <a:latin typeface="Verdana" panose="020B0604030504040204" pitchFamily="34" charset="0"/>
                          <a:ea typeface="Verdana" panose="020B0604030504040204" pitchFamily="34" charset="0"/>
                        </a:rPr>
                        <a:t> </a:t>
                      </a:r>
                      <a:r>
                        <a:rPr lang="en-US" sz="1800" dirty="0" err="1">
                          <a:effectLst/>
                          <a:latin typeface="Verdana" panose="020B0604030504040204" pitchFamily="34" charset="0"/>
                          <a:ea typeface="Verdana" panose="020B0604030504040204" pitchFamily="34" charset="0"/>
                        </a:rPr>
                        <a:t>vụ</a:t>
                      </a:r>
                      <a:r>
                        <a:rPr lang="en-US" sz="1800" dirty="0">
                          <a:effectLst/>
                          <a:latin typeface="Verdana" panose="020B0604030504040204" pitchFamily="34" charset="0"/>
                          <a:ea typeface="Verdana" panose="020B0604030504040204" pitchFamily="34" charset="0"/>
                        </a:rPr>
                        <a:t>/ </a:t>
                      </a:r>
                      <a:r>
                        <a:rPr lang="en-US" sz="1800" dirty="0" err="1">
                          <a:effectLst/>
                          <a:latin typeface="Verdana" panose="020B0604030504040204" pitchFamily="34" charset="0"/>
                          <a:ea typeface="Verdana" panose="020B0604030504040204" pitchFamily="34" charset="0"/>
                        </a:rPr>
                        <a:t>công</a:t>
                      </a:r>
                      <a:r>
                        <a:rPr lang="en-US" sz="1800" dirty="0">
                          <a:effectLst/>
                          <a:latin typeface="Verdana" panose="020B0604030504040204" pitchFamily="34" charset="0"/>
                          <a:ea typeface="Verdana" panose="020B0604030504040204" pitchFamily="34" charset="0"/>
                        </a:rPr>
                        <a:t> </a:t>
                      </a:r>
                      <a:r>
                        <a:rPr lang="en-US" sz="1800" dirty="0" err="1">
                          <a:effectLst/>
                          <a:latin typeface="Verdana" panose="020B0604030504040204" pitchFamily="34" charset="0"/>
                          <a:ea typeface="Verdana" panose="020B0604030504040204" pitchFamily="34" charset="0"/>
                        </a:rPr>
                        <a:t>việc</a:t>
                      </a:r>
                      <a:endParaRPr lang="en-US" sz="1800" dirty="0">
                        <a:effectLst/>
                        <a:latin typeface="Verdana" panose="020B0604030504040204" pitchFamily="34" charset="0"/>
                        <a:ea typeface="Verdana" panose="020B0604030504040204" pitchFamily="34" charset="0"/>
                      </a:endParaRPr>
                    </a:p>
                  </a:txBody>
                  <a:tcPr marL="68580" marR="68580" marT="0" marB="0"/>
                </a:tc>
                <a:tc>
                  <a:txBody>
                    <a:bodyPr/>
                    <a:lstStyle/>
                    <a:p>
                      <a:pPr marL="0" marR="0" algn="ctr">
                        <a:spcBef>
                          <a:spcPts val="0"/>
                        </a:spcBef>
                        <a:spcAft>
                          <a:spcPts val="0"/>
                        </a:spcAft>
                      </a:pPr>
                      <a:r>
                        <a:rPr lang="en-US" sz="1800">
                          <a:effectLst/>
                          <a:latin typeface="Verdana" panose="020B0604030504040204" pitchFamily="34" charset="0"/>
                          <a:ea typeface="Verdana" panose="020B0604030504040204" pitchFamily="34" charset="0"/>
                        </a:rPr>
                        <a:t>Quản lý dự án</a:t>
                      </a:r>
                    </a:p>
                  </a:txBody>
                  <a:tcPr marL="68580" marR="68580" marT="0" marB="0"/>
                </a:tc>
                <a:tc>
                  <a:txBody>
                    <a:bodyPr/>
                    <a:lstStyle/>
                    <a:p>
                      <a:pPr marL="0" marR="0" algn="ctr">
                        <a:spcBef>
                          <a:spcPts val="0"/>
                        </a:spcBef>
                        <a:spcAft>
                          <a:spcPts val="0"/>
                        </a:spcAft>
                      </a:pPr>
                      <a:r>
                        <a:rPr lang="en-US" sz="1800">
                          <a:effectLst/>
                          <a:latin typeface="Verdana" panose="020B0604030504040204" pitchFamily="34" charset="0"/>
                          <a:ea typeface="Verdana" panose="020B0604030504040204" pitchFamily="34" charset="0"/>
                        </a:rPr>
                        <a:t>Team lead</a:t>
                      </a:r>
                    </a:p>
                  </a:txBody>
                  <a:tcPr marL="68580" marR="68580" marT="0" marB="0"/>
                </a:tc>
                <a:tc>
                  <a:txBody>
                    <a:bodyPr/>
                    <a:lstStyle/>
                    <a:p>
                      <a:pPr marL="0" marR="0" algn="ctr">
                        <a:spcBef>
                          <a:spcPts val="0"/>
                        </a:spcBef>
                        <a:spcAft>
                          <a:spcPts val="0"/>
                        </a:spcAft>
                      </a:pPr>
                      <a:r>
                        <a:rPr lang="en-US" sz="1800">
                          <a:effectLst/>
                          <a:latin typeface="Verdana" panose="020B0604030504040204" pitchFamily="34" charset="0"/>
                          <a:ea typeface="Verdana" panose="020B0604030504040204" pitchFamily="34" charset="0"/>
                        </a:rPr>
                        <a:t>DEV</a:t>
                      </a:r>
                    </a:p>
                  </a:txBody>
                  <a:tcPr marL="68580" marR="68580" marT="0" marB="0"/>
                </a:tc>
                <a:tc>
                  <a:txBody>
                    <a:bodyPr/>
                    <a:lstStyle/>
                    <a:p>
                      <a:pPr marL="0" marR="0" algn="ctr">
                        <a:spcBef>
                          <a:spcPts val="0"/>
                        </a:spcBef>
                        <a:spcAft>
                          <a:spcPts val="0"/>
                        </a:spcAft>
                      </a:pPr>
                      <a:r>
                        <a:rPr lang="en-US" sz="1800">
                          <a:effectLst/>
                          <a:latin typeface="Verdana" panose="020B0604030504040204" pitchFamily="34" charset="0"/>
                          <a:ea typeface="Verdana" panose="020B0604030504040204" pitchFamily="34" charset="0"/>
                        </a:rPr>
                        <a:t>BA</a:t>
                      </a:r>
                    </a:p>
                  </a:txBody>
                  <a:tcPr marL="68580" marR="68580" marT="0" marB="0"/>
                </a:tc>
                <a:tc>
                  <a:txBody>
                    <a:bodyPr/>
                    <a:lstStyle/>
                    <a:p>
                      <a:pPr marL="0" marR="0" algn="ctr">
                        <a:spcBef>
                          <a:spcPts val="0"/>
                        </a:spcBef>
                        <a:spcAft>
                          <a:spcPts val="0"/>
                        </a:spcAft>
                      </a:pPr>
                      <a:r>
                        <a:rPr lang="en-US" sz="1800">
                          <a:effectLst/>
                          <a:latin typeface="Verdana" panose="020B0604030504040204" pitchFamily="34" charset="0"/>
                          <a:ea typeface="Verdana" panose="020B0604030504040204" pitchFamily="34" charset="0"/>
                        </a:rPr>
                        <a:t>QA</a:t>
                      </a:r>
                    </a:p>
                  </a:txBody>
                  <a:tcPr marL="68580" marR="68580" marT="0" marB="0"/>
                </a:tc>
                <a:extLst>
                  <a:ext uri="{0D108BD9-81ED-4DB2-BD59-A6C34878D82A}">
                    <a16:rowId xmlns:a16="http://schemas.microsoft.com/office/drawing/2014/main" val="898794703"/>
                  </a:ext>
                </a:extLst>
              </a:tr>
              <a:tr h="615346">
                <a:tc>
                  <a:txBody>
                    <a:bodyPr/>
                    <a:lstStyle/>
                    <a:p>
                      <a:pPr marL="0" marR="0" algn="ctr">
                        <a:spcBef>
                          <a:spcPts val="0"/>
                        </a:spcBef>
                        <a:spcAft>
                          <a:spcPts val="0"/>
                        </a:spcAft>
                      </a:pPr>
                      <a:r>
                        <a:rPr lang="en-US" sz="1800">
                          <a:effectLst/>
                          <a:latin typeface="Verdana" panose="020B0604030504040204" pitchFamily="34" charset="0"/>
                          <a:ea typeface="Verdana" panose="020B0604030504040204" pitchFamily="34" charset="0"/>
                        </a:rPr>
                        <a:t>1</a:t>
                      </a:r>
                    </a:p>
                  </a:txBody>
                  <a:tcPr marL="68580" marR="68580" marT="0" marB="0"/>
                </a:tc>
                <a:tc>
                  <a:txBody>
                    <a:bodyPr/>
                    <a:lstStyle/>
                    <a:p>
                      <a:pPr marL="0" marR="0" algn="ctr">
                        <a:spcBef>
                          <a:spcPts val="0"/>
                        </a:spcBef>
                        <a:spcAft>
                          <a:spcPts val="0"/>
                        </a:spcAft>
                      </a:pPr>
                      <a:r>
                        <a:rPr lang="en-US" sz="1800" dirty="0">
                          <a:effectLst/>
                          <a:latin typeface="Verdana" panose="020B0604030504040204" pitchFamily="34" charset="0"/>
                          <a:ea typeface="Verdana" panose="020B0604030504040204" pitchFamily="34" charset="0"/>
                        </a:rPr>
                        <a:t>Công </a:t>
                      </a:r>
                      <a:r>
                        <a:rPr lang="en-US" sz="1800" dirty="0" err="1">
                          <a:effectLst/>
                          <a:latin typeface="Verdana" panose="020B0604030504040204" pitchFamily="34" charset="0"/>
                          <a:ea typeface="Verdana" panose="020B0604030504040204" pitchFamily="34" charset="0"/>
                        </a:rPr>
                        <a:t>việc</a:t>
                      </a:r>
                      <a:r>
                        <a:rPr lang="en-US" sz="1800" dirty="0">
                          <a:effectLst/>
                          <a:latin typeface="Verdana" panose="020B0604030504040204" pitchFamily="34" charset="0"/>
                          <a:ea typeface="Verdana" panose="020B0604030504040204" pitchFamily="34" charset="0"/>
                        </a:rPr>
                        <a:t> 1</a:t>
                      </a:r>
                    </a:p>
                  </a:txBody>
                  <a:tcPr marL="68580" marR="68580" marT="0" marB="0"/>
                </a:tc>
                <a:tc>
                  <a:txBody>
                    <a:bodyPr/>
                    <a:lstStyle/>
                    <a:p>
                      <a:pPr marL="0" marR="0" algn="ctr">
                        <a:spcBef>
                          <a:spcPts val="0"/>
                        </a:spcBef>
                        <a:spcAft>
                          <a:spcPts val="0"/>
                        </a:spcAft>
                      </a:pPr>
                      <a:r>
                        <a:rPr lang="en-US" sz="1800" dirty="0">
                          <a:effectLst/>
                          <a:latin typeface="Verdana" panose="020B0604030504040204" pitchFamily="34" charset="0"/>
                          <a:ea typeface="Verdana" panose="020B0604030504040204" pitchFamily="34" charset="0"/>
                        </a:rPr>
                        <a:t>A</a:t>
                      </a:r>
                    </a:p>
                  </a:txBody>
                  <a:tcPr marL="68580" marR="68580" marT="0" marB="0"/>
                </a:tc>
                <a:tc>
                  <a:txBody>
                    <a:bodyPr/>
                    <a:lstStyle/>
                    <a:p>
                      <a:pPr marL="0" marR="0" algn="ctr">
                        <a:spcBef>
                          <a:spcPts val="0"/>
                        </a:spcBef>
                        <a:spcAft>
                          <a:spcPts val="0"/>
                        </a:spcAft>
                      </a:pPr>
                      <a:r>
                        <a:rPr lang="en-US" sz="1800">
                          <a:effectLst/>
                          <a:latin typeface="Verdana" panose="020B0604030504040204" pitchFamily="34" charset="0"/>
                          <a:ea typeface="Verdana" panose="020B0604030504040204" pitchFamily="34" charset="0"/>
                        </a:rPr>
                        <a:t>R</a:t>
                      </a:r>
                    </a:p>
                  </a:txBody>
                  <a:tcPr marL="68580" marR="68580" marT="0" marB="0"/>
                </a:tc>
                <a:tc>
                  <a:txBody>
                    <a:bodyPr/>
                    <a:lstStyle/>
                    <a:p>
                      <a:pPr marL="0" marR="0" algn="ctr">
                        <a:spcBef>
                          <a:spcPts val="0"/>
                        </a:spcBef>
                        <a:spcAft>
                          <a:spcPts val="0"/>
                        </a:spcAft>
                      </a:pPr>
                      <a:r>
                        <a:rPr lang="en-US" sz="1800">
                          <a:effectLst/>
                          <a:latin typeface="Verdana" panose="020B0604030504040204" pitchFamily="34" charset="0"/>
                          <a:ea typeface="Verdana" panose="020B0604030504040204" pitchFamily="34" charset="0"/>
                        </a:rPr>
                        <a:t>R</a:t>
                      </a:r>
                    </a:p>
                  </a:txBody>
                  <a:tcPr marL="68580" marR="68580" marT="0" marB="0"/>
                </a:tc>
                <a:tc>
                  <a:txBody>
                    <a:bodyPr/>
                    <a:lstStyle/>
                    <a:p>
                      <a:pPr marL="0" marR="0" algn="ctr">
                        <a:spcBef>
                          <a:spcPts val="0"/>
                        </a:spcBef>
                        <a:spcAft>
                          <a:spcPts val="0"/>
                        </a:spcAft>
                      </a:pPr>
                      <a:r>
                        <a:rPr lang="en-US" sz="1800">
                          <a:effectLst/>
                          <a:latin typeface="Verdana" panose="020B0604030504040204" pitchFamily="34" charset="0"/>
                          <a:ea typeface="Verdana" panose="020B0604030504040204" pitchFamily="34" charset="0"/>
                        </a:rPr>
                        <a:t>C</a:t>
                      </a:r>
                    </a:p>
                  </a:txBody>
                  <a:tcPr marL="68580" marR="68580" marT="0" marB="0"/>
                </a:tc>
                <a:tc>
                  <a:txBody>
                    <a:bodyPr/>
                    <a:lstStyle/>
                    <a:p>
                      <a:pPr marL="0" marR="0" algn="ctr">
                        <a:spcBef>
                          <a:spcPts val="0"/>
                        </a:spcBef>
                        <a:spcAft>
                          <a:spcPts val="0"/>
                        </a:spcAft>
                      </a:pPr>
                      <a:r>
                        <a:rPr lang="en-US" sz="1800">
                          <a:effectLst/>
                          <a:latin typeface="Verdana" panose="020B0604030504040204" pitchFamily="34" charset="0"/>
                          <a:ea typeface="Verdana" panose="020B0604030504040204" pitchFamily="34" charset="0"/>
                        </a:rPr>
                        <a:t>I</a:t>
                      </a:r>
                    </a:p>
                  </a:txBody>
                  <a:tcPr marL="68580" marR="68580" marT="0" marB="0"/>
                </a:tc>
                <a:extLst>
                  <a:ext uri="{0D108BD9-81ED-4DB2-BD59-A6C34878D82A}">
                    <a16:rowId xmlns:a16="http://schemas.microsoft.com/office/drawing/2014/main" val="4014710931"/>
                  </a:ext>
                </a:extLst>
              </a:tr>
              <a:tr h="595321">
                <a:tc>
                  <a:txBody>
                    <a:bodyPr/>
                    <a:lstStyle/>
                    <a:p>
                      <a:pPr marL="0" marR="0" algn="ctr">
                        <a:spcBef>
                          <a:spcPts val="0"/>
                        </a:spcBef>
                        <a:spcAft>
                          <a:spcPts val="0"/>
                        </a:spcAft>
                      </a:pPr>
                      <a:r>
                        <a:rPr lang="en-US" sz="1800">
                          <a:effectLst/>
                          <a:latin typeface="Verdana" panose="020B0604030504040204" pitchFamily="34" charset="0"/>
                          <a:ea typeface="Verdana" panose="020B0604030504040204" pitchFamily="34" charset="0"/>
                        </a:rPr>
                        <a:t>2</a:t>
                      </a:r>
                    </a:p>
                  </a:txBody>
                  <a:tcPr marL="68580" marR="68580" marT="0" marB="0"/>
                </a:tc>
                <a:tc>
                  <a:txBody>
                    <a:bodyPr/>
                    <a:lstStyle/>
                    <a:p>
                      <a:pPr marL="0" marR="0" algn="ctr">
                        <a:spcBef>
                          <a:spcPts val="0"/>
                        </a:spcBef>
                        <a:spcAft>
                          <a:spcPts val="0"/>
                        </a:spcAft>
                      </a:pPr>
                      <a:r>
                        <a:rPr lang="en-US" sz="1800">
                          <a:effectLst/>
                          <a:latin typeface="Verdana" panose="020B0604030504040204" pitchFamily="34" charset="0"/>
                          <a:ea typeface="Verdana" panose="020B0604030504040204" pitchFamily="34" charset="0"/>
                        </a:rPr>
                        <a:t>Công việc 2</a:t>
                      </a:r>
                    </a:p>
                  </a:txBody>
                  <a:tcPr marL="68580" marR="68580" marT="0" marB="0"/>
                </a:tc>
                <a:tc>
                  <a:txBody>
                    <a:bodyPr/>
                    <a:lstStyle/>
                    <a:p>
                      <a:pPr marL="0" marR="0" algn="ctr">
                        <a:spcBef>
                          <a:spcPts val="0"/>
                        </a:spcBef>
                        <a:spcAft>
                          <a:spcPts val="0"/>
                        </a:spcAft>
                      </a:pPr>
                      <a:r>
                        <a:rPr lang="en-US" sz="1800" dirty="0">
                          <a:effectLst/>
                          <a:latin typeface="Verdana" panose="020B0604030504040204" pitchFamily="34" charset="0"/>
                          <a:ea typeface="Verdana" panose="020B0604030504040204" pitchFamily="34" charset="0"/>
                        </a:rPr>
                        <a:t>C</a:t>
                      </a:r>
                    </a:p>
                  </a:txBody>
                  <a:tcPr marL="68580" marR="68580" marT="0" marB="0"/>
                </a:tc>
                <a:tc>
                  <a:txBody>
                    <a:bodyPr/>
                    <a:lstStyle/>
                    <a:p>
                      <a:pPr marL="0" marR="0" algn="ctr">
                        <a:spcBef>
                          <a:spcPts val="0"/>
                        </a:spcBef>
                        <a:spcAft>
                          <a:spcPts val="0"/>
                        </a:spcAft>
                      </a:pPr>
                      <a:r>
                        <a:rPr lang="en-US" sz="1800">
                          <a:effectLst/>
                          <a:latin typeface="Verdana" panose="020B0604030504040204" pitchFamily="34" charset="0"/>
                          <a:ea typeface="Verdana" panose="020B0604030504040204" pitchFamily="34" charset="0"/>
                        </a:rPr>
                        <a:t>A</a:t>
                      </a:r>
                    </a:p>
                  </a:txBody>
                  <a:tcPr marL="68580" marR="68580" marT="0" marB="0"/>
                </a:tc>
                <a:tc>
                  <a:txBody>
                    <a:bodyPr/>
                    <a:lstStyle/>
                    <a:p>
                      <a:pPr marL="0" marR="0" algn="ctr">
                        <a:spcBef>
                          <a:spcPts val="0"/>
                        </a:spcBef>
                        <a:spcAft>
                          <a:spcPts val="0"/>
                        </a:spcAft>
                      </a:pPr>
                      <a:r>
                        <a:rPr lang="en-US" sz="1800">
                          <a:effectLst/>
                          <a:latin typeface="Verdana" panose="020B0604030504040204" pitchFamily="34" charset="0"/>
                          <a:ea typeface="Verdana" panose="020B0604030504040204" pitchFamily="34" charset="0"/>
                        </a:rPr>
                        <a:t>R</a:t>
                      </a:r>
                    </a:p>
                  </a:txBody>
                  <a:tcPr marL="68580" marR="68580" marT="0" marB="0"/>
                </a:tc>
                <a:tc>
                  <a:txBody>
                    <a:bodyPr/>
                    <a:lstStyle/>
                    <a:p>
                      <a:pPr marL="0" marR="0" algn="ctr">
                        <a:spcBef>
                          <a:spcPts val="0"/>
                        </a:spcBef>
                        <a:spcAft>
                          <a:spcPts val="0"/>
                        </a:spcAft>
                      </a:pPr>
                      <a:r>
                        <a:rPr lang="en-US" sz="1800">
                          <a:effectLst/>
                          <a:latin typeface="Verdana" panose="020B0604030504040204" pitchFamily="34" charset="0"/>
                          <a:ea typeface="Verdana" panose="020B0604030504040204" pitchFamily="34" charset="0"/>
                        </a:rPr>
                        <a:t>C</a:t>
                      </a:r>
                    </a:p>
                  </a:txBody>
                  <a:tcPr marL="68580" marR="68580" marT="0" marB="0"/>
                </a:tc>
                <a:tc>
                  <a:txBody>
                    <a:bodyPr/>
                    <a:lstStyle/>
                    <a:p>
                      <a:pPr marL="0" marR="0" algn="ctr">
                        <a:spcBef>
                          <a:spcPts val="0"/>
                        </a:spcBef>
                        <a:spcAft>
                          <a:spcPts val="0"/>
                        </a:spcAft>
                      </a:pPr>
                      <a:r>
                        <a:rPr lang="en-US" sz="1800">
                          <a:effectLst/>
                          <a:latin typeface="Verdana" panose="020B0604030504040204" pitchFamily="34" charset="0"/>
                          <a:ea typeface="Verdana" panose="020B0604030504040204" pitchFamily="34" charset="0"/>
                        </a:rPr>
                        <a:t>I</a:t>
                      </a:r>
                    </a:p>
                  </a:txBody>
                  <a:tcPr marL="68580" marR="68580" marT="0" marB="0"/>
                </a:tc>
                <a:extLst>
                  <a:ext uri="{0D108BD9-81ED-4DB2-BD59-A6C34878D82A}">
                    <a16:rowId xmlns:a16="http://schemas.microsoft.com/office/drawing/2014/main" val="573152863"/>
                  </a:ext>
                </a:extLst>
              </a:tr>
              <a:tr h="615346">
                <a:tc>
                  <a:txBody>
                    <a:bodyPr/>
                    <a:lstStyle/>
                    <a:p>
                      <a:pPr marL="0" marR="0" algn="ctr">
                        <a:spcBef>
                          <a:spcPts val="0"/>
                        </a:spcBef>
                        <a:spcAft>
                          <a:spcPts val="0"/>
                        </a:spcAft>
                      </a:pPr>
                      <a:r>
                        <a:rPr lang="en-US" sz="1800">
                          <a:effectLst/>
                          <a:latin typeface="Verdana" panose="020B0604030504040204" pitchFamily="34" charset="0"/>
                          <a:ea typeface="Verdana" panose="020B0604030504040204" pitchFamily="34" charset="0"/>
                        </a:rPr>
                        <a:t>3</a:t>
                      </a:r>
                    </a:p>
                  </a:txBody>
                  <a:tcPr marL="68580" marR="68580" marT="0" marB="0"/>
                </a:tc>
                <a:tc>
                  <a:txBody>
                    <a:bodyPr/>
                    <a:lstStyle/>
                    <a:p>
                      <a:pPr marL="0" marR="0" algn="ctr">
                        <a:spcBef>
                          <a:spcPts val="0"/>
                        </a:spcBef>
                        <a:spcAft>
                          <a:spcPts val="0"/>
                        </a:spcAft>
                      </a:pPr>
                      <a:r>
                        <a:rPr lang="en-US" sz="1800">
                          <a:effectLst/>
                          <a:latin typeface="Verdana" panose="020B0604030504040204" pitchFamily="34" charset="0"/>
                          <a:ea typeface="Verdana" panose="020B0604030504040204" pitchFamily="34" charset="0"/>
                        </a:rPr>
                        <a:t>Công việc 3</a:t>
                      </a:r>
                    </a:p>
                  </a:txBody>
                  <a:tcPr marL="68580" marR="68580" marT="0" marB="0"/>
                </a:tc>
                <a:tc>
                  <a:txBody>
                    <a:bodyPr/>
                    <a:lstStyle/>
                    <a:p>
                      <a:pPr marL="0" marR="0" algn="ctr">
                        <a:spcBef>
                          <a:spcPts val="0"/>
                        </a:spcBef>
                        <a:spcAft>
                          <a:spcPts val="0"/>
                        </a:spcAft>
                      </a:pPr>
                      <a:r>
                        <a:rPr lang="en-US" sz="1800">
                          <a:effectLst/>
                          <a:latin typeface="Verdana" panose="020B0604030504040204" pitchFamily="34" charset="0"/>
                          <a:ea typeface="Verdana" panose="020B0604030504040204" pitchFamily="34" charset="0"/>
                        </a:rPr>
                        <a:t>C</a:t>
                      </a:r>
                    </a:p>
                  </a:txBody>
                  <a:tcPr marL="68580" marR="68580" marT="0" marB="0"/>
                </a:tc>
                <a:tc>
                  <a:txBody>
                    <a:bodyPr/>
                    <a:lstStyle/>
                    <a:p>
                      <a:pPr marL="0" marR="0" algn="ctr">
                        <a:spcBef>
                          <a:spcPts val="0"/>
                        </a:spcBef>
                        <a:spcAft>
                          <a:spcPts val="0"/>
                        </a:spcAft>
                      </a:pPr>
                      <a:r>
                        <a:rPr lang="en-US" sz="1800" dirty="0">
                          <a:effectLst/>
                          <a:latin typeface="Verdana" panose="020B0604030504040204" pitchFamily="34" charset="0"/>
                          <a:ea typeface="Verdana" panose="020B0604030504040204" pitchFamily="34" charset="0"/>
                        </a:rPr>
                        <a:t>A/R</a:t>
                      </a:r>
                    </a:p>
                  </a:txBody>
                  <a:tcPr marL="68580" marR="68580" marT="0" marB="0"/>
                </a:tc>
                <a:tc>
                  <a:txBody>
                    <a:bodyPr/>
                    <a:lstStyle/>
                    <a:p>
                      <a:pPr marL="0" marR="0" algn="ctr">
                        <a:spcBef>
                          <a:spcPts val="0"/>
                        </a:spcBef>
                        <a:spcAft>
                          <a:spcPts val="0"/>
                        </a:spcAft>
                      </a:pPr>
                      <a:r>
                        <a:rPr lang="en-US" sz="1800" dirty="0">
                          <a:effectLst/>
                          <a:latin typeface="Verdana" panose="020B0604030504040204" pitchFamily="34" charset="0"/>
                          <a:ea typeface="Verdana" panose="020B0604030504040204" pitchFamily="34" charset="0"/>
                        </a:rPr>
                        <a:t>R</a:t>
                      </a:r>
                    </a:p>
                  </a:txBody>
                  <a:tcPr marL="68580" marR="68580" marT="0" marB="0"/>
                </a:tc>
                <a:tc>
                  <a:txBody>
                    <a:bodyPr/>
                    <a:lstStyle/>
                    <a:p>
                      <a:pPr marL="0" marR="0" algn="ctr">
                        <a:spcBef>
                          <a:spcPts val="0"/>
                        </a:spcBef>
                        <a:spcAft>
                          <a:spcPts val="0"/>
                        </a:spcAft>
                      </a:pPr>
                      <a:r>
                        <a:rPr lang="en-US" sz="1800">
                          <a:effectLst/>
                          <a:latin typeface="Verdana" panose="020B0604030504040204" pitchFamily="34" charset="0"/>
                          <a:ea typeface="Verdana" panose="020B0604030504040204" pitchFamily="34" charset="0"/>
                        </a:rPr>
                        <a:t>C</a:t>
                      </a:r>
                    </a:p>
                  </a:txBody>
                  <a:tcPr marL="68580" marR="68580" marT="0" marB="0"/>
                </a:tc>
                <a:tc>
                  <a:txBody>
                    <a:bodyPr/>
                    <a:lstStyle/>
                    <a:p>
                      <a:pPr marL="0" marR="0" algn="ctr">
                        <a:spcBef>
                          <a:spcPts val="0"/>
                        </a:spcBef>
                        <a:spcAft>
                          <a:spcPts val="0"/>
                        </a:spcAft>
                      </a:pPr>
                      <a:r>
                        <a:rPr lang="en-US" sz="1800">
                          <a:effectLst/>
                          <a:latin typeface="Verdana" panose="020B0604030504040204" pitchFamily="34" charset="0"/>
                          <a:ea typeface="Verdana" panose="020B0604030504040204" pitchFamily="34" charset="0"/>
                        </a:rPr>
                        <a:t>I</a:t>
                      </a:r>
                    </a:p>
                  </a:txBody>
                  <a:tcPr marL="68580" marR="68580" marT="0" marB="0"/>
                </a:tc>
                <a:extLst>
                  <a:ext uri="{0D108BD9-81ED-4DB2-BD59-A6C34878D82A}">
                    <a16:rowId xmlns:a16="http://schemas.microsoft.com/office/drawing/2014/main" val="53279670"/>
                  </a:ext>
                </a:extLst>
              </a:tr>
              <a:tr h="615346">
                <a:tc>
                  <a:txBody>
                    <a:bodyPr/>
                    <a:lstStyle/>
                    <a:p>
                      <a:pPr marL="0" marR="0" algn="ctr">
                        <a:spcBef>
                          <a:spcPts val="0"/>
                        </a:spcBef>
                        <a:spcAft>
                          <a:spcPts val="0"/>
                        </a:spcAft>
                      </a:pPr>
                      <a:r>
                        <a:rPr lang="en-US" sz="1800">
                          <a:effectLst/>
                          <a:latin typeface="Verdana" panose="020B0604030504040204" pitchFamily="34" charset="0"/>
                          <a:ea typeface="Verdana" panose="020B0604030504040204" pitchFamily="34" charset="0"/>
                        </a:rPr>
                        <a:t>4</a:t>
                      </a:r>
                    </a:p>
                  </a:txBody>
                  <a:tcPr marL="68580" marR="68580" marT="0" marB="0"/>
                </a:tc>
                <a:tc>
                  <a:txBody>
                    <a:bodyPr/>
                    <a:lstStyle/>
                    <a:p>
                      <a:pPr marL="0" marR="0" algn="ctr">
                        <a:spcBef>
                          <a:spcPts val="0"/>
                        </a:spcBef>
                        <a:spcAft>
                          <a:spcPts val="0"/>
                        </a:spcAft>
                      </a:pPr>
                      <a:r>
                        <a:rPr lang="en-US" sz="1800">
                          <a:effectLst/>
                          <a:latin typeface="Verdana" panose="020B0604030504040204" pitchFamily="34" charset="0"/>
                          <a:ea typeface="Verdana" panose="020B0604030504040204" pitchFamily="34" charset="0"/>
                        </a:rPr>
                        <a:t>Công việc 4</a:t>
                      </a:r>
                    </a:p>
                  </a:txBody>
                  <a:tcPr marL="68580" marR="68580" marT="0" marB="0"/>
                </a:tc>
                <a:tc>
                  <a:txBody>
                    <a:bodyPr/>
                    <a:lstStyle/>
                    <a:p>
                      <a:pPr marL="0" marR="0" algn="ctr">
                        <a:spcBef>
                          <a:spcPts val="0"/>
                        </a:spcBef>
                        <a:spcAft>
                          <a:spcPts val="0"/>
                        </a:spcAft>
                      </a:pPr>
                      <a:r>
                        <a:rPr lang="en-US" sz="1800">
                          <a:effectLst/>
                          <a:latin typeface="Verdana" panose="020B0604030504040204" pitchFamily="34" charset="0"/>
                          <a:ea typeface="Verdana" panose="020B0604030504040204" pitchFamily="34" charset="0"/>
                        </a:rPr>
                        <a:t>C</a:t>
                      </a:r>
                    </a:p>
                  </a:txBody>
                  <a:tcPr marL="68580" marR="68580" marT="0" marB="0"/>
                </a:tc>
                <a:tc>
                  <a:txBody>
                    <a:bodyPr/>
                    <a:lstStyle/>
                    <a:p>
                      <a:pPr marL="0" marR="0" algn="ctr">
                        <a:spcBef>
                          <a:spcPts val="0"/>
                        </a:spcBef>
                        <a:spcAft>
                          <a:spcPts val="0"/>
                        </a:spcAft>
                      </a:pPr>
                      <a:r>
                        <a:rPr lang="en-US" sz="1800">
                          <a:effectLst/>
                          <a:latin typeface="Verdana" panose="020B0604030504040204" pitchFamily="34" charset="0"/>
                          <a:ea typeface="Verdana" panose="020B0604030504040204" pitchFamily="34" charset="0"/>
                        </a:rPr>
                        <a:t>C</a:t>
                      </a:r>
                    </a:p>
                  </a:txBody>
                  <a:tcPr marL="68580" marR="68580" marT="0" marB="0"/>
                </a:tc>
                <a:tc>
                  <a:txBody>
                    <a:bodyPr/>
                    <a:lstStyle/>
                    <a:p>
                      <a:pPr marL="0" marR="0" algn="ctr">
                        <a:spcBef>
                          <a:spcPts val="0"/>
                        </a:spcBef>
                        <a:spcAft>
                          <a:spcPts val="0"/>
                        </a:spcAft>
                      </a:pPr>
                      <a:r>
                        <a:rPr lang="en-US" sz="1800" dirty="0">
                          <a:effectLst/>
                          <a:latin typeface="Verdana" panose="020B0604030504040204" pitchFamily="34" charset="0"/>
                          <a:ea typeface="Verdana" panose="020B0604030504040204" pitchFamily="34" charset="0"/>
                        </a:rPr>
                        <a:t>R</a:t>
                      </a:r>
                    </a:p>
                  </a:txBody>
                  <a:tcPr marL="68580" marR="68580" marT="0" marB="0"/>
                </a:tc>
                <a:tc>
                  <a:txBody>
                    <a:bodyPr/>
                    <a:lstStyle/>
                    <a:p>
                      <a:pPr marL="0" marR="0" algn="ctr">
                        <a:spcBef>
                          <a:spcPts val="0"/>
                        </a:spcBef>
                        <a:spcAft>
                          <a:spcPts val="0"/>
                        </a:spcAft>
                      </a:pPr>
                      <a:r>
                        <a:rPr lang="en-US" sz="1800" dirty="0">
                          <a:effectLst/>
                          <a:latin typeface="Verdana" panose="020B0604030504040204" pitchFamily="34" charset="0"/>
                          <a:ea typeface="Verdana" panose="020B0604030504040204" pitchFamily="34" charset="0"/>
                        </a:rPr>
                        <a:t>A</a:t>
                      </a:r>
                    </a:p>
                  </a:txBody>
                  <a:tcPr marL="68580" marR="68580" marT="0" marB="0"/>
                </a:tc>
                <a:tc>
                  <a:txBody>
                    <a:bodyPr/>
                    <a:lstStyle/>
                    <a:p>
                      <a:pPr marL="0" marR="0" algn="ctr">
                        <a:spcBef>
                          <a:spcPts val="0"/>
                        </a:spcBef>
                        <a:spcAft>
                          <a:spcPts val="0"/>
                        </a:spcAft>
                      </a:pPr>
                      <a:r>
                        <a:rPr lang="en-US" sz="1800" dirty="0">
                          <a:effectLst/>
                          <a:latin typeface="Verdana" panose="020B0604030504040204" pitchFamily="34" charset="0"/>
                          <a:ea typeface="Verdana" panose="020B0604030504040204" pitchFamily="34" charset="0"/>
                        </a:rPr>
                        <a:t>I</a:t>
                      </a:r>
                    </a:p>
                  </a:txBody>
                  <a:tcPr marL="68580" marR="68580" marT="0" marB="0"/>
                </a:tc>
                <a:extLst>
                  <a:ext uri="{0D108BD9-81ED-4DB2-BD59-A6C34878D82A}">
                    <a16:rowId xmlns:a16="http://schemas.microsoft.com/office/drawing/2014/main" val="3974283137"/>
                  </a:ext>
                </a:extLst>
              </a:tr>
              <a:tr h="615346">
                <a:tc>
                  <a:txBody>
                    <a:bodyPr/>
                    <a:lstStyle/>
                    <a:p>
                      <a:pPr marL="0" marR="0" algn="ctr">
                        <a:spcBef>
                          <a:spcPts val="0"/>
                        </a:spcBef>
                        <a:spcAft>
                          <a:spcPts val="0"/>
                        </a:spcAft>
                      </a:pPr>
                      <a:r>
                        <a:rPr lang="en-US" sz="1800">
                          <a:effectLst/>
                          <a:latin typeface="Verdana" panose="020B0604030504040204" pitchFamily="34" charset="0"/>
                          <a:ea typeface="Verdana" panose="020B0604030504040204" pitchFamily="34" charset="0"/>
                        </a:rPr>
                        <a:t>5</a:t>
                      </a:r>
                    </a:p>
                  </a:txBody>
                  <a:tcPr marL="68580" marR="68580" marT="0" marB="0"/>
                </a:tc>
                <a:tc>
                  <a:txBody>
                    <a:bodyPr/>
                    <a:lstStyle/>
                    <a:p>
                      <a:pPr marL="0" marR="0" algn="ctr">
                        <a:spcBef>
                          <a:spcPts val="0"/>
                        </a:spcBef>
                        <a:spcAft>
                          <a:spcPts val="0"/>
                        </a:spcAft>
                      </a:pPr>
                      <a:r>
                        <a:rPr lang="en-US" sz="1800">
                          <a:effectLst/>
                          <a:latin typeface="Verdana" panose="020B0604030504040204" pitchFamily="34" charset="0"/>
                          <a:ea typeface="Verdana" panose="020B0604030504040204" pitchFamily="34" charset="0"/>
                        </a:rPr>
                        <a:t>Công việc 5</a:t>
                      </a:r>
                    </a:p>
                  </a:txBody>
                  <a:tcPr marL="68580" marR="68580" marT="0" marB="0"/>
                </a:tc>
                <a:tc>
                  <a:txBody>
                    <a:bodyPr/>
                    <a:lstStyle/>
                    <a:p>
                      <a:pPr marL="0" marR="0" algn="ctr">
                        <a:spcBef>
                          <a:spcPts val="0"/>
                        </a:spcBef>
                        <a:spcAft>
                          <a:spcPts val="0"/>
                        </a:spcAft>
                      </a:pPr>
                      <a:r>
                        <a:rPr lang="en-US" sz="1800">
                          <a:effectLst/>
                          <a:latin typeface="Verdana" panose="020B0604030504040204" pitchFamily="34" charset="0"/>
                          <a:ea typeface="Verdana" panose="020B0604030504040204" pitchFamily="34" charset="0"/>
                        </a:rPr>
                        <a:t>C</a:t>
                      </a:r>
                    </a:p>
                  </a:txBody>
                  <a:tcPr marL="68580" marR="68580" marT="0" marB="0"/>
                </a:tc>
                <a:tc>
                  <a:txBody>
                    <a:bodyPr/>
                    <a:lstStyle/>
                    <a:p>
                      <a:pPr marL="0" marR="0" algn="ctr">
                        <a:spcBef>
                          <a:spcPts val="0"/>
                        </a:spcBef>
                        <a:spcAft>
                          <a:spcPts val="0"/>
                        </a:spcAft>
                      </a:pPr>
                      <a:r>
                        <a:rPr lang="en-US" sz="1800">
                          <a:effectLst/>
                          <a:latin typeface="Verdana" panose="020B0604030504040204" pitchFamily="34" charset="0"/>
                          <a:ea typeface="Verdana" panose="020B0604030504040204" pitchFamily="34" charset="0"/>
                        </a:rPr>
                        <a:t>A</a:t>
                      </a:r>
                    </a:p>
                  </a:txBody>
                  <a:tcPr marL="68580" marR="68580" marT="0" marB="0"/>
                </a:tc>
                <a:tc>
                  <a:txBody>
                    <a:bodyPr/>
                    <a:lstStyle/>
                    <a:p>
                      <a:pPr marL="0" marR="0" algn="ctr">
                        <a:spcBef>
                          <a:spcPts val="0"/>
                        </a:spcBef>
                        <a:spcAft>
                          <a:spcPts val="0"/>
                        </a:spcAft>
                      </a:pPr>
                      <a:r>
                        <a:rPr lang="en-US" sz="1800">
                          <a:effectLst/>
                          <a:latin typeface="Verdana" panose="020B0604030504040204" pitchFamily="34" charset="0"/>
                          <a:ea typeface="Verdana" panose="020B0604030504040204" pitchFamily="34" charset="0"/>
                        </a:rPr>
                        <a:t>R</a:t>
                      </a:r>
                    </a:p>
                  </a:txBody>
                  <a:tcPr marL="68580" marR="68580" marT="0" marB="0"/>
                </a:tc>
                <a:tc>
                  <a:txBody>
                    <a:bodyPr/>
                    <a:lstStyle/>
                    <a:p>
                      <a:pPr marL="0" marR="0" algn="ctr">
                        <a:spcBef>
                          <a:spcPts val="0"/>
                        </a:spcBef>
                        <a:spcAft>
                          <a:spcPts val="0"/>
                        </a:spcAft>
                      </a:pPr>
                      <a:r>
                        <a:rPr lang="en-US" sz="1800">
                          <a:effectLst/>
                          <a:latin typeface="Verdana" panose="020B0604030504040204" pitchFamily="34" charset="0"/>
                          <a:ea typeface="Verdana" panose="020B0604030504040204" pitchFamily="34" charset="0"/>
                        </a:rPr>
                        <a:t>I</a:t>
                      </a:r>
                    </a:p>
                  </a:txBody>
                  <a:tcPr marL="68580" marR="68580" marT="0" marB="0"/>
                </a:tc>
                <a:tc>
                  <a:txBody>
                    <a:bodyPr/>
                    <a:lstStyle/>
                    <a:p>
                      <a:pPr marL="0" marR="0" algn="ctr">
                        <a:spcBef>
                          <a:spcPts val="0"/>
                        </a:spcBef>
                        <a:spcAft>
                          <a:spcPts val="0"/>
                        </a:spcAft>
                      </a:pPr>
                      <a:r>
                        <a:rPr lang="en-US" sz="1800" dirty="0">
                          <a:effectLst/>
                          <a:latin typeface="Verdana" panose="020B0604030504040204" pitchFamily="34" charset="0"/>
                          <a:ea typeface="Verdana" panose="020B0604030504040204" pitchFamily="34" charset="0"/>
                        </a:rPr>
                        <a:t>I</a:t>
                      </a:r>
                    </a:p>
                  </a:txBody>
                  <a:tcPr marL="68580" marR="68580" marT="0" marB="0"/>
                </a:tc>
                <a:extLst>
                  <a:ext uri="{0D108BD9-81ED-4DB2-BD59-A6C34878D82A}">
                    <a16:rowId xmlns:a16="http://schemas.microsoft.com/office/drawing/2014/main" val="2943208190"/>
                  </a:ext>
                </a:extLst>
              </a:tr>
            </a:tbl>
          </a:graphicData>
        </a:graphic>
      </p:graphicFrame>
    </p:spTree>
    <p:extLst>
      <p:ext uri="{BB962C8B-B14F-4D97-AF65-F5344CB8AC3E}">
        <p14:creationId xmlns:p14="http://schemas.microsoft.com/office/powerpoint/2010/main" val="30509364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 name="Rectangle 47"/>
          <p:cNvSpPr/>
          <p:nvPr/>
        </p:nvSpPr>
        <p:spPr>
          <a:xfrm>
            <a:off x="1333896" y="327184"/>
            <a:ext cx="9823541" cy="492443"/>
          </a:xfrm>
          <a:prstGeom prst="rect">
            <a:avLst/>
          </a:prstGeom>
        </p:spPr>
        <p:txBody>
          <a:bodyPr wrap="square">
            <a:spAutoFit/>
          </a:bodyPr>
          <a:lstStyle/>
          <a:p>
            <a:r>
              <a:rPr lang="vi-VN" sz="2600" b="1" dirty="0">
                <a:solidFill>
                  <a:schemeClr val="bg1"/>
                </a:solidFill>
                <a:latin typeface="Verdana" panose="020B0604030504040204" pitchFamily="34" charset="0"/>
                <a:ea typeface="Verdana" panose="020B0604030504040204" pitchFamily="34" charset="0"/>
              </a:rPr>
              <a:t>3. Cơ sở và xây dựng hệ thống</a:t>
            </a:r>
            <a:endParaRPr lang="en-US" sz="2600" b="1" dirty="0">
              <a:solidFill>
                <a:schemeClr val="bg1"/>
              </a:solidFill>
              <a:latin typeface="Verdana" panose="020B0604030504040204" pitchFamily="34" charset="0"/>
              <a:ea typeface="Verdana" panose="020B0604030504040204" pitchFamily="34" charset="0"/>
            </a:endParaRPr>
          </a:p>
        </p:txBody>
      </p:sp>
      <p:sp>
        <p:nvSpPr>
          <p:cNvPr id="3" name="Title 1">
            <a:extLst>
              <a:ext uri="{FF2B5EF4-FFF2-40B4-BE49-F238E27FC236}">
                <a16:creationId xmlns:a16="http://schemas.microsoft.com/office/drawing/2014/main" id="{4EA4B999-0292-4585-9244-F440F390AA65}"/>
              </a:ext>
            </a:extLst>
          </p:cNvPr>
          <p:cNvSpPr txBox="1">
            <a:spLocks/>
          </p:cNvSpPr>
          <p:nvPr/>
        </p:nvSpPr>
        <p:spPr>
          <a:xfrm>
            <a:off x="1094509" y="969818"/>
            <a:ext cx="10307782" cy="5715795"/>
          </a:xfrm>
          <a:prstGeom prst="rect">
            <a:avLst/>
          </a:prstGeom>
        </p:spPr>
        <p:txBody>
          <a:bodyPr vert="horz" lIns="91440" tIns="45720" rIns="91440" bIns="45720" rtlCol="0" anchor="t">
            <a:normAutofit fontScale="97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nSpc>
                <a:spcPct val="200000"/>
              </a:lnSpc>
            </a:pPr>
            <a:r>
              <a:rPr lang="en-US" sz="1800" b="1" dirty="0" err="1">
                <a:latin typeface="Verdana" panose="020B0604030504040204" pitchFamily="34" charset="0"/>
                <a:ea typeface="Verdana" panose="020B0604030504040204" pitchFamily="34" charset="0"/>
              </a:rPr>
              <a:t>Tính</a:t>
            </a:r>
            <a:r>
              <a:rPr lang="en-US" sz="1800" b="1" dirty="0">
                <a:latin typeface="Verdana" panose="020B0604030504040204" pitchFamily="34" charset="0"/>
                <a:ea typeface="Verdana" panose="020B0604030504040204" pitchFamily="34" charset="0"/>
              </a:rPr>
              <a:t> </a:t>
            </a:r>
            <a:r>
              <a:rPr lang="en-US" sz="1800" b="1" dirty="0" err="1">
                <a:latin typeface="Verdana" panose="020B0604030504040204" pitchFamily="34" charset="0"/>
                <a:ea typeface="Verdana" panose="020B0604030504040204" pitchFamily="34" charset="0"/>
              </a:rPr>
              <a:t>khoán</a:t>
            </a:r>
            <a:r>
              <a:rPr lang="en-US" sz="1800" b="1" dirty="0">
                <a:latin typeface="Verdana" panose="020B0604030504040204" pitchFamily="34" charset="0"/>
                <a:ea typeface="Verdana" panose="020B0604030504040204" pitchFamily="34" charset="0"/>
              </a:rPr>
              <a:t> </a:t>
            </a:r>
            <a:r>
              <a:rPr lang="en-US" sz="1800" b="1" dirty="0" err="1">
                <a:latin typeface="Verdana" panose="020B0604030504040204" pitchFamily="34" charset="0"/>
                <a:ea typeface="Verdana" panose="020B0604030504040204" pitchFamily="34" charset="0"/>
              </a:rPr>
              <a:t>công</a:t>
            </a:r>
            <a:r>
              <a:rPr lang="en-US" sz="1800" b="1" dirty="0">
                <a:latin typeface="Verdana" panose="020B0604030504040204" pitchFamily="34" charset="0"/>
                <a:ea typeface="Verdana" panose="020B0604030504040204" pitchFamily="34" charset="0"/>
              </a:rPr>
              <a:t> </a:t>
            </a:r>
            <a:r>
              <a:rPr lang="en-US" sz="1800" b="1" dirty="0" err="1">
                <a:latin typeface="Verdana" panose="020B0604030504040204" pitchFamily="34" charset="0"/>
                <a:ea typeface="Verdana" panose="020B0604030504040204" pitchFamily="34" charset="0"/>
              </a:rPr>
              <a:t>việc</a:t>
            </a:r>
            <a:endParaRPr lang="en-US" sz="1800" b="1" dirty="0">
              <a:latin typeface="Verdana" panose="020B0604030504040204" pitchFamily="34" charset="0"/>
              <a:ea typeface="Verdana" panose="020B0604030504040204" pitchFamily="34" charset="0"/>
            </a:endParaRPr>
          </a:p>
          <a:p>
            <a:pPr>
              <a:lnSpc>
                <a:spcPct val="200000"/>
              </a:lnSpc>
            </a:pPr>
            <a:endParaRPr lang="en-US" sz="1800" dirty="0">
              <a:solidFill>
                <a:srgbClr val="000000"/>
              </a:solidFill>
              <a:effectLst/>
              <a:latin typeface="Times New Roman" panose="02020603050405020304" pitchFamily="18" charset="0"/>
              <a:ea typeface="Calibri" panose="020F0502020204030204" pitchFamily="34" charset="0"/>
            </a:endParaRPr>
          </a:p>
          <a:p>
            <a:pPr>
              <a:lnSpc>
                <a:spcPct val="200000"/>
              </a:lnSpc>
            </a:pPr>
            <a:endParaRPr lang="en-US" sz="1800" dirty="0">
              <a:solidFill>
                <a:srgbClr val="000000"/>
              </a:solidFill>
              <a:latin typeface="Times New Roman" panose="02020603050405020304" pitchFamily="18" charset="0"/>
              <a:ea typeface="Calibri" panose="020F0502020204030204" pitchFamily="34" charset="0"/>
            </a:endParaRPr>
          </a:p>
          <a:p>
            <a:pPr>
              <a:lnSpc>
                <a:spcPct val="200000"/>
              </a:lnSpc>
            </a:pPr>
            <a:endParaRPr lang="en-US" sz="1800" dirty="0">
              <a:solidFill>
                <a:srgbClr val="000000"/>
              </a:solidFill>
              <a:latin typeface="Times New Roman" panose="02020603050405020304" pitchFamily="18" charset="0"/>
              <a:ea typeface="Calibri" panose="020F0502020204030204" pitchFamily="34" charset="0"/>
            </a:endParaRPr>
          </a:p>
          <a:p>
            <a:pPr>
              <a:lnSpc>
                <a:spcPct val="200000"/>
              </a:lnSpc>
            </a:pPr>
            <a:endParaRPr lang="en-US" sz="1800" dirty="0">
              <a:solidFill>
                <a:srgbClr val="000000"/>
              </a:solidFill>
              <a:effectLst/>
              <a:latin typeface="Verdana" panose="020B0604030504040204" pitchFamily="34" charset="0"/>
              <a:ea typeface="Verdana" panose="020B0604030504040204" pitchFamily="34" charset="0"/>
            </a:endParaRPr>
          </a:p>
          <a:p>
            <a:pPr>
              <a:lnSpc>
                <a:spcPct val="200000"/>
              </a:lnSpc>
            </a:pPr>
            <a:r>
              <a:rPr lang="en-US" sz="1800" dirty="0" err="1">
                <a:solidFill>
                  <a:srgbClr val="000000"/>
                </a:solidFill>
                <a:effectLst/>
                <a:latin typeface="Verdana" panose="020B0604030504040204" pitchFamily="34" charset="0"/>
                <a:ea typeface="Verdana" panose="020B0604030504040204" pitchFamily="34" charset="0"/>
              </a:rPr>
              <a:t>Mục</a:t>
            </a:r>
            <a:r>
              <a:rPr lang="en-US" sz="1800" dirty="0">
                <a:solidFill>
                  <a:srgbClr val="000000"/>
                </a:solidFill>
                <a:effectLst/>
                <a:latin typeface="Verdana" panose="020B0604030504040204" pitchFamily="34" charset="0"/>
                <a:ea typeface="Verdana" panose="020B0604030504040204" pitchFamily="34" charset="0"/>
              </a:rPr>
              <a:t> </a:t>
            </a:r>
            <a:r>
              <a:rPr lang="en-US" sz="1800" dirty="0" err="1">
                <a:solidFill>
                  <a:srgbClr val="000000"/>
                </a:solidFill>
                <a:effectLst/>
                <a:latin typeface="Verdana" panose="020B0604030504040204" pitchFamily="34" charset="0"/>
                <a:ea typeface="Verdana" panose="020B0604030504040204" pitchFamily="34" charset="0"/>
              </a:rPr>
              <a:t>đích</a:t>
            </a:r>
            <a:r>
              <a:rPr lang="en-US" sz="1800" dirty="0">
                <a:solidFill>
                  <a:srgbClr val="000000"/>
                </a:solidFill>
                <a:effectLst/>
                <a:latin typeface="Verdana" panose="020B0604030504040204" pitchFamily="34" charset="0"/>
                <a:ea typeface="Verdana" panose="020B0604030504040204" pitchFamily="34" charset="0"/>
              </a:rPr>
              <a:t> </a:t>
            </a:r>
            <a:r>
              <a:rPr lang="en-US" sz="1800" dirty="0" err="1">
                <a:solidFill>
                  <a:srgbClr val="000000"/>
                </a:solidFill>
                <a:effectLst/>
                <a:latin typeface="Verdana" panose="020B0604030504040204" pitchFamily="34" charset="0"/>
                <a:ea typeface="Verdana" panose="020B0604030504040204" pitchFamily="34" charset="0"/>
              </a:rPr>
              <a:t>của</a:t>
            </a:r>
            <a:r>
              <a:rPr lang="en-US" sz="1800" dirty="0">
                <a:solidFill>
                  <a:srgbClr val="000000"/>
                </a:solidFill>
                <a:effectLst/>
                <a:latin typeface="Verdana" panose="020B0604030504040204" pitchFamily="34" charset="0"/>
                <a:ea typeface="Verdana" panose="020B0604030504040204" pitchFamily="34" charset="0"/>
              </a:rPr>
              <a:t> </a:t>
            </a:r>
            <a:r>
              <a:rPr lang="en-US" sz="1800" dirty="0" err="1">
                <a:solidFill>
                  <a:srgbClr val="000000"/>
                </a:solidFill>
                <a:effectLst/>
                <a:latin typeface="Verdana" panose="020B0604030504040204" pitchFamily="34" charset="0"/>
                <a:ea typeface="Verdana" panose="020B0604030504040204" pitchFamily="34" charset="0"/>
              </a:rPr>
              <a:t>khoán</a:t>
            </a:r>
            <a:r>
              <a:rPr lang="en-US" sz="1800" dirty="0">
                <a:solidFill>
                  <a:srgbClr val="000000"/>
                </a:solidFill>
                <a:effectLst/>
                <a:latin typeface="Verdana" panose="020B0604030504040204" pitchFamily="34" charset="0"/>
                <a:ea typeface="Verdana" panose="020B0604030504040204" pitchFamily="34" charset="0"/>
              </a:rPr>
              <a:t> </a:t>
            </a:r>
            <a:r>
              <a:rPr lang="en-US" sz="1800" dirty="0" err="1">
                <a:solidFill>
                  <a:srgbClr val="000000"/>
                </a:solidFill>
                <a:effectLst/>
                <a:latin typeface="Verdana" panose="020B0604030504040204" pitchFamily="34" charset="0"/>
                <a:ea typeface="Verdana" panose="020B0604030504040204" pitchFamily="34" charset="0"/>
              </a:rPr>
              <a:t>công</a:t>
            </a:r>
            <a:r>
              <a:rPr lang="en-US" sz="1800" dirty="0">
                <a:solidFill>
                  <a:srgbClr val="000000"/>
                </a:solidFill>
                <a:effectLst/>
                <a:latin typeface="Verdana" panose="020B0604030504040204" pitchFamily="34" charset="0"/>
                <a:ea typeface="Verdana" panose="020B0604030504040204" pitchFamily="34" charset="0"/>
              </a:rPr>
              <a:t> </a:t>
            </a:r>
            <a:r>
              <a:rPr lang="en-US" sz="1800" dirty="0" err="1">
                <a:solidFill>
                  <a:srgbClr val="000000"/>
                </a:solidFill>
                <a:effectLst/>
                <a:latin typeface="Verdana" panose="020B0604030504040204" pitchFamily="34" charset="0"/>
                <a:ea typeface="Verdana" panose="020B0604030504040204" pitchFamily="34" charset="0"/>
              </a:rPr>
              <a:t>việc</a:t>
            </a:r>
            <a:r>
              <a:rPr lang="en-US" sz="1800" dirty="0">
                <a:solidFill>
                  <a:srgbClr val="000000"/>
                </a:solidFill>
                <a:effectLst/>
                <a:latin typeface="Verdana" panose="020B0604030504040204" pitchFamily="34" charset="0"/>
                <a:ea typeface="Verdana" panose="020B0604030504040204" pitchFamily="34" charset="0"/>
              </a:rPr>
              <a:t> </a:t>
            </a:r>
            <a:r>
              <a:rPr lang="en-US" sz="1800" dirty="0" err="1">
                <a:solidFill>
                  <a:srgbClr val="000000"/>
                </a:solidFill>
                <a:effectLst/>
                <a:latin typeface="Verdana" panose="020B0604030504040204" pitchFamily="34" charset="0"/>
                <a:ea typeface="Verdana" panose="020B0604030504040204" pitchFamily="34" charset="0"/>
              </a:rPr>
              <a:t>và</a:t>
            </a:r>
            <a:r>
              <a:rPr lang="en-US" sz="1800" dirty="0">
                <a:solidFill>
                  <a:srgbClr val="000000"/>
                </a:solidFill>
                <a:effectLst/>
                <a:latin typeface="Verdana" panose="020B0604030504040204" pitchFamily="34" charset="0"/>
                <a:ea typeface="Verdana" panose="020B0604030504040204" pitchFamily="34" charset="0"/>
              </a:rPr>
              <a:t> </a:t>
            </a:r>
            <a:r>
              <a:rPr lang="en-US" sz="1800" dirty="0" err="1">
                <a:solidFill>
                  <a:srgbClr val="000000"/>
                </a:solidFill>
                <a:effectLst/>
                <a:latin typeface="Verdana" panose="020B0604030504040204" pitchFamily="34" charset="0"/>
                <a:ea typeface="Verdana" panose="020B0604030504040204" pitchFamily="34" charset="0"/>
              </a:rPr>
              <a:t>thưởng</a:t>
            </a:r>
            <a:r>
              <a:rPr lang="en-US" sz="1800" dirty="0">
                <a:solidFill>
                  <a:srgbClr val="000000"/>
                </a:solidFill>
                <a:effectLst/>
                <a:latin typeface="Verdana" panose="020B0604030504040204" pitchFamily="34" charset="0"/>
                <a:ea typeface="Verdana" panose="020B0604030504040204" pitchFamily="34" charset="0"/>
              </a:rPr>
              <a:t> </a:t>
            </a:r>
            <a:r>
              <a:rPr lang="en-US" sz="1800" dirty="0" err="1">
                <a:solidFill>
                  <a:srgbClr val="000000"/>
                </a:solidFill>
                <a:effectLst/>
                <a:latin typeface="Verdana" panose="020B0604030504040204" pitchFamily="34" charset="0"/>
                <a:ea typeface="Verdana" panose="020B0604030504040204" pitchFamily="34" charset="0"/>
              </a:rPr>
              <a:t>hiệu</a:t>
            </a:r>
            <a:r>
              <a:rPr lang="en-US" sz="1800" dirty="0">
                <a:solidFill>
                  <a:srgbClr val="000000"/>
                </a:solidFill>
                <a:effectLst/>
                <a:latin typeface="Verdana" panose="020B0604030504040204" pitchFamily="34" charset="0"/>
                <a:ea typeface="Verdana" panose="020B0604030504040204" pitchFamily="34" charset="0"/>
              </a:rPr>
              <a:t> </a:t>
            </a:r>
            <a:r>
              <a:rPr lang="en-US" sz="1800" dirty="0" err="1">
                <a:solidFill>
                  <a:srgbClr val="000000"/>
                </a:solidFill>
                <a:effectLst/>
                <a:latin typeface="Verdana" panose="020B0604030504040204" pitchFamily="34" charset="0"/>
                <a:ea typeface="Verdana" panose="020B0604030504040204" pitchFamily="34" charset="0"/>
              </a:rPr>
              <a:t>quả</a:t>
            </a:r>
            <a:r>
              <a:rPr lang="en-US" sz="1800" dirty="0">
                <a:solidFill>
                  <a:srgbClr val="000000"/>
                </a:solidFill>
                <a:effectLst/>
                <a:latin typeface="Verdana" panose="020B0604030504040204" pitchFamily="34" charset="0"/>
                <a:ea typeface="Verdana" panose="020B0604030504040204" pitchFamily="34" charset="0"/>
              </a:rPr>
              <a:t> </a:t>
            </a:r>
            <a:r>
              <a:rPr lang="en-US" sz="1800" dirty="0" err="1">
                <a:solidFill>
                  <a:srgbClr val="000000"/>
                </a:solidFill>
                <a:effectLst/>
                <a:latin typeface="Verdana" panose="020B0604030504040204" pitchFamily="34" charset="0"/>
                <a:ea typeface="Verdana" panose="020B0604030504040204" pitchFamily="34" charset="0"/>
              </a:rPr>
              <a:t>công</a:t>
            </a:r>
            <a:r>
              <a:rPr lang="en-US" sz="1800" dirty="0">
                <a:solidFill>
                  <a:srgbClr val="000000"/>
                </a:solidFill>
                <a:effectLst/>
                <a:latin typeface="Verdana" panose="020B0604030504040204" pitchFamily="34" charset="0"/>
                <a:ea typeface="Verdana" panose="020B0604030504040204" pitchFamily="34" charset="0"/>
              </a:rPr>
              <a:t> </a:t>
            </a:r>
            <a:r>
              <a:rPr lang="en-US" sz="1800" dirty="0" err="1">
                <a:solidFill>
                  <a:srgbClr val="000000"/>
                </a:solidFill>
                <a:effectLst/>
                <a:latin typeface="Verdana" panose="020B0604030504040204" pitchFamily="34" charset="0"/>
                <a:ea typeface="Verdana" panose="020B0604030504040204" pitchFamily="34" charset="0"/>
              </a:rPr>
              <a:t>việc</a:t>
            </a:r>
            <a:r>
              <a:rPr lang="en-US" sz="1800" dirty="0">
                <a:solidFill>
                  <a:srgbClr val="000000"/>
                </a:solidFill>
                <a:effectLst/>
                <a:latin typeface="Verdana" panose="020B0604030504040204" pitchFamily="34" charset="0"/>
                <a:ea typeface="Verdana" panose="020B0604030504040204" pitchFamily="34" charset="0"/>
              </a:rPr>
              <a:t> </a:t>
            </a:r>
            <a:r>
              <a:rPr lang="en-US" sz="1800" dirty="0" err="1">
                <a:solidFill>
                  <a:srgbClr val="000000"/>
                </a:solidFill>
                <a:effectLst/>
                <a:latin typeface="Verdana" panose="020B0604030504040204" pitchFamily="34" charset="0"/>
                <a:ea typeface="Verdana" panose="020B0604030504040204" pitchFamily="34" charset="0"/>
              </a:rPr>
              <a:t>là</a:t>
            </a:r>
            <a:r>
              <a:rPr lang="en-US" sz="1800" dirty="0">
                <a:solidFill>
                  <a:srgbClr val="000000"/>
                </a:solidFill>
                <a:effectLst/>
                <a:latin typeface="Verdana" panose="020B0604030504040204" pitchFamily="34" charset="0"/>
                <a:ea typeface="Verdana" panose="020B0604030504040204" pitchFamily="34" charset="0"/>
              </a:rPr>
              <a:t> </a:t>
            </a:r>
            <a:r>
              <a:rPr lang="en-US" sz="1800" dirty="0" err="1">
                <a:solidFill>
                  <a:srgbClr val="000000"/>
                </a:solidFill>
                <a:effectLst/>
                <a:latin typeface="Verdana" panose="020B0604030504040204" pitchFamily="34" charset="0"/>
                <a:ea typeface="Verdana" panose="020B0604030504040204" pitchFamily="34" charset="0"/>
              </a:rPr>
              <a:t>khuyến</a:t>
            </a:r>
            <a:r>
              <a:rPr lang="en-US" sz="1800" dirty="0">
                <a:solidFill>
                  <a:srgbClr val="000000"/>
                </a:solidFill>
                <a:effectLst/>
                <a:latin typeface="Verdana" panose="020B0604030504040204" pitchFamily="34" charset="0"/>
                <a:ea typeface="Verdana" panose="020B0604030504040204" pitchFamily="34" charset="0"/>
              </a:rPr>
              <a:t> </a:t>
            </a:r>
            <a:r>
              <a:rPr lang="en-US" sz="1800" dirty="0" err="1">
                <a:solidFill>
                  <a:srgbClr val="000000"/>
                </a:solidFill>
                <a:effectLst/>
                <a:latin typeface="Verdana" panose="020B0604030504040204" pitchFamily="34" charset="0"/>
                <a:ea typeface="Verdana" panose="020B0604030504040204" pitchFamily="34" charset="0"/>
              </a:rPr>
              <a:t>khích</a:t>
            </a:r>
            <a:r>
              <a:rPr lang="en-US" sz="1800" dirty="0">
                <a:solidFill>
                  <a:srgbClr val="000000"/>
                </a:solidFill>
                <a:effectLst/>
                <a:latin typeface="Verdana" panose="020B0604030504040204" pitchFamily="34" charset="0"/>
                <a:ea typeface="Verdana" panose="020B0604030504040204" pitchFamily="34" charset="0"/>
              </a:rPr>
              <a:t> </a:t>
            </a:r>
            <a:r>
              <a:rPr lang="en-US" sz="1800" dirty="0" err="1">
                <a:solidFill>
                  <a:srgbClr val="000000"/>
                </a:solidFill>
                <a:effectLst/>
                <a:latin typeface="Verdana" panose="020B0604030504040204" pitchFamily="34" charset="0"/>
                <a:ea typeface="Verdana" panose="020B0604030504040204" pitchFamily="34" charset="0"/>
              </a:rPr>
              <a:t>cá</a:t>
            </a:r>
            <a:r>
              <a:rPr lang="en-US" sz="1800" dirty="0">
                <a:solidFill>
                  <a:srgbClr val="000000"/>
                </a:solidFill>
                <a:effectLst/>
                <a:latin typeface="Verdana" panose="020B0604030504040204" pitchFamily="34" charset="0"/>
                <a:ea typeface="Verdana" panose="020B0604030504040204" pitchFamily="34" charset="0"/>
              </a:rPr>
              <a:t> </a:t>
            </a:r>
            <a:r>
              <a:rPr lang="en-US" sz="1800" dirty="0" err="1">
                <a:solidFill>
                  <a:srgbClr val="000000"/>
                </a:solidFill>
                <a:effectLst/>
                <a:latin typeface="Verdana" panose="020B0604030504040204" pitchFamily="34" charset="0"/>
                <a:ea typeface="Verdana" panose="020B0604030504040204" pitchFamily="34" charset="0"/>
              </a:rPr>
              <a:t>nhân</a:t>
            </a:r>
            <a:r>
              <a:rPr lang="en-US" sz="1800" dirty="0">
                <a:solidFill>
                  <a:srgbClr val="000000"/>
                </a:solidFill>
                <a:effectLst/>
                <a:latin typeface="Verdana" panose="020B0604030504040204" pitchFamily="34" charset="0"/>
                <a:ea typeface="Verdana" panose="020B0604030504040204" pitchFamily="34" charset="0"/>
              </a:rPr>
              <a:t> </a:t>
            </a:r>
            <a:r>
              <a:rPr lang="en-US" sz="1800" dirty="0" err="1">
                <a:solidFill>
                  <a:srgbClr val="000000"/>
                </a:solidFill>
                <a:effectLst/>
                <a:latin typeface="Verdana" panose="020B0604030504040204" pitchFamily="34" charset="0"/>
                <a:ea typeface="Verdana" panose="020B0604030504040204" pitchFamily="34" charset="0"/>
              </a:rPr>
              <a:t>hoàn</a:t>
            </a:r>
            <a:r>
              <a:rPr lang="en-US" sz="1800" dirty="0">
                <a:solidFill>
                  <a:srgbClr val="000000"/>
                </a:solidFill>
                <a:effectLst/>
                <a:latin typeface="Verdana" panose="020B0604030504040204" pitchFamily="34" charset="0"/>
                <a:ea typeface="Verdana" panose="020B0604030504040204" pitchFamily="34" charset="0"/>
              </a:rPr>
              <a:t> </a:t>
            </a:r>
            <a:r>
              <a:rPr lang="en-US" sz="1800" dirty="0" err="1">
                <a:solidFill>
                  <a:srgbClr val="000000"/>
                </a:solidFill>
                <a:effectLst/>
                <a:latin typeface="Verdana" panose="020B0604030504040204" pitchFamily="34" charset="0"/>
                <a:ea typeface="Verdana" panose="020B0604030504040204" pitchFamily="34" charset="0"/>
              </a:rPr>
              <a:t>thành</a:t>
            </a:r>
            <a:r>
              <a:rPr lang="en-US" sz="1800" dirty="0">
                <a:solidFill>
                  <a:srgbClr val="000000"/>
                </a:solidFill>
                <a:effectLst/>
                <a:latin typeface="Verdana" panose="020B0604030504040204" pitchFamily="34" charset="0"/>
                <a:ea typeface="Verdana" panose="020B0604030504040204" pitchFamily="34" charset="0"/>
              </a:rPr>
              <a:t> </a:t>
            </a:r>
            <a:r>
              <a:rPr lang="en-US" sz="1800" dirty="0" err="1">
                <a:solidFill>
                  <a:srgbClr val="000000"/>
                </a:solidFill>
                <a:effectLst/>
                <a:latin typeface="Verdana" panose="020B0604030504040204" pitchFamily="34" charset="0"/>
                <a:ea typeface="Verdana" panose="020B0604030504040204" pitchFamily="34" charset="0"/>
              </a:rPr>
              <a:t>công</a:t>
            </a:r>
            <a:r>
              <a:rPr lang="en-US" sz="1800" dirty="0">
                <a:solidFill>
                  <a:srgbClr val="000000"/>
                </a:solidFill>
                <a:effectLst/>
                <a:latin typeface="Verdana" panose="020B0604030504040204" pitchFamily="34" charset="0"/>
                <a:ea typeface="Verdana" panose="020B0604030504040204" pitchFamily="34" charset="0"/>
              </a:rPr>
              <a:t> </a:t>
            </a:r>
            <a:r>
              <a:rPr lang="en-US" sz="1800" dirty="0" err="1">
                <a:solidFill>
                  <a:srgbClr val="000000"/>
                </a:solidFill>
                <a:effectLst/>
                <a:latin typeface="Verdana" panose="020B0604030504040204" pitchFamily="34" charset="0"/>
                <a:ea typeface="Verdana" panose="020B0604030504040204" pitchFamily="34" charset="0"/>
              </a:rPr>
              <a:t>việc</a:t>
            </a:r>
            <a:r>
              <a:rPr lang="en-US" sz="1800" dirty="0">
                <a:solidFill>
                  <a:srgbClr val="000000"/>
                </a:solidFill>
                <a:effectLst/>
                <a:latin typeface="Verdana" panose="020B0604030504040204" pitchFamily="34" charset="0"/>
                <a:ea typeface="Verdana" panose="020B0604030504040204" pitchFamily="34" charset="0"/>
              </a:rPr>
              <a:t> </a:t>
            </a:r>
            <a:r>
              <a:rPr lang="en-US" sz="1800" dirty="0" err="1">
                <a:solidFill>
                  <a:srgbClr val="000000"/>
                </a:solidFill>
                <a:effectLst/>
                <a:latin typeface="Verdana" panose="020B0604030504040204" pitchFamily="34" charset="0"/>
                <a:ea typeface="Verdana" panose="020B0604030504040204" pitchFamily="34" charset="0"/>
              </a:rPr>
              <a:t>một</a:t>
            </a:r>
            <a:r>
              <a:rPr lang="en-US" sz="1800" dirty="0">
                <a:solidFill>
                  <a:srgbClr val="000000"/>
                </a:solidFill>
                <a:effectLst/>
                <a:latin typeface="Verdana" panose="020B0604030504040204" pitchFamily="34" charset="0"/>
                <a:ea typeface="Verdana" panose="020B0604030504040204" pitchFamily="34" charset="0"/>
              </a:rPr>
              <a:t> </a:t>
            </a:r>
            <a:r>
              <a:rPr lang="en-US" sz="1800" dirty="0" err="1">
                <a:solidFill>
                  <a:srgbClr val="000000"/>
                </a:solidFill>
                <a:effectLst/>
                <a:latin typeface="Verdana" panose="020B0604030504040204" pitchFamily="34" charset="0"/>
                <a:ea typeface="Verdana" panose="020B0604030504040204" pitchFamily="34" charset="0"/>
              </a:rPr>
              <a:t>cách</a:t>
            </a:r>
            <a:r>
              <a:rPr lang="en-US" sz="1800" dirty="0">
                <a:solidFill>
                  <a:srgbClr val="000000"/>
                </a:solidFill>
                <a:effectLst/>
                <a:latin typeface="Verdana" panose="020B0604030504040204" pitchFamily="34" charset="0"/>
                <a:ea typeface="Verdana" panose="020B0604030504040204" pitchFamily="34" charset="0"/>
              </a:rPr>
              <a:t> </a:t>
            </a:r>
            <a:r>
              <a:rPr lang="en-US" sz="1800" dirty="0" err="1">
                <a:solidFill>
                  <a:srgbClr val="000000"/>
                </a:solidFill>
                <a:effectLst/>
                <a:latin typeface="Verdana" panose="020B0604030504040204" pitchFamily="34" charset="0"/>
                <a:ea typeface="Verdana" panose="020B0604030504040204" pitchFamily="34" charset="0"/>
              </a:rPr>
              <a:t>nhanh</a:t>
            </a:r>
            <a:r>
              <a:rPr lang="en-US" sz="1800" dirty="0">
                <a:solidFill>
                  <a:srgbClr val="000000"/>
                </a:solidFill>
                <a:effectLst/>
                <a:latin typeface="Verdana" panose="020B0604030504040204" pitchFamily="34" charset="0"/>
                <a:ea typeface="Verdana" panose="020B0604030504040204" pitchFamily="34" charset="0"/>
              </a:rPr>
              <a:t> </a:t>
            </a:r>
            <a:r>
              <a:rPr lang="en-US" sz="1800" dirty="0" err="1">
                <a:solidFill>
                  <a:srgbClr val="000000"/>
                </a:solidFill>
                <a:effectLst/>
                <a:latin typeface="Verdana" panose="020B0604030504040204" pitchFamily="34" charset="0"/>
                <a:ea typeface="Verdana" panose="020B0604030504040204" pitchFamily="34" charset="0"/>
              </a:rPr>
              <a:t>chóng</a:t>
            </a:r>
            <a:r>
              <a:rPr lang="en-US" sz="1800" dirty="0">
                <a:solidFill>
                  <a:srgbClr val="000000"/>
                </a:solidFill>
                <a:effectLst/>
                <a:latin typeface="Verdana" panose="020B0604030504040204" pitchFamily="34" charset="0"/>
                <a:ea typeface="Verdana" panose="020B0604030504040204" pitchFamily="34" charset="0"/>
              </a:rPr>
              <a:t> </a:t>
            </a:r>
            <a:r>
              <a:rPr lang="en-US" sz="1800" dirty="0" err="1">
                <a:solidFill>
                  <a:srgbClr val="000000"/>
                </a:solidFill>
                <a:effectLst/>
                <a:latin typeface="Verdana" panose="020B0604030504040204" pitchFamily="34" charset="0"/>
                <a:ea typeface="Verdana" panose="020B0604030504040204" pitchFamily="34" charset="0"/>
              </a:rPr>
              <a:t>và</a:t>
            </a:r>
            <a:r>
              <a:rPr lang="en-US" sz="1800" dirty="0">
                <a:solidFill>
                  <a:srgbClr val="000000"/>
                </a:solidFill>
                <a:effectLst/>
                <a:latin typeface="Verdana" panose="020B0604030504040204" pitchFamily="34" charset="0"/>
                <a:ea typeface="Verdana" panose="020B0604030504040204" pitchFamily="34" charset="0"/>
              </a:rPr>
              <a:t> </a:t>
            </a:r>
            <a:r>
              <a:rPr lang="en-US" sz="1800" dirty="0" err="1">
                <a:solidFill>
                  <a:srgbClr val="000000"/>
                </a:solidFill>
                <a:effectLst/>
                <a:latin typeface="Verdana" panose="020B0604030504040204" pitchFamily="34" charset="0"/>
                <a:ea typeface="Verdana" panose="020B0604030504040204" pitchFamily="34" charset="0"/>
              </a:rPr>
              <a:t>vượt</a:t>
            </a:r>
            <a:r>
              <a:rPr lang="en-US" sz="1800" dirty="0">
                <a:solidFill>
                  <a:srgbClr val="000000"/>
                </a:solidFill>
                <a:effectLst/>
                <a:latin typeface="Verdana" panose="020B0604030504040204" pitchFamily="34" charset="0"/>
                <a:ea typeface="Verdana" panose="020B0604030504040204" pitchFamily="34" charset="0"/>
              </a:rPr>
              <a:t> </a:t>
            </a:r>
            <a:r>
              <a:rPr lang="en-US" sz="1800" dirty="0" err="1">
                <a:solidFill>
                  <a:srgbClr val="000000"/>
                </a:solidFill>
                <a:effectLst/>
                <a:latin typeface="Verdana" panose="020B0604030504040204" pitchFamily="34" charset="0"/>
                <a:ea typeface="Verdana" panose="020B0604030504040204" pitchFamily="34" charset="0"/>
              </a:rPr>
              <a:t>tiến</a:t>
            </a:r>
            <a:r>
              <a:rPr lang="en-US" sz="1800" dirty="0">
                <a:solidFill>
                  <a:srgbClr val="000000"/>
                </a:solidFill>
                <a:effectLst/>
                <a:latin typeface="Verdana" panose="020B0604030504040204" pitchFamily="34" charset="0"/>
                <a:ea typeface="Verdana" panose="020B0604030504040204" pitchFamily="34" charset="0"/>
              </a:rPr>
              <a:t> </a:t>
            </a:r>
            <a:r>
              <a:rPr lang="en-US" sz="1800" dirty="0" err="1">
                <a:solidFill>
                  <a:srgbClr val="000000"/>
                </a:solidFill>
                <a:effectLst/>
                <a:latin typeface="Verdana" panose="020B0604030504040204" pitchFamily="34" charset="0"/>
                <a:ea typeface="Verdana" panose="020B0604030504040204" pitchFamily="34" charset="0"/>
              </a:rPr>
              <a:t>độ</a:t>
            </a:r>
            <a:endParaRPr lang="en-US" sz="1800" dirty="0">
              <a:solidFill>
                <a:srgbClr val="000000"/>
              </a:solidFill>
              <a:effectLst/>
              <a:latin typeface="Verdana" panose="020B0604030504040204" pitchFamily="34" charset="0"/>
              <a:ea typeface="Verdana" panose="020B0604030504040204" pitchFamily="34" charset="0"/>
            </a:endParaRPr>
          </a:p>
          <a:p>
            <a:pPr>
              <a:lnSpc>
                <a:spcPct val="200000"/>
              </a:lnSpc>
            </a:pPr>
            <a:r>
              <a:rPr lang="vi-VN" sz="1800" dirty="0">
                <a:solidFill>
                  <a:srgbClr val="000000"/>
                </a:solidFill>
                <a:effectLst/>
                <a:latin typeface="Verdana" panose="020B0604030504040204" pitchFamily="34" charset="0"/>
                <a:ea typeface="Verdana" panose="020B0604030504040204" pitchFamily="34" charset="0"/>
              </a:rPr>
              <a:t>Số tiền khoán được cập nhật và hiển thị ngay sau khi một công việc được đóng và báo cáo là hoàn thành</a:t>
            </a:r>
            <a:endParaRPr lang="en-US" sz="1800" dirty="0">
              <a:solidFill>
                <a:srgbClr val="000000"/>
              </a:solidFill>
              <a:effectLst/>
              <a:latin typeface="Verdana" panose="020B0604030504040204" pitchFamily="34" charset="0"/>
              <a:ea typeface="Verdana" panose="020B0604030504040204" pitchFamily="34" charset="0"/>
            </a:endParaRPr>
          </a:p>
          <a:p>
            <a:pPr>
              <a:lnSpc>
                <a:spcPct val="200000"/>
              </a:lnSpc>
            </a:pPr>
            <a:endParaRPr lang="en-US" sz="1800" dirty="0">
              <a:latin typeface="Verdana" panose="020B0604030504040204" pitchFamily="34" charset="0"/>
              <a:ea typeface="Verdana" panose="020B0604030504040204" pitchFamily="34" charset="0"/>
            </a:endParaRPr>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F64B7869-EF65-42AF-A033-FF0D8E8EF774}"/>
                  </a:ext>
                </a:extLst>
              </p:cNvPr>
              <p:cNvSpPr txBox="1"/>
              <p:nvPr/>
            </p:nvSpPr>
            <p:spPr>
              <a:xfrm>
                <a:off x="2631281" y="2285453"/>
                <a:ext cx="6929437" cy="76309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b="1" i="0" smtClean="0">
                          <a:latin typeface="Cambria Math" panose="02040503050406030204" pitchFamily="18" charset="0"/>
                        </a:rPr>
                        <m:t>𝐒</m:t>
                      </m:r>
                      <m:r>
                        <a:rPr lang="en-US" b="1" smtClean="0">
                          <a:latin typeface="Cambria Math" panose="02040503050406030204" pitchFamily="18" charset="0"/>
                        </a:rPr>
                        <m:t>ố</m:t>
                      </m:r>
                      <m:r>
                        <a:rPr lang="en-US" b="1" i="0">
                          <a:latin typeface="Cambria Math" panose="02040503050406030204" pitchFamily="18" charset="0"/>
                        </a:rPr>
                        <m:t> </m:t>
                      </m:r>
                      <m:r>
                        <a:rPr lang="en-US" b="1" i="1">
                          <a:latin typeface="Cambria Math" panose="02040503050406030204" pitchFamily="18" charset="0"/>
                        </a:rPr>
                        <m:t>𝒕𝒊</m:t>
                      </m:r>
                      <m:r>
                        <a:rPr lang="en-US" b="1" i="0">
                          <a:latin typeface="Cambria Math" panose="02040503050406030204" pitchFamily="18" charset="0"/>
                        </a:rPr>
                        <m:t>ề</m:t>
                      </m:r>
                      <m:r>
                        <a:rPr lang="en-US" b="1" i="1">
                          <a:latin typeface="Cambria Math" panose="02040503050406030204" pitchFamily="18" charset="0"/>
                        </a:rPr>
                        <m:t>𝒏</m:t>
                      </m:r>
                      <m:r>
                        <a:rPr lang="en-US" b="1" i="0">
                          <a:latin typeface="Cambria Math" panose="02040503050406030204" pitchFamily="18" charset="0"/>
                        </a:rPr>
                        <m:t> </m:t>
                      </m:r>
                      <m:r>
                        <a:rPr lang="en-US" b="1" i="1">
                          <a:latin typeface="Cambria Math" panose="02040503050406030204" pitchFamily="18" charset="0"/>
                        </a:rPr>
                        <m:t>𝒌𝒉𝒐</m:t>
                      </m:r>
                      <m:r>
                        <a:rPr lang="en-US" b="1" i="0">
                          <a:latin typeface="Cambria Math" panose="02040503050406030204" pitchFamily="18" charset="0"/>
                        </a:rPr>
                        <m:t>á</m:t>
                      </m:r>
                      <m:r>
                        <a:rPr lang="en-US" b="1" i="1">
                          <a:latin typeface="Cambria Math" panose="02040503050406030204" pitchFamily="18" charset="0"/>
                        </a:rPr>
                        <m:t>𝒏</m:t>
                      </m:r>
                      <m:r>
                        <a:rPr lang="en-US" b="1" i="0">
                          <a:latin typeface="Cambria Math" panose="02040503050406030204" pitchFamily="18" charset="0"/>
                        </a:rPr>
                        <m:t> </m:t>
                      </m:r>
                      <m:r>
                        <a:rPr lang="en-US" b="1" i="1">
                          <a:latin typeface="Cambria Math" panose="02040503050406030204" pitchFamily="18" charset="0"/>
                        </a:rPr>
                        <m:t>𝒄</m:t>
                      </m:r>
                      <m:r>
                        <a:rPr lang="en-US" b="1" i="0">
                          <a:latin typeface="Cambria Math" panose="02040503050406030204" pitchFamily="18" charset="0"/>
                        </a:rPr>
                        <m:t>ô</m:t>
                      </m:r>
                      <m:r>
                        <a:rPr lang="en-US" b="1" i="1">
                          <a:latin typeface="Cambria Math" panose="02040503050406030204" pitchFamily="18" charset="0"/>
                        </a:rPr>
                        <m:t>𝒏𝒈</m:t>
                      </m:r>
                      <m:r>
                        <a:rPr lang="en-US" b="1" i="0">
                          <a:latin typeface="Cambria Math" panose="02040503050406030204" pitchFamily="18" charset="0"/>
                        </a:rPr>
                        <m:t> </m:t>
                      </m:r>
                      <m:r>
                        <a:rPr lang="en-US" b="1" i="1">
                          <a:latin typeface="Cambria Math" panose="02040503050406030204" pitchFamily="18" charset="0"/>
                        </a:rPr>
                        <m:t>𝒗𝒊</m:t>
                      </m:r>
                      <m:r>
                        <a:rPr lang="en-US" b="1" i="0">
                          <a:latin typeface="Cambria Math" panose="02040503050406030204" pitchFamily="18" charset="0"/>
                        </a:rPr>
                        <m:t>ệ</m:t>
                      </m:r>
                      <m:r>
                        <a:rPr lang="en-US" b="1" i="1">
                          <a:latin typeface="Cambria Math" panose="02040503050406030204" pitchFamily="18" charset="0"/>
                        </a:rPr>
                        <m:t>𝒄</m:t>
                      </m:r>
                      <m:r>
                        <a:rPr lang="en-US" b="1" i="0">
                          <a:latin typeface="Cambria Math" panose="02040503050406030204" pitchFamily="18" charset="0"/>
                        </a:rPr>
                        <m:t>= </m:t>
                      </m:r>
                      <m:nary>
                        <m:naryPr>
                          <m:chr m:val="∑"/>
                          <m:subHide m:val="on"/>
                          <m:supHide m:val="on"/>
                          <m:ctrlPr>
                            <a:rPr lang="en-US" b="1" i="1">
                              <a:latin typeface="Cambria Math" panose="02040503050406030204" pitchFamily="18" charset="0"/>
                            </a:rPr>
                          </m:ctrlPr>
                        </m:naryPr>
                        <m:sub/>
                        <m:sup/>
                        <m:e>
                          <m:r>
                            <a:rPr lang="en-US" b="1" i="1">
                              <a:latin typeface="Cambria Math" panose="02040503050406030204" pitchFamily="18" charset="0"/>
                            </a:rPr>
                            <m:t>𝑺</m:t>
                          </m:r>
                          <m:r>
                            <a:rPr lang="en-US" b="1" i="0">
                              <a:latin typeface="Cambria Math" panose="02040503050406030204" pitchFamily="18" charset="0"/>
                            </a:rPr>
                            <m:t>ố </m:t>
                          </m:r>
                          <m:r>
                            <a:rPr lang="en-US" b="1" i="1">
                              <a:latin typeface="Cambria Math" panose="02040503050406030204" pitchFamily="18" charset="0"/>
                            </a:rPr>
                            <m:t>𝒕𝒊</m:t>
                          </m:r>
                          <m:r>
                            <a:rPr lang="en-US" b="1" i="0">
                              <a:latin typeface="Cambria Math" panose="02040503050406030204" pitchFamily="18" charset="0"/>
                            </a:rPr>
                            <m:t>ề</m:t>
                          </m:r>
                          <m:r>
                            <a:rPr lang="en-US" b="1" i="1">
                              <a:latin typeface="Cambria Math" panose="02040503050406030204" pitchFamily="18" charset="0"/>
                            </a:rPr>
                            <m:t>𝒏</m:t>
                          </m:r>
                          <m:r>
                            <a:rPr lang="en-US" b="1" i="0">
                              <a:latin typeface="Cambria Math" panose="02040503050406030204" pitchFamily="18" charset="0"/>
                            </a:rPr>
                            <m:t> </m:t>
                          </m:r>
                          <m:r>
                            <a:rPr lang="en-US" b="1" i="1">
                              <a:latin typeface="Cambria Math" panose="02040503050406030204" pitchFamily="18" charset="0"/>
                            </a:rPr>
                            <m:t>𝒌𝒉𝒐</m:t>
                          </m:r>
                          <m:r>
                            <a:rPr lang="en-US" b="1" i="0">
                              <a:latin typeface="Cambria Math" panose="02040503050406030204" pitchFamily="18" charset="0"/>
                            </a:rPr>
                            <m:t>á</m:t>
                          </m:r>
                          <m:r>
                            <a:rPr lang="en-US" b="1" i="1">
                              <a:latin typeface="Cambria Math" panose="02040503050406030204" pitchFamily="18" charset="0"/>
                            </a:rPr>
                            <m:t>𝒏</m:t>
                          </m:r>
                          <m:r>
                            <a:rPr lang="en-US" b="1" i="0">
                              <a:latin typeface="Cambria Math" panose="02040503050406030204" pitchFamily="18" charset="0"/>
                            </a:rPr>
                            <m:t> </m:t>
                          </m:r>
                          <m:r>
                            <a:rPr lang="en-US" b="1" i="1">
                              <a:latin typeface="Cambria Math" panose="02040503050406030204" pitchFamily="18" charset="0"/>
                            </a:rPr>
                            <m:t>𝒎</m:t>
                          </m:r>
                          <m:r>
                            <a:rPr lang="en-US" b="1" i="0">
                              <a:latin typeface="Cambria Math" panose="02040503050406030204" pitchFamily="18" charset="0"/>
                            </a:rPr>
                            <m:t>ỗ</m:t>
                          </m:r>
                          <m:r>
                            <a:rPr lang="en-US" b="1" i="1">
                              <a:latin typeface="Cambria Math" panose="02040503050406030204" pitchFamily="18" charset="0"/>
                            </a:rPr>
                            <m:t>𝒊</m:t>
                          </m:r>
                          <m:r>
                            <a:rPr lang="en-US" b="1" i="0">
                              <a:latin typeface="Cambria Math" panose="02040503050406030204" pitchFamily="18" charset="0"/>
                            </a:rPr>
                            <m:t> </m:t>
                          </m:r>
                          <m:r>
                            <a:rPr lang="en-US" b="1" i="1">
                              <a:latin typeface="Cambria Math" panose="02040503050406030204" pitchFamily="18" charset="0"/>
                            </a:rPr>
                            <m:t>𝒄</m:t>
                          </m:r>
                          <m:r>
                            <a:rPr lang="en-US" b="1" i="0">
                              <a:latin typeface="Cambria Math" panose="02040503050406030204" pitchFamily="18" charset="0"/>
                            </a:rPr>
                            <m:t>ô</m:t>
                          </m:r>
                          <m:r>
                            <a:rPr lang="en-US" b="1" i="1">
                              <a:latin typeface="Cambria Math" panose="02040503050406030204" pitchFamily="18" charset="0"/>
                            </a:rPr>
                            <m:t>𝒏𝒈</m:t>
                          </m:r>
                          <m:r>
                            <a:rPr lang="en-US" b="1" i="0">
                              <a:latin typeface="Cambria Math" panose="02040503050406030204" pitchFamily="18" charset="0"/>
                            </a:rPr>
                            <m:t> </m:t>
                          </m:r>
                          <m:r>
                            <a:rPr lang="en-US" b="1" i="1">
                              <a:latin typeface="Cambria Math" panose="02040503050406030204" pitchFamily="18" charset="0"/>
                            </a:rPr>
                            <m:t>𝒗𝒊</m:t>
                          </m:r>
                          <m:r>
                            <a:rPr lang="en-US" b="1" i="0">
                              <a:latin typeface="Cambria Math" panose="02040503050406030204" pitchFamily="18" charset="0"/>
                            </a:rPr>
                            <m:t>ệ</m:t>
                          </m:r>
                          <m:r>
                            <a:rPr lang="en-US" b="1" i="1">
                              <a:latin typeface="Cambria Math" panose="02040503050406030204" pitchFamily="18" charset="0"/>
                            </a:rPr>
                            <m:t>𝒄</m:t>
                          </m:r>
                          <m:r>
                            <a:rPr lang="en-US" b="1" i="0">
                              <a:latin typeface="Cambria Math" panose="02040503050406030204" pitchFamily="18" charset="0"/>
                            </a:rPr>
                            <m:t> </m:t>
                          </m:r>
                        </m:e>
                      </m:nary>
                    </m:oMath>
                  </m:oMathPara>
                </a14:m>
                <a:endParaRPr lang="en-US" b="1" dirty="0"/>
              </a:p>
            </p:txBody>
          </p:sp>
        </mc:Choice>
        <mc:Fallback xmlns="">
          <p:sp>
            <p:nvSpPr>
              <p:cNvPr id="5" name="TextBox 4">
                <a:extLst>
                  <a:ext uri="{FF2B5EF4-FFF2-40B4-BE49-F238E27FC236}">
                    <a16:creationId xmlns:a16="http://schemas.microsoft.com/office/drawing/2014/main" id="{F64B7869-EF65-42AF-A033-FF0D8E8EF774}"/>
                  </a:ext>
                </a:extLst>
              </p:cNvPr>
              <p:cNvSpPr txBox="1">
                <a:spLocks noRot="1" noChangeAspect="1" noMove="1" noResize="1" noEditPoints="1" noAdjustHandles="1" noChangeArrowheads="1" noChangeShapeType="1" noTextEdit="1"/>
              </p:cNvSpPr>
              <p:nvPr/>
            </p:nvSpPr>
            <p:spPr>
              <a:xfrm>
                <a:off x="2631281" y="2285453"/>
                <a:ext cx="6929437" cy="763094"/>
              </a:xfrm>
              <a:prstGeom prst="rect">
                <a:avLst/>
              </a:prstGeom>
              <a:blipFill>
                <a:blip r:embed="rId2"/>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95054651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 name="Rectangle 47"/>
          <p:cNvSpPr/>
          <p:nvPr/>
        </p:nvSpPr>
        <p:spPr>
          <a:xfrm>
            <a:off x="1333896" y="327184"/>
            <a:ext cx="9823541" cy="492443"/>
          </a:xfrm>
          <a:prstGeom prst="rect">
            <a:avLst/>
          </a:prstGeom>
        </p:spPr>
        <p:txBody>
          <a:bodyPr wrap="square">
            <a:spAutoFit/>
          </a:bodyPr>
          <a:lstStyle/>
          <a:p>
            <a:r>
              <a:rPr lang="vi-VN" sz="2600" b="1" dirty="0">
                <a:solidFill>
                  <a:schemeClr val="bg1"/>
                </a:solidFill>
                <a:latin typeface="Verdana" panose="020B0604030504040204" pitchFamily="34" charset="0"/>
                <a:ea typeface="Verdana" panose="020B0604030504040204" pitchFamily="34" charset="0"/>
              </a:rPr>
              <a:t>3. Cơ sở và xây dựng hệ thống</a:t>
            </a:r>
            <a:endParaRPr lang="en-US" sz="2600" b="1" dirty="0">
              <a:solidFill>
                <a:schemeClr val="bg1"/>
              </a:solidFill>
              <a:latin typeface="Verdana" panose="020B0604030504040204" pitchFamily="34" charset="0"/>
              <a:ea typeface="Verdana" panose="020B0604030504040204" pitchFamily="34" charset="0"/>
            </a:endParaRPr>
          </a:p>
        </p:txBody>
      </p:sp>
      <p:sp>
        <p:nvSpPr>
          <p:cNvPr id="3" name="Title 1">
            <a:extLst>
              <a:ext uri="{FF2B5EF4-FFF2-40B4-BE49-F238E27FC236}">
                <a16:creationId xmlns:a16="http://schemas.microsoft.com/office/drawing/2014/main" id="{4EA4B999-0292-4585-9244-F440F390AA65}"/>
              </a:ext>
            </a:extLst>
          </p:cNvPr>
          <p:cNvSpPr txBox="1">
            <a:spLocks/>
          </p:cNvSpPr>
          <p:nvPr/>
        </p:nvSpPr>
        <p:spPr>
          <a:xfrm>
            <a:off x="1094509" y="969818"/>
            <a:ext cx="10307782" cy="5715795"/>
          </a:xfrm>
          <a:prstGeom prst="rect">
            <a:avLst/>
          </a:prstGeom>
        </p:spPr>
        <p:txBody>
          <a:bodyPr vert="horz" lIns="91440" tIns="45720" rIns="91440" bIns="45720" rtlCol="0" anchor="t">
            <a:normAutofit fontScale="97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nSpc>
                <a:spcPct val="200000"/>
              </a:lnSpc>
            </a:pPr>
            <a:r>
              <a:rPr lang="en-US" sz="1800" b="1" dirty="0" err="1">
                <a:latin typeface="Verdana" panose="020B0604030504040204" pitchFamily="34" charset="0"/>
                <a:ea typeface="Verdana" panose="020B0604030504040204" pitchFamily="34" charset="0"/>
              </a:rPr>
              <a:t>Tính</a:t>
            </a:r>
            <a:r>
              <a:rPr lang="en-US" sz="1800" b="1" dirty="0">
                <a:latin typeface="Verdana" panose="020B0604030504040204" pitchFamily="34" charset="0"/>
                <a:ea typeface="Verdana" panose="020B0604030504040204" pitchFamily="34" charset="0"/>
              </a:rPr>
              <a:t> </a:t>
            </a:r>
            <a:r>
              <a:rPr lang="en-US" sz="1800" b="1" dirty="0" err="1">
                <a:latin typeface="Verdana" panose="020B0604030504040204" pitchFamily="34" charset="0"/>
                <a:ea typeface="Verdana" panose="020B0604030504040204" pitchFamily="34" charset="0"/>
              </a:rPr>
              <a:t>khoán</a:t>
            </a:r>
            <a:r>
              <a:rPr lang="en-US" sz="1800" b="1" dirty="0">
                <a:latin typeface="Verdana" panose="020B0604030504040204" pitchFamily="34" charset="0"/>
                <a:ea typeface="Verdana" panose="020B0604030504040204" pitchFamily="34" charset="0"/>
              </a:rPr>
              <a:t> Theo </a:t>
            </a:r>
            <a:r>
              <a:rPr lang="en-US" sz="1800" b="1" dirty="0" err="1">
                <a:latin typeface="Verdana" panose="020B0604030504040204" pitchFamily="34" charset="0"/>
                <a:ea typeface="Verdana" panose="020B0604030504040204" pitchFamily="34" charset="0"/>
              </a:rPr>
              <a:t>giai</a:t>
            </a:r>
            <a:r>
              <a:rPr lang="en-US" sz="1800" b="1" dirty="0">
                <a:latin typeface="Verdana" panose="020B0604030504040204" pitchFamily="34" charset="0"/>
                <a:ea typeface="Verdana" panose="020B0604030504040204" pitchFamily="34" charset="0"/>
              </a:rPr>
              <a:t> </a:t>
            </a:r>
            <a:r>
              <a:rPr lang="en-US" sz="1800" b="1" dirty="0" err="1">
                <a:latin typeface="Verdana" panose="020B0604030504040204" pitchFamily="34" charset="0"/>
                <a:ea typeface="Verdana" panose="020B0604030504040204" pitchFamily="34" charset="0"/>
              </a:rPr>
              <a:t>đoạn</a:t>
            </a:r>
            <a:endParaRPr lang="en-US" sz="1800" b="1" dirty="0">
              <a:latin typeface="Verdana" panose="020B0604030504040204" pitchFamily="34" charset="0"/>
              <a:ea typeface="Verdana" panose="020B0604030504040204" pitchFamily="34" charset="0"/>
            </a:endParaRPr>
          </a:p>
          <a:p>
            <a:pPr>
              <a:lnSpc>
                <a:spcPct val="200000"/>
              </a:lnSpc>
            </a:pPr>
            <a:endParaRPr lang="en-US" sz="1800" dirty="0">
              <a:solidFill>
                <a:srgbClr val="000000"/>
              </a:solidFill>
              <a:effectLst/>
              <a:latin typeface="Times New Roman" panose="02020603050405020304" pitchFamily="18" charset="0"/>
              <a:ea typeface="Calibri" panose="020F0502020204030204" pitchFamily="34" charset="0"/>
            </a:endParaRPr>
          </a:p>
          <a:p>
            <a:pPr algn="ctr">
              <a:lnSpc>
                <a:spcPct val="200000"/>
              </a:lnSpc>
            </a:pPr>
            <a:r>
              <a:rPr lang="en-US" sz="2000" dirty="0">
                <a:solidFill>
                  <a:srgbClr val="000000"/>
                </a:solidFill>
                <a:latin typeface="Verdana" panose="020B0604030504040204" pitchFamily="34" charset="0"/>
                <a:ea typeface="Verdana" panose="020B0604030504040204" pitchFamily="34" charset="0"/>
              </a:rPr>
              <a:t>𝑻𝒊ề𝒏 𝒌𝒉𝒐á𝒏 𝑴𝒊𝒍𝒆𝒔𝒕𝒐𝒏𝒆𝒔 𝒄á 𝒏𝒉â𝒏 =𝑻𝒊ề𝒏 𝒌𝒉𝒐á𝒏 𝑴𝒊𝒍𝒆𝒔𝒕𝒐𝒏𝒆 ∗𝑯 𝒕𝒉𝒂𝒎 𝒈𝒊𝒂 </a:t>
            </a:r>
          </a:p>
          <a:p>
            <a:pPr algn="ctr">
              <a:lnSpc>
                <a:spcPct val="200000"/>
              </a:lnSpc>
            </a:pPr>
            <a:r>
              <a:rPr lang="en-US" sz="2000" dirty="0">
                <a:solidFill>
                  <a:srgbClr val="000000"/>
                </a:solidFill>
                <a:latin typeface="Verdana" panose="020B0604030504040204" pitchFamily="34" charset="0"/>
                <a:ea typeface="Verdana" panose="020B0604030504040204" pitchFamily="34" charset="0"/>
              </a:rPr>
              <a:t>∗𝑯 𝒄ô𝒏𝒈 𝒗𝒊ệ𝒄∗𝑯 𝒉𝒐à𝒏 𝒕𝒉à𝒏𝒉∗ 𝑯𝒄ấ𝒑 𝒃ậ𝒄</a:t>
            </a:r>
            <a:endParaRPr lang="en-US" sz="1800" dirty="0">
              <a:solidFill>
                <a:srgbClr val="000000"/>
              </a:solidFill>
              <a:latin typeface="Times New Roman" panose="02020603050405020304" pitchFamily="18" charset="0"/>
              <a:ea typeface="Calibri" panose="020F0502020204030204" pitchFamily="34" charset="0"/>
            </a:endParaRPr>
          </a:p>
          <a:p>
            <a:pPr>
              <a:lnSpc>
                <a:spcPct val="200000"/>
              </a:lnSpc>
            </a:pPr>
            <a:endParaRPr lang="en-US" sz="1800" dirty="0">
              <a:solidFill>
                <a:srgbClr val="000000"/>
              </a:solidFill>
              <a:effectLst/>
              <a:latin typeface="Verdana" panose="020B0604030504040204" pitchFamily="34" charset="0"/>
              <a:ea typeface="Verdana" panose="020B0604030504040204" pitchFamily="34" charset="0"/>
            </a:endParaRPr>
          </a:p>
          <a:p>
            <a:pPr>
              <a:lnSpc>
                <a:spcPct val="200000"/>
              </a:lnSpc>
            </a:pPr>
            <a:r>
              <a:rPr lang="vi-VN" sz="1800" dirty="0">
                <a:latin typeface="Verdana" panose="020B0604030504040204" pitchFamily="34" charset="0"/>
                <a:ea typeface="Verdana" panose="020B0604030504040204" pitchFamily="34" charset="0"/>
              </a:rPr>
              <a:t>Trong đó: </a:t>
            </a:r>
          </a:p>
          <a:p>
            <a:pPr>
              <a:lnSpc>
                <a:spcPct val="200000"/>
              </a:lnSpc>
            </a:pPr>
            <a:r>
              <a:rPr lang="vi-VN" sz="1800" dirty="0">
                <a:latin typeface="Verdana" panose="020B0604030504040204" pitchFamily="34" charset="0"/>
                <a:ea typeface="Verdana" panose="020B0604030504040204" pitchFamily="34" charset="0"/>
              </a:rPr>
              <a:t>Hệ số tham gia: là số thời gian cá nhân làm được trong Milestone (max = 1)</a:t>
            </a:r>
          </a:p>
          <a:p>
            <a:pPr>
              <a:lnSpc>
                <a:spcPct val="200000"/>
              </a:lnSpc>
            </a:pPr>
            <a:r>
              <a:rPr lang="vi-VN" sz="1800" dirty="0">
                <a:latin typeface="Verdana" panose="020B0604030504040204" pitchFamily="34" charset="0"/>
                <a:ea typeface="Verdana" panose="020B0604030504040204" pitchFamily="34" charset="0"/>
              </a:rPr>
              <a:t>Hệ số công việc = Số công việc được nhận / tổng số công việc trong milestone</a:t>
            </a:r>
          </a:p>
          <a:p>
            <a:pPr>
              <a:lnSpc>
                <a:spcPct val="200000"/>
              </a:lnSpc>
            </a:pPr>
            <a:r>
              <a:rPr lang="vi-VN" sz="1800" dirty="0">
                <a:latin typeface="Verdana" panose="020B0604030504040204" pitchFamily="34" charset="0"/>
                <a:ea typeface="Verdana" panose="020B0604030504040204" pitchFamily="34" charset="0"/>
              </a:rPr>
              <a:t>Hệ số hoàn thành = số công việc được đóng đúng hạn /  tổng số công việc được nhận</a:t>
            </a:r>
          </a:p>
          <a:p>
            <a:pPr>
              <a:lnSpc>
                <a:spcPct val="200000"/>
              </a:lnSpc>
            </a:pPr>
            <a:endParaRPr lang="en-US" sz="1800" dirty="0">
              <a:latin typeface="Verdana" panose="020B0604030504040204" pitchFamily="34" charset="0"/>
              <a:ea typeface="Verdana" panose="020B0604030504040204" pitchFamily="34" charset="0"/>
            </a:endParaRPr>
          </a:p>
        </p:txBody>
      </p:sp>
    </p:spTree>
    <p:extLst>
      <p:ext uri="{BB962C8B-B14F-4D97-AF65-F5344CB8AC3E}">
        <p14:creationId xmlns:p14="http://schemas.microsoft.com/office/powerpoint/2010/main" val="40977567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5" name="Straight Connector 4"/>
          <p:cNvCxnSpPr>
            <a:cxnSpLocks/>
            <a:stCxn id="10" idx="0"/>
          </p:cNvCxnSpPr>
          <p:nvPr/>
        </p:nvCxnSpPr>
        <p:spPr>
          <a:xfrm>
            <a:off x="6345197" y="2226935"/>
            <a:ext cx="0" cy="1834341"/>
          </a:xfrm>
          <a:prstGeom prst="line">
            <a:avLst/>
          </a:prstGeom>
          <a:ln w="31750" cap="rnd">
            <a:solidFill>
              <a:schemeClr val="tx1">
                <a:lumMod val="40000"/>
                <a:lumOff val="60000"/>
              </a:schemeClr>
            </a:solidFill>
            <a:prstDash val="sysDash"/>
            <a:round/>
            <a:headEnd type="none" w="lg" len="lg"/>
            <a:tailEnd type="none"/>
          </a:ln>
        </p:spPr>
        <p:style>
          <a:lnRef idx="1">
            <a:schemeClr val="accent1"/>
          </a:lnRef>
          <a:fillRef idx="0">
            <a:schemeClr val="accent1"/>
          </a:fillRef>
          <a:effectRef idx="0">
            <a:schemeClr val="accent1"/>
          </a:effectRef>
          <a:fontRef idx="minor">
            <a:schemeClr val="tx1"/>
          </a:fontRef>
        </p:style>
      </p:cxnSp>
      <p:cxnSp>
        <p:nvCxnSpPr>
          <p:cNvPr id="6" name="Straight Connector 5"/>
          <p:cNvCxnSpPr/>
          <p:nvPr/>
        </p:nvCxnSpPr>
        <p:spPr>
          <a:xfrm>
            <a:off x="6345197" y="4110752"/>
            <a:ext cx="0" cy="2160000"/>
          </a:xfrm>
          <a:prstGeom prst="line">
            <a:avLst/>
          </a:prstGeom>
          <a:ln w="31750" cap="rnd">
            <a:solidFill>
              <a:schemeClr val="tx1">
                <a:lumMod val="40000"/>
                <a:lumOff val="60000"/>
              </a:schemeClr>
            </a:solidFill>
            <a:prstDash val="sysDash"/>
            <a:round/>
            <a:headEnd type="none" w="lg" len="lg"/>
            <a:tailEnd type="none"/>
          </a:ln>
        </p:spPr>
        <p:style>
          <a:lnRef idx="1">
            <a:schemeClr val="accent1"/>
          </a:lnRef>
          <a:fillRef idx="0">
            <a:schemeClr val="accent1"/>
          </a:fillRef>
          <a:effectRef idx="0">
            <a:schemeClr val="accent1"/>
          </a:effectRef>
          <a:fontRef idx="minor">
            <a:schemeClr val="tx1"/>
          </a:fontRef>
        </p:style>
      </p:cxnSp>
      <p:cxnSp>
        <p:nvCxnSpPr>
          <p:cNvPr id="7" name="Straight Connector 6"/>
          <p:cNvCxnSpPr>
            <a:cxnSpLocks/>
          </p:cNvCxnSpPr>
          <p:nvPr/>
        </p:nvCxnSpPr>
        <p:spPr>
          <a:xfrm>
            <a:off x="6343629" y="3462438"/>
            <a:ext cx="763753" cy="0"/>
          </a:xfrm>
          <a:prstGeom prst="line">
            <a:avLst/>
          </a:prstGeom>
          <a:ln w="31750" cap="rnd">
            <a:solidFill>
              <a:schemeClr val="tx1">
                <a:lumMod val="40000"/>
                <a:lumOff val="60000"/>
              </a:schemeClr>
            </a:solidFill>
            <a:prstDash val="sysDash"/>
            <a:round/>
            <a:headEnd type="none" w="lg" len="lg"/>
            <a:tailEnd type="none"/>
          </a:ln>
        </p:spPr>
        <p:style>
          <a:lnRef idx="1">
            <a:schemeClr val="accent1"/>
          </a:lnRef>
          <a:fillRef idx="0">
            <a:schemeClr val="accent1"/>
          </a:fillRef>
          <a:effectRef idx="0">
            <a:schemeClr val="accent1"/>
          </a:effectRef>
          <a:fontRef idx="minor">
            <a:schemeClr val="tx1"/>
          </a:fontRef>
        </p:style>
      </p:cxnSp>
      <p:sp>
        <p:nvSpPr>
          <p:cNvPr id="8" name="Oval 7"/>
          <p:cNvSpPr/>
          <p:nvPr/>
        </p:nvSpPr>
        <p:spPr>
          <a:xfrm rot="10800000">
            <a:off x="6245666" y="3349912"/>
            <a:ext cx="184477" cy="184477"/>
          </a:xfrm>
          <a:prstGeom prst="ellipse">
            <a:avLst/>
          </a:prstGeom>
          <a:solidFill>
            <a:schemeClr val="accent2"/>
          </a:solidFill>
          <a:ln w="31750">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cxnSp>
        <p:nvCxnSpPr>
          <p:cNvPr id="9" name="Straight Connector 8"/>
          <p:cNvCxnSpPr/>
          <p:nvPr/>
        </p:nvCxnSpPr>
        <p:spPr>
          <a:xfrm flipH="1">
            <a:off x="4897904" y="2339801"/>
            <a:ext cx="1440000" cy="0"/>
          </a:xfrm>
          <a:prstGeom prst="line">
            <a:avLst/>
          </a:prstGeom>
          <a:ln w="31750" cap="rnd">
            <a:solidFill>
              <a:schemeClr val="tx1">
                <a:lumMod val="40000"/>
                <a:lumOff val="60000"/>
              </a:schemeClr>
            </a:solidFill>
            <a:prstDash val="sysDash"/>
            <a:round/>
            <a:headEnd type="none" w="lg" len="lg"/>
            <a:tailEnd type="none"/>
          </a:ln>
        </p:spPr>
        <p:style>
          <a:lnRef idx="1">
            <a:schemeClr val="accent1"/>
          </a:lnRef>
          <a:fillRef idx="0">
            <a:schemeClr val="accent1"/>
          </a:fillRef>
          <a:effectRef idx="0">
            <a:schemeClr val="accent1"/>
          </a:effectRef>
          <a:fontRef idx="minor">
            <a:schemeClr val="tx1"/>
          </a:fontRef>
        </p:style>
      </p:cxnSp>
      <p:sp>
        <p:nvSpPr>
          <p:cNvPr id="10" name="Oval 9"/>
          <p:cNvSpPr/>
          <p:nvPr/>
        </p:nvSpPr>
        <p:spPr>
          <a:xfrm>
            <a:off x="6252958" y="2226935"/>
            <a:ext cx="184477" cy="184477"/>
          </a:xfrm>
          <a:prstGeom prst="ellipse">
            <a:avLst/>
          </a:prstGeom>
          <a:solidFill>
            <a:schemeClr val="accent1"/>
          </a:solidFill>
          <a:ln w="3175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grpSp>
        <p:nvGrpSpPr>
          <p:cNvPr id="13" name="Group 12"/>
          <p:cNvGrpSpPr/>
          <p:nvPr/>
        </p:nvGrpSpPr>
        <p:grpSpPr>
          <a:xfrm>
            <a:off x="74854" y="1758818"/>
            <a:ext cx="5200077" cy="1023347"/>
            <a:chOff x="2528333" y="3413409"/>
            <a:chExt cx="5200077" cy="1023347"/>
          </a:xfrm>
        </p:grpSpPr>
        <p:sp>
          <p:nvSpPr>
            <p:cNvPr id="19" name="Rectangle 18"/>
            <p:cNvSpPr/>
            <p:nvPr/>
          </p:nvSpPr>
          <p:spPr>
            <a:xfrm>
              <a:off x="2528333" y="3732782"/>
              <a:ext cx="4024827" cy="523220"/>
            </a:xfrm>
            <a:prstGeom prst="rect">
              <a:avLst/>
            </a:prstGeom>
          </p:spPr>
          <p:txBody>
            <a:bodyPr wrap="square">
              <a:spAutoFit/>
            </a:bodyPr>
            <a:lstStyle/>
            <a:p>
              <a:pPr algn="r"/>
              <a:r>
                <a:rPr lang="en-GB" sz="1400" b="1" dirty="0" err="1">
                  <a:latin typeface="Arial" panose="020B0604020202020204" pitchFamily="34" charset="0"/>
                  <a:cs typeface="Arial" panose="020B0604020202020204" pitchFamily="34" charset="0"/>
                </a:rPr>
                <a:t>Hàng</a:t>
              </a:r>
              <a:r>
                <a:rPr lang="en-GB" sz="1400" b="1" dirty="0">
                  <a:latin typeface="Arial" panose="020B0604020202020204" pitchFamily="34" charset="0"/>
                  <a:cs typeface="Arial" panose="020B0604020202020204" pitchFamily="34" charset="0"/>
                </a:rPr>
                <a:t> </a:t>
              </a:r>
              <a:r>
                <a:rPr lang="en-GB" sz="1400" b="1" dirty="0" err="1">
                  <a:latin typeface="Arial" panose="020B0604020202020204" pitchFamily="34" charset="0"/>
                  <a:cs typeface="Arial" panose="020B0604020202020204" pitchFamily="34" charset="0"/>
                </a:rPr>
                <a:t>tháng</a:t>
              </a:r>
              <a:r>
                <a:rPr lang="en-GB" sz="1400" b="1" dirty="0">
                  <a:latin typeface="Arial" panose="020B0604020202020204" pitchFamily="34" charset="0"/>
                  <a:cs typeface="Arial" panose="020B0604020202020204" pitchFamily="34" charset="0"/>
                </a:rPr>
                <a:t> CBNV </a:t>
              </a:r>
              <a:r>
                <a:rPr lang="vi-VN" sz="1400" b="1" dirty="0">
                  <a:latin typeface="Arial" panose="020B0604020202020204" pitchFamily="34" charset="0"/>
                  <a:cs typeface="Arial" panose="020B0604020202020204" pitchFamily="34" charset="0"/>
                </a:rPr>
                <a:t>thuộc đối tượng tạm ứng </a:t>
              </a:r>
              <a:r>
                <a:rPr lang="en-GB" sz="1400" b="1" dirty="0" err="1">
                  <a:latin typeface="Arial" panose="020B0604020202020204" pitchFamily="34" charset="0"/>
                  <a:cs typeface="Arial" panose="020B0604020202020204" pitchFamily="34" charset="0"/>
                </a:rPr>
                <a:t>sẽ</a:t>
              </a:r>
              <a:r>
                <a:rPr lang="en-GB" sz="1400" b="1" dirty="0">
                  <a:latin typeface="Arial" panose="020B0604020202020204" pitchFamily="34" charset="0"/>
                  <a:cs typeface="Arial" panose="020B0604020202020204" pitchFamily="34" charset="0"/>
                </a:rPr>
                <a:t> </a:t>
              </a:r>
              <a:r>
                <a:rPr lang="en-GB" sz="1400" b="1" dirty="0" err="1">
                  <a:latin typeface="Arial" panose="020B0604020202020204" pitchFamily="34" charset="0"/>
                  <a:cs typeface="Arial" panose="020B0604020202020204" pitchFamily="34" charset="0"/>
                </a:rPr>
                <a:t>nhận</a:t>
              </a:r>
              <a:r>
                <a:rPr lang="en-GB" sz="1400" b="1" dirty="0">
                  <a:latin typeface="Arial" panose="020B0604020202020204" pitchFamily="34" charset="0"/>
                  <a:cs typeface="Arial" panose="020B0604020202020204" pitchFamily="34" charset="0"/>
                </a:rPr>
                <a:t> </a:t>
              </a:r>
              <a:r>
                <a:rPr lang="en-GB" sz="1400" b="1" dirty="0" err="1">
                  <a:latin typeface="Arial" panose="020B0604020202020204" pitchFamily="34" charset="0"/>
                  <a:cs typeface="Arial" panose="020B0604020202020204" pitchFamily="34" charset="0"/>
                </a:rPr>
                <a:t>được</a:t>
              </a:r>
              <a:r>
                <a:rPr lang="en-GB" sz="1400" b="1" dirty="0">
                  <a:latin typeface="Arial" panose="020B0604020202020204" pitchFamily="34" charset="0"/>
                  <a:cs typeface="Arial" panose="020B0604020202020204" pitchFamily="34" charset="0"/>
                </a:rPr>
                <a:t> </a:t>
              </a:r>
              <a:r>
                <a:rPr lang="en-GB" sz="1400" b="1" dirty="0" err="1">
                  <a:latin typeface="Arial" panose="020B0604020202020204" pitchFamily="34" charset="0"/>
                  <a:cs typeface="Arial" panose="020B0604020202020204" pitchFamily="34" charset="0"/>
                </a:rPr>
                <a:t>thu</a:t>
              </a:r>
              <a:r>
                <a:rPr lang="en-GB" sz="1400" b="1" dirty="0">
                  <a:latin typeface="Arial" panose="020B0604020202020204" pitchFamily="34" charset="0"/>
                  <a:cs typeface="Arial" panose="020B0604020202020204" pitchFamily="34" charset="0"/>
                </a:rPr>
                <a:t> </a:t>
              </a:r>
              <a:r>
                <a:rPr lang="en-GB" sz="1400" b="1" dirty="0" err="1">
                  <a:latin typeface="Arial" panose="020B0604020202020204" pitchFamily="34" charset="0"/>
                  <a:cs typeface="Arial" panose="020B0604020202020204" pitchFamily="34" charset="0"/>
                </a:rPr>
                <a:t>nhập</a:t>
              </a:r>
              <a:r>
                <a:rPr lang="en-GB" sz="1400" b="1" dirty="0">
                  <a:latin typeface="Arial" panose="020B0604020202020204" pitchFamily="34" charset="0"/>
                  <a:cs typeface="Arial" panose="020B0604020202020204" pitchFamily="34" charset="0"/>
                </a:rPr>
                <a:t> </a:t>
              </a:r>
              <a:r>
                <a:rPr lang="en-GB" sz="1400" b="1" dirty="0" err="1">
                  <a:latin typeface="Arial" panose="020B0604020202020204" pitchFamily="34" charset="0"/>
                  <a:cs typeface="Arial" panose="020B0604020202020204" pitchFamily="34" charset="0"/>
                </a:rPr>
                <a:t>tháng</a:t>
              </a:r>
              <a:r>
                <a:rPr lang="en-GB" sz="1400" b="1" dirty="0">
                  <a:latin typeface="Arial" panose="020B0604020202020204" pitchFamily="34" charset="0"/>
                  <a:cs typeface="Arial" panose="020B0604020202020204" pitchFamily="34" charset="0"/>
                </a:rPr>
                <a:t> </a:t>
              </a:r>
              <a:r>
                <a:rPr lang="en-GB" sz="1400" b="1" dirty="0" err="1">
                  <a:latin typeface="Arial" panose="020B0604020202020204" pitchFamily="34" charset="0"/>
                  <a:cs typeface="Arial" panose="020B0604020202020204" pitchFamily="34" charset="0"/>
                </a:rPr>
                <a:t>kỳ</a:t>
              </a:r>
              <a:r>
                <a:rPr lang="en-GB" sz="1400" b="1" dirty="0">
                  <a:latin typeface="Arial" panose="020B0604020202020204" pitchFamily="34" charset="0"/>
                  <a:cs typeface="Arial" panose="020B0604020202020204" pitchFamily="34" charset="0"/>
                </a:rPr>
                <a:t> </a:t>
              </a:r>
              <a:r>
                <a:rPr lang="en-GB" sz="1400" b="1" dirty="0" err="1">
                  <a:latin typeface="Arial" panose="020B0604020202020204" pitchFamily="34" charset="0"/>
                  <a:cs typeface="Arial" panose="020B0604020202020204" pitchFamily="34" charset="0"/>
                </a:rPr>
                <a:t>vọng</a:t>
              </a:r>
              <a:endParaRPr lang="en-GB" sz="1400" b="1" dirty="0">
                <a:latin typeface="Arial" panose="020B0604020202020204" pitchFamily="34" charset="0"/>
                <a:cs typeface="Arial" panose="020B0604020202020204" pitchFamily="34" charset="0"/>
              </a:endParaRPr>
            </a:p>
          </p:txBody>
        </p:sp>
        <p:grpSp>
          <p:nvGrpSpPr>
            <p:cNvPr id="15" name="Group 14"/>
            <p:cNvGrpSpPr/>
            <p:nvPr/>
          </p:nvGrpSpPr>
          <p:grpSpPr>
            <a:xfrm>
              <a:off x="6565627" y="3413409"/>
              <a:ext cx="1162783" cy="1023347"/>
              <a:chOff x="6565627" y="3413409"/>
              <a:chExt cx="1162783" cy="1023347"/>
            </a:xfrm>
          </p:grpSpPr>
          <p:sp>
            <p:nvSpPr>
              <p:cNvPr id="16" name="Rounded Rectangle 15"/>
              <p:cNvSpPr/>
              <p:nvPr/>
            </p:nvSpPr>
            <p:spPr>
              <a:xfrm>
                <a:off x="6565627" y="3413409"/>
                <a:ext cx="1162783" cy="1023347"/>
              </a:xfrm>
              <a:prstGeom prst="roundRect">
                <a:avLst>
                  <a:gd name="adj" fmla="val 4936"/>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600" b="1">
                    <a:latin typeface="Arial" panose="020B0604020202020204" pitchFamily="34" charset="0"/>
                    <a:ea typeface="Open Sans" panose="020B0606030504020204" pitchFamily="34" charset="0"/>
                    <a:cs typeface="Arial" panose="020B0604020202020204" pitchFamily="34" charset="0"/>
                  </a:rPr>
                  <a:t>Hàng tháng</a:t>
                </a:r>
                <a:endParaRPr lang="en-GB" sz="1600" b="1" dirty="0">
                  <a:latin typeface="Arial" panose="020B0604020202020204" pitchFamily="34" charset="0"/>
                  <a:ea typeface="Open Sans" panose="020B0606030504020204" pitchFamily="34" charset="0"/>
                  <a:cs typeface="Arial" panose="020B0604020202020204" pitchFamily="34" charset="0"/>
                </a:endParaRPr>
              </a:p>
            </p:txBody>
          </p:sp>
          <p:sp>
            <p:nvSpPr>
              <p:cNvPr id="17" name="Round Same Side Corner Rectangle 16"/>
              <p:cNvSpPr/>
              <p:nvPr/>
            </p:nvSpPr>
            <p:spPr>
              <a:xfrm>
                <a:off x="6565627" y="4349448"/>
                <a:ext cx="1162782" cy="81743"/>
              </a:xfrm>
              <a:prstGeom prst="round2SameRect">
                <a:avLst>
                  <a:gd name="adj1" fmla="val 0"/>
                  <a:gd name="adj2" fmla="val 50000"/>
                </a:avLst>
              </a:prstGeom>
              <a:solidFill>
                <a:schemeClr val="tx1">
                  <a:lumMod val="50000"/>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grpSp>
      </p:grpSp>
      <p:grpSp>
        <p:nvGrpSpPr>
          <p:cNvPr id="27" name="Group 26"/>
          <p:cNvGrpSpPr/>
          <p:nvPr/>
        </p:nvGrpSpPr>
        <p:grpSpPr>
          <a:xfrm>
            <a:off x="7375182" y="2950765"/>
            <a:ext cx="4470746" cy="1023347"/>
            <a:chOff x="10740002" y="5585830"/>
            <a:chExt cx="4579928" cy="1023347"/>
          </a:xfrm>
        </p:grpSpPr>
        <p:sp>
          <p:nvSpPr>
            <p:cNvPr id="33" name="Rectangle 32"/>
            <p:cNvSpPr/>
            <p:nvPr/>
          </p:nvSpPr>
          <p:spPr>
            <a:xfrm flipH="1">
              <a:off x="11992968" y="5769439"/>
              <a:ext cx="3326962" cy="584775"/>
            </a:xfrm>
            <a:prstGeom prst="rect">
              <a:avLst/>
            </a:prstGeom>
          </p:spPr>
          <p:txBody>
            <a:bodyPr wrap="square">
              <a:spAutoFit/>
            </a:bodyPr>
            <a:lstStyle/>
            <a:p>
              <a:r>
                <a:rPr lang="en-GB" sz="1600" b="1" dirty="0" err="1">
                  <a:latin typeface="Arial" panose="020B0604020202020204" pitchFamily="34" charset="0"/>
                  <a:cs typeface="Arial" panose="020B0604020202020204" pitchFamily="34" charset="0"/>
                </a:rPr>
                <a:t>Kết</a:t>
              </a:r>
              <a:r>
                <a:rPr lang="en-GB" sz="1600" b="1" dirty="0">
                  <a:latin typeface="Arial" panose="020B0604020202020204" pitchFamily="34" charset="0"/>
                  <a:cs typeface="Arial" panose="020B0604020202020204" pitchFamily="34" charset="0"/>
                </a:rPr>
                <a:t> </a:t>
              </a:r>
              <a:r>
                <a:rPr lang="en-GB" sz="1600" b="1" dirty="0" err="1">
                  <a:latin typeface="Arial" panose="020B0604020202020204" pitchFamily="34" charset="0"/>
                  <a:cs typeface="Arial" panose="020B0604020202020204" pitchFamily="34" charset="0"/>
                </a:rPr>
                <a:t>thúc</a:t>
              </a:r>
              <a:r>
                <a:rPr lang="en-GB" sz="1600" b="1" dirty="0">
                  <a:latin typeface="Arial" panose="020B0604020202020204" pitchFamily="34" charset="0"/>
                  <a:cs typeface="Arial" panose="020B0604020202020204" pitchFamily="34" charset="0"/>
                </a:rPr>
                <a:t> </a:t>
              </a:r>
              <a:r>
                <a:rPr lang="en-GB" sz="1600" b="1" dirty="0" err="1">
                  <a:latin typeface="Arial" panose="020B0604020202020204" pitchFamily="34" charset="0"/>
                  <a:cs typeface="Arial" panose="020B0604020202020204" pitchFamily="34" charset="0"/>
                </a:rPr>
                <a:t>quý</a:t>
              </a:r>
              <a:r>
                <a:rPr lang="en-GB" sz="1600" b="1" dirty="0">
                  <a:latin typeface="Arial" panose="020B0604020202020204" pitchFamily="34" charset="0"/>
                  <a:cs typeface="Arial" panose="020B0604020202020204" pitchFamily="34" charset="0"/>
                </a:rPr>
                <a:t> </a:t>
              </a:r>
              <a:r>
                <a:rPr lang="en-GB" sz="1600" b="1" dirty="0" err="1">
                  <a:latin typeface="Arial" panose="020B0604020202020204" pitchFamily="34" charset="0"/>
                  <a:cs typeface="Arial" panose="020B0604020202020204" pitchFamily="34" charset="0"/>
                </a:rPr>
                <a:t>sẽ</a:t>
              </a:r>
              <a:r>
                <a:rPr lang="en-GB" sz="1600" b="1" dirty="0">
                  <a:latin typeface="Arial" panose="020B0604020202020204" pitchFamily="34" charset="0"/>
                  <a:cs typeface="Arial" panose="020B0604020202020204" pitchFamily="34" charset="0"/>
                </a:rPr>
                <a:t> </a:t>
              </a:r>
              <a:r>
                <a:rPr lang="en-GB" sz="1600" b="1" dirty="0" err="1">
                  <a:latin typeface="Arial" panose="020B0604020202020204" pitchFamily="34" charset="0"/>
                  <a:cs typeface="Arial" panose="020B0604020202020204" pitchFamily="34" charset="0"/>
                </a:rPr>
                <a:t>tính</a:t>
              </a:r>
              <a:r>
                <a:rPr lang="en-GB" sz="1600" b="1" dirty="0">
                  <a:latin typeface="Arial" panose="020B0604020202020204" pitchFamily="34" charset="0"/>
                  <a:cs typeface="Arial" panose="020B0604020202020204" pitchFamily="34" charset="0"/>
                </a:rPr>
                <a:t> </a:t>
              </a:r>
              <a:r>
                <a:rPr lang="en-GB" sz="1600" b="1" dirty="0" err="1">
                  <a:latin typeface="Arial" panose="020B0604020202020204" pitchFamily="34" charset="0"/>
                  <a:cs typeface="Arial" panose="020B0604020202020204" pitchFamily="34" charset="0"/>
                </a:rPr>
                <a:t>toán</a:t>
              </a:r>
              <a:r>
                <a:rPr lang="en-GB" sz="1600" b="1" dirty="0">
                  <a:latin typeface="Arial" panose="020B0604020202020204" pitchFamily="34" charset="0"/>
                  <a:cs typeface="Arial" panose="020B0604020202020204" pitchFamily="34" charset="0"/>
                </a:rPr>
                <a:t> </a:t>
              </a:r>
            </a:p>
            <a:p>
              <a:r>
                <a:rPr lang="en-GB" sz="1600" b="1" dirty="0" err="1">
                  <a:latin typeface="Arial" panose="020B0604020202020204" pitchFamily="34" charset="0"/>
                  <a:cs typeface="Arial" panose="020B0604020202020204" pitchFamily="34" charset="0"/>
                </a:rPr>
                <a:t>Thưởng</a:t>
              </a:r>
              <a:r>
                <a:rPr lang="en-GB" sz="1600" b="1" dirty="0">
                  <a:latin typeface="Arial" panose="020B0604020202020204" pitchFamily="34" charset="0"/>
                  <a:cs typeface="Arial" panose="020B0604020202020204" pitchFamily="34" charset="0"/>
                </a:rPr>
                <a:t> </a:t>
              </a:r>
              <a:r>
                <a:rPr lang="en-GB" sz="1600" b="1" dirty="0" err="1">
                  <a:latin typeface="Arial" panose="020B0604020202020204" pitchFamily="34" charset="0"/>
                  <a:cs typeface="Arial" panose="020B0604020202020204" pitchFamily="34" charset="0"/>
                </a:rPr>
                <a:t>hiệu</a:t>
              </a:r>
              <a:r>
                <a:rPr lang="en-GB" sz="1600" b="1" dirty="0">
                  <a:latin typeface="Arial" panose="020B0604020202020204" pitchFamily="34" charset="0"/>
                  <a:cs typeface="Arial" panose="020B0604020202020204" pitchFamily="34" charset="0"/>
                </a:rPr>
                <a:t> </a:t>
              </a:r>
              <a:r>
                <a:rPr lang="en-GB" sz="1600" b="1" dirty="0" err="1">
                  <a:latin typeface="Arial" panose="020B0604020202020204" pitchFamily="34" charset="0"/>
                  <a:cs typeface="Arial" panose="020B0604020202020204" pitchFamily="34" charset="0"/>
                </a:rPr>
                <a:t>quả</a:t>
              </a:r>
              <a:r>
                <a:rPr lang="en-GB" sz="1600" b="1" dirty="0">
                  <a:latin typeface="Arial" panose="020B0604020202020204" pitchFamily="34" charset="0"/>
                  <a:cs typeface="Arial" panose="020B0604020202020204" pitchFamily="34" charset="0"/>
                </a:rPr>
                <a:t> </a:t>
              </a:r>
              <a:r>
                <a:rPr lang="en-GB" sz="1600" b="1" dirty="0" err="1">
                  <a:latin typeface="Arial" panose="020B0604020202020204" pitchFamily="34" charset="0"/>
                  <a:cs typeface="Arial" panose="020B0604020202020204" pitchFamily="34" charset="0"/>
                </a:rPr>
                <a:t>dự</a:t>
              </a:r>
              <a:r>
                <a:rPr lang="en-GB" sz="1600" b="1" dirty="0">
                  <a:latin typeface="Arial" panose="020B0604020202020204" pitchFamily="34" charset="0"/>
                  <a:cs typeface="Arial" panose="020B0604020202020204" pitchFamily="34" charset="0"/>
                </a:rPr>
                <a:t> </a:t>
              </a:r>
              <a:r>
                <a:rPr lang="en-GB" sz="1600" b="1" dirty="0" err="1">
                  <a:latin typeface="Arial" panose="020B0604020202020204" pitchFamily="34" charset="0"/>
                  <a:cs typeface="Arial" panose="020B0604020202020204" pitchFamily="34" charset="0"/>
                </a:rPr>
                <a:t>án</a:t>
              </a:r>
              <a:r>
                <a:rPr lang="en-GB" sz="1600" b="1" dirty="0">
                  <a:latin typeface="Arial" panose="020B0604020202020204" pitchFamily="34" charset="0"/>
                  <a:cs typeface="Arial" panose="020B0604020202020204" pitchFamily="34" charset="0"/>
                </a:rPr>
                <a:t> </a:t>
              </a:r>
              <a:r>
                <a:rPr lang="en-GB" sz="1600" b="1" dirty="0" err="1">
                  <a:latin typeface="Arial" panose="020B0604020202020204" pitchFamily="34" charset="0"/>
                  <a:cs typeface="Arial" panose="020B0604020202020204" pitchFamily="34" charset="0"/>
                </a:rPr>
                <a:t>còn</a:t>
              </a:r>
              <a:r>
                <a:rPr lang="en-GB" sz="1600" b="1" dirty="0">
                  <a:latin typeface="Arial" panose="020B0604020202020204" pitchFamily="34" charset="0"/>
                  <a:cs typeface="Arial" panose="020B0604020202020204" pitchFamily="34" charset="0"/>
                </a:rPr>
                <a:t> </a:t>
              </a:r>
              <a:r>
                <a:rPr lang="en-GB" sz="1600" b="1" dirty="0" err="1">
                  <a:latin typeface="Arial" panose="020B0604020202020204" pitchFamily="34" charset="0"/>
                  <a:cs typeface="Arial" panose="020B0604020202020204" pitchFamily="34" charset="0"/>
                </a:rPr>
                <a:t>lại</a:t>
              </a:r>
              <a:endParaRPr lang="en-GB" sz="1600" b="1" dirty="0">
                <a:latin typeface="Arial" panose="020B0604020202020204" pitchFamily="34" charset="0"/>
                <a:cs typeface="Arial" panose="020B0604020202020204" pitchFamily="34" charset="0"/>
              </a:endParaRPr>
            </a:p>
          </p:txBody>
        </p:sp>
        <p:grpSp>
          <p:nvGrpSpPr>
            <p:cNvPr id="29" name="Group 28"/>
            <p:cNvGrpSpPr/>
            <p:nvPr/>
          </p:nvGrpSpPr>
          <p:grpSpPr>
            <a:xfrm>
              <a:off x="10740002" y="5585830"/>
              <a:ext cx="1162782" cy="1023347"/>
              <a:chOff x="6729741" y="5989744"/>
              <a:chExt cx="1162782" cy="1023347"/>
            </a:xfrm>
          </p:grpSpPr>
          <p:sp>
            <p:nvSpPr>
              <p:cNvPr id="30" name="Rounded Rectangle 29"/>
              <p:cNvSpPr/>
              <p:nvPr/>
            </p:nvSpPr>
            <p:spPr>
              <a:xfrm>
                <a:off x="6729741" y="5989744"/>
                <a:ext cx="1162782" cy="1023347"/>
              </a:xfrm>
              <a:prstGeom prst="roundRect">
                <a:avLst>
                  <a:gd name="adj" fmla="val 4936"/>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600" b="1">
                    <a:latin typeface="Arial" panose="020B0604020202020204" pitchFamily="34" charset="0"/>
                    <a:ea typeface="Open Sans" panose="020B0606030504020204" pitchFamily="34" charset="0"/>
                    <a:cs typeface="Arial" panose="020B0604020202020204" pitchFamily="34" charset="0"/>
                  </a:rPr>
                  <a:t>Hết quý</a:t>
                </a:r>
                <a:endParaRPr lang="en-GB" sz="1600" b="1" dirty="0">
                  <a:latin typeface="Arial" panose="020B0604020202020204" pitchFamily="34" charset="0"/>
                  <a:ea typeface="Open Sans" panose="020B0606030504020204" pitchFamily="34" charset="0"/>
                  <a:cs typeface="Arial" panose="020B0604020202020204" pitchFamily="34" charset="0"/>
                </a:endParaRPr>
              </a:p>
            </p:txBody>
          </p:sp>
          <p:sp>
            <p:nvSpPr>
              <p:cNvPr id="31" name="Round Same Side Corner Rectangle 30"/>
              <p:cNvSpPr/>
              <p:nvPr/>
            </p:nvSpPr>
            <p:spPr>
              <a:xfrm>
                <a:off x="6729741" y="6925783"/>
                <a:ext cx="1162782" cy="81743"/>
              </a:xfrm>
              <a:prstGeom prst="round2SameRect">
                <a:avLst>
                  <a:gd name="adj1" fmla="val 0"/>
                  <a:gd name="adj2" fmla="val 50000"/>
                </a:avLst>
              </a:prstGeom>
              <a:solidFill>
                <a:schemeClr val="tx1">
                  <a:lumMod val="50000"/>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grpSp>
      </p:grpSp>
      <p:sp>
        <p:nvSpPr>
          <p:cNvPr id="34" name="TextBox 33"/>
          <p:cNvSpPr txBox="1"/>
          <p:nvPr/>
        </p:nvSpPr>
        <p:spPr>
          <a:xfrm>
            <a:off x="184503" y="3133632"/>
            <a:ext cx="5763797" cy="523220"/>
          </a:xfrm>
          <a:prstGeom prst="rect">
            <a:avLst/>
          </a:prstGeom>
          <a:noFill/>
          <a:ln>
            <a:solidFill>
              <a:schemeClr val="tx2"/>
            </a:solidFill>
          </a:ln>
        </p:spPr>
        <p:txBody>
          <a:bodyPr wrap="square" rtlCol="0">
            <a:spAutoFit/>
          </a:bodyPr>
          <a:lstStyle/>
          <a:p>
            <a:r>
              <a:rPr lang="en-US" sz="1400" b="1" dirty="0">
                <a:solidFill>
                  <a:srgbClr val="FF0000"/>
                </a:solidFill>
                <a:latin typeface="Arial" panose="020B0604020202020204" pitchFamily="34" charset="0"/>
                <a:cs typeface="Arial" panose="020B0604020202020204" pitchFamily="34" charset="0"/>
              </a:rPr>
              <a:t>TN </a:t>
            </a:r>
            <a:r>
              <a:rPr lang="en-US" sz="1400" b="1" dirty="0" err="1">
                <a:solidFill>
                  <a:srgbClr val="FF0000"/>
                </a:solidFill>
                <a:latin typeface="Arial" panose="020B0604020202020204" pitchFamily="34" charset="0"/>
                <a:cs typeface="Arial" panose="020B0604020202020204" pitchFamily="34" charset="0"/>
              </a:rPr>
              <a:t>tháng</a:t>
            </a:r>
            <a:r>
              <a:rPr lang="en-US" sz="1400" b="1" dirty="0">
                <a:solidFill>
                  <a:srgbClr val="FF0000"/>
                </a:solidFill>
                <a:latin typeface="Arial" panose="020B0604020202020204" pitchFamily="34" charset="0"/>
                <a:cs typeface="Arial" panose="020B0604020202020204" pitchFamily="34" charset="0"/>
              </a:rPr>
              <a:t> </a:t>
            </a:r>
            <a:r>
              <a:rPr lang="en-US" sz="1400" b="1" dirty="0" err="1">
                <a:solidFill>
                  <a:srgbClr val="FF0000"/>
                </a:solidFill>
                <a:latin typeface="Arial" panose="020B0604020202020204" pitchFamily="34" charset="0"/>
                <a:cs typeface="Arial" panose="020B0604020202020204" pitchFamily="34" charset="0"/>
              </a:rPr>
              <a:t>kỳ</a:t>
            </a:r>
            <a:r>
              <a:rPr lang="en-US" sz="1400" b="1" dirty="0">
                <a:solidFill>
                  <a:srgbClr val="FF0000"/>
                </a:solidFill>
                <a:latin typeface="Arial" panose="020B0604020202020204" pitchFamily="34" charset="0"/>
                <a:cs typeface="Arial" panose="020B0604020202020204" pitchFamily="34" charset="0"/>
              </a:rPr>
              <a:t> </a:t>
            </a:r>
            <a:r>
              <a:rPr lang="en-US" sz="1400" b="1" dirty="0" err="1">
                <a:solidFill>
                  <a:srgbClr val="FF0000"/>
                </a:solidFill>
                <a:latin typeface="Arial" panose="020B0604020202020204" pitchFamily="34" charset="0"/>
                <a:cs typeface="Arial" panose="020B0604020202020204" pitchFamily="34" charset="0"/>
              </a:rPr>
              <a:t>vọng</a:t>
            </a:r>
            <a:r>
              <a:rPr lang="en-US" sz="1400" b="1" dirty="0">
                <a:solidFill>
                  <a:srgbClr val="FF0000"/>
                </a:solidFill>
                <a:latin typeface="Arial" panose="020B0604020202020204" pitchFamily="34" charset="0"/>
                <a:cs typeface="Arial" panose="020B0604020202020204" pitchFamily="34" charset="0"/>
              </a:rPr>
              <a:t> = </a:t>
            </a:r>
            <a:r>
              <a:rPr lang="en-US" sz="1400" b="1" dirty="0" err="1">
                <a:solidFill>
                  <a:srgbClr val="FF0000"/>
                </a:solidFill>
                <a:latin typeface="Arial" panose="020B0604020202020204" pitchFamily="34" charset="0"/>
                <a:cs typeface="Arial" panose="020B0604020202020204" pitchFamily="34" charset="0"/>
              </a:rPr>
              <a:t>Lương</a:t>
            </a:r>
            <a:r>
              <a:rPr lang="en-US" sz="1400" b="1" dirty="0">
                <a:solidFill>
                  <a:srgbClr val="FF0000"/>
                </a:solidFill>
                <a:latin typeface="Arial" panose="020B0604020202020204" pitchFamily="34" charset="0"/>
                <a:cs typeface="Arial" panose="020B0604020202020204" pitchFamily="34" charset="0"/>
              </a:rPr>
              <a:t> </a:t>
            </a:r>
            <a:r>
              <a:rPr lang="en-US" sz="1400" b="1" dirty="0" err="1">
                <a:solidFill>
                  <a:srgbClr val="FF0000"/>
                </a:solidFill>
                <a:latin typeface="Arial" panose="020B0604020202020204" pitchFamily="34" charset="0"/>
                <a:cs typeface="Arial" panose="020B0604020202020204" pitchFamily="34" charset="0"/>
              </a:rPr>
              <a:t>cơ</a:t>
            </a:r>
            <a:r>
              <a:rPr lang="en-US" sz="1400" b="1" dirty="0">
                <a:solidFill>
                  <a:srgbClr val="FF0000"/>
                </a:solidFill>
                <a:latin typeface="Arial" panose="020B0604020202020204" pitchFamily="34" charset="0"/>
                <a:cs typeface="Arial" panose="020B0604020202020204" pitchFamily="34" charset="0"/>
              </a:rPr>
              <a:t> </a:t>
            </a:r>
            <a:r>
              <a:rPr lang="en-US" sz="1400" b="1" dirty="0" err="1">
                <a:solidFill>
                  <a:srgbClr val="FF0000"/>
                </a:solidFill>
                <a:latin typeface="Arial" panose="020B0604020202020204" pitchFamily="34" charset="0"/>
                <a:cs typeface="Arial" panose="020B0604020202020204" pitchFamily="34" charset="0"/>
              </a:rPr>
              <a:t>sở</a:t>
            </a:r>
            <a:r>
              <a:rPr lang="vi-VN" sz="1400" b="1" dirty="0">
                <a:solidFill>
                  <a:srgbClr val="FF0000"/>
                </a:solidFill>
                <a:latin typeface="Arial" panose="020B0604020202020204" pitchFamily="34" charset="0"/>
                <a:cs typeface="Arial" panose="020B0604020202020204" pitchFamily="34" charset="0"/>
              </a:rPr>
              <a:t> + Phụ cấp (nếu có)</a:t>
            </a:r>
          </a:p>
          <a:p>
            <a:r>
              <a:rPr lang="vi-VN" sz="1400" b="1" dirty="0">
                <a:solidFill>
                  <a:srgbClr val="FF0000"/>
                </a:solidFill>
                <a:latin typeface="Arial" panose="020B0604020202020204" pitchFamily="34" charset="0"/>
                <a:cs typeface="Arial" panose="020B0604020202020204" pitchFamily="34" charset="0"/>
              </a:rPr>
              <a:t>		+ </a:t>
            </a:r>
            <a:r>
              <a:rPr lang="en-US" sz="1400" b="1" dirty="0" err="1">
                <a:solidFill>
                  <a:srgbClr val="FF0000"/>
                </a:solidFill>
                <a:latin typeface="Arial" panose="020B0604020202020204" pitchFamily="34" charset="0"/>
                <a:cs typeface="Arial" panose="020B0604020202020204" pitchFamily="34" charset="0"/>
              </a:rPr>
              <a:t>Tạm</a:t>
            </a:r>
            <a:r>
              <a:rPr lang="en-US" sz="1400" b="1" dirty="0">
                <a:solidFill>
                  <a:srgbClr val="FF0000"/>
                </a:solidFill>
                <a:latin typeface="Arial" panose="020B0604020202020204" pitchFamily="34" charset="0"/>
                <a:cs typeface="Arial" panose="020B0604020202020204" pitchFamily="34" charset="0"/>
              </a:rPr>
              <a:t> </a:t>
            </a:r>
            <a:r>
              <a:rPr lang="en-US" sz="1400" b="1" dirty="0" err="1">
                <a:solidFill>
                  <a:srgbClr val="FF0000"/>
                </a:solidFill>
                <a:latin typeface="Arial" panose="020B0604020202020204" pitchFamily="34" charset="0"/>
                <a:cs typeface="Arial" panose="020B0604020202020204" pitchFamily="34" charset="0"/>
              </a:rPr>
              <a:t>ứng</a:t>
            </a:r>
            <a:r>
              <a:rPr lang="en-US" sz="1400" b="1" dirty="0">
                <a:solidFill>
                  <a:srgbClr val="FF0000"/>
                </a:solidFill>
                <a:latin typeface="Arial" panose="020B0604020202020204" pitchFamily="34" charset="0"/>
                <a:cs typeface="Arial" panose="020B0604020202020204" pitchFamily="34" charset="0"/>
              </a:rPr>
              <a:t> </a:t>
            </a:r>
            <a:r>
              <a:rPr lang="en-US" sz="1400" b="1" dirty="0" err="1">
                <a:solidFill>
                  <a:srgbClr val="FF0000"/>
                </a:solidFill>
                <a:latin typeface="Arial" panose="020B0604020202020204" pitchFamily="34" charset="0"/>
                <a:cs typeface="Arial" panose="020B0604020202020204" pitchFamily="34" charset="0"/>
              </a:rPr>
              <a:t>thưởng</a:t>
            </a:r>
            <a:r>
              <a:rPr lang="en-US" sz="1400" b="1" dirty="0">
                <a:solidFill>
                  <a:srgbClr val="FF0000"/>
                </a:solidFill>
                <a:latin typeface="Arial" panose="020B0604020202020204" pitchFamily="34" charset="0"/>
                <a:cs typeface="Arial" panose="020B0604020202020204" pitchFamily="34" charset="0"/>
              </a:rPr>
              <a:t> </a:t>
            </a:r>
            <a:r>
              <a:rPr lang="en-US" sz="1400" b="1" dirty="0" err="1">
                <a:solidFill>
                  <a:srgbClr val="FF0000"/>
                </a:solidFill>
                <a:latin typeface="Arial" panose="020B0604020202020204" pitchFamily="34" charset="0"/>
                <a:cs typeface="Arial" panose="020B0604020202020204" pitchFamily="34" charset="0"/>
              </a:rPr>
              <a:t>hiệu</a:t>
            </a:r>
            <a:r>
              <a:rPr lang="en-US" sz="1400" b="1" dirty="0">
                <a:solidFill>
                  <a:srgbClr val="FF0000"/>
                </a:solidFill>
                <a:latin typeface="Arial" panose="020B0604020202020204" pitchFamily="34" charset="0"/>
                <a:cs typeface="Arial" panose="020B0604020202020204" pitchFamily="34" charset="0"/>
              </a:rPr>
              <a:t> </a:t>
            </a:r>
            <a:r>
              <a:rPr lang="en-US" sz="1400" b="1" dirty="0" err="1">
                <a:solidFill>
                  <a:srgbClr val="FF0000"/>
                </a:solidFill>
                <a:latin typeface="Arial" panose="020B0604020202020204" pitchFamily="34" charset="0"/>
                <a:cs typeface="Arial" panose="020B0604020202020204" pitchFamily="34" charset="0"/>
              </a:rPr>
              <a:t>quả</a:t>
            </a:r>
            <a:r>
              <a:rPr lang="en-US" sz="1400" b="1" dirty="0">
                <a:solidFill>
                  <a:srgbClr val="FF0000"/>
                </a:solidFill>
                <a:latin typeface="Arial" panose="020B0604020202020204" pitchFamily="34" charset="0"/>
                <a:cs typeface="Arial" panose="020B0604020202020204" pitchFamily="34" charset="0"/>
              </a:rPr>
              <a:t> DA</a:t>
            </a:r>
            <a:r>
              <a:rPr lang="vi-VN" sz="1400" b="1" dirty="0">
                <a:solidFill>
                  <a:srgbClr val="FF0000"/>
                </a:solidFill>
                <a:latin typeface="Arial" panose="020B0604020202020204" pitchFamily="34" charset="0"/>
                <a:cs typeface="Arial" panose="020B0604020202020204" pitchFamily="34" charset="0"/>
              </a:rPr>
              <a:t> (nếu có)</a:t>
            </a:r>
            <a:endParaRPr lang="en-US" sz="1400" b="1" dirty="0">
              <a:solidFill>
                <a:srgbClr val="FF0000"/>
              </a:solidFill>
              <a:latin typeface="Arial" panose="020B0604020202020204" pitchFamily="34" charset="0"/>
              <a:cs typeface="Arial" panose="020B0604020202020204" pitchFamily="34" charset="0"/>
            </a:endParaRPr>
          </a:p>
        </p:txBody>
      </p:sp>
      <p:sp>
        <p:nvSpPr>
          <p:cNvPr id="35" name="TextBox 34"/>
          <p:cNvSpPr txBox="1"/>
          <p:nvPr/>
        </p:nvSpPr>
        <p:spPr>
          <a:xfrm>
            <a:off x="243437" y="4008319"/>
            <a:ext cx="5517223" cy="1569660"/>
          </a:xfrm>
          <a:prstGeom prst="rect">
            <a:avLst/>
          </a:prstGeom>
          <a:noFill/>
        </p:spPr>
        <p:txBody>
          <a:bodyPr wrap="square" rtlCol="0">
            <a:spAutoFit/>
          </a:bodyPr>
          <a:lstStyle/>
          <a:p>
            <a:pPr marL="285750" indent="-285750" algn="just">
              <a:buFont typeface="Wingdings" panose="05000000000000000000" pitchFamily="2" charset="2"/>
              <a:buChar char="ü"/>
            </a:pPr>
            <a:r>
              <a:rPr lang="en-US" sz="1600" dirty="0" err="1">
                <a:solidFill>
                  <a:srgbClr val="FF0000"/>
                </a:solidFill>
                <a:latin typeface="Arial" panose="020B0604020202020204" pitchFamily="34" charset="0"/>
                <a:cs typeface="Arial" panose="020B0604020202020204" pitchFamily="34" charset="0"/>
              </a:rPr>
              <a:t>Lương</a:t>
            </a:r>
            <a:r>
              <a:rPr lang="en-US" sz="1600" dirty="0">
                <a:solidFill>
                  <a:srgbClr val="FF0000"/>
                </a:solidFill>
                <a:latin typeface="Arial" panose="020B0604020202020204" pitchFamily="34" charset="0"/>
                <a:cs typeface="Arial" panose="020B0604020202020204" pitchFamily="34" charset="0"/>
              </a:rPr>
              <a:t> </a:t>
            </a:r>
            <a:r>
              <a:rPr lang="en-US" sz="1600" dirty="0" err="1">
                <a:solidFill>
                  <a:srgbClr val="FF0000"/>
                </a:solidFill>
                <a:latin typeface="Arial" panose="020B0604020202020204" pitchFamily="34" charset="0"/>
                <a:cs typeface="Arial" panose="020B0604020202020204" pitchFamily="34" charset="0"/>
              </a:rPr>
              <a:t>cơ</a:t>
            </a:r>
            <a:r>
              <a:rPr lang="en-US" sz="1600" dirty="0">
                <a:solidFill>
                  <a:srgbClr val="FF0000"/>
                </a:solidFill>
                <a:latin typeface="Arial" panose="020B0604020202020204" pitchFamily="34" charset="0"/>
                <a:cs typeface="Arial" panose="020B0604020202020204" pitchFamily="34" charset="0"/>
              </a:rPr>
              <a:t> </a:t>
            </a:r>
            <a:r>
              <a:rPr lang="en-US" sz="1600" dirty="0" err="1">
                <a:solidFill>
                  <a:srgbClr val="FF0000"/>
                </a:solidFill>
                <a:latin typeface="Arial" panose="020B0604020202020204" pitchFamily="34" charset="0"/>
                <a:cs typeface="Arial" panose="020B0604020202020204" pitchFamily="34" charset="0"/>
              </a:rPr>
              <a:t>sở</a:t>
            </a:r>
            <a:r>
              <a:rPr lang="en-US" sz="1600" dirty="0">
                <a:solidFill>
                  <a:srgbClr val="FF0000"/>
                </a:solidFill>
                <a:latin typeface="Arial" panose="020B0604020202020204" pitchFamily="34" charset="0"/>
                <a:cs typeface="Arial" panose="020B0604020202020204" pitchFamily="34" charset="0"/>
              </a:rPr>
              <a:t>: </a:t>
            </a:r>
            <a:r>
              <a:rPr lang="en-US" sz="1600" dirty="0" err="1">
                <a:latin typeface="Arial" panose="020B0604020202020204" pitchFamily="34" charset="0"/>
                <a:cs typeface="Arial" panose="020B0604020202020204" pitchFamily="34" charset="0"/>
              </a:rPr>
              <a:t>mức</a:t>
            </a:r>
            <a:r>
              <a:rPr lang="en-US" sz="1600" dirty="0">
                <a:latin typeface="Arial" panose="020B0604020202020204" pitchFamily="34" charset="0"/>
                <a:cs typeface="Arial" panose="020B0604020202020204" pitchFamily="34" charset="0"/>
              </a:rPr>
              <a:t> </a:t>
            </a:r>
            <a:r>
              <a:rPr lang="en-US" sz="1600" dirty="0" err="1">
                <a:latin typeface="Arial" panose="020B0604020202020204" pitchFamily="34" charset="0"/>
                <a:cs typeface="Arial" panose="020B0604020202020204" pitchFamily="34" charset="0"/>
              </a:rPr>
              <a:t>tối</a:t>
            </a:r>
            <a:r>
              <a:rPr lang="en-US" sz="1600" dirty="0">
                <a:latin typeface="Arial" panose="020B0604020202020204" pitchFamily="34" charset="0"/>
                <a:cs typeface="Arial" panose="020B0604020202020204" pitchFamily="34" charset="0"/>
              </a:rPr>
              <a:t> </a:t>
            </a:r>
            <a:r>
              <a:rPr lang="en-US" sz="1600" dirty="0" err="1">
                <a:latin typeface="Arial" panose="020B0604020202020204" pitchFamily="34" charset="0"/>
                <a:cs typeface="Arial" panose="020B0604020202020204" pitchFamily="34" charset="0"/>
              </a:rPr>
              <a:t>thiểu</a:t>
            </a:r>
            <a:r>
              <a:rPr lang="en-US" sz="1600" dirty="0">
                <a:latin typeface="Arial" panose="020B0604020202020204" pitchFamily="34" charset="0"/>
                <a:cs typeface="Arial" panose="020B0604020202020204" pitchFamily="34" charset="0"/>
              </a:rPr>
              <a:t> </a:t>
            </a:r>
            <a:r>
              <a:rPr lang="en-US" sz="1600" dirty="0" err="1">
                <a:latin typeface="Arial" panose="020B0604020202020204" pitchFamily="34" charset="0"/>
                <a:cs typeface="Arial" panose="020B0604020202020204" pitchFamily="34" charset="0"/>
              </a:rPr>
              <a:t>công</a:t>
            </a:r>
            <a:r>
              <a:rPr lang="en-US" sz="1600" dirty="0">
                <a:latin typeface="Arial" panose="020B0604020202020204" pitchFamily="34" charset="0"/>
                <a:cs typeface="Arial" panose="020B0604020202020204" pitchFamily="34" charset="0"/>
              </a:rPr>
              <a:t> ty </a:t>
            </a:r>
            <a:r>
              <a:rPr lang="en-US" sz="1600" dirty="0" err="1">
                <a:latin typeface="Arial" panose="020B0604020202020204" pitchFamily="34" charset="0"/>
                <a:cs typeface="Arial" panose="020B0604020202020204" pitchFamily="34" charset="0"/>
              </a:rPr>
              <a:t>sẽ</a:t>
            </a:r>
            <a:r>
              <a:rPr lang="en-US" sz="1600" dirty="0">
                <a:latin typeface="Arial" panose="020B0604020202020204" pitchFamily="34" charset="0"/>
                <a:cs typeface="Arial" panose="020B0604020202020204" pitchFamily="34" charset="0"/>
              </a:rPr>
              <a:t> </a:t>
            </a:r>
            <a:r>
              <a:rPr lang="en-US" sz="1600" dirty="0" err="1">
                <a:latin typeface="Arial" panose="020B0604020202020204" pitchFamily="34" charset="0"/>
                <a:cs typeface="Arial" panose="020B0604020202020204" pitchFamily="34" charset="0"/>
              </a:rPr>
              <a:t>trả</a:t>
            </a:r>
            <a:r>
              <a:rPr lang="en-US" sz="1600" dirty="0">
                <a:latin typeface="Arial" panose="020B0604020202020204" pitchFamily="34" charset="0"/>
                <a:cs typeface="Arial" panose="020B0604020202020204" pitchFamily="34" charset="0"/>
              </a:rPr>
              <a:t> </a:t>
            </a:r>
            <a:r>
              <a:rPr lang="en-US" sz="1600" dirty="0" err="1">
                <a:latin typeface="Arial" panose="020B0604020202020204" pitchFamily="34" charset="0"/>
                <a:cs typeface="Arial" panose="020B0604020202020204" pitchFamily="34" charset="0"/>
              </a:rPr>
              <a:t>cho</a:t>
            </a:r>
            <a:r>
              <a:rPr lang="en-US" sz="1600" dirty="0">
                <a:latin typeface="Arial" panose="020B0604020202020204" pitchFamily="34" charset="0"/>
                <a:cs typeface="Arial" panose="020B0604020202020204" pitchFamily="34" charset="0"/>
              </a:rPr>
              <a:t> CBNV </a:t>
            </a:r>
            <a:r>
              <a:rPr lang="en-US" sz="1600" dirty="0" err="1">
                <a:latin typeface="Arial" panose="020B0604020202020204" pitchFamily="34" charset="0"/>
                <a:cs typeface="Arial" panose="020B0604020202020204" pitchFamily="34" charset="0"/>
              </a:rPr>
              <a:t>hàng</a:t>
            </a:r>
            <a:r>
              <a:rPr lang="en-US" sz="1600" dirty="0">
                <a:latin typeface="Arial" panose="020B0604020202020204" pitchFamily="34" charset="0"/>
                <a:cs typeface="Arial" panose="020B0604020202020204" pitchFamily="34" charset="0"/>
              </a:rPr>
              <a:t> </a:t>
            </a:r>
            <a:r>
              <a:rPr lang="en-US" sz="1600" dirty="0" err="1">
                <a:latin typeface="Arial" panose="020B0604020202020204" pitchFamily="34" charset="0"/>
                <a:cs typeface="Arial" panose="020B0604020202020204" pitchFamily="34" charset="0"/>
              </a:rPr>
              <a:t>tháng</a:t>
            </a:r>
            <a:endParaRPr lang="en-US" sz="1600" dirty="0">
              <a:latin typeface="Arial" panose="020B0604020202020204" pitchFamily="34" charset="0"/>
              <a:cs typeface="Arial" panose="020B0604020202020204" pitchFamily="34" charset="0"/>
            </a:endParaRPr>
          </a:p>
          <a:p>
            <a:pPr algn="just"/>
            <a:endParaRPr lang="en-US" sz="1600" dirty="0">
              <a:latin typeface="Arial" panose="020B0604020202020204" pitchFamily="34" charset="0"/>
              <a:cs typeface="Arial" panose="020B0604020202020204" pitchFamily="34" charset="0"/>
            </a:endParaRPr>
          </a:p>
          <a:p>
            <a:pPr marL="285750" indent="-285750" algn="just">
              <a:buFont typeface="Wingdings" panose="05000000000000000000" pitchFamily="2" charset="2"/>
              <a:buChar char="ü"/>
            </a:pPr>
            <a:r>
              <a:rPr lang="en-US" sz="1600" dirty="0" err="1">
                <a:solidFill>
                  <a:srgbClr val="FF0000"/>
                </a:solidFill>
                <a:latin typeface="Arial" panose="020B0604020202020204" pitchFamily="34" charset="0"/>
                <a:cs typeface="Arial" panose="020B0604020202020204" pitchFamily="34" charset="0"/>
              </a:rPr>
              <a:t>Tạm</a:t>
            </a:r>
            <a:r>
              <a:rPr lang="en-US" sz="1600" dirty="0">
                <a:solidFill>
                  <a:srgbClr val="FF0000"/>
                </a:solidFill>
                <a:latin typeface="Arial" panose="020B0604020202020204" pitchFamily="34" charset="0"/>
                <a:cs typeface="Arial" panose="020B0604020202020204" pitchFamily="34" charset="0"/>
              </a:rPr>
              <a:t> </a:t>
            </a:r>
            <a:r>
              <a:rPr lang="en-US" sz="1600" dirty="0" err="1">
                <a:solidFill>
                  <a:srgbClr val="FF0000"/>
                </a:solidFill>
                <a:latin typeface="Arial" panose="020B0604020202020204" pitchFamily="34" charset="0"/>
                <a:cs typeface="Arial" panose="020B0604020202020204" pitchFamily="34" charset="0"/>
              </a:rPr>
              <a:t>ứng</a:t>
            </a:r>
            <a:r>
              <a:rPr lang="en-US" sz="1600" dirty="0">
                <a:solidFill>
                  <a:srgbClr val="FF0000"/>
                </a:solidFill>
                <a:latin typeface="Arial" panose="020B0604020202020204" pitchFamily="34" charset="0"/>
                <a:cs typeface="Arial" panose="020B0604020202020204" pitchFamily="34" charset="0"/>
              </a:rPr>
              <a:t> </a:t>
            </a:r>
            <a:r>
              <a:rPr lang="en-US" sz="1600" dirty="0" err="1">
                <a:solidFill>
                  <a:srgbClr val="FF0000"/>
                </a:solidFill>
                <a:latin typeface="Arial" panose="020B0604020202020204" pitchFamily="34" charset="0"/>
                <a:cs typeface="Arial" panose="020B0604020202020204" pitchFamily="34" charset="0"/>
              </a:rPr>
              <a:t>thưởng</a:t>
            </a:r>
            <a:r>
              <a:rPr lang="en-US" sz="1600" dirty="0">
                <a:solidFill>
                  <a:srgbClr val="FF0000"/>
                </a:solidFill>
                <a:latin typeface="Arial" panose="020B0604020202020204" pitchFamily="34" charset="0"/>
                <a:cs typeface="Arial" panose="020B0604020202020204" pitchFamily="34" charset="0"/>
              </a:rPr>
              <a:t> </a:t>
            </a:r>
            <a:r>
              <a:rPr lang="en-US" sz="1600" dirty="0" err="1">
                <a:solidFill>
                  <a:srgbClr val="FF0000"/>
                </a:solidFill>
                <a:latin typeface="Arial" panose="020B0604020202020204" pitchFamily="34" charset="0"/>
                <a:cs typeface="Arial" panose="020B0604020202020204" pitchFamily="34" charset="0"/>
              </a:rPr>
              <a:t>hiệu</a:t>
            </a:r>
            <a:r>
              <a:rPr lang="en-US" sz="1600" dirty="0">
                <a:solidFill>
                  <a:srgbClr val="FF0000"/>
                </a:solidFill>
                <a:latin typeface="Arial" panose="020B0604020202020204" pitchFamily="34" charset="0"/>
                <a:cs typeface="Arial" panose="020B0604020202020204" pitchFamily="34" charset="0"/>
              </a:rPr>
              <a:t> </a:t>
            </a:r>
            <a:r>
              <a:rPr lang="en-US" sz="1600" dirty="0" err="1">
                <a:solidFill>
                  <a:srgbClr val="FF0000"/>
                </a:solidFill>
                <a:latin typeface="Arial" panose="020B0604020202020204" pitchFamily="34" charset="0"/>
                <a:cs typeface="Arial" panose="020B0604020202020204" pitchFamily="34" charset="0"/>
              </a:rPr>
              <a:t>quả</a:t>
            </a:r>
            <a:r>
              <a:rPr lang="en-US" sz="1600" dirty="0">
                <a:solidFill>
                  <a:srgbClr val="FF0000"/>
                </a:solidFill>
                <a:latin typeface="Arial" panose="020B0604020202020204" pitchFamily="34" charset="0"/>
                <a:cs typeface="Arial" panose="020B0604020202020204" pitchFamily="34" charset="0"/>
              </a:rPr>
              <a:t> DA: </a:t>
            </a:r>
            <a:r>
              <a:rPr lang="en-US" sz="1600" dirty="0" err="1">
                <a:latin typeface="Arial" panose="020B0604020202020204" pitchFamily="34" charset="0"/>
                <a:cs typeface="Arial" panose="020B0604020202020204" pitchFamily="34" charset="0"/>
              </a:rPr>
              <a:t>sẽ</a:t>
            </a:r>
            <a:r>
              <a:rPr lang="en-US" sz="1600" dirty="0">
                <a:latin typeface="Arial" panose="020B0604020202020204" pitchFamily="34" charset="0"/>
                <a:cs typeface="Arial" panose="020B0604020202020204" pitchFamily="34" charset="0"/>
              </a:rPr>
              <a:t> </a:t>
            </a:r>
            <a:r>
              <a:rPr lang="en-US" sz="1600" dirty="0" err="1">
                <a:latin typeface="Arial" panose="020B0604020202020204" pitchFamily="34" charset="0"/>
                <a:cs typeface="Arial" panose="020B0604020202020204" pitchFamily="34" charset="0"/>
              </a:rPr>
              <a:t>được</a:t>
            </a:r>
            <a:r>
              <a:rPr lang="en-US" sz="1600" dirty="0">
                <a:latin typeface="Arial" panose="020B0604020202020204" pitchFamily="34" charset="0"/>
                <a:cs typeface="Arial" panose="020B0604020202020204" pitchFamily="34" charset="0"/>
              </a:rPr>
              <a:t> chi </a:t>
            </a:r>
            <a:r>
              <a:rPr lang="en-US" sz="1600" dirty="0" err="1">
                <a:latin typeface="Arial" panose="020B0604020202020204" pitchFamily="34" charset="0"/>
                <a:cs typeface="Arial" panose="020B0604020202020204" pitchFamily="34" charset="0"/>
              </a:rPr>
              <a:t>trả</a:t>
            </a:r>
            <a:r>
              <a:rPr lang="en-US" sz="1600" dirty="0">
                <a:latin typeface="Arial" panose="020B0604020202020204" pitchFamily="34" charset="0"/>
                <a:cs typeface="Arial" panose="020B0604020202020204" pitchFamily="34" charset="0"/>
              </a:rPr>
              <a:t> </a:t>
            </a:r>
            <a:r>
              <a:rPr lang="en-US" sz="1600" dirty="0" err="1">
                <a:latin typeface="Arial" panose="020B0604020202020204" pitchFamily="34" charset="0"/>
                <a:cs typeface="Arial" panose="020B0604020202020204" pitchFamily="34" charset="0"/>
              </a:rPr>
              <a:t>dựa</a:t>
            </a:r>
            <a:r>
              <a:rPr lang="en-US" sz="1600" dirty="0">
                <a:latin typeface="Arial" panose="020B0604020202020204" pitchFamily="34" charset="0"/>
                <a:cs typeface="Arial" panose="020B0604020202020204" pitchFamily="34" charset="0"/>
              </a:rPr>
              <a:t> </a:t>
            </a:r>
            <a:r>
              <a:rPr lang="en-US" sz="1600" dirty="0" err="1">
                <a:latin typeface="Arial" panose="020B0604020202020204" pitchFamily="34" charset="0"/>
                <a:cs typeface="Arial" panose="020B0604020202020204" pitchFamily="34" charset="0"/>
              </a:rPr>
              <a:t>trên</a:t>
            </a:r>
            <a:r>
              <a:rPr lang="en-US" sz="1600" dirty="0">
                <a:latin typeface="Arial" panose="020B0604020202020204" pitchFamily="34" charset="0"/>
                <a:cs typeface="Arial" panose="020B0604020202020204" pitchFamily="34" charset="0"/>
              </a:rPr>
              <a:t> </a:t>
            </a:r>
            <a:r>
              <a:rPr lang="en-US" sz="1600" dirty="0" err="1">
                <a:latin typeface="Arial" panose="020B0604020202020204" pitchFamily="34" charset="0"/>
                <a:cs typeface="Arial" panose="020B0604020202020204" pitchFamily="34" charset="0"/>
              </a:rPr>
              <a:t>kết</a:t>
            </a:r>
            <a:r>
              <a:rPr lang="en-US" sz="1600" dirty="0">
                <a:latin typeface="Arial" panose="020B0604020202020204" pitchFamily="34" charset="0"/>
                <a:cs typeface="Arial" panose="020B0604020202020204" pitchFamily="34" charset="0"/>
              </a:rPr>
              <a:t> </a:t>
            </a:r>
            <a:r>
              <a:rPr lang="en-US" sz="1600" dirty="0" err="1">
                <a:latin typeface="Arial" panose="020B0604020202020204" pitchFamily="34" charset="0"/>
                <a:cs typeface="Arial" panose="020B0604020202020204" pitchFamily="34" charset="0"/>
              </a:rPr>
              <a:t>quả</a:t>
            </a:r>
            <a:r>
              <a:rPr lang="en-US" sz="1600" dirty="0">
                <a:latin typeface="Arial" panose="020B0604020202020204" pitchFamily="34" charset="0"/>
                <a:cs typeface="Arial" panose="020B0604020202020204" pitchFamily="34" charset="0"/>
              </a:rPr>
              <a:t> </a:t>
            </a:r>
            <a:r>
              <a:rPr lang="en-US" sz="1600" dirty="0" err="1">
                <a:latin typeface="Arial" panose="020B0604020202020204" pitchFamily="34" charset="0"/>
                <a:cs typeface="Arial" panose="020B0604020202020204" pitchFamily="34" charset="0"/>
              </a:rPr>
              <a:t>đánh</a:t>
            </a:r>
            <a:r>
              <a:rPr lang="en-US" sz="1600" dirty="0">
                <a:latin typeface="Arial" panose="020B0604020202020204" pitchFamily="34" charset="0"/>
                <a:cs typeface="Arial" panose="020B0604020202020204" pitchFamily="34" charset="0"/>
              </a:rPr>
              <a:t> </a:t>
            </a:r>
            <a:r>
              <a:rPr lang="en-US" sz="1600" dirty="0" err="1">
                <a:latin typeface="Arial" panose="020B0604020202020204" pitchFamily="34" charset="0"/>
                <a:cs typeface="Arial" panose="020B0604020202020204" pitchFamily="34" charset="0"/>
              </a:rPr>
              <a:t>giá</a:t>
            </a:r>
            <a:r>
              <a:rPr lang="en-US" sz="1600" dirty="0">
                <a:latin typeface="Arial" panose="020B0604020202020204" pitchFamily="34" charset="0"/>
                <a:cs typeface="Arial" panose="020B0604020202020204" pitchFamily="34" charset="0"/>
              </a:rPr>
              <a:t> </a:t>
            </a:r>
            <a:r>
              <a:rPr lang="en-US" sz="1600" dirty="0" err="1">
                <a:latin typeface="Arial" panose="020B0604020202020204" pitchFamily="34" charset="0"/>
                <a:cs typeface="Arial" panose="020B0604020202020204" pitchFamily="34" charset="0"/>
              </a:rPr>
              <a:t>thực</a:t>
            </a:r>
            <a:r>
              <a:rPr lang="en-US" sz="1600" dirty="0">
                <a:latin typeface="Arial" panose="020B0604020202020204" pitchFamily="34" charset="0"/>
                <a:cs typeface="Arial" panose="020B0604020202020204" pitchFamily="34" charset="0"/>
              </a:rPr>
              <a:t> </a:t>
            </a:r>
            <a:r>
              <a:rPr lang="en-US" sz="1600" dirty="0" err="1">
                <a:latin typeface="Arial" panose="020B0604020202020204" pitchFamily="34" charset="0"/>
                <a:cs typeface="Arial" panose="020B0604020202020204" pitchFamily="34" charset="0"/>
              </a:rPr>
              <a:t>hiện</a:t>
            </a:r>
            <a:r>
              <a:rPr lang="en-US" sz="1600" dirty="0">
                <a:latin typeface="Arial" panose="020B0604020202020204" pitchFamily="34" charset="0"/>
                <a:cs typeface="Arial" panose="020B0604020202020204" pitchFamily="34" charset="0"/>
              </a:rPr>
              <a:t> </a:t>
            </a:r>
            <a:r>
              <a:rPr lang="en-US" sz="1600" dirty="0" err="1">
                <a:latin typeface="Arial" panose="020B0604020202020204" pitchFamily="34" charset="0"/>
                <a:cs typeface="Arial" panose="020B0604020202020204" pitchFamily="34" charset="0"/>
              </a:rPr>
              <a:t>công</a:t>
            </a:r>
            <a:r>
              <a:rPr lang="en-US" sz="1600" dirty="0">
                <a:latin typeface="Arial" panose="020B0604020202020204" pitchFamily="34" charset="0"/>
                <a:cs typeface="Arial" panose="020B0604020202020204" pitchFamily="34" charset="0"/>
              </a:rPr>
              <a:t> </a:t>
            </a:r>
            <a:r>
              <a:rPr lang="en-US" sz="1600" dirty="0" err="1">
                <a:latin typeface="Arial" panose="020B0604020202020204" pitchFamily="34" charset="0"/>
                <a:cs typeface="Arial" panose="020B0604020202020204" pitchFamily="34" charset="0"/>
              </a:rPr>
              <a:t>việc</a:t>
            </a:r>
            <a:r>
              <a:rPr lang="en-US" sz="1600" dirty="0">
                <a:latin typeface="Arial" panose="020B0604020202020204" pitchFamily="34" charset="0"/>
                <a:cs typeface="Arial" panose="020B0604020202020204" pitchFamily="34" charset="0"/>
              </a:rPr>
              <a:t> </a:t>
            </a:r>
            <a:r>
              <a:rPr lang="en-US" sz="1600" dirty="0" err="1">
                <a:latin typeface="Arial" panose="020B0604020202020204" pitchFamily="34" charset="0"/>
                <a:cs typeface="Arial" panose="020B0604020202020204" pitchFamily="34" charset="0"/>
              </a:rPr>
              <a:t>tháng</a:t>
            </a:r>
            <a:r>
              <a:rPr lang="en-US" sz="1600" dirty="0">
                <a:latin typeface="Arial" panose="020B0604020202020204" pitchFamily="34" charset="0"/>
                <a:cs typeface="Arial" panose="020B0604020202020204" pitchFamily="34" charset="0"/>
              </a:rPr>
              <a:t> </a:t>
            </a:r>
            <a:r>
              <a:rPr lang="en-US" sz="1600" dirty="0" err="1">
                <a:latin typeface="Arial" panose="020B0604020202020204" pitchFamily="34" charset="0"/>
                <a:cs typeface="Arial" panose="020B0604020202020204" pitchFamily="34" charset="0"/>
              </a:rPr>
              <a:t>trước</a:t>
            </a:r>
            <a:r>
              <a:rPr lang="en-US" sz="1600" dirty="0">
                <a:latin typeface="Arial" panose="020B0604020202020204" pitchFamily="34" charset="0"/>
                <a:cs typeface="Arial" panose="020B0604020202020204" pitchFamily="34" charset="0"/>
              </a:rPr>
              <a:t> </a:t>
            </a:r>
            <a:r>
              <a:rPr lang="en-US" sz="1600" dirty="0" err="1">
                <a:latin typeface="Arial" panose="020B0604020202020204" pitchFamily="34" charset="0"/>
                <a:cs typeface="Arial" panose="020B0604020202020204" pitchFamily="34" charset="0"/>
              </a:rPr>
              <a:t>liền</a:t>
            </a:r>
            <a:r>
              <a:rPr lang="en-US" sz="1600" dirty="0">
                <a:latin typeface="Arial" panose="020B0604020202020204" pitchFamily="34" charset="0"/>
                <a:cs typeface="Arial" panose="020B0604020202020204" pitchFamily="34" charset="0"/>
              </a:rPr>
              <a:t> </a:t>
            </a:r>
            <a:r>
              <a:rPr lang="en-US" sz="1600" dirty="0" err="1">
                <a:latin typeface="Arial" panose="020B0604020202020204" pitchFamily="34" charset="0"/>
                <a:cs typeface="Arial" panose="020B0604020202020204" pitchFamily="34" charset="0"/>
              </a:rPr>
              <a:t>kề</a:t>
            </a:r>
            <a:r>
              <a:rPr lang="en-US" sz="1600" dirty="0">
                <a:latin typeface="Arial" panose="020B0604020202020204" pitchFamily="34" charset="0"/>
                <a:cs typeface="Arial" panose="020B0604020202020204" pitchFamily="34" charset="0"/>
              </a:rPr>
              <a:t> và </a:t>
            </a:r>
            <a:r>
              <a:rPr lang="en-US" sz="1600" dirty="0" err="1">
                <a:latin typeface="Arial" panose="020B0604020202020204" pitchFamily="34" charset="0"/>
                <a:cs typeface="Arial" panose="020B0604020202020204" pitchFamily="34" charset="0"/>
              </a:rPr>
              <a:t>hiệu</a:t>
            </a:r>
            <a:r>
              <a:rPr lang="en-US" sz="1600" dirty="0">
                <a:latin typeface="Arial" panose="020B0604020202020204" pitchFamily="34" charset="0"/>
                <a:cs typeface="Arial" panose="020B0604020202020204" pitchFamily="34" charset="0"/>
              </a:rPr>
              <a:t> </a:t>
            </a:r>
            <a:r>
              <a:rPr lang="en-US" sz="1600" dirty="0" err="1">
                <a:latin typeface="Arial" panose="020B0604020202020204" pitchFamily="34" charset="0"/>
                <a:cs typeface="Arial" panose="020B0604020202020204" pitchFamily="34" charset="0"/>
              </a:rPr>
              <a:t>quả</a:t>
            </a:r>
            <a:r>
              <a:rPr lang="en-US" sz="1600" dirty="0">
                <a:latin typeface="Arial" panose="020B0604020202020204" pitchFamily="34" charset="0"/>
                <a:cs typeface="Arial" panose="020B0604020202020204" pitchFamily="34" charset="0"/>
              </a:rPr>
              <a:t> </a:t>
            </a:r>
            <a:r>
              <a:rPr lang="en-US" sz="1600" dirty="0" err="1">
                <a:latin typeface="Arial" panose="020B0604020202020204" pitchFamily="34" charset="0"/>
                <a:cs typeface="Arial" panose="020B0604020202020204" pitchFamily="34" charset="0"/>
              </a:rPr>
              <a:t>dự</a:t>
            </a:r>
            <a:r>
              <a:rPr lang="en-US" sz="1600" dirty="0">
                <a:latin typeface="Arial" panose="020B0604020202020204" pitchFamily="34" charset="0"/>
                <a:cs typeface="Arial" panose="020B0604020202020204" pitchFamily="34" charset="0"/>
              </a:rPr>
              <a:t> </a:t>
            </a:r>
            <a:r>
              <a:rPr lang="en-US" sz="1600" dirty="0" err="1">
                <a:latin typeface="Arial" panose="020B0604020202020204" pitchFamily="34" charset="0"/>
                <a:cs typeface="Arial" panose="020B0604020202020204" pitchFamily="34" charset="0"/>
              </a:rPr>
              <a:t>án</a:t>
            </a:r>
            <a:endParaRPr lang="en-US" sz="1600" dirty="0">
              <a:latin typeface="Arial" panose="020B0604020202020204" pitchFamily="34" charset="0"/>
              <a:cs typeface="Arial" panose="020B0604020202020204" pitchFamily="34" charset="0"/>
            </a:endParaRPr>
          </a:p>
        </p:txBody>
      </p:sp>
      <p:sp>
        <p:nvSpPr>
          <p:cNvPr id="36" name="Rectangle 35"/>
          <p:cNvSpPr/>
          <p:nvPr/>
        </p:nvSpPr>
        <p:spPr>
          <a:xfrm>
            <a:off x="1333896" y="337458"/>
            <a:ext cx="9823541" cy="954107"/>
          </a:xfrm>
          <a:prstGeom prst="rect">
            <a:avLst/>
          </a:prstGeom>
        </p:spPr>
        <p:txBody>
          <a:bodyPr wrap="square">
            <a:spAutoFit/>
          </a:bodyPr>
          <a:lstStyle/>
          <a:p>
            <a:r>
              <a:rPr lang="vi-VN" sz="2800" b="1" dirty="0">
                <a:solidFill>
                  <a:schemeClr val="bg1"/>
                </a:solidFill>
                <a:latin typeface="Verdana" panose="020B0604030504040204" pitchFamily="34" charset="0"/>
                <a:ea typeface="Verdana" panose="020B0604030504040204" pitchFamily="34" charset="0"/>
              </a:rPr>
              <a:t>3. Cơ sở và xây dựng hệ thống</a:t>
            </a:r>
            <a:endParaRPr lang="en-US" sz="2800" b="1" dirty="0">
              <a:solidFill>
                <a:schemeClr val="bg1"/>
              </a:solidFill>
              <a:latin typeface="Verdana" panose="020B0604030504040204" pitchFamily="34" charset="0"/>
              <a:ea typeface="Verdana" panose="020B0604030504040204" pitchFamily="34" charset="0"/>
            </a:endParaRPr>
          </a:p>
          <a:p>
            <a:endParaRPr lang="en-US" sz="2800" b="1" dirty="0">
              <a:solidFill>
                <a:schemeClr val="bg1"/>
              </a:solidFill>
              <a:latin typeface="Verdana" panose="020B0604030504040204" pitchFamily="34" charset="0"/>
              <a:ea typeface="Verdana" panose="020B0604030504040204" pitchFamily="34" charset="0"/>
            </a:endParaRPr>
          </a:p>
        </p:txBody>
      </p:sp>
      <p:sp>
        <p:nvSpPr>
          <p:cNvPr id="41" name="TextBox 40"/>
          <p:cNvSpPr txBox="1"/>
          <p:nvPr/>
        </p:nvSpPr>
        <p:spPr>
          <a:xfrm>
            <a:off x="6355471" y="4008319"/>
            <a:ext cx="1585443" cy="1077218"/>
          </a:xfrm>
          <a:prstGeom prst="rect">
            <a:avLst/>
          </a:prstGeom>
          <a:noFill/>
          <a:ln>
            <a:noFill/>
          </a:ln>
        </p:spPr>
        <p:txBody>
          <a:bodyPr wrap="square" rtlCol="0">
            <a:spAutoFit/>
          </a:bodyPr>
          <a:lstStyle/>
          <a:p>
            <a:r>
              <a:rPr lang="en-US" sz="1600" b="1" dirty="0" err="1">
                <a:solidFill>
                  <a:srgbClr val="C00000"/>
                </a:solidFill>
                <a:latin typeface="Sinkin Sans 600 SemiBold"/>
              </a:rPr>
              <a:t>Thưởng</a:t>
            </a:r>
            <a:r>
              <a:rPr lang="en-US" sz="1600" b="1" dirty="0">
                <a:solidFill>
                  <a:srgbClr val="C00000"/>
                </a:solidFill>
                <a:latin typeface="Sinkin Sans 600 SemiBold"/>
              </a:rPr>
              <a:t> HQDA</a:t>
            </a:r>
            <a:r>
              <a:rPr lang="vi-VN" sz="1600" b="1" dirty="0">
                <a:solidFill>
                  <a:srgbClr val="C00000"/>
                </a:solidFill>
                <a:latin typeface="Sinkin Sans 600 SemiBold"/>
              </a:rPr>
              <a:t> cá nhân giai đoạn</a:t>
            </a:r>
            <a:endParaRPr lang="en-US" sz="1600" b="1" dirty="0">
              <a:solidFill>
                <a:srgbClr val="C00000"/>
              </a:solidFill>
              <a:latin typeface="Sinkin Sans 600 SemiBold"/>
            </a:endParaRPr>
          </a:p>
        </p:txBody>
      </p:sp>
      <p:sp>
        <p:nvSpPr>
          <p:cNvPr id="42" name="TextBox 41"/>
          <p:cNvSpPr txBox="1"/>
          <p:nvPr/>
        </p:nvSpPr>
        <p:spPr>
          <a:xfrm>
            <a:off x="7535424" y="4171281"/>
            <a:ext cx="1562204" cy="830997"/>
          </a:xfrm>
          <a:prstGeom prst="rect">
            <a:avLst/>
          </a:prstGeom>
          <a:noFill/>
          <a:ln>
            <a:noFill/>
          </a:ln>
        </p:spPr>
        <p:txBody>
          <a:bodyPr wrap="square" rtlCol="0">
            <a:spAutoFit/>
          </a:bodyPr>
          <a:lstStyle/>
          <a:p>
            <a:r>
              <a:rPr lang="en-US" sz="1600" b="1" dirty="0" err="1">
                <a:solidFill>
                  <a:srgbClr val="C00000"/>
                </a:solidFill>
                <a:latin typeface="Sinkin Sans 600 SemiBold"/>
              </a:rPr>
              <a:t>Quỹ</a:t>
            </a:r>
            <a:r>
              <a:rPr lang="en-US" sz="1600" b="1" dirty="0">
                <a:solidFill>
                  <a:srgbClr val="C00000"/>
                </a:solidFill>
                <a:latin typeface="Sinkin Sans 600 SemiBold"/>
              </a:rPr>
              <a:t> </a:t>
            </a:r>
            <a:r>
              <a:rPr lang="en-US" sz="1600" b="1" dirty="0" err="1">
                <a:solidFill>
                  <a:srgbClr val="C00000"/>
                </a:solidFill>
                <a:latin typeface="Sinkin Sans 600 SemiBold"/>
              </a:rPr>
              <a:t>thưởng</a:t>
            </a:r>
            <a:r>
              <a:rPr lang="en-US" sz="1600" b="1" dirty="0">
                <a:solidFill>
                  <a:srgbClr val="C00000"/>
                </a:solidFill>
                <a:latin typeface="Sinkin Sans 600 SemiBold"/>
              </a:rPr>
              <a:t> </a:t>
            </a:r>
            <a:r>
              <a:rPr lang="vi-VN" sz="1600" b="1" dirty="0">
                <a:solidFill>
                  <a:srgbClr val="C00000"/>
                </a:solidFill>
                <a:latin typeface="Sinkin Sans 600 SemiBold"/>
              </a:rPr>
              <a:t>HQDA</a:t>
            </a:r>
            <a:r>
              <a:rPr lang="en-US" sz="1600" b="1" dirty="0">
                <a:solidFill>
                  <a:srgbClr val="C00000"/>
                </a:solidFill>
                <a:latin typeface="Sinkin Sans 600 SemiBold"/>
              </a:rPr>
              <a:t> </a:t>
            </a:r>
            <a:r>
              <a:rPr lang="en-US" sz="1600" b="1" dirty="0" err="1">
                <a:solidFill>
                  <a:srgbClr val="C00000"/>
                </a:solidFill>
                <a:latin typeface="Sinkin Sans 600 SemiBold"/>
              </a:rPr>
              <a:t>giai</a:t>
            </a:r>
            <a:r>
              <a:rPr lang="en-US" sz="1600" b="1" dirty="0">
                <a:solidFill>
                  <a:srgbClr val="C00000"/>
                </a:solidFill>
                <a:latin typeface="Sinkin Sans 600 SemiBold"/>
              </a:rPr>
              <a:t> </a:t>
            </a:r>
            <a:r>
              <a:rPr lang="en-US" sz="1600" b="1" dirty="0" err="1">
                <a:solidFill>
                  <a:srgbClr val="C00000"/>
                </a:solidFill>
                <a:latin typeface="Sinkin Sans 600 SemiBold"/>
              </a:rPr>
              <a:t>đoạn</a:t>
            </a:r>
            <a:r>
              <a:rPr lang="vi-VN" sz="1600" b="1" dirty="0">
                <a:solidFill>
                  <a:srgbClr val="C00000"/>
                </a:solidFill>
                <a:latin typeface="Sinkin Sans 600 SemiBold"/>
              </a:rPr>
              <a:t> của DA</a:t>
            </a:r>
            <a:r>
              <a:rPr lang="en-US" sz="1600" b="1" dirty="0">
                <a:solidFill>
                  <a:srgbClr val="C00000"/>
                </a:solidFill>
                <a:latin typeface="Sinkin Sans 600 SemiBold"/>
              </a:rPr>
              <a:t> </a:t>
            </a:r>
          </a:p>
        </p:txBody>
      </p:sp>
      <p:sp>
        <p:nvSpPr>
          <p:cNvPr id="44" name="TextBox 43"/>
          <p:cNvSpPr txBox="1"/>
          <p:nvPr/>
        </p:nvSpPr>
        <p:spPr>
          <a:xfrm>
            <a:off x="9228258" y="4606446"/>
            <a:ext cx="2095928" cy="338554"/>
          </a:xfrm>
          <a:prstGeom prst="rect">
            <a:avLst/>
          </a:prstGeom>
          <a:noFill/>
          <a:ln>
            <a:noFill/>
          </a:ln>
        </p:spPr>
        <p:txBody>
          <a:bodyPr wrap="square" rtlCol="0">
            <a:spAutoFit/>
          </a:bodyPr>
          <a:lstStyle/>
          <a:p>
            <a:pPr algn="ctr"/>
            <a:r>
              <a:rPr lang="en-US" sz="1600" b="1" dirty="0" err="1">
                <a:solidFill>
                  <a:srgbClr val="C00000"/>
                </a:solidFill>
                <a:latin typeface="Sinkin Sans 600 SemiBold"/>
              </a:rPr>
              <a:t>Tổng</a:t>
            </a:r>
            <a:r>
              <a:rPr lang="en-US" sz="1600" b="1" dirty="0">
                <a:solidFill>
                  <a:srgbClr val="C00000"/>
                </a:solidFill>
                <a:latin typeface="Sinkin Sans 600 SemiBold"/>
              </a:rPr>
              <a:t> </a:t>
            </a:r>
            <a:r>
              <a:rPr lang="en-US" sz="1600" b="1" dirty="0" err="1">
                <a:solidFill>
                  <a:srgbClr val="C00000"/>
                </a:solidFill>
                <a:latin typeface="Sinkin Sans 600 SemiBold"/>
              </a:rPr>
              <a:t>điểm</a:t>
            </a:r>
            <a:r>
              <a:rPr lang="en-US" sz="1600" b="1" dirty="0">
                <a:solidFill>
                  <a:srgbClr val="C00000"/>
                </a:solidFill>
                <a:latin typeface="Sinkin Sans 600 SemiBold"/>
              </a:rPr>
              <a:t> </a:t>
            </a:r>
            <a:r>
              <a:rPr lang="en-US" sz="1600" b="1" dirty="0" err="1">
                <a:solidFill>
                  <a:srgbClr val="C00000"/>
                </a:solidFill>
                <a:latin typeface="Sinkin Sans 600 SemiBold"/>
              </a:rPr>
              <a:t>dự</a:t>
            </a:r>
            <a:r>
              <a:rPr lang="en-US" sz="1600" b="1" dirty="0">
                <a:solidFill>
                  <a:srgbClr val="C00000"/>
                </a:solidFill>
                <a:latin typeface="Sinkin Sans 600 SemiBold"/>
              </a:rPr>
              <a:t> </a:t>
            </a:r>
            <a:r>
              <a:rPr lang="en-US" sz="1600" b="1" dirty="0" err="1">
                <a:solidFill>
                  <a:srgbClr val="C00000"/>
                </a:solidFill>
                <a:latin typeface="Sinkin Sans 600 SemiBold"/>
              </a:rPr>
              <a:t>án</a:t>
            </a:r>
            <a:endParaRPr lang="en-US" sz="1600" b="1" dirty="0">
              <a:solidFill>
                <a:srgbClr val="C00000"/>
              </a:solidFill>
              <a:latin typeface="Sinkin Sans 600 SemiBold"/>
            </a:endParaRPr>
          </a:p>
        </p:txBody>
      </p:sp>
      <p:sp>
        <p:nvSpPr>
          <p:cNvPr id="45" name="TextBox 44"/>
          <p:cNvSpPr txBox="1"/>
          <p:nvPr/>
        </p:nvSpPr>
        <p:spPr>
          <a:xfrm>
            <a:off x="9231047" y="4223365"/>
            <a:ext cx="2095928" cy="338554"/>
          </a:xfrm>
          <a:prstGeom prst="rect">
            <a:avLst/>
          </a:prstGeom>
          <a:noFill/>
          <a:ln>
            <a:noFill/>
          </a:ln>
        </p:spPr>
        <p:txBody>
          <a:bodyPr wrap="square" rtlCol="0">
            <a:spAutoFit/>
          </a:bodyPr>
          <a:lstStyle/>
          <a:p>
            <a:pPr algn="ctr"/>
            <a:r>
              <a:rPr lang="en-US" sz="1600" b="1" dirty="0" err="1">
                <a:solidFill>
                  <a:srgbClr val="C00000"/>
                </a:solidFill>
                <a:latin typeface="Sinkin Sans 600 SemiBold"/>
              </a:rPr>
              <a:t>Điểm</a:t>
            </a:r>
            <a:r>
              <a:rPr lang="en-US" sz="1600" b="1" dirty="0">
                <a:solidFill>
                  <a:srgbClr val="C00000"/>
                </a:solidFill>
                <a:latin typeface="Sinkin Sans 600 SemiBold"/>
              </a:rPr>
              <a:t> </a:t>
            </a:r>
            <a:r>
              <a:rPr lang="en-US" sz="1600" b="1" dirty="0" err="1">
                <a:solidFill>
                  <a:srgbClr val="C00000"/>
                </a:solidFill>
                <a:latin typeface="Sinkin Sans 600 SemiBold"/>
              </a:rPr>
              <a:t>cá</a:t>
            </a:r>
            <a:r>
              <a:rPr lang="en-US" sz="1600" b="1" dirty="0">
                <a:solidFill>
                  <a:srgbClr val="C00000"/>
                </a:solidFill>
                <a:latin typeface="Sinkin Sans 600 SemiBold"/>
              </a:rPr>
              <a:t> </a:t>
            </a:r>
            <a:r>
              <a:rPr lang="en-US" sz="1600" b="1" dirty="0" err="1">
                <a:solidFill>
                  <a:srgbClr val="C00000"/>
                </a:solidFill>
                <a:latin typeface="Sinkin Sans 600 SemiBold"/>
              </a:rPr>
              <a:t>nhân</a:t>
            </a:r>
            <a:endParaRPr lang="en-US" sz="1600" b="1" dirty="0">
              <a:solidFill>
                <a:srgbClr val="C00000"/>
              </a:solidFill>
              <a:latin typeface="Sinkin Sans 600 SemiBold"/>
            </a:endParaRPr>
          </a:p>
        </p:txBody>
      </p:sp>
      <p:cxnSp>
        <p:nvCxnSpPr>
          <p:cNvPr id="46" name="Straight Connector 45"/>
          <p:cNvCxnSpPr/>
          <p:nvPr/>
        </p:nvCxnSpPr>
        <p:spPr>
          <a:xfrm flipH="1">
            <a:off x="9310180" y="4584796"/>
            <a:ext cx="2108304" cy="0"/>
          </a:xfrm>
          <a:prstGeom prst="line">
            <a:avLst/>
          </a:prstGeom>
          <a:ln w="19050" cap="rnd">
            <a:solidFill>
              <a:schemeClr val="tx2"/>
            </a:solidFill>
            <a:prstDash val="solid"/>
            <a:round/>
            <a:headEnd type="none" w="lg" len="lg"/>
            <a:tailEnd type="none"/>
          </a:ln>
        </p:spPr>
        <p:style>
          <a:lnRef idx="1">
            <a:schemeClr val="accent1"/>
          </a:lnRef>
          <a:fillRef idx="0">
            <a:schemeClr val="accent1"/>
          </a:fillRef>
          <a:effectRef idx="0">
            <a:schemeClr val="accent1"/>
          </a:effectRef>
          <a:fontRef idx="minor">
            <a:schemeClr val="tx1"/>
          </a:fontRef>
        </p:style>
      </p:cxnSp>
      <p:sp>
        <p:nvSpPr>
          <p:cNvPr id="47" name="TextBox 46"/>
          <p:cNvSpPr txBox="1"/>
          <p:nvPr/>
        </p:nvSpPr>
        <p:spPr>
          <a:xfrm>
            <a:off x="8943053" y="4401454"/>
            <a:ext cx="284079" cy="338554"/>
          </a:xfrm>
          <a:prstGeom prst="rect">
            <a:avLst/>
          </a:prstGeom>
          <a:noFill/>
          <a:ln>
            <a:noFill/>
          </a:ln>
        </p:spPr>
        <p:txBody>
          <a:bodyPr wrap="square" rtlCol="0">
            <a:spAutoFit/>
          </a:bodyPr>
          <a:lstStyle/>
          <a:p>
            <a:r>
              <a:rPr lang="en-US" sz="1600" b="1" dirty="0">
                <a:solidFill>
                  <a:srgbClr val="C00000"/>
                </a:solidFill>
                <a:latin typeface="Sinkin Sans 600 SemiBold"/>
              </a:rPr>
              <a:t>x</a:t>
            </a:r>
          </a:p>
        </p:txBody>
      </p:sp>
      <p:sp>
        <p:nvSpPr>
          <p:cNvPr id="37" name="TextBox 36"/>
          <p:cNvSpPr txBox="1"/>
          <p:nvPr/>
        </p:nvSpPr>
        <p:spPr>
          <a:xfrm>
            <a:off x="7290042" y="4383988"/>
            <a:ext cx="284079" cy="400110"/>
          </a:xfrm>
          <a:prstGeom prst="rect">
            <a:avLst/>
          </a:prstGeom>
          <a:noFill/>
          <a:ln>
            <a:noFill/>
          </a:ln>
        </p:spPr>
        <p:txBody>
          <a:bodyPr wrap="square" rtlCol="0">
            <a:spAutoFit/>
          </a:bodyPr>
          <a:lstStyle/>
          <a:p>
            <a:r>
              <a:rPr lang="en-US" sz="2000" b="1" dirty="0">
                <a:solidFill>
                  <a:srgbClr val="C00000"/>
                </a:solidFill>
                <a:latin typeface="Sinkin Sans 600 SemiBold"/>
              </a:rPr>
              <a:t>=</a:t>
            </a:r>
          </a:p>
        </p:txBody>
      </p:sp>
      <p:sp>
        <p:nvSpPr>
          <p:cNvPr id="38" name="TextBox 37"/>
          <p:cNvSpPr txBox="1"/>
          <p:nvPr/>
        </p:nvSpPr>
        <p:spPr>
          <a:xfrm>
            <a:off x="6400004" y="5197010"/>
            <a:ext cx="1585443" cy="1077218"/>
          </a:xfrm>
          <a:prstGeom prst="rect">
            <a:avLst/>
          </a:prstGeom>
          <a:noFill/>
          <a:ln>
            <a:noFill/>
          </a:ln>
        </p:spPr>
        <p:txBody>
          <a:bodyPr wrap="square" rtlCol="0">
            <a:spAutoFit/>
          </a:bodyPr>
          <a:lstStyle/>
          <a:p>
            <a:r>
              <a:rPr lang="en-US" sz="1600" b="1" dirty="0" err="1">
                <a:solidFill>
                  <a:srgbClr val="FF0000"/>
                </a:solidFill>
                <a:latin typeface="Sinkin Sans 600 SemiBold"/>
              </a:rPr>
              <a:t>Thưởng</a:t>
            </a:r>
            <a:r>
              <a:rPr lang="en-US" sz="1600" b="1" dirty="0">
                <a:solidFill>
                  <a:srgbClr val="FF0000"/>
                </a:solidFill>
                <a:latin typeface="Sinkin Sans 600 SemiBold"/>
              </a:rPr>
              <a:t> HQDA</a:t>
            </a:r>
            <a:r>
              <a:rPr lang="vi-VN" sz="1600" b="1" dirty="0">
                <a:solidFill>
                  <a:srgbClr val="FF0000"/>
                </a:solidFill>
                <a:latin typeface="Sinkin Sans 600 SemiBold"/>
              </a:rPr>
              <a:t> cá nhân giai doạn còn lại</a:t>
            </a:r>
            <a:endParaRPr lang="en-US" sz="1600" b="1" dirty="0">
              <a:solidFill>
                <a:srgbClr val="FF0000"/>
              </a:solidFill>
              <a:latin typeface="Sinkin Sans 600 SemiBold"/>
            </a:endParaRPr>
          </a:p>
        </p:txBody>
      </p:sp>
      <p:sp>
        <p:nvSpPr>
          <p:cNvPr id="43" name="TextBox 42"/>
          <p:cNvSpPr txBox="1"/>
          <p:nvPr/>
        </p:nvSpPr>
        <p:spPr>
          <a:xfrm>
            <a:off x="8316373" y="5241627"/>
            <a:ext cx="1562204" cy="1077218"/>
          </a:xfrm>
          <a:prstGeom prst="rect">
            <a:avLst/>
          </a:prstGeom>
          <a:noFill/>
          <a:ln>
            <a:noFill/>
          </a:ln>
        </p:spPr>
        <p:txBody>
          <a:bodyPr wrap="square" rtlCol="0">
            <a:spAutoFit/>
          </a:bodyPr>
          <a:lstStyle/>
          <a:p>
            <a:r>
              <a:rPr lang="en-US" sz="1600" b="1" dirty="0" err="1">
                <a:solidFill>
                  <a:srgbClr val="FF0000"/>
                </a:solidFill>
                <a:latin typeface="Sinkin Sans 600 SemiBold"/>
              </a:rPr>
              <a:t>Quỹ</a:t>
            </a:r>
            <a:r>
              <a:rPr lang="en-US" sz="1600" b="1" dirty="0">
                <a:solidFill>
                  <a:srgbClr val="FF0000"/>
                </a:solidFill>
                <a:latin typeface="Sinkin Sans 600 SemiBold"/>
              </a:rPr>
              <a:t> </a:t>
            </a:r>
            <a:r>
              <a:rPr lang="en-US" sz="1600" b="1" dirty="0" err="1">
                <a:solidFill>
                  <a:srgbClr val="FF0000"/>
                </a:solidFill>
                <a:latin typeface="Sinkin Sans 600 SemiBold"/>
              </a:rPr>
              <a:t>thưởng</a:t>
            </a:r>
            <a:r>
              <a:rPr lang="en-US" sz="1600" b="1" dirty="0">
                <a:solidFill>
                  <a:srgbClr val="FF0000"/>
                </a:solidFill>
                <a:latin typeface="Sinkin Sans 600 SemiBold"/>
              </a:rPr>
              <a:t> </a:t>
            </a:r>
            <a:r>
              <a:rPr lang="vi-VN" sz="1600" b="1" dirty="0">
                <a:solidFill>
                  <a:srgbClr val="FF0000"/>
                </a:solidFill>
                <a:latin typeface="Sinkin Sans 600 SemiBold"/>
              </a:rPr>
              <a:t>HQDA</a:t>
            </a:r>
            <a:r>
              <a:rPr lang="en-US" sz="1600" b="1" dirty="0">
                <a:solidFill>
                  <a:srgbClr val="FF0000"/>
                </a:solidFill>
                <a:latin typeface="Sinkin Sans 600 SemiBold"/>
              </a:rPr>
              <a:t> </a:t>
            </a:r>
            <a:r>
              <a:rPr lang="vi-VN" sz="1600" b="1" dirty="0">
                <a:solidFill>
                  <a:srgbClr val="FF0000"/>
                </a:solidFill>
                <a:latin typeface="Sinkin Sans 600 SemiBold"/>
              </a:rPr>
              <a:t>cá nhân</a:t>
            </a:r>
            <a:r>
              <a:rPr lang="en-US" sz="1600" b="1" dirty="0">
                <a:solidFill>
                  <a:srgbClr val="FF0000"/>
                </a:solidFill>
                <a:latin typeface="Sinkin Sans 600 SemiBold"/>
              </a:rPr>
              <a:t> </a:t>
            </a:r>
            <a:r>
              <a:rPr lang="vi-VN" sz="1600" b="1" dirty="0">
                <a:solidFill>
                  <a:srgbClr val="FF0000"/>
                </a:solidFill>
                <a:latin typeface="Sinkin Sans 600 SemiBold"/>
              </a:rPr>
              <a:t>giai đoạn</a:t>
            </a:r>
            <a:endParaRPr lang="en-US" sz="1600" b="1" dirty="0">
              <a:solidFill>
                <a:srgbClr val="FF0000"/>
              </a:solidFill>
              <a:latin typeface="Sinkin Sans 600 SemiBold"/>
            </a:endParaRPr>
          </a:p>
        </p:txBody>
      </p:sp>
      <p:sp>
        <p:nvSpPr>
          <p:cNvPr id="48" name="TextBox 47"/>
          <p:cNvSpPr txBox="1"/>
          <p:nvPr/>
        </p:nvSpPr>
        <p:spPr>
          <a:xfrm>
            <a:off x="7864207" y="5487849"/>
            <a:ext cx="284079" cy="400110"/>
          </a:xfrm>
          <a:prstGeom prst="rect">
            <a:avLst/>
          </a:prstGeom>
          <a:noFill/>
          <a:ln>
            <a:noFill/>
          </a:ln>
        </p:spPr>
        <p:txBody>
          <a:bodyPr wrap="square" rtlCol="0">
            <a:spAutoFit/>
          </a:bodyPr>
          <a:lstStyle/>
          <a:p>
            <a:r>
              <a:rPr lang="en-US" sz="2000" b="1" dirty="0">
                <a:solidFill>
                  <a:srgbClr val="FF0000"/>
                </a:solidFill>
                <a:latin typeface="Sinkin Sans 600 SemiBold"/>
              </a:rPr>
              <a:t>=</a:t>
            </a:r>
          </a:p>
        </p:txBody>
      </p:sp>
      <p:sp>
        <p:nvSpPr>
          <p:cNvPr id="49" name="TextBox 48"/>
          <p:cNvSpPr txBox="1"/>
          <p:nvPr/>
        </p:nvSpPr>
        <p:spPr>
          <a:xfrm>
            <a:off x="10372342" y="5203320"/>
            <a:ext cx="1562204" cy="1323439"/>
          </a:xfrm>
          <a:prstGeom prst="rect">
            <a:avLst/>
          </a:prstGeom>
          <a:noFill/>
          <a:ln>
            <a:noFill/>
          </a:ln>
        </p:spPr>
        <p:txBody>
          <a:bodyPr wrap="square" rtlCol="0">
            <a:spAutoFit/>
          </a:bodyPr>
          <a:lstStyle/>
          <a:p>
            <a:r>
              <a:rPr lang="vi-VN" sz="1600" b="1" dirty="0">
                <a:solidFill>
                  <a:srgbClr val="FF0000"/>
                </a:solidFill>
                <a:latin typeface="Sinkin Sans 600 SemiBold"/>
              </a:rPr>
              <a:t>Tổng tạm ứng thưởng HQDA đã nhận trong giai đoạn</a:t>
            </a:r>
            <a:endParaRPr lang="en-US" sz="1600" b="1" dirty="0">
              <a:solidFill>
                <a:srgbClr val="FF0000"/>
              </a:solidFill>
              <a:latin typeface="Sinkin Sans 600 SemiBold"/>
            </a:endParaRPr>
          </a:p>
        </p:txBody>
      </p:sp>
      <p:sp>
        <p:nvSpPr>
          <p:cNvPr id="50" name="TextBox 49"/>
          <p:cNvSpPr txBox="1"/>
          <p:nvPr/>
        </p:nvSpPr>
        <p:spPr>
          <a:xfrm>
            <a:off x="9861000" y="5487849"/>
            <a:ext cx="348503" cy="400110"/>
          </a:xfrm>
          <a:prstGeom prst="rect">
            <a:avLst/>
          </a:prstGeom>
          <a:noFill/>
          <a:ln>
            <a:noFill/>
          </a:ln>
        </p:spPr>
        <p:txBody>
          <a:bodyPr wrap="square" rtlCol="0">
            <a:spAutoFit/>
          </a:bodyPr>
          <a:lstStyle/>
          <a:p>
            <a:r>
              <a:rPr lang="vi-VN" sz="2000" b="1" dirty="0">
                <a:solidFill>
                  <a:srgbClr val="FF0000"/>
                </a:solidFill>
                <a:latin typeface="Sinkin Sans 600 SemiBold"/>
              </a:rPr>
              <a:t>-</a:t>
            </a:r>
            <a:endParaRPr lang="en-US" sz="2000" b="1" dirty="0">
              <a:solidFill>
                <a:srgbClr val="FF0000"/>
              </a:solidFill>
              <a:latin typeface="Sinkin Sans 600 SemiBold"/>
            </a:endParaRPr>
          </a:p>
        </p:txBody>
      </p:sp>
      <p:sp>
        <p:nvSpPr>
          <p:cNvPr id="39" name="TextBox 38">
            <a:extLst>
              <a:ext uri="{FF2B5EF4-FFF2-40B4-BE49-F238E27FC236}">
                <a16:creationId xmlns:a16="http://schemas.microsoft.com/office/drawing/2014/main" id="{C6CFC538-3AF0-4AA1-8741-1CE6B74D5268}"/>
              </a:ext>
            </a:extLst>
          </p:cNvPr>
          <p:cNvSpPr txBox="1"/>
          <p:nvPr/>
        </p:nvSpPr>
        <p:spPr>
          <a:xfrm>
            <a:off x="8316373" y="6395790"/>
            <a:ext cx="3350057" cy="338554"/>
          </a:xfrm>
          <a:prstGeom prst="rect">
            <a:avLst/>
          </a:prstGeom>
          <a:noFill/>
        </p:spPr>
        <p:txBody>
          <a:bodyPr wrap="square">
            <a:spAutoFit/>
          </a:bodyPr>
          <a:lstStyle/>
          <a:p>
            <a:r>
              <a:rPr lang="en-US" sz="1600" i="1" dirty="0">
                <a:solidFill>
                  <a:schemeClr val="accent1">
                    <a:lumMod val="50000"/>
                  </a:schemeClr>
                </a:solidFill>
                <a:latin typeface="Lato Regular"/>
              </a:rPr>
              <a:t>(</a:t>
            </a:r>
            <a:r>
              <a:rPr lang="en-US" sz="1600" i="1" dirty="0" err="1">
                <a:solidFill>
                  <a:schemeClr val="accent1">
                    <a:lumMod val="50000"/>
                  </a:schemeClr>
                </a:solidFill>
                <a:latin typeface="Lato Regular"/>
              </a:rPr>
              <a:t>Nguồn</a:t>
            </a:r>
            <a:r>
              <a:rPr lang="en-US" sz="1600" i="1" dirty="0">
                <a:solidFill>
                  <a:schemeClr val="accent1">
                    <a:lumMod val="50000"/>
                  </a:schemeClr>
                </a:solidFill>
                <a:latin typeface="Lato Regular"/>
              </a:rPr>
              <a:t>: Ban </a:t>
            </a:r>
            <a:r>
              <a:rPr lang="en-US" sz="1600" i="1" dirty="0" err="1">
                <a:solidFill>
                  <a:schemeClr val="accent1">
                    <a:lumMod val="50000"/>
                  </a:schemeClr>
                </a:solidFill>
                <a:latin typeface="Lato Regular"/>
              </a:rPr>
              <a:t>quản</a:t>
            </a:r>
            <a:r>
              <a:rPr lang="en-US" sz="1600" i="1" dirty="0">
                <a:solidFill>
                  <a:schemeClr val="accent1">
                    <a:lumMod val="50000"/>
                  </a:schemeClr>
                </a:solidFill>
                <a:latin typeface="Lato Regular"/>
              </a:rPr>
              <a:t> </a:t>
            </a:r>
            <a:r>
              <a:rPr lang="en-US" sz="1600" i="1" dirty="0" err="1">
                <a:solidFill>
                  <a:schemeClr val="accent1">
                    <a:lumMod val="50000"/>
                  </a:schemeClr>
                </a:solidFill>
                <a:latin typeface="Lato Regular"/>
              </a:rPr>
              <a:t>lý</a:t>
            </a:r>
            <a:r>
              <a:rPr lang="en-US" sz="1600" i="1" dirty="0">
                <a:solidFill>
                  <a:schemeClr val="accent1">
                    <a:lumMod val="50000"/>
                  </a:schemeClr>
                </a:solidFill>
                <a:latin typeface="Lato Regular"/>
              </a:rPr>
              <a:t> </a:t>
            </a:r>
            <a:r>
              <a:rPr lang="en-US" sz="1600" i="1" dirty="0" err="1">
                <a:solidFill>
                  <a:schemeClr val="accent1">
                    <a:lumMod val="50000"/>
                  </a:schemeClr>
                </a:solidFill>
                <a:latin typeface="Lato Regular"/>
              </a:rPr>
              <a:t>sản</a:t>
            </a:r>
            <a:r>
              <a:rPr lang="en-US" sz="1600" i="1" dirty="0">
                <a:solidFill>
                  <a:schemeClr val="accent1">
                    <a:lumMod val="50000"/>
                  </a:schemeClr>
                </a:solidFill>
                <a:latin typeface="Lato Regular"/>
              </a:rPr>
              <a:t> </a:t>
            </a:r>
            <a:r>
              <a:rPr lang="en-US" sz="1600" i="1" dirty="0" err="1">
                <a:solidFill>
                  <a:schemeClr val="accent1">
                    <a:lumMod val="50000"/>
                  </a:schemeClr>
                </a:solidFill>
                <a:latin typeface="Lato Regular"/>
              </a:rPr>
              <a:t>xuất</a:t>
            </a:r>
            <a:r>
              <a:rPr lang="en-US" sz="1600" i="1" dirty="0">
                <a:solidFill>
                  <a:schemeClr val="accent1">
                    <a:lumMod val="50000"/>
                  </a:schemeClr>
                </a:solidFill>
                <a:latin typeface="Lato Regular"/>
              </a:rPr>
              <a:t> FIS)</a:t>
            </a:r>
            <a:r>
              <a:rPr lang="vi-VN" sz="1600" i="1" kern="1200" dirty="0">
                <a:solidFill>
                  <a:schemeClr val="accent1">
                    <a:lumMod val="50000"/>
                  </a:schemeClr>
                </a:solidFill>
                <a:latin typeface="Lato Regular"/>
                <a:ea typeface="+mn-ea"/>
                <a:cs typeface="+mn-cs"/>
              </a:rPr>
              <a:t> </a:t>
            </a:r>
            <a:endParaRPr lang="en-US" sz="1600" i="1" dirty="0"/>
          </a:p>
        </p:txBody>
      </p:sp>
      <p:sp>
        <p:nvSpPr>
          <p:cNvPr id="40" name="TextBox 39">
            <a:extLst>
              <a:ext uri="{FF2B5EF4-FFF2-40B4-BE49-F238E27FC236}">
                <a16:creationId xmlns:a16="http://schemas.microsoft.com/office/drawing/2014/main" id="{0FBAFD92-A5F9-438D-B70D-E1E37E7BBDCC}"/>
              </a:ext>
            </a:extLst>
          </p:cNvPr>
          <p:cNvSpPr txBox="1"/>
          <p:nvPr/>
        </p:nvSpPr>
        <p:spPr>
          <a:xfrm>
            <a:off x="1087201" y="845295"/>
            <a:ext cx="6105524" cy="555665"/>
          </a:xfrm>
          <a:prstGeom prst="rect">
            <a:avLst/>
          </a:prstGeom>
          <a:noFill/>
        </p:spPr>
        <p:txBody>
          <a:bodyPr wrap="square">
            <a:spAutoFit/>
          </a:bodyPr>
          <a:lstStyle/>
          <a:p>
            <a:pPr>
              <a:lnSpc>
                <a:spcPct val="200000"/>
              </a:lnSpc>
            </a:pPr>
            <a:r>
              <a:rPr lang="en-US" sz="1800" b="1" dirty="0" err="1">
                <a:latin typeface="Verdana" panose="020B0604030504040204" pitchFamily="34" charset="0"/>
                <a:ea typeface="Verdana" panose="020B0604030504040204" pitchFamily="34" charset="0"/>
              </a:rPr>
              <a:t>Tính</a:t>
            </a:r>
            <a:r>
              <a:rPr lang="en-US" sz="1800" b="1" dirty="0">
                <a:latin typeface="Verdana" panose="020B0604030504040204" pitchFamily="34" charset="0"/>
                <a:ea typeface="Verdana" panose="020B0604030504040204" pitchFamily="34" charset="0"/>
              </a:rPr>
              <a:t> </a:t>
            </a:r>
            <a:r>
              <a:rPr lang="en-US" sz="1800" b="1" dirty="0" err="1">
                <a:latin typeface="Verdana" panose="020B0604030504040204" pitchFamily="34" charset="0"/>
                <a:ea typeface="Verdana" panose="020B0604030504040204" pitchFamily="34" charset="0"/>
              </a:rPr>
              <a:t>khoán</a:t>
            </a:r>
            <a:r>
              <a:rPr lang="en-US" sz="1800" b="1" dirty="0">
                <a:latin typeface="Verdana" panose="020B0604030504040204" pitchFamily="34" charset="0"/>
                <a:ea typeface="Verdana" panose="020B0604030504040204" pitchFamily="34" charset="0"/>
              </a:rPr>
              <a:t> </a:t>
            </a:r>
            <a:r>
              <a:rPr lang="en-US" b="1" dirty="0" err="1">
                <a:latin typeface="Verdana" panose="020B0604030504040204" pitchFamily="34" charset="0"/>
                <a:ea typeface="Verdana" panose="020B0604030504040204" pitchFamily="34" charset="0"/>
              </a:rPr>
              <a:t>Hiệu</a:t>
            </a:r>
            <a:r>
              <a:rPr lang="en-US" b="1" dirty="0">
                <a:latin typeface="Verdana" panose="020B0604030504040204" pitchFamily="34" charset="0"/>
                <a:ea typeface="Verdana" panose="020B0604030504040204" pitchFamily="34" charset="0"/>
              </a:rPr>
              <a:t> </a:t>
            </a:r>
            <a:r>
              <a:rPr lang="en-US" b="1" dirty="0" err="1">
                <a:latin typeface="Verdana" panose="020B0604030504040204" pitchFamily="34" charset="0"/>
                <a:ea typeface="Verdana" panose="020B0604030504040204" pitchFamily="34" charset="0"/>
              </a:rPr>
              <a:t>quả</a:t>
            </a:r>
            <a:r>
              <a:rPr lang="en-US" b="1" dirty="0">
                <a:latin typeface="Verdana" panose="020B0604030504040204" pitchFamily="34" charset="0"/>
                <a:ea typeface="Verdana" panose="020B0604030504040204" pitchFamily="34" charset="0"/>
              </a:rPr>
              <a:t> </a:t>
            </a:r>
            <a:r>
              <a:rPr lang="en-US" b="1" dirty="0" err="1">
                <a:latin typeface="Verdana" panose="020B0604030504040204" pitchFamily="34" charset="0"/>
                <a:ea typeface="Verdana" panose="020B0604030504040204" pitchFamily="34" charset="0"/>
              </a:rPr>
              <a:t>dự</a:t>
            </a:r>
            <a:r>
              <a:rPr lang="en-US" b="1" dirty="0">
                <a:latin typeface="Verdana" panose="020B0604030504040204" pitchFamily="34" charset="0"/>
                <a:ea typeface="Verdana" panose="020B0604030504040204" pitchFamily="34" charset="0"/>
              </a:rPr>
              <a:t> </a:t>
            </a:r>
            <a:r>
              <a:rPr lang="en-US" b="1" dirty="0" err="1">
                <a:latin typeface="Verdana" panose="020B0604030504040204" pitchFamily="34" charset="0"/>
                <a:ea typeface="Verdana" panose="020B0604030504040204" pitchFamily="34" charset="0"/>
              </a:rPr>
              <a:t>án</a:t>
            </a:r>
            <a:endParaRPr lang="en-US" sz="1800" b="1" dirty="0">
              <a:latin typeface="Verdana" panose="020B0604030504040204" pitchFamily="34" charset="0"/>
              <a:ea typeface="Verdana" panose="020B0604030504040204" pitchFamily="34" charset="0"/>
            </a:endParaRPr>
          </a:p>
        </p:txBody>
      </p:sp>
    </p:spTree>
    <p:extLst>
      <p:ext uri="{BB962C8B-B14F-4D97-AF65-F5344CB8AC3E}">
        <p14:creationId xmlns:p14="http://schemas.microsoft.com/office/powerpoint/2010/main" val="648546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par>
                                <p:cTn id="8" presetID="22" presetClass="entr" presetSubtype="2" fill="hold"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wipe(right)">
                                      <p:cBhvr>
                                        <p:cTn id="10" dur="500"/>
                                        <p:tgtEl>
                                          <p:spTgt spid="9"/>
                                        </p:tgtEl>
                                      </p:cBhvr>
                                    </p:animEffect>
                                  </p:childTnLst>
                                </p:cTn>
                              </p:par>
                            </p:childTnLst>
                          </p:cTn>
                        </p:par>
                        <p:par>
                          <p:cTn id="11" fill="hold">
                            <p:stCondLst>
                              <p:cond delay="500"/>
                            </p:stCondLst>
                            <p:childTnLst>
                              <p:par>
                                <p:cTn id="12" presetID="10" presetClass="entr" presetSubtype="0" fill="hold" nodeType="afterEffect">
                                  <p:stCondLst>
                                    <p:cond delay="0"/>
                                  </p:stCondLst>
                                  <p:childTnLst>
                                    <p:set>
                                      <p:cBhvr>
                                        <p:cTn id="13" dur="1" fill="hold">
                                          <p:stCondLst>
                                            <p:cond delay="0"/>
                                          </p:stCondLst>
                                        </p:cTn>
                                        <p:tgtEl>
                                          <p:spTgt spid="13"/>
                                        </p:tgtEl>
                                        <p:attrNameLst>
                                          <p:attrName>style.visibility</p:attrName>
                                        </p:attrNameLst>
                                      </p:cBhvr>
                                      <p:to>
                                        <p:strVal val="visible"/>
                                      </p:to>
                                    </p:set>
                                    <p:animEffect transition="in" filter="fade">
                                      <p:cBhvr>
                                        <p:cTn id="14" dur="500"/>
                                        <p:tgtEl>
                                          <p:spTgt spid="13"/>
                                        </p:tgtEl>
                                      </p:cBhvr>
                                    </p:animEffect>
                                  </p:childTnLst>
                                </p:cTn>
                              </p:par>
                            </p:childTnLst>
                          </p:cTn>
                        </p:par>
                        <p:par>
                          <p:cTn id="15" fill="hold">
                            <p:stCondLst>
                              <p:cond delay="1000"/>
                            </p:stCondLst>
                            <p:childTnLst>
                              <p:par>
                                <p:cTn id="16" presetID="22" presetClass="entr" presetSubtype="1" fill="hold" nodeType="after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wipe(up)">
                                      <p:cBhvr>
                                        <p:cTn id="18" dur="500"/>
                                        <p:tgtEl>
                                          <p:spTgt spid="5"/>
                                        </p:tgtEl>
                                      </p:cBhvr>
                                    </p:animEffect>
                                  </p:childTnLst>
                                </p:cTn>
                              </p:par>
                            </p:childTnLst>
                          </p:cTn>
                        </p:par>
                        <p:par>
                          <p:cTn id="19" fill="hold">
                            <p:stCondLst>
                              <p:cond delay="1500"/>
                            </p:stCondLst>
                            <p:childTnLst>
                              <p:par>
                                <p:cTn id="20" presetID="10" presetClass="entr" presetSubtype="0" fill="hold" grpId="0" nodeType="after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500"/>
                                        <p:tgtEl>
                                          <p:spTgt spid="8"/>
                                        </p:tgtEl>
                                      </p:cBhvr>
                                    </p:animEffect>
                                  </p:childTnLst>
                                </p:cTn>
                              </p:par>
                              <p:par>
                                <p:cTn id="23" presetID="22" presetClass="entr" presetSubtype="8" fill="hold" nodeType="with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wipe(left)">
                                      <p:cBhvr>
                                        <p:cTn id="25" dur="500"/>
                                        <p:tgtEl>
                                          <p:spTgt spid="7"/>
                                        </p:tgtEl>
                                      </p:cBhvr>
                                    </p:animEffect>
                                  </p:childTnLst>
                                </p:cTn>
                              </p:par>
                            </p:childTnLst>
                          </p:cTn>
                        </p:par>
                        <p:par>
                          <p:cTn id="26" fill="hold">
                            <p:stCondLst>
                              <p:cond delay="2000"/>
                            </p:stCondLst>
                            <p:childTnLst>
                              <p:par>
                                <p:cTn id="27" presetID="10" presetClass="entr" presetSubtype="0" fill="hold" nodeType="afterEffect">
                                  <p:stCondLst>
                                    <p:cond delay="0"/>
                                  </p:stCondLst>
                                  <p:childTnLst>
                                    <p:set>
                                      <p:cBhvr>
                                        <p:cTn id="28" dur="1" fill="hold">
                                          <p:stCondLst>
                                            <p:cond delay="0"/>
                                          </p:stCondLst>
                                        </p:cTn>
                                        <p:tgtEl>
                                          <p:spTgt spid="27"/>
                                        </p:tgtEl>
                                        <p:attrNameLst>
                                          <p:attrName>style.visibility</p:attrName>
                                        </p:attrNameLst>
                                      </p:cBhvr>
                                      <p:to>
                                        <p:strVal val="visible"/>
                                      </p:to>
                                    </p:set>
                                    <p:animEffect transition="in" filter="fade">
                                      <p:cBhvr>
                                        <p:cTn id="29" dur="500"/>
                                        <p:tgtEl>
                                          <p:spTgt spid="27"/>
                                        </p:tgtEl>
                                      </p:cBhvr>
                                    </p:animEffect>
                                  </p:childTnLst>
                                </p:cTn>
                              </p:par>
                            </p:childTnLst>
                          </p:cTn>
                        </p:par>
                        <p:par>
                          <p:cTn id="30" fill="hold">
                            <p:stCondLst>
                              <p:cond delay="2500"/>
                            </p:stCondLst>
                            <p:childTnLst>
                              <p:par>
                                <p:cTn id="31" presetID="22" presetClass="entr" presetSubtype="1" fill="hold" nodeType="afterEffect">
                                  <p:stCondLst>
                                    <p:cond delay="0"/>
                                  </p:stCondLst>
                                  <p:childTnLst>
                                    <p:set>
                                      <p:cBhvr>
                                        <p:cTn id="32" dur="1" fill="hold">
                                          <p:stCondLst>
                                            <p:cond delay="0"/>
                                          </p:stCondLst>
                                        </p:cTn>
                                        <p:tgtEl>
                                          <p:spTgt spid="6"/>
                                        </p:tgtEl>
                                        <p:attrNameLst>
                                          <p:attrName>style.visibility</p:attrName>
                                        </p:attrNameLst>
                                      </p:cBhvr>
                                      <p:to>
                                        <p:strVal val="visible"/>
                                      </p:to>
                                    </p:set>
                                    <p:animEffect transition="in" filter="wipe(up)">
                                      <p:cBhvr>
                                        <p:cTn id="33"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 name="AutoShape 11"/>
          <p:cNvSpPr>
            <a:spLocks/>
          </p:cNvSpPr>
          <p:nvPr/>
        </p:nvSpPr>
        <p:spPr bwMode="auto">
          <a:xfrm>
            <a:off x="893326" y="4918595"/>
            <a:ext cx="1913513" cy="265698"/>
          </a:xfrm>
          <a:prstGeom prst="roundRect">
            <a:avLst>
              <a:gd name="adj" fmla="val 50000"/>
            </a:avLst>
          </a:prstGeom>
          <a:solidFill>
            <a:srgbClr val="00B050"/>
          </a:solidFill>
          <a:ln w="25400" cap="flat" cmpd="sng">
            <a:solidFill>
              <a:srgbClr val="000000">
                <a:alpha val="0"/>
              </a:srgbClr>
            </a:solidFill>
            <a:prstDash val="solid"/>
            <a:miter lim="0"/>
            <a:headEnd/>
            <a:tailEnd/>
          </a:ln>
          <a:effectLst/>
        </p:spPr>
        <p:txBody>
          <a:bodyPr lIns="0" tIns="0" rIns="0" bIns="0" anchor="ctr"/>
          <a:lstStyle/>
          <a:p>
            <a:pPr>
              <a:defRPr/>
            </a:pPr>
            <a:endParaRPr lang="es-ES" sz="5600">
              <a:effectLst>
                <a:outerShdw blurRad="38100" dist="38100" dir="2700000" algn="tl">
                  <a:srgbClr val="000000"/>
                </a:outerShdw>
              </a:effectLst>
              <a:latin typeface="Gill Sans" charset="0"/>
              <a:cs typeface="Gill Sans" charset="0"/>
              <a:sym typeface="Gill Sans" charset="0"/>
            </a:endParaRPr>
          </a:p>
        </p:txBody>
      </p:sp>
      <p:grpSp>
        <p:nvGrpSpPr>
          <p:cNvPr id="48" name="Group 47"/>
          <p:cNvGrpSpPr/>
          <p:nvPr/>
        </p:nvGrpSpPr>
        <p:grpSpPr>
          <a:xfrm>
            <a:off x="437113" y="4753267"/>
            <a:ext cx="596201" cy="596355"/>
            <a:chOff x="2255370" y="6982392"/>
            <a:chExt cx="960187" cy="960436"/>
          </a:xfrm>
        </p:grpSpPr>
        <p:sp>
          <p:nvSpPr>
            <p:cNvPr id="49" name="AutoShape 13"/>
            <p:cNvSpPr>
              <a:spLocks/>
            </p:cNvSpPr>
            <p:nvPr/>
          </p:nvSpPr>
          <p:spPr bwMode="auto">
            <a:xfrm>
              <a:off x="2255370" y="6982392"/>
              <a:ext cx="960187" cy="960436"/>
            </a:xfrm>
            <a:custGeom>
              <a:avLst/>
              <a:gdLst>
                <a:gd name="T0" fmla="+- 0 10800 961"/>
                <a:gd name="T1" fmla="*/ T0 w 19679"/>
                <a:gd name="T2" fmla="+- 0 10800 961"/>
                <a:gd name="T3" fmla="*/ 10800 h 19679"/>
                <a:gd name="T4" fmla="+- 0 10800 961"/>
                <a:gd name="T5" fmla="*/ T4 w 19679"/>
                <a:gd name="T6" fmla="+- 0 10800 961"/>
                <a:gd name="T7" fmla="*/ 10800 h 19679"/>
                <a:gd name="T8" fmla="+- 0 10800 961"/>
                <a:gd name="T9" fmla="*/ T8 w 19679"/>
                <a:gd name="T10" fmla="+- 0 10800 961"/>
                <a:gd name="T11" fmla="*/ 10800 h 19679"/>
                <a:gd name="T12" fmla="+- 0 10800 961"/>
                <a:gd name="T13" fmla="*/ T12 w 19679"/>
                <a:gd name="T14" fmla="+- 0 10800 961"/>
                <a:gd name="T15" fmla="*/ 10800 h 19679"/>
              </a:gdLst>
              <a:ahLst/>
              <a:cxnLst>
                <a:cxn ang="0">
                  <a:pos x="T1" y="T3"/>
                </a:cxn>
                <a:cxn ang="0">
                  <a:pos x="T5" y="T7"/>
                </a:cxn>
                <a:cxn ang="0">
                  <a:pos x="T9" y="T11"/>
                </a:cxn>
                <a:cxn ang="0">
                  <a:pos x="T13" y="T15"/>
                </a:cxn>
              </a:cxnLst>
              <a:rect l="0" t="0" r="r" b="b"/>
              <a:pathLst>
                <a:path w="19679" h="19679">
                  <a:moveTo>
                    <a:pt x="16796" y="2881"/>
                  </a:moveTo>
                  <a:cubicBezTo>
                    <a:pt x="20638" y="6724"/>
                    <a:pt x="20638" y="12953"/>
                    <a:pt x="16796" y="16796"/>
                  </a:cubicBezTo>
                  <a:cubicBezTo>
                    <a:pt x="12953" y="20639"/>
                    <a:pt x="6724" y="20639"/>
                    <a:pt x="2881" y="16796"/>
                  </a:cubicBezTo>
                  <a:cubicBezTo>
                    <a:pt x="-961" y="12953"/>
                    <a:pt x="-961" y="6724"/>
                    <a:pt x="2881" y="2881"/>
                  </a:cubicBezTo>
                  <a:cubicBezTo>
                    <a:pt x="6724" y="-961"/>
                    <a:pt x="12953" y="-961"/>
                    <a:pt x="16796" y="2881"/>
                  </a:cubicBezTo>
                </a:path>
              </a:pathLst>
            </a:custGeom>
            <a:solidFill>
              <a:srgbClr val="00B050"/>
            </a:solidFill>
            <a:ln w="25400" cap="flat" cmpd="sng">
              <a:solidFill>
                <a:srgbClr val="000000">
                  <a:alpha val="0"/>
                </a:srgbClr>
              </a:solidFill>
              <a:prstDash val="solid"/>
              <a:miter lim="0"/>
              <a:headEnd/>
              <a:tailEnd/>
            </a:ln>
            <a:effectLst/>
          </p:spPr>
          <p:txBody>
            <a:bodyPr lIns="0" tIns="0" rIns="0" bIns="0" anchor="ctr"/>
            <a:lstStyle/>
            <a:p>
              <a:pPr>
                <a:defRPr/>
              </a:pPr>
              <a:endParaRPr lang="es-ES" sz="5600">
                <a:effectLst>
                  <a:outerShdw blurRad="38100" dist="38100" dir="2700000" algn="tl">
                    <a:srgbClr val="000000"/>
                  </a:outerShdw>
                </a:effectLst>
                <a:latin typeface="Gill Sans" charset="0"/>
                <a:cs typeface="Gill Sans" charset="0"/>
                <a:sym typeface="Gill Sans" charset="0"/>
              </a:endParaRPr>
            </a:p>
          </p:txBody>
        </p:sp>
        <p:sp>
          <p:nvSpPr>
            <p:cNvPr id="50" name="AutoShape 14"/>
            <p:cNvSpPr>
              <a:spLocks/>
            </p:cNvSpPr>
            <p:nvPr/>
          </p:nvSpPr>
          <p:spPr bwMode="auto">
            <a:xfrm>
              <a:off x="2550688" y="7255500"/>
              <a:ext cx="414109" cy="414214"/>
            </a:xfrm>
            <a:custGeom>
              <a:avLst/>
              <a:gdLst>
                <a:gd name="T0" fmla="+- 0 10800 961"/>
                <a:gd name="T1" fmla="*/ T0 w 19679"/>
                <a:gd name="T2" fmla="+- 0 10800 961"/>
                <a:gd name="T3" fmla="*/ 10800 h 19679"/>
                <a:gd name="T4" fmla="+- 0 10800 961"/>
                <a:gd name="T5" fmla="*/ T4 w 19679"/>
                <a:gd name="T6" fmla="+- 0 10800 961"/>
                <a:gd name="T7" fmla="*/ 10800 h 19679"/>
                <a:gd name="T8" fmla="+- 0 10800 961"/>
                <a:gd name="T9" fmla="*/ T8 w 19679"/>
                <a:gd name="T10" fmla="+- 0 10800 961"/>
                <a:gd name="T11" fmla="*/ 10800 h 19679"/>
                <a:gd name="T12" fmla="+- 0 10800 961"/>
                <a:gd name="T13" fmla="*/ T12 w 19679"/>
                <a:gd name="T14" fmla="+- 0 10800 961"/>
                <a:gd name="T15" fmla="*/ 10800 h 19679"/>
              </a:gdLst>
              <a:ahLst/>
              <a:cxnLst>
                <a:cxn ang="0">
                  <a:pos x="T1" y="T3"/>
                </a:cxn>
                <a:cxn ang="0">
                  <a:pos x="T5" y="T7"/>
                </a:cxn>
                <a:cxn ang="0">
                  <a:pos x="T9" y="T11"/>
                </a:cxn>
                <a:cxn ang="0">
                  <a:pos x="T13" y="T15"/>
                </a:cxn>
              </a:cxnLst>
              <a:rect l="0" t="0" r="r" b="b"/>
              <a:pathLst>
                <a:path w="19679" h="19679">
                  <a:moveTo>
                    <a:pt x="16796" y="2881"/>
                  </a:moveTo>
                  <a:cubicBezTo>
                    <a:pt x="20639" y="6724"/>
                    <a:pt x="20639" y="12953"/>
                    <a:pt x="16796" y="16796"/>
                  </a:cubicBezTo>
                  <a:cubicBezTo>
                    <a:pt x="12953" y="20639"/>
                    <a:pt x="6724" y="20639"/>
                    <a:pt x="2881" y="16796"/>
                  </a:cubicBezTo>
                  <a:cubicBezTo>
                    <a:pt x="-961" y="12953"/>
                    <a:pt x="-961" y="6724"/>
                    <a:pt x="2881" y="2881"/>
                  </a:cubicBezTo>
                  <a:cubicBezTo>
                    <a:pt x="6724" y="-961"/>
                    <a:pt x="12953" y="-961"/>
                    <a:pt x="16796" y="2881"/>
                  </a:cubicBezTo>
                </a:path>
              </a:pathLst>
            </a:custGeom>
            <a:solidFill>
              <a:schemeClr val="bg1"/>
            </a:solidFill>
            <a:ln w="25400" cap="flat" cmpd="sng">
              <a:solidFill>
                <a:srgbClr val="000000">
                  <a:alpha val="0"/>
                </a:srgbClr>
              </a:solidFill>
              <a:prstDash val="solid"/>
              <a:miter lim="0"/>
              <a:headEnd/>
              <a:tailEnd/>
            </a:ln>
            <a:effectLst/>
          </p:spPr>
          <p:txBody>
            <a:bodyPr lIns="0" tIns="0" rIns="0" bIns="0" anchor="ctr"/>
            <a:lstStyle/>
            <a:p>
              <a:pPr>
                <a:defRPr/>
              </a:pPr>
              <a:endParaRPr lang="es-ES" sz="5600">
                <a:effectLst>
                  <a:outerShdw blurRad="38100" dist="38100" dir="2700000" algn="tl">
                    <a:srgbClr val="000000"/>
                  </a:outerShdw>
                </a:effectLst>
                <a:latin typeface="Gill Sans" charset="0"/>
                <a:cs typeface="Gill Sans" charset="0"/>
                <a:sym typeface="Gill Sans" charset="0"/>
              </a:endParaRPr>
            </a:p>
          </p:txBody>
        </p:sp>
      </p:grpSp>
      <p:sp>
        <p:nvSpPr>
          <p:cNvPr id="51" name="AutoShape 54"/>
          <p:cNvSpPr>
            <a:spLocks/>
          </p:cNvSpPr>
          <p:nvPr/>
        </p:nvSpPr>
        <p:spPr bwMode="auto">
          <a:xfrm rot="21599989">
            <a:off x="580495" y="4478808"/>
            <a:ext cx="309434" cy="207000"/>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1336" y="21599"/>
                </a:moveTo>
                <a:cubicBezTo>
                  <a:pt x="969" y="21599"/>
                  <a:pt x="657" y="21365"/>
                  <a:pt x="392" y="20890"/>
                </a:cubicBezTo>
                <a:cubicBezTo>
                  <a:pt x="132" y="20401"/>
                  <a:pt x="0" y="19835"/>
                  <a:pt x="0" y="19171"/>
                </a:cubicBezTo>
                <a:cubicBezTo>
                  <a:pt x="0" y="18480"/>
                  <a:pt x="135" y="17907"/>
                  <a:pt x="403" y="17419"/>
                </a:cubicBezTo>
                <a:lnTo>
                  <a:pt x="9821" y="716"/>
                </a:lnTo>
                <a:cubicBezTo>
                  <a:pt x="10089" y="240"/>
                  <a:pt x="10412" y="0"/>
                  <a:pt x="10790" y="0"/>
                </a:cubicBezTo>
                <a:cubicBezTo>
                  <a:pt x="11176" y="0"/>
                  <a:pt x="11503" y="240"/>
                  <a:pt x="11774" y="716"/>
                </a:cubicBezTo>
                <a:lnTo>
                  <a:pt x="21196" y="17419"/>
                </a:lnTo>
                <a:cubicBezTo>
                  <a:pt x="21464" y="17907"/>
                  <a:pt x="21600" y="18480"/>
                  <a:pt x="21600" y="19171"/>
                </a:cubicBezTo>
                <a:cubicBezTo>
                  <a:pt x="21600" y="19815"/>
                  <a:pt x="21467" y="20375"/>
                  <a:pt x="21203" y="20870"/>
                </a:cubicBezTo>
                <a:cubicBezTo>
                  <a:pt x="20942" y="21359"/>
                  <a:pt x="20626" y="21599"/>
                  <a:pt x="20263" y="21599"/>
                </a:cubicBezTo>
                <a:lnTo>
                  <a:pt x="1336" y="21599"/>
                </a:lnTo>
                <a:close/>
              </a:path>
            </a:pathLst>
          </a:custGeom>
          <a:solidFill>
            <a:srgbClr val="00B050"/>
          </a:solidFill>
          <a:ln>
            <a:noFill/>
          </a:ln>
          <a:effectLst/>
        </p:spPr>
        <p:txBody>
          <a:bodyPr lIns="38092" tIns="38092" rIns="38092" bIns="38092" anchor="ctr"/>
          <a:lstStyle/>
          <a:p>
            <a:pPr defTabSz="457109">
              <a:defRPr/>
            </a:pPr>
            <a:endParaRPr lang="es-ES" sz="3000">
              <a:effectLst>
                <a:outerShdw blurRad="38100" dist="38100" dir="2700000" algn="tl">
                  <a:srgbClr val="000000"/>
                </a:outerShdw>
              </a:effectLst>
              <a:latin typeface="Gill Sans" charset="0"/>
              <a:cs typeface="Gill Sans" charset="0"/>
              <a:sym typeface="Gill Sans" charset="0"/>
            </a:endParaRPr>
          </a:p>
        </p:txBody>
      </p:sp>
      <p:grpSp>
        <p:nvGrpSpPr>
          <p:cNvPr id="52" name="Group 51"/>
          <p:cNvGrpSpPr/>
          <p:nvPr/>
        </p:nvGrpSpPr>
        <p:grpSpPr>
          <a:xfrm rot="5400000">
            <a:off x="410086" y="4020094"/>
            <a:ext cx="646979" cy="221615"/>
            <a:chOff x="2234756" y="2800350"/>
            <a:chExt cx="286824" cy="91440"/>
          </a:xfrm>
        </p:grpSpPr>
        <p:sp>
          <p:nvSpPr>
            <p:cNvPr id="53" name="Oval 52"/>
            <p:cNvSpPr/>
            <p:nvPr/>
          </p:nvSpPr>
          <p:spPr>
            <a:xfrm rot="5400000">
              <a:off x="2234756" y="2800350"/>
              <a:ext cx="91440" cy="91440"/>
            </a:xfrm>
            <a:prstGeom prst="ellipse">
              <a:avLst/>
            </a:prstGeom>
            <a:solidFill>
              <a:srgbClr val="00B050"/>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1" anchor="ctr"/>
            <a:lstStyle/>
            <a:p>
              <a:pPr algn="ctr"/>
              <a:endParaRPr lang="x-none" dirty="0">
                <a:latin typeface="Calibri Light"/>
              </a:endParaRPr>
            </a:p>
          </p:txBody>
        </p:sp>
        <p:cxnSp>
          <p:nvCxnSpPr>
            <p:cNvPr id="54" name="Straight Connector 53"/>
            <p:cNvCxnSpPr/>
            <p:nvPr/>
          </p:nvCxnSpPr>
          <p:spPr>
            <a:xfrm rot="16200000" flipH="1">
              <a:off x="2423784" y="2748334"/>
              <a:ext cx="59" cy="195532"/>
            </a:xfrm>
            <a:prstGeom prst="line">
              <a:avLst/>
            </a:prstGeom>
            <a:ln w="12700">
              <a:solidFill>
                <a:schemeClr val="tx2"/>
              </a:solidFill>
              <a:prstDash val="dash"/>
            </a:ln>
          </p:spPr>
          <p:style>
            <a:lnRef idx="1">
              <a:schemeClr val="accent1"/>
            </a:lnRef>
            <a:fillRef idx="0">
              <a:schemeClr val="accent1"/>
            </a:fillRef>
            <a:effectRef idx="0">
              <a:schemeClr val="accent1"/>
            </a:effectRef>
            <a:fontRef idx="minor">
              <a:schemeClr val="tx1"/>
            </a:fontRef>
          </p:style>
        </p:cxnSp>
      </p:grpSp>
      <p:sp>
        <p:nvSpPr>
          <p:cNvPr id="56" name="TextBox 55"/>
          <p:cNvSpPr txBox="1"/>
          <p:nvPr/>
        </p:nvSpPr>
        <p:spPr>
          <a:xfrm>
            <a:off x="1255831" y="4932547"/>
            <a:ext cx="1202252" cy="246221"/>
          </a:xfrm>
          <a:prstGeom prst="rect">
            <a:avLst/>
          </a:prstGeom>
          <a:noFill/>
        </p:spPr>
        <p:txBody>
          <a:bodyPr wrap="none" lIns="0" tIns="0" rIns="0" bIns="0" rtlCol="1" anchor="t" anchorCtr="0">
            <a:spAutoFit/>
          </a:bodyPr>
          <a:lstStyle/>
          <a:p>
            <a:pPr algn="ctr" rtl="0"/>
            <a:r>
              <a:rPr lang="en-US" sz="1600" b="1">
                <a:solidFill>
                  <a:schemeClr val="bg1"/>
                </a:solidFill>
                <a:latin typeface="Lato" pitchFamily="34" charset="0"/>
                <a:ea typeface="Open Sans" pitchFamily="34" charset="0"/>
              </a:rPr>
              <a:t>H</a:t>
            </a:r>
            <a:r>
              <a:rPr lang="en-US" sz="1600" b="1" baseline="-25000">
                <a:solidFill>
                  <a:schemeClr val="bg1"/>
                </a:solidFill>
                <a:latin typeface="Lato" pitchFamily="34" charset="0"/>
                <a:ea typeface="Open Sans" pitchFamily="34" charset="0"/>
              </a:rPr>
              <a:t>cá</a:t>
            </a:r>
            <a:r>
              <a:rPr lang="en-US" sz="1600" b="1">
                <a:solidFill>
                  <a:schemeClr val="bg1"/>
                </a:solidFill>
                <a:latin typeface="Lato" pitchFamily="34" charset="0"/>
                <a:ea typeface="Open Sans" pitchFamily="34" charset="0"/>
              </a:rPr>
              <a:t> </a:t>
            </a:r>
            <a:r>
              <a:rPr lang="en-US" sz="1600" b="1" baseline="-25000">
                <a:solidFill>
                  <a:schemeClr val="bg1"/>
                </a:solidFill>
                <a:latin typeface="Lato" pitchFamily="34" charset="0"/>
                <a:ea typeface="Open Sans" pitchFamily="34" charset="0"/>
              </a:rPr>
              <a:t>nhân</a:t>
            </a:r>
            <a:r>
              <a:rPr lang="en-US" sz="1600" b="1">
                <a:solidFill>
                  <a:schemeClr val="bg1"/>
                </a:solidFill>
                <a:latin typeface="Lato" pitchFamily="34" charset="0"/>
                <a:ea typeface="Open Sans" pitchFamily="34" charset="0"/>
              </a:rPr>
              <a:t> = 1.5</a:t>
            </a:r>
            <a:endParaRPr lang="x-none" sz="1600" b="1" dirty="0">
              <a:solidFill>
                <a:schemeClr val="bg1"/>
              </a:solidFill>
              <a:latin typeface="Lato" pitchFamily="34" charset="0"/>
              <a:ea typeface="Open Sans" pitchFamily="34" charset="0"/>
            </a:endParaRPr>
          </a:p>
        </p:txBody>
      </p:sp>
      <p:sp>
        <p:nvSpPr>
          <p:cNvPr id="57" name="AutoShape 11"/>
          <p:cNvSpPr>
            <a:spLocks/>
          </p:cNvSpPr>
          <p:nvPr/>
        </p:nvSpPr>
        <p:spPr bwMode="auto">
          <a:xfrm>
            <a:off x="5210618" y="4909070"/>
            <a:ext cx="1825040" cy="265698"/>
          </a:xfrm>
          <a:prstGeom prst="roundRect">
            <a:avLst>
              <a:gd name="adj" fmla="val 50000"/>
            </a:avLst>
          </a:prstGeom>
          <a:solidFill>
            <a:schemeClr val="accent2"/>
          </a:solidFill>
          <a:ln w="25400" cap="flat" cmpd="sng">
            <a:solidFill>
              <a:srgbClr val="000000">
                <a:alpha val="0"/>
              </a:srgbClr>
            </a:solidFill>
            <a:prstDash val="solid"/>
            <a:miter lim="0"/>
            <a:headEnd/>
            <a:tailEnd/>
          </a:ln>
          <a:effectLst/>
        </p:spPr>
        <p:txBody>
          <a:bodyPr lIns="0" tIns="0" rIns="0" bIns="0" anchor="ctr"/>
          <a:lstStyle/>
          <a:p>
            <a:pPr>
              <a:defRPr/>
            </a:pPr>
            <a:endParaRPr lang="es-ES" sz="5600">
              <a:effectLst>
                <a:outerShdw blurRad="38100" dist="38100" dir="2700000" algn="tl">
                  <a:srgbClr val="000000"/>
                </a:outerShdw>
              </a:effectLst>
              <a:latin typeface="Gill Sans" charset="0"/>
              <a:cs typeface="Gill Sans" charset="0"/>
              <a:sym typeface="Gill Sans" charset="0"/>
            </a:endParaRPr>
          </a:p>
        </p:txBody>
      </p:sp>
      <p:sp>
        <p:nvSpPr>
          <p:cNvPr id="61" name="AutoShape 54"/>
          <p:cNvSpPr>
            <a:spLocks/>
          </p:cNvSpPr>
          <p:nvPr/>
        </p:nvSpPr>
        <p:spPr bwMode="auto">
          <a:xfrm rot="21599989">
            <a:off x="4949527" y="4459758"/>
            <a:ext cx="309434" cy="207000"/>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1336" y="21599"/>
                </a:moveTo>
                <a:cubicBezTo>
                  <a:pt x="969" y="21599"/>
                  <a:pt x="657" y="21365"/>
                  <a:pt x="392" y="20890"/>
                </a:cubicBezTo>
                <a:cubicBezTo>
                  <a:pt x="132" y="20401"/>
                  <a:pt x="0" y="19835"/>
                  <a:pt x="0" y="19171"/>
                </a:cubicBezTo>
                <a:cubicBezTo>
                  <a:pt x="0" y="18480"/>
                  <a:pt x="135" y="17907"/>
                  <a:pt x="403" y="17419"/>
                </a:cubicBezTo>
                <a:lnTo>
                  <a:pt x="9821" y="716"/>
                </a:lnTo>
                <a:cubicBezTo>
                  <a:pt x="10089" y="240"/>
                  <a:pt x="10412" y="0"/>
                  <a:pt x="10790" y="0"/>
                </a:cubicBezTo>
                <a:cubicBezTo>
                  <a:pt x="11176" y="0"/>
                  <a:pt x="11503" y="240"/>
                  <a:pt x="11774" y="716"/>
                </a:cubicBezTo>
                <a:lnTo>
                  <a:pt x="21196" y="17419"/>
                </a:lnTo>
                <a:cubicBezTo>
                  <a:pt x="21464" y="17907"/>
                  <a:pt x="21600" y="18480"/>
                  <a:pt x="21600" y="19171"/>
                </a:cubicBezTo>
                <a:cubicBezTo>
                  <a:pt x="21600" y="19815"/>
                  <a:pt x="21467" y="20375"/>
                  <a:pt x="21203" y="20870"/>
                </a:cubicBezTo>
                <a:cubicBezTo>
                  <a:pt x="20942" y="21359"/>
                  <a:pt x="20626" y="21599"/>
                  <a:pt x="20263" y="21599"/>
                </a:cubicBezTo>
                <a:lnTo>
                  <a:pt x="1336" y="21599"/>
                </a:lnTo>
                <a:close/>
              </a:path>
            </a:pathLst>
          </a:custGeom>
          <a:solidFill>
            <a:schemeClr val="accent2"/>
          </a:solidFill>
          <a:ln>
            <a:noFill/>
          </a:ln>
          <a:effectLst/>
        </p:spPr>
        <p:txBody>
          <a:bodyPr lIns="38092" tIns="38092" rIns="38092" bIns="38092" anchor="ctr"/>
          <a:lstStyle/>
          <a:p>
            <a:pPr defTabSz="457109">
              <a:defRPr/>
            </a:pPr>
            <a:endParaRPr lang="es-ES" sz="3000">
              <a:effectLst>
                <a:outerShdw blurRad="38100" dist="38100" dir="2700000" algn="tl">
                  <a:srgbClr val="000000"/>
                </a:outerShdw>
              </a:effectLst>
              <a:latin typeface="Gill Sans" charset="0"/>
              <a:cs typeface="Gill Sans" charset="0"/>
              <a:sym typeface="Gill Sans" charset="0"/>
            </a:endParaRPr>
          </a:p>
        </p:txBody>
      </p:sp>
      <p:sp>
        <p:nvSpPr>
          <p:cNvPr id="66" name="AutoShape 11"/>
          <p:cNvSpPr>
            <a:spLocks/>
          </p:cNvSpPr>
          <p:nvPr/>
        </p:nvSpPr>
        <p:spPr bwMode="auto">
          <a:xfrm>
            <a:off x="3149164" y="4909070"/>
            <a:ext cx="1822360" cy="265698"/>
          </a:xfrm>
          <a:prstGeom prst="roundRect">
            <a:avLst>
              <a:gd name="adj" fmla="val 50000"/>
            </a:avLst>
          </a:prstGeom>
          <a:solidFill>
            <a:srgbClr val="92D050"/>
          </a:solidFill>
          <a:ln w="25400" cap="flat" cmpd="sng">
            <a:solidFill>
              <a:srgbClr val="000000">
                <a:alpha val="0"/>
              </a:srgbClr>
            </a:solidFill>
            <a:prstDash val="solid"/>
            <a:miter lim="0"/>
            <a:headEnd/>
            <a:tailEnd/>
          </a:ln>
          <a:effectLst/>
        </p:spPr>
        <p:txBody>
          <a:bodyPr lIns="0" tIns="0" rIns="0" bIns="0" anchor="ctr"/>
          <a:lstStyle/>
          <a:p>
            <a:pPr>
              <a:defRPr/>
            </a:pPr>
            <a:endParaRPr lang="es-ES" sz="5600">
              <a:effectLst>
                <a:outerShdw blurRad="38100" dist="38100" dir="2700000" algn="tl">
                  <a:srgbClr val="000000"/>
                </a:outerShdw>
              </a:effectLst>
              <a:latin typeface="Gill Sans" charset="0"/>
              <a:cs typeface="Gill Sans" charset="0"/>
              <a:sym typeface="Gill Sans" charset="0"/>
            </a:endParaRPr>
          </a:p>
        </p:txBody>
      </p:sp>
      <p:grpSp>
        <p:nvGrpSpPr>
          <p:cNvPr id="67" name="Group 66"/>
          <p:cNvGrpSpPr/>
          <p:nvPr/>
        </p:nvGrpSpPr>
        <p:grpSpPr>
          <a:xfrm>
            <a:off x="2680352" y="4753267"/>
            <a:ext cx="596201" cy="596355"/>
            <a:chOff x="2255370" y="6982392"/>
            <a:chExt cx="960187" cy="960436"/>
          </a:xfrm>
        </p:grpSpPr>
        <p:sp>
          <p:nvSpPr>
            <p:cNvPr id="68" name="AutoShape 13"/>
            <p:cNvSpPr>
              <a:spLocks/>
            </p:cNvSpPr>
            <p:nvPr/>
          </p:nvSpPr>
          <p:spPr bwMode="auto">
            <a:xfrm>
              <a:off x="2255370" y="6982392"/>
              <a:ext cx="960187" cy="960436"/>
            </a:xfrm>
            <a:custGeom>
              <a:avLst/>
              <a:gdLst>
                <a:gd name="T0" fmla="+- 0 10800 961"/>
                <a:gd name="T1" fmla="*/ T0 w 19679"/>
                <a:gd name="T2" fmla="+- 0 10800 961"/>
                <a:gd name="T3" fmla="*/ 10800 h 19679"/>
                <a:gd name="T4" fmla="+- 0 10800 961"/>
                <a:gd name="T5" fmla="*/ T4 w 19679"/>
                <a:gd name="T6" fmla="+- 0 10800 961"/>
                <a:gd name="T7" fmla="*/ 10800 h 19679"/>
                <a:gd name="T8" fmla="+- 0 10800 961"/>
                <a:gd name="T9" fmla="*/ T8 w 19679"/>
                <a:gd name="T10" fmla="+- 0 10800 961"/>
                <a:gd name="T11" fmla="*/ 10800 h 19679"/>
                <a:gd name="T12" fmla="+- 0 10800 961"/>
                <a:gd name="T13" fmla="*/ T12 w 19679"/>
                <a:gd name="T14" fmla="+- 0 10800 961"/>
                <a:gd name="T15" fmla="*/ 10800 h 19679"/>
              </a:gdLst>
              <a:ahLst/>
              <a:cxnLst>
                <a:cxn ang="0">
                  <a:pos x="T1" y="T3"/>
                </a:cxn>
                <a:cxn ang="0">
                  <a:pos x="T5" y="T7"/>
                </a:cxn>
                <a:cxn ang="0">
                  <a:pos x="T9" y="T11"/>
                </a:cxn>
                <a:cxn ang="0">
                  <a:pos x="T13" y="T15"/>
                </a:cxn>
              </a:cxnLst>
              <a:rect l="0" t="0" r="r" b="b"/>
              <a:pathLst>
                <a:path w="19679" h="19679">
                  <a:moveTo>
                    <a:pt x="16796" y="2881"/>
                  </a:moveTo>
                  <a:cubicBezTo>
                    <a:pt x="20638" y="6724"/>
                    <a:pt x="20638" y="12953"/>
                    <a:pt x="16796" y="16796"/>
                  </a:cubicBezTo>
                  <a:cubicBezTo>
                    <a:pt x="12953" y="20639"/>
                    <a:pt x="6724" y="20639"/>
                    <a:pt x="2881" y="16796"/>
                  </a:cubicBezTo>
                  <a:cubicBezTo>
                    <a:pt x="-961" y="12953"/>
                    <a:pt x="-961" y="6724"/>
                    <a:pt x="2881" y="2881"/>
                  </a:cubicBezTo>
                  <a:cubicBezTo>
                    <a:pt x="6724" y="-961"/>
                    <a:pt x="12953" y="-961"/>
                    <a:pt x="16796" y="2881"/>
                  </a:cubicBezTo>
                </a:path>
              </a:pathLst>
            </a:custGeom>
            <a:solidFill>
              <a:srgbClr val="92D050"/>
            </a:solidFill>
            <a:ln w="25400" cap="flat" cmpd="sng">
              <a:solidFill>
                <a:srgbClr val="000000">
                  <a:alpha val="0"/>
                </a:srgbClr>
              </a:solidFill>
              <a:prstDash val="solid"/>
              <a:miter lim="0"/>
              <a:headEnd/>
              <a:tailEnd/>
            </a:ln>
            <a:effectLst/>
          </p:spPr>
          <p:txBody>
            <a:bodyPr lIns="0" tIns="0" rIns="0" bIns="0" anchor="ctr"/>
            <a:lstStyle/>
            <a:p>
              <a:pPr>
                <a:defRPr/>
              </a:pPr>
              <a:endParaRPr lang="es-ES" sz="5600">
                <a:effectLst>
                  <a:outerShdw blurRad="38100" dist="38100" dir="2700000" algn="tl">
                    <a:srgbClr val="000000"/>
                  </a:outerShdw>
                </a:effectLst>
                <a:latin typeface="Gill Sans" charset="0"/>
                <a:cs typeface="Gill Sans" charset="0"/>
                <a:sym typeface="Gill Sans" charset="0"/>
              </a:endParaRPr>
            </a:p>
          </p:txBody>
        </p:sp>
        <p:sp>
          <p:nvSpPr>
            <p:cNvPr id="69" name="AutoShape 14"/>
            <p:cNvSpPr>
              <a:spLocks/>
            </p:cNvSpPr>
            <p:nvPr/>
          </p:nvSpPr>
          <p:spPr bwMode="auto">
            <a:xfrm>
              <a:off x="2550688" y="7255500"/>
              <a:ext cx="414109" cy="414214"/>
            </a:xfrm>
            <a:custGeom>
              <a:avLst/>
              <a:gdLst>
                <a:gd name="T0" fmla="+- 0 10800 961"/>
                <a:gd name="T1" fmla="*/ T0 w 19679"/>
                <a:gd name="T2" fmla="+- 0 10800 961"/>
                <a:gd name="T3" fmla="*/ 10800 h 19679"/>
                <a:gd name="T4" fmla="+- 0 10800 961"/>
                <a:gd name="T5" fmla="*/ T4 w 19679"/>
                <a:gd name="T6" fmla="+- 0 10800 961"/>
                <a:gd name="T7" fmla="*/ 10800 h 19679"/>
                <a:gd name="T8" fmla="+- 0 10800 961"/>
                <a:gd name="T9" fmla="*/ T8 w 19679"/>
                <a:gd name="T10" fmla="+- 0 10800 961"/>
                <a:gd name="T11" fmla="*/ 10800 h 19679"/>
                <a:gd name="T12" fmla="+- 0 10800 961"/>
                <a:gd name="T13" fmla="*/ T12 w 19679"/>
                <a:gd name="T14" fmla="+- 0 10800 961"/>
                <a:gd name="T15" fmla="*/ 10800 h 19679"/>
              </a:gdLst>
              <a:ahLst/>
              <a:cxnLst>
                <a:cxn ang="0">
                  <a:pos x="T1" y="T3"/>
                </a:cxn>
                <a:cxn ang="0">
                  <a:pos x="T5" y="T7"/>
                </a:cxn>
                <a:cxn ang="0">
                  <a:pos x="T9" y="T11"/>
                </a:cxn>
                <a:cxn ang="0">
                  <a:pos x="T13" y="T15"/>
                </a:cxn>
              </a:cxnLst>
              <a:rect l="0" t="0" r="r" b="b"/>
              <a:pathLst>
                <a:path w="19679" h="19679">
                  <a:moveTo>
                    <a:pt x="16796" y="2881"/>
                  </a:moveTo>
                  <a:cubicBezTo>
                    <a:pt x="20639" y="6724"/>
                    <a:pt x="20639" y="12953"/>
                    <a:pt x="16796" y="16796"/>
                  </a:cubicBezTo>
                  <a:cubicBezTo>
                    <a:pt x="12953" y="20639"/>
                    <a:pt x="6724" y="20639"/>
                    <a:pt x="2881" y="16796"/>
                  </a:cubicBezTo>
                  <a:cubicBezTo>
                    <a:pt x="-961" y="12953"/>
                    <a:pt x="-961" y="6724"/>
                    <a:pt x="2881" y="2881"/>
                  </a:cubicBezTo>
                  <a:cubicBezTo>
                    <a:pt x="6724" y="-961"/>
                    <a:pt x="12953" y="-961"/>
                    <a:pt x="16796" y="2881"/>
                  </a:cubicBezTo>
                </a:path>
              </a:pathLst>
            </a:custGeom>
            <a:solidFill>
              <a:schemeClr val="bg1"/>
            </a:solidFill>
            <a:ln w="25400" cap="flat" cmpd="sng">
              <a:solidFill>
                <a:srgbClr val="000000">
                  <a:alpha val="0"/>
                </a:srgbClr>
              </a:solidFill>
              <a:prstDash val="solid"/>
              <a:miter lim="0"/>
              <a:headEnd/>
              <a:tailEnd/>
            </a:ln>
            <a:effectLst/>
          </p:spPr>
          <p:txBody>
            <a:bodyPr lIns="0" tIns="0" rIns="0" bIns="0" anchor="ctr"/>
            <a:lstStyle/>
            <a:p>
              <a:pPr>
                <a:defRPr/>
              </a:pPr>
              <a:endParaRPr lang="es-ES" sz="5600">
                <a:effectLst>
                  <a:outerShdw blurRad="38100" dist="38100" dir="2700000" algn="tl">
                    <a:srgbClr val="000000"/>
                  </a:outerShdw>
                </a:effectLst>
                <a:latin typeface="Gill Sans" charset="0"/>
                <a:cs typeface="Gill Sans" charset="0"/>
                <a:sym typeface="Gill Sans" charset="0"/>
              </a:endParaRPr>
            </a:p>
          </p:txBody>
        </p:sp>
      </p:grpSp>
      <p:sp>
        <p:nvSpPr>
          <p:cNvPr id="70" name="AutoShape 60"/>
          <p:cNvSpPr>
            <a:spLocks/>
          </p:cNvSpPr>
          <p:nvPr/>
        </p:nvSpPr>
        <p:spPr bwMode="auto">
          <a:xfrm rot="10799989">
            <a:off x="2821555" y="5425739"/>
            <a:ext cx="341461" cy="207000"/>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1336" y="21599"/>
                </a:moveTo>
                <a:cubicBezTo>
                  <a:pt x="969" y="21599"/>
                  <a:pt x="657" y="21365"/>
                  <a:pt x="392" y="20890"/>
                </a:cubicBezTo>
                <a:cubicBezTo>
                  <a:pt x="132" y="20401"/>
                  <a:pt x="0" y="19835"/>
                  <a:pt x="0" y="19171"/>
                </a:cubicBezTo>
                <a:cubicBezTo>
                  <a:pt x="0" y="18480"/>
                  <a:pt x="135" y="17907"/>
                  <a:pt x="403" y="17419"/>
                </a:cubicBezTo>
                <a:lnTo>
                  <a:pt x="9821" y="716"/>
                </a:lnTo>
                <a:cubicBezTo>
                  <a:pt x="10089" y="240"/>
                  <a:pt x="10412" y="0"/>
                  <a:pt x="10790" y="0"/>
                </a:cubicBezTo>
                <a:cubicBezTo>
                  <a:pt x="11176" y="0"/>
                  <a:pt x="11503" y="240"/>
                  <a:pt x="11774" y="716"/>
                </a:cubicBezTo>
                <a:lnTo>
                  <a:pt x="21196" y="17419"/>
                </a:lnTo>
                <a:cubicBezTo>
                  <a:pt x="21464" y="17907"/>
                  <a:pt x="21600" y="18480"/>
                  <a:pt x="21600" y="19171"/>
                </a:cubicBezTo>
                <a:cubicBezTo>
                  <a:pt x="21600" y="19815"/>
                  <a:pt x="21467" y="20375"/>
                  <a:pt x="21203" y="20870"/>
                </a:cubicBezTo>
                <a:cubicBezTo>
                  <a:pt x="20942" y="21359"/>
                  <a:pt x="20626" y="21599"/>
                  <a:pt x="20263" y="21599"/>
                </a:cubicBezTo>
                <a:lnTo>
                  <a:pt x="1336" y="21599"/>
                </a:lnTo>
                <a:close/>
              </a:path>
            </a:pathLst>
          </a:custGeom>
          <a:solidFill>
            <a:srgbClr val="92D050"/>
          </a:solidFill>
          <a:ln>
            <a:noFill/>
          </a:ln>
          <a:effectLst/>
        </p:spPr>
        <p:txBody>
          <a:bodyPr lIns="38092" tIns="38092" rIns="38092" bIns="38092" anchor="ctr"/>
          <a:lstStyle/>
          <a:p>
            <a:pPr defTabSz="457109">
              <a:defRPr/>
            </a:pPr>
            <a:endParaRPr lang="es-ES" sz="3000">
              <a:effectLst>
                <a:outerShdw blurRad="38100" dist="38100" dir="2700000" algn="tl">
                  <a:srgbClr val="000000"/>
                </a:outerShdw>
              </a:effectLst>
              <a:latin typeface="Gill Sans" charset="0"/>
              <a:cs typeface="Gill Sans" charset="0"/>
              <a:sym typeface="Gill Sans" charset="0"/>
            </a:endParaRPr>
          </a:p>
        </p:txBody>
      </p:sp>
      <p:grpSp>
        <p:nvGrpSpPr>
          <p:cNvPr id="71" name="Group 70"/>
          <p:cNvGrpSpPr/>
          <p:nvPr/>
        </p:nvGrpSpPr>
        <p:grpSpPr>
          <a:xfrm rot="5400000">
            <a:off x="4778860" y="4029619"/>
            <a:ext cx="646979" cy="221615"/>
            <a:chOff x="2234756" y="2800350"/>
            <a:chExt cx="286824" cy="91440"/>
          </a:xfrm>
          <a:solidFill>
            <a:schemeClr val="accent2"/>
          </a:solidFill>
        </p:grpSpPr>
        <p:sp>
          <p:nvSpPr>
            <p:cNvPr id="72" name="Oval 71"/>
            <p:cNvSpPr/>
            <p:nvPr/>
          </p:nvSpPr>
          <p:spPr>
            <a:xfrm rot="5400000">
              <a:off x="2234756" y="2800350"/>
              <a:ext cx="91440" cy="91440"/>
            </a:xfrm>
            <a:prstGeom prst="ellipse">
              <a:avLst/>
            </a:prstGeom>
            <a:grpFill/>
            <a:ln w="12700">
              <a:noFill/>
            </a:ln>
          </p:spPr>
          <p:style>
            <a:lnRef idx="2">
              <a:schemeClr val="accent1">
                <a:shade val="50000"/>
              </a:schemeClr>
            </a:lnRef>
            <a:fillRef idx="1">
              <a:schemeClr val="accent1"/>
            </a:fillRef>
            <a:effectRef idx="0">
              <a:schemeClr val="accent1"/>
            </a:effectRef>
            <a:fontRef idx="minor">
              <a:schemeClr val="lt1"/>
            </a:fontRef>
          </p:style>
          <p:txBody>
            <a:bodyPr rtlCol="1" anchor="ctr"/>
            <a:lstStyle/>
            <a:p>
              <a:pPr algn="ctr"/>
              <a:endParaRPr lang="x-none" dirty="0">
                <a:latin typeface="Calibri Light"/>
              </a:endParaRPr>
            </a:p>
          </p:txBody>
        </p:sp>
        <p:cxnSp>
          <p:nvCxnSpPr>
            <p:cNvPr id="73" name="Straight Connector 72"/>
            <p:cNvCxnSpPr/>
            <p:nvPr/>
          </p:nvCxnSpPr>
          <p:spPr>
            <a:xfrm rot="16200000" flipH="1">
              <a:off x="2423784" y="2748334"/>
              <a:ext cx="59" cy="195532"/>
            </a:xfrm>
            <a:prstGeom prst="line">
              <a:avLst/>
            </a:prstGeom>
            <a:grpFill/>
            <a:ln w="12700">
              <a:solidFill>
                <a:schemeClr val="tx2"/>
              </a:solidFill>
              <a:prstDash val="dash"/>
            </a:ln>
          </p:spPr>
          <p:style>
            <a:lnRef idx="1">
              <a:schemeClr val="accent1"/>
            </a:lnRef>
            <a:fillRef idx="0">
              <a:schemeClr val="accent1"/>
            </a:fillRef>
            <a:effectRef idx="0">
              <a:schemeClr val="accent1"/>
            </a:effectRef>
            <a:fontRef idx="minor">
              <a:schemeClr val="tx1"/>
            </a:fontRef>
          </p:style>
        </p:cxnSp>
      </p:grpSp>
      <p:grpSp>
        <p:nvGrpSpPr>
          <p:cNvPr id="75" name="Group 74"/>
          <p:cNvGrpSpPr/>
          <p:nvPr/>
        </p:nvGrpSpPr>
        <p:grpSpPr>
          <a:xfrm>
            <a:off x="4806771" y="4730629"/>
            <a:ext cx="596201" cy="596355"/>
            <a:chOff x="2255370" y="6982392"/>
            <a:chExt cx="960187" cy="960436"/>
          </a:xfrm>
        </p:grpSpPr>
        <p:sp>
          <p:nvSpPr>
            <p:cNvPr id="76" name="AutoShape 13"/>
            <p:cNvSpPr>
              <a:spLocks/>
            </p:cNvSpPr>
            <p:nvPr/>
          </p:nvSpPr>
          <p:spPr bwMode="auto">
            <a:xfrm>
              <a:off x="2255370" y="6982392"/>
              <a:ext cx="960187" cy="960436"/>
            </a:xfrm>
            <a:custGeom>
              <a:avLst/>
              <a:gdLst>
                <a:gd name="T0" fmla="+- 0 10800 961"/>
                <a:gd name="T1" fmla="*/ T0 w 19679"/>
                <a:gd name="T2" fmla="+- 0 10800 961"/>
                <a:gd name="T3" fmla="*/ 10800 h 19679"/>
                <a:gd name="T4" fmla="+- 0 10800 961"/>
                <a:gd name="T5" fmla="*/ T4 w 19679"/>
                <a:gd name="T6" fmla="+- 0 10800 961"/>
                <a:gd name="T7" fmla="*/ 10800 h 19679"/>
                <a:gd name="T8" fmla="+- 0 10800 961"/>
                <a:gd name="T9" fmla="*/ T8 w 19679"/>
                <a:gd name="T10" fmla="+- 0 10800 961"/>
                <a:gd name="T11" fmla="*/ 10800 h 19679"/>
                <a:gd name="T12" fmla="+- 0 10800 961"/>
                <a:gd name="T13" fmla="*/ T12 w 19679"/>
                <a:gd name="T14" fmla="+- 0 10800 961"/>
                <a:gd name="T15" fmla="*/ 10800 h 19679"/>
              </a:gdLst>
              <a:ahLst/>
              <a:cxnLst>
                <a:cxn ang="0">
                  <a:pos x="T1" y="T3"/>
                </a:cxn>
                <a:cxn ang="0">
                  <a:pos x="T5" y="T7"/>
                </a:cxn>
                <a:cxn ang="0">
                  <a:pos x="T9" y="T11"/>
                </a:cxn>
                <a:cxn ang="0">
                  <a:pos x="T13" y="T15"/>
                </a:cxn>
              </a:cxnLst>
              <a:rect l="0" t="0" r="r" b="b"/>
              <a:pathLst>
                <a:path w="19679" h="19679">
                  <a:moveTo>
                    <a:pt x="16796" y="2881"/>
                  </a:moveTo>
                  <a:cubicBezTo>
                    <a:pt x="20638" y="6724"/>
                    <a:pt x="20638" y="12953"/>
                    <a:pt x="16796" y="16796"/>
                  </a:cubicBezTo>
                  <a:cubicBezTo>
                    <a:pt x="12953" y="20639"/>
                    <a:pt x="6724" y="20639"/>
                    <a:pt x="2881" y="16796"/>
                  </a:cubicBezTo>
                  <a:cubicBezTo>
                    <a:pt x="-961" y="12953"/>
                    <a:pt x="-961" y="6724"/>
                    <a:pt x="2881" y="2881"/>
                  </a:cubicBezTo>
                  <a:cubicBezTo>
                    <a:pt x="6724" y="-961"/>
                    <a:pt x="12953" y="-961"/>
                    <a:pt x="16796" y="2881"/>
                  </a:cubicBezTo>
                </a:path>
              </a:pathLst>
            </a:custGeom>
            <a:solidFill>
              <a:schemeClr val="accent2"/>
            </a:solidFill>
            <a:ln w="25400" cap="flat" cmpd="sng">
              <a:solidFill>
                <a:srgbClr val="000000">
                  <a:alpha val="0"/>
                </a:srgbClr>
              </a:solidFill>
              <a:prstDash val="solid"/>
              <a:miter lim="0"/>
              <a:headEnd/>
              <a:tailEnd/>
            </a:ln>
            <a:effectLst/>
          </p:spPr>
          <p:txBody>
            <a:bodyPr lIns="0" tIns="0" rIns="0" bIns="0" anchor="ctr"/>
            <a:lstStyle/>
            <a:p>
              <a:pPr>
                <a:defRPr/>
              </a:pPr>
              <a:endParaRPr lang="es-ES" sz="5600">
                <a:effectLst>
                  <a:outerShdw blurRad="38100" dist="38100" dir="2700000" algn="tl">
                    <a:srgbClr val="000000"/>
                  </a:outerShdw>
                </a:effectLst>
                <a:latin typeface="Gill Sans" charset="0"/>
                <a:cs typeface="Gill Sans" charset="0"/>
                <a:sym typeface="Gill Sans" charset="0"/>
              </a:endParaRPr>
            </a:p>
          </p:txBody>
        </p:sp>
        <p:sp>
          <p:nvSpPr>
            <p:cNvPr id="77" name="AutoShape 14"/>
            <p:cNvSpPr>
              <a:spLocks/>
            </p:cNvSpPr>
            <p:nvPr/>
          </p:nvSpPr>
          <p:spPr bwMode="auto">
            <a:xfrm>
              <a:off x="2550688" y="7255500"/>
              <a:ext cx="414109" cy="414214"/>
            </a:xfrm>
            <a:custGeom>
              <a:avLst/>
              <a:gdLst>
                <a:gd name="T0" fmla="+- 0 10800 961"/>
                <a:gd name="T1" fmla="*/ T0 w 19679"/>
                <a:gd name="T2" fmla="+- 0 10800 961"/>
                <a:gd name="T3" fmla="*/ 10800 h 19679"/>
                <a:gd name="T4" fmla="+- 0 10800 961"/>
                <a:gd name="T5" fmla="*/ T4 w 19679"/>
                <a:gd name="T6" fmla="+- 0 10800 961"/>
                <a:gd name="T7" fmla="*/ 10800 h 19679"/>
                <a:gd name="T8" fmla="+- 0 10800 961"/>
                <a:gd name="T9" fmla="*/ T8 w 19679"/>
                <a:gd name="T10" fmla="+- 0 10800 961"/>
                <a:gd name="T11" fmla="*/ 10800 h 19679"/>
                <a:gd name="T12" fmla="+- 0 10800 961"/>
                <a:gd name="T13" fmla="*/ T12 w 19679"/>
                <a:gd name="T14" fmla="+- 0 10800 961"/>
                <a:gd name="T15" fmla="*/ 10800 h 19679"/>
              </a:gdLst>
              <a:ahLst/>
              <a:cxnLst>
                <a:cxn ang="0">
                  <a:pos x="T1" y="T3"/>
                </a:cxn>
                <a:cxn ang="0">
                  <a:pos x="T5" y="T7"/>
                </a:cxn>
                <a:cxn ang="0">
                  <a:pos x="T9" y="T11"/>
                </a:cxn>
                <a:cxn ang="0">
                  <a:pos x="T13" y="T15"/>
                </a:cxn>
              </a:cxnLst>
              <a:rect l="0" t="0" r="r" b="b"/>
              <a:pathLst>
                <a:path w="19679" h="19679">
                  <a:moveTo>
                    <a:pt x="16796" y="2881"/>
                  </a:moveTo>
                  <a:cubicBezTo>
                    <a:pt x="20639" y="6724"/>
                    <a:pt x="20639" y="12953"/>
                    <a:pt x="16796" y="16796"/>
                  </a:cubicBezTo>
                  <a:cubicBezTo>
                    <a:pt x="12953" y="20639"/>
                    <a:pt x="6724" y="20639"/>
                    <a:pt x="2881" y="16796"/>
                  </a:cubicBezTo>
                  <a:cubicBezTo>
                    <a:pt x="-961" y="12953"/>
                    <a:pt x="-961" y="6724"/>
                    <a:pt x="2881" y="2881"/>
                  </a:cubicBezTo>
                  <a:cubicBezTo>
                    <a:pt x="6724" y="-961"/>
                    <a:pt x="12953" y="-961"/>
                    <a:pt x="16796" y="2881"/>
                  </a:cubicBezTo>
                </a:path>
              </a:pathLst>
            </a:custGeom>
            <a:solidFill>
              <a:schemeClr val="bg1"/>
            </a:solidFill>
            <a:ln w="25400" cap="flat" cmpd="sng">
              <a:solidFill>
                <a:srgbClr val="000000">
                  <a:alpha val="0"/>
                </a:srgbClr>
              </a:solidFill>
              <a:prstDash val="solid"/>
              <a:miter lim="0"/>
              <a:headEnd/>
              <a:tailEnd/>
            </a:ln>
            <a:effectLst/>
          </p:spPr>
          <p:txBody>
            <a:bodyPr lIns="0" tIns="0" rIns="0" bIns="0" anchor="ctr"/>
            <a:lstStyle/>
            <a:p>
              <a:pPr>
                <a:defRPr/>
              </a:pPr>
              <a:endParaRPr lang="es-ES" sz="5600">
                <a:effectLst>
                  <a:outerShdw blurRad="38100" dist="38100" dir="2700000" algn="tl">
                    <a:srgbClr val="000000"/>
                  </a:outerShdw>
                </a:effectLst>
                <a:latin typeface="Gill Sans" charset="0"/>
                <a:cs typeface="Gill Sans" charset="0"/>
                <a:sym typeface="Gill Sans" charset="0"/>
              </a:endParaRPr>
            </a:p>
          </p:txBody>
        </p:sp>
      </p:grpSp>
      <p:grpSp>
        <p:nvGrpSpPr>
          <p:cNvPr id="78" name="Group 77"/>
          <p:cNvGrpSpPr/>
          <p:nvPr/>
        </p:nvGrpSpPr>
        <p:grpSpPr>
          <a:xfrm>
            <a:off x="6850917" y="4724692"/>
            <a:ext cx="596201" cy="596355"/>
            <a:chOff x="2255370" y="6982392"/>
            <a:chExt cx="960187" cy="960436"/>
          </a:xfrm>
        </p:grpSpPr>
        <p:sp>
          <p:nvSpPr>
            <p:cNvPr id="79" name="AutoShape 13"/>
            <p:cNvSpPr>
              <a:spLocks/>
            </p:cNvSpPr>
            <p:nvPr/>
          </p:nvSpPr>
          <p:spPr bwMode="auto">
            <a:xfrm>
              <a:off x="2255370" y="6982392"/>
              <a:ext cx="960187" cy="960436"/>
            </a:xfrm>
            <a:custGeom>
              <a:avLst/>
              <a:gdLst>
                <a:gd name="T0" fmla="+- 0 10800 961"/>
                <a:gd name="T1" fmla="*/ T0 w 19679"/>
                <a:gd name="T2" fmla="+- 0 10800 961"/>
                <a:gd name="T3" fmla="*/ 10800 h 19679"/>
                <a:gd name="T4" fmla="+- 0 10800 961"/>
                <a:gd name="T5" fmla="*/ T4 w 19679"/>
                <a:gd name="T6" fmla="+- 0 10800 961"/>
                <a:gd name="T7" fmla="*/ 10800 h 19679"/>
                <a:gd name="T8" fmla="+- 0 10800 961"/>
                <a:gd name="T9" fmla="*/ T8 w 19679"/>
                <a:gd name="T10" fmla="+- 0 10800 961"/>
                <a:gd name="T11" fmla="*/ 10800 h 19679"/>
                <a:gd name="T12" fmla="+- 0 10800 961"/>
                <a:gd name="T13" fmla="*/ T12 w 19679"/>
                <a:gd name="T14" fmla="+- 0 10800 961"/>
                <a:gd name="T15" fmla="*/ 10800 h 19679"/>
              </a:gdLst>
              <a:ahLst/>
              <a:cxnLst>
                <a:cxn ang="0">
                  <a:pos x="T1" y="T3"/>
                </a:cxn>
                <a:cxn ang="0">
                  <a:pos x="T5" y="T7"/>
                </a:cxn>
                <a:cxn ang="0">
                  <a:pos x="T9" y="T11"/>
                </a:cxn>
                <a:cxn ang="0">
                  <a:pos x="T13" y="T15"/>
                </a:cxn>
              </a:cxnLst>
              <a:rect l="0" t="0" r="r" b="b"/>
              <a:pathLst>
                <a:path w="19679" h="19679">
                  <a:moveTo>
                    <a:pt x="16796" y="2881"/>
                  </a:moveTo>
                  <a:cubicBezTo>
                    <a:pt x="20638" y="6724"/>
                    <a:pt x="20638" y="12953"/>
                    <a:pt x="16796" y="16796"/>
                  </a:cubicBezTo>
                  <a:cubicBezTo>
                    <a:pt x="12953" y="20639"/>
                    <a:pt x="6724" y="20639"/>
                    <a:pt x="2881" y="16796"/>
                  </a:cubicBezTo>
                  <a:cubicBezTo>
                    <a:pt x="-961" y="12953"/>
                    <a:pt x="-961" y="6724"/>
                    <a:pt x="2881" y="2881"/>
                  </a:cubicBezTo>
                  <a:cubicBezTo>
                    <a:pt x="6724" y="-961"/>
                    <a:pt x="12953" y="-961"/>
                    <a:pt x="16796" y="2881"/>
                  </a:cubicBezTo>
                </a:path>
              </a:pathLst>
            </a:custGeom>
            <a:solidFill>
              <a:schemeClr val="accent4">
                <a:lumMod val="75000"/>
              </a:schemeClr>
            </a:solidFill>
            <a:ln w="25400" cap="flat" cmpd="sng">
              <a:solidFill>
                <a:srgbClr val="000000">
                  <a:alpha val="0"/>
                </a:srgbClr>
              </a:solidFill>
              <a:prstDash val="solid"/>
              <a:miter lim="0"/>
              <a:headEnd/>
              <a:tailEnd/>
            </a:ln>
            <a:effectLst/>
          </p:spPr>
          <p:txBody>
            <a:bodyPr lIns="0" tIns="0" rIns="0" bIns="0" anchor="ctr"/>
            <a:lstStyle/>
            <a:p>
              <a:pPr>
                <a:defRPr/>
              </a:pPr>
              <a:endParaRPr lang="es-ES" sz="5600">
                <a:effectLst>
                  <a:outerShdw blurRad="38100" dist="38100" dir="2700000" algn="tl">
                    <a:srgbClr val="000000"/>
                  </a:outerShdw>
                </a:effectLst>
                <a:latin typeface="Gill Sans" charset="0"/>
                <a:cs typeface="Gill Sans" charset="0"/>
                <a:sym typeface="Gill Sans" charset="0"/>
              </a:endParaRPr>
            </a:p>
          </p:txBody>
        </p:sp>
        <p:sp>
          <p:nvSpPr>
            <p:cNvPr id="80" name="AutoShape 14"/>
            <p:cNvSpPr>
              <a:spLocks/>
            </p:cNvSpPr>
            <p:nvPr/>
          </p:nvSpPr>
          <p:spPr bwMode="auto">
            <a:xfrm>
              <a:off x="2550688" y="7255500"/>
              <a:ext cx="414109" cy="414214"/>
            </a:xfrm>
            <a:custGeom>
              <a:avLst/>
              <a:gdLst>
                <a:gd name="T0" fmla="+- 0 10800 961"/>
                <a:gd name="T1" fmla="*/ T0 w 19679"/>
                <a:gd name="T2" fmla="+- 0 10800 961"/>
                <a:gd name="T3" fmla="*/ 10800 h 19679"/>
                <a:gd name="T4" fmla="+- 0 10800 961"/>
                <a:gd name="T5" fmla="*/ T4 w 19679"/>
                <a:gd name="T6" fmla="+- 0 10800 961"/>
                <a:gd name="T7" fmla="*/ 10800 h 19679"/>
                <a:gd name="T8" fmla="+- 0 10800 961"/>
                <a:gd name="T9" fmla="*/ T8 w 19679"/>
                <a:gd name="T10" fmla="+- 0 10800 961"/>
                <a:gd name="T11" fmla="*/ 10800 h 19679"/>
                <a:gd name="T12" fmla="+- 0 10800 961"/>
                <a:gd name="T13" fmla="*/ T12 w 19679"/>
                <a:gd name="T14" fmla="+- 0 10800 961"/>
                <a:gd name="T15" fmla="*/ 10800 h 19679"/>
              </a:gdLst>
              <a:ahLst/>
              <a:cxnLst>
                <a:cxn ang="0">
                  <a:pos x="T1" y="T3"/>
                </a:cxn>
                <a:cxn ang="0">
                  <a:pos x="T5" y="T7"/>
                </a:cxn>
                <a:cxn ang="0">
                  <a:pos x="T9" y="T11"/>
                </a:cxn>
                <a:cxn ang="0">
                  <a:pos x="T13" y="T15"/>
                </a:cxn>
              </a:cxnLst>
              <a:rect l="0" t="0" r="r" b="b"/>
              <a:pathLst>
                <a:path w="19679" h="19679">
                  <a:moveTo>
                    <a:pt x="16796" y="2881"/>
                  </a:moveTo>
                  <a:cubicBezTo>
                    <a:pt x="20639" y="6724"/>
                    <a:pt x="20639" y="12953"/>
                    <a:pt x="16796" y="16796"/>
                  </a:cubicBezTo>
                  <a:cubicBezTo>
                    <a:pt x="12953" y="20639"/>
                    <a:pt x="6724" y="20639"/>
                    <a:pt x="2881" y="16796"/>
                  </a:cubicBezTo>
                  <a:cubicBezTo>
                    <a:pt x="-961" y="12953"/>
                    <a:pt x="-961" y="6724"/>
                    <a:pt x="2881" y="2881"/>
                  </a:cubicBezTo>
                  <a:cubicBezTo>
                    <a:pt x="6724" y="-961"/>
                    <a:pt x="12953" y="-961"/>
                    <a:pt x="16796" y="2881"/>
                  </a:cubicBezTo>
                </a:path>
              </a:pathLst>
            </a:custGeom>
            <a:solidFill>
              <a:schemeClr val="bg1"/>
            </a:solidFill>
            <a:ln w="25400" cap="flat" cmpd="sng">
              <a:solidFill>
                <a:srgbClr val="000000">
                  <a:alpha val="0"/>
                </a:srgbClr>
              </a:solidFill>
              <a:prstDash val="solid"/>
              <a:miter lim="0"/>
              <a:headEnd/>
              <a:tailEnd/>
            </a:ln>
            <a:effectLst/>
          </p:spPr>
          <p:txBody>
            <a:bodyPr lIns="0" tIns="0" rIns="0" bIns="0" anchor="ctr"/>
            <a:lstStyle/>
            <a:p>
              <a:pPr>
                <a:defRPr/>
              </a:pPr>
              <a:endParaRPr lang="es-ES" sz="5600">
                <a:effectLst>
                  <a:outerShdw blurRad="38100" dist="38100" dir="2700000" algn="tl">
                    <a:srgbClr val="000000"/>
                  </a:outerShdw>
                </a:effectLst>
                <a:latin typeface="Gill Sans" charset="0"/>
                <a:cs typeface="Gill Sans" charset="0"/>
                <a:sym typeface="Gill Sans" charset="0"/>
              </a:endParaRPr>
            </a:p>
          </p:txBody>
        </p:sp>
      </p:grpSp>
      <p:sp>
        <p:nvSpPr>
          <p:cNvPr id="82" name="TextBox 81"/>
          <p:cNvSpPr txBox="1"/>
          <p:nvPr/>
        </p:nvSpPr>
        <p:spPr>
          <a:xfrm>
            <a:off x="7956470" y="4884368"/>
            <a:ext cx="905697" cy="276999"/>
          </a:xfrm>
          <a:prstGeom prst="rect">
            <a:avLst/>
          </a:prstGeom>
          <a:noFill/>
        </p:spPr>
        <p:txBody>
          <a:bodyPr wrap="none" lIns="0" tIns="0" rIns="0" bIns="0" rtlCol="1" anchor="t" anchorCtr="0">
            <a:spAutoFit/>
          </a:bodyPr>
          <a:lstStyle/>
          <a:p>
            <a:pPr algn="ctr" rtl="0"/>
            <a:r>
              <a:rPr lang="en-US">
                <a:solidFill>
                  <a:schemeClr val="bg1"/>
                </a:solidFill>
                <a:latin typeface="Lato" pitchFamily="34" charset="0"/>
                <a:ea typeface="Open Sans" pitchFamily="34" charset="0"/>
              </a:rPr>
              <a:t>X% = 25%</a:t>
            </a:r>
            <a:endParaRPr lang="x-none" dirty="0">
              <a:solidFill>
                <a:schemeClr val="bg1"/>
              </a:solidFill>
              <a:latin typeface="Lato" pitchFamily="34" charset="0"/>
              <a:ea typeface="Open Sans" pitchFamily="34" charset="0"/>
            </a:endParaRPr>
          </a:p>
        </p:txBody>
      </p:sp>
      <p:sp>
        <p:nvSpPr>
          <p:cNvPr id="83" name="AutoShape 11"/>
          <p:cNvSpPr>
            <a:spLocks/>
          </p:cNvSpPr>
          <p:nvPr/>
        </p:nvSpPr>
        <p:spPr bwMode="auto">
          <a:xfrm>
            <a:off x="7324057" y="4899878"/>
            <a:ext cx="1703565" cy="265698"/>
          </a:xfrm>
          <a:prstGeom prst="roundRect">
            <a:avLst>
              <a:gd name="adj" fmla="val 50000"/>
            </a:avLst>
          </a:prstGeom>
          <a:solidFill>
            <a:schemeClr val="accent4">
              <a:lumMod val="75000"/>
            </a:schemeClr>
          </a:solidFill>
          <a:ln w="25400" cap="flat" cmpd="sng">
            <a:solidFill>
              <a:srgbClr val="000000">
                <a:alpha val="0"/>
              </a:srgbClr>
            </a:solidFill>
            <a:prstDash val="solid"/>
            <a:miter lim="0"/>
            <a:headEnd/>
            <a:tailEnd/>
          </a:ln>
          <a:effectLst/>
        </p:spPr>
        <p:txBody>
          <a:bodyPr lIns="0" tIns="0" rIns="0" bIns="0" anchor="ctr"/>
          <a:lstStyle/>
          <a:p>
            <a:pPr>
              <a:defRPr/>
            </a:pPr>
            <a:endParaRPr lang="es-ES" sz="5600">
              <a:effectLst>
                <a:outerShdw blurRad="38100" dist="38100" dir="2700000" algn="tl">
                  <a:srgbClr val="000000"/>
                </a:outerShdw>
              </a:effectLst>
              <a:latin typeface="Gill Sans" charset="0"/>
              <a:cs typeface="Gill Sans" charset="0"/>
              <a:sym typeface="Gill Sans" charset="0"/>
            </a:endParaRPr>
          </a:p>
        </p:txBody>
      </p:sp>
      <p:sp>
        <p:nvSpPr>
          <p:cNvPr id="85" name="TextBox 84"/>
          <p:cNvSpPr txBox="1"/>
          <p:nvPr/>
        </p:nvSpPr>
        <p:spPr>
          <a:xfrm>
            <a:off x="889930" y="3695097"/>
            <a:ext cx="1541739" cy="430887"/>
          </a:xfrm>
          <a:prstGeom prst="rect">
            <a:avLst/>
          </a:prstGeom>
          <a:noFill/>
        </p:spPr>
        <p:txBody>
          <a:bodyPr wrap="square" rtlCol="0">
            <a:spAutoFit/>
          </a:bodyPr>
          <a:lstStyle/>
          <a:p>
            <a:r>
              <a:rPr lang="en-US" sz="2200" b="1">
                <a:solidFill>
                  <a:srgbClr val="00B050"/>
                </a:solidFill>
                <a:latin typeface="Lato Regular"/>
              </a:rPr>
              <a:t>A+</a:t>
            </a:r>
          </a:p>
        </p:txBody>
      </p:sp>
      <p:sp>
        <p:nvSpPr>
          <p:cNvPr id="86" name="TextBox 85"/>
          <p:cNvSpPr txBox="1"/>
          <p:nvPr/>
        </p:nvSpPr>
        <p:spPr>
          <a:xfrm>
            <a:off x="899964" y="4100512"/>
            <a:ext cx="2129665" cy="369332"/>
          </a:xfrm>
          <a:prstGeom prst="rect">
            <a:avLst/>
          </a:prstGeom>
          <a:noFill/>
        </p:spPr>
        <p:txBody>
          <a:bodyPr wrap="square" rtlCol="0">
            <a:spAutoFit/>
          </a:bodyPr>
          <a:lstStyle/>
          <a:p>
            <a:r>
              <a:rPr lang="en-US">
                <a:latin typeface="Lato Regular"/>
              </a:rPr>
              <a:t>Xếp loại: Xuất sắc</a:t>
            </a:r>
          </a:p>
        </p:txBody>
      </p:sp>
      <p:sp>
        <p:nvSpPr>
          <p:cNvPr id="87" name="TextBox 86"/>
          <p:cNvSpPr txBox="1"/>
          <p:nvPr/>
        </p:nvSpPr>
        <p:spPr>
          <a:xfrm>
            <a:off x="5297062" y="3704622"/>
            <a:ext cx="1541739" cy="430887"/>
          </a:xfrm>
          <a:prstGeom prst="rect">
            <a:avLst/>
          </a:prstGeom>
          <a:noFill/>
        </p:spPr>
        <p:txBody>
          <a:bodyPr wrap="square" rtlCol="0">
            <a:spAutoFit/>
          </a:bodyPr>
          <a:lstStyle/>
          <a:p>
            <a:r>
              <a:rPr lang="en-US" sz="2200" b="1">
                <a:solidFill>
                  <a:schemeClr val="accent2"/>
                </a:solidFill>
                <a:latin typeface="Lato Regular"/>
              </a:rPr>
              <a:t>B</a:t>
            </a:r>
          </a:p>
        </p:txBody>
      </p:sp>
      <p:sp>
        <p:nvSpPr>
          <p:cNvPr id="88" name="TextBox 87"/>
          <p:cNvSpPr txBox="1"/>
          <p:nvPr/>
        </p:nvSpPr>
        <p:spPr>
          <a:xfrm>
            <a:off x="5307096" y="4110037"/>
            <a:ext cx="2129665" cy="369332"/>
          </a:xfrm>
          <a:prstGeom prst="rect">
            <a:avLst/>
          </a:prstGeom>
          <a:noFill/>
        </p:spPr>
        <p:txBody>
          <a:bodyPr wrap="square" rtlCol="0">
            <a:spAutoFit/>
          </a:bodyPr>
          <a:lstStyle/>
          <a:p>
            <a:r>
              <a:rPr lang="en-US">
                <a:latin typeface="Lato Regular"/>
              </a:rPr>
              <a:t>Xếp loại: Khá</a:t>
            </a:r>
          </a:p>
        </p:txBody>
      </p:sp>
      <p:grpSp>
        <p:nvGrpSpPr>
          <p:cNvPr id="89" name="Group 88"/>
          <p:cNvGrpSpPr/>
          <p:nvPr/>
        </p:nvGrpSpPr>
        <p:grpSpPr>
          <a:xfrm rot="5400000">
            <a:off x="2657008" y="5844920"/>
            <a:ext cx="665035" cy="221615"/>
            <a:chOff x="2039224" y="2821139"/>
            <a:chExt cx="294829" cy="91440"/>
          </a:xfrm>
          <a:solidFill>
            <a:srgbClr val="92D050"/>
          </a:solidFill>
        </p:grpSpPr>
        <p:sp>
          <p:nvSpPr>
            <p:cNvPr id="90" name="Oval 89"/>
            <p:cNvSpPr/>
            <p:nvPr/>
          </p:nvSpPr>
          <p:spPr>
            <a:xfrm rot="5400000">
              <a:off x="2242613" y="2821139"/>
              <a:ext cx="91440" cy="91440"/>
            </a:xfrm>
            <a:prstGeom prst="ellipse">
              <a:avLst/>
            </a:prstGeom>
            <a:grpFill/>
            <a:ln w="12700">
              <a:noFill/>
            </a:ln>
          </p:spPr>
          <p:style>
            <a:lnRef idx="2">
              <a:schemeClr val="accent1">
                <a:shade val="50000"/>
              </a:schemeClr>
            </a:lnRef>
            <a:fillRef idx="1">
              <a:schemeClr val="accent1"/>
            </a:fillRef>
            <a:effectRef idx="0">
              <a:schemeClr val="accent1"/>
            </a:effectRef>
            <a:fontRef idx="minor">
              <a:schemeClr val="lt1"/>
            </a:fontRef>
          </p:style>
          <p:txBody>
            <a:bodyPr rtlCol="1" anchor="ctr"/>
            <a:lstStyle/>
            <a:p>
              <a:pPr algn="ctr"/>
              <a:endParaRPr lang="x-none" dirty="0">
                <a:latin typeface="Calibri Light"/>
              </a:endParaRPr>
            </a:p>
          </p:txBody>
        </p:sp>
        <p:cxnSp>
          <p:nvCxnSpPr>
            <p:cNvPr id="91" name="Straight Connector 90"/>
            <p:cNvCxnSpPr/>
            <p:nvPr/>
          </p:nvCxnSpPr>
          <p:spPr>
            <a:xfrm rot="16200000" flipH="1">
              <a:off x="2136960" y="2769063"/>
              <a:ext cx="59" cy="195532"/>
            </a:xfrm>
            <a:prstGeom prst="line">
              <a:avLst/>
            </a:prstGeom>
            <a:grpFill/>
            <a:ln w="12700">
              <a:solidFill>
                <a:schemeClr val="tx2"/>
              </a:solidFill>
              <a:prstDash val="dash"/>
            </a:ln>
          </p:spPr>
          <p:style>
            <a:lnRef idx="1">
              <a:schemeClr val="accent1"/>
            </a:lnRef>
            <a:fillRef idx="0">
              <a:schemeClr val="accent1"/>
            </a:fillRef>
            <a:effectRef idx="0">
              <a:schemeClr val="accent1"/>
            </a:effectRef>
            <a:fontRef idx="minor">
              <a:schemeClr val="tx1"/>
            </a:fontRef>
          </p:style>
        </p:cxnSp>
      </p:grpSp>
      <p:sp>
        <p:nvSpPr>
          <p:cNvPr id="92" name="TextBox 91"/>
          <p:cNvSpPr txBox="1"/>
          <p:nvPr/>
        </p:nvSpPr>
        <p:spPr>
          <a:xfrm>
            <a:off x="3157643" y="5960147"/>
            <a:ext cx="1541739" cy="430887"/>
          </a:xfrm>
          <a:prstGeom prst="rect">
            <a:avLst/>
          </a:prstGeom>
          <a:noFill/>
        </p:spPr>
        <p:txBody>
          <a:bodyPr wrap="square" rtlCol="0">
            <a:spAutoFit/>
          </a:bodyPr>
          <a:lstStyle/>
          <a:p>
            <a:r>
              <a:rPr lang="en-US" sz="2200" b="1">
                <a:solidFill>
                  <a:srgbClr val="92D050"/>
                </a:solidFill>
                <a:latin typeface="Lato Regular"/>
              </a:rPr>
              <a:t>A</a:t>
            </a:r>
          </a:p>
        </p:txBody>
      </p:sp>
      <p:sp>
        <p:nvSpPr>
          <p:cNvPr id="93" name="TextBox 92"/>
          <p:cNvSpPr txBox="1"/>
          <p:nvPr/>
        </p:nvSpPr>
        <p:spPr>
          <a:xfrm>
            <a:off x="3179487" y="5659070"/>
            <a:ext cx="2129665" cy="369332"/>
          </a:xfrm>
          <a:prstGeom prst="rect">
            <a:avLst/>
          </a:prstGeom>
          <a:noFill/>
        </p:spPr>
        <p:txBody>
          <a:bodyPr wrap="square" rtlCol="0">
            <a:spAutoFit/>
          </a:bodyPr>
          <a:lstStyle/>
          <a:p>
            <a:r>
              <a:rPr lang="en-US">
                <a:latin typeface="Lato Regular"/>
              </a:rPr>
              <a:t>Xếp loại: Tốt</a:t>
            </a:r>
          </a:p>
        </p:txBody>
      </p:sp>
      <p:sp>
        <p:nvSpPr>
          <p:cNvPr id="94" name="AutoShape 60"/>
          <p:cNvSpPr>
            <a:spLocks/>
          </p:cNvSpPr>
          <p:nvPr/>
        </p:nvSpPr>
        <p:spPr bwMode="auto">
          <a:xfrm rot="10799989">
            <a:off x="6992120" y="5426951"/>
            <a:ext cx="341461" cy="207000"/>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1336" y="21599"/>
                </a:moveTo>
                <a:cubicBezTo>
                  <a:pt x="969" y="21599"/>
                  <a:pt x="657" y="21365"/>
                  <a:pt x="392" y="20890"/>
                </a:cubicBezTo>
                <a:cubicBezTo>
                  <a:pt x="132" y="20401"/>
                  <a:pt x="0" y="19835"/>
                  <a:pt x="0" y="19171"/>
                </a:cubicBezTo>
                <a:cubicBezTo>
                  <a:pt x="0" y="18480"/>
                  <a:pt x="135" y="17907"/>
                  <a:pt x="403" y="17419"/>
                </a:cubicBezTo>
                <a:lnTo>
                  <a:pt x="9821" y="716"/>
                </a:lnTo>
                <a:cubicBezTo>
                  <a:pt x="10089" y="240"/>
                  <a:pt x="10412" y="0"/>
                  <a:pt x="10790" y="0"/>
                </a:cubicBezTo>
                <a:cubicBezTo>
                  <a:pt x="11176" y="0"/>
                  <a:pt x="11503" y="240"/>
                  <a:pt x="11774" y="716"/>
                </a:cubicBezTo>
                <a:lnTo>
                  <a:pt x="21196" y="17419"/>
                </a:lnTo>
                <a:cubicBezTo>
                  <a:pt x="21464" y="17907"/>
                  <a:pt x="21600" y="18480"/>
                  <a:pt x="21600" y="19171"/>
                </a:cubicBezTo>
                <a:cubicBezTo>
                  <a:pt x="21600" y="19815"/>
                  <a:pt x="21467" y="20375"/>
                  <a:pt x="21203" y="20870"/>
                </a:cubicBezTo>
                <a:cubicBezTo>
                  <a:pt x="20942" y="21359"/>
                  <a:pt x="20626" y="21599"/>
                  <a:pt x="20263" y="21599"/>
                </a:cubicBezTo>
                <a:lnTo>
                  <a:pt x="1336" y="21599"/>
                </a:lnTo>
                <a:close/>
              </a:path>
            </a:pathLst>
          </a:custGeom>
          <a:solidFill>
            <a:schemeClr val="accent4">
              <a:lumMod val="75000"/>
            </a:schemeClr>
          </a:solidFill>
          <a:ln>
            <a:noFill/>
          </a:ln>
          <a:effectLst/>
        </p:spPr>
        <p:txBody>
          <a:bodyPr lIns="38092" tIns="38092" rIns="38092" bIns="38092" anchor="ctr"/>
          <a:lstStyle/>
          <a:p>
            <a:pPr defTabSz="457109">
              <a:defRPr/>
            </a:pPr>
            <a:endParaRPr lang="es-ES" sz="3000">
              <a:effectLst>
                <a:outerShdw blurRad="38100" dist="38100" dir="2700000" algn="tl">
                  <a:srgbClr val="000000"/>
                </a:outerShdw>
              </a:effectLst>
              <a:latin typeface="Gill Sans" charset="0"/>
              <a:cs typeface="Gill Sans" charset="0"/>
              <a:sym typeface="Gill Sans" charset="0"/>
            </a:endParaRPr>
          </a:p>
        </p:txBody>
      </p:sp>
      <p:grpSp>
        <p:nvGrpSpPr>
          <p:cNvPr id="95" name="Group 94"/>
          <p:cNvGrpSpPr/>
          <p:nvPr/>
        </p:nvGrpSpPr>
        <p:grpSpPr>
          <a:xfrm rot="5400000">
            <a:off x="6835886" y="5862758"/>
            <a:ext cx="665035" cy="221615"/>
            <a:chOff x="2039224" y="2821139"/>
            <a:chExt cx="294829" cy="91440"/>
          </a:xfrm>
          <a:solidFill>
            <a:schemeClr val="accent4">
              <a:lumMod val="75000"/>
            </a:schemeClr>
          </a:solidFill>
        </p:grpSpPr>
        <p:sp>
          <p:nvSpPr>
            <p:cNvPr id="96" name="Oval 95"/>
            <p:cNvSpPr/>
            <p:nvPr/>
          </p:nvSpPr>
          <p:spPr>
            <a:xfrm rot="5400000">
              <a:off x="2242613" y="2821139"/>
              <a:ext cx="91440" cy="91440"/>
            </a:xfrm>
            <a:prstGeom prst="ellipse">
              <a:avLst/>
            </a:prstGeom>
            <a:grpFill/>
            <a:ln w="12700">
              <a:noFill/>
            </a:ln>
          </p:spPr>
          <p:style>
            <a:lnRef idx="2">
              <a:schemeClr val="accent1">
                <a:shade val="50000"/>
              </a:schemeClr>
            </a:lnRef>
            <a:fillRef idx="1">
              <a:schemeClr val="accent1"/>
            </a:fillRef>
            <a:effectRef idx="0">
              <a:schemeClr val="accent1"/>
            </a:effectRef>
            <a:fontRef idx="minor">
              <a:schemeClr val="lt1"/>
            </a:fontRef>
          </p:style>
          <p:txBody>
            <a:bodyPr rtlCol="1" anchor="ctr"/>
            <a:lstStyle/>
            <a:p>
              <a:pPr algn="ctr"/>
              <a:endParaRPr lang="x-none" dirty="0">
                <a:latin typeface="Calibri Light"/>
              </a:endParaRPr>
            </a:p>
          </p:txBody>
        </p:sp>
        <p:cxnSp>
          <p:nvCxnSpPr>
            <p:cNvPr id="97" name="Straight Connector 96"/>
            <p:cNvCxnSpPr/>
            <p:nvPr/>
          </p:nvCxnSpPr>
          <p:spPr>
            <a:xfrm rot="16200000" flipH="1">
              <a:off x="2136960" y="2769063"/>
              <a:ext cx="59" cy="195532"/>
            </a:xfrm>
            <a:prstGeom prst="line">
              <a:avLst/>
            </a:prstGeom>
            <a:grpFill/>
            <a:ln w="12700">
              <a:solidFill>
                <a:schemeClr val="tx2"/>
              </a:solidFill>
              <a:prstDash val="dash"/>
            </a:ln>
          </p:spPr>
          <p:style>
            <a:lnRef idx="1">
              <a:schemeClr val="accent1"/>
            </a:lnRef>
            <a:fillRef idx="0">
              <a:schemeClr val="accent1"/>
            </a:fillRef>
            <a:effectRef idx="0">
              <a:schemeClr val="accent1"/>
            </a:effectRef>
            <a:fontRef idx="minor">
              <a:schemeClr val="tx1"/>
            </a:fontRef>
          </p:style>
        </p:cxnSp>
      </p:grpSp>
      <p:sp>
        <p:nvSpPr>
          <p:cNvPr id="98" name="TextBox 97"/>
          <p:cNvSpPr txBox="1"/>
          <p:nvPr/>
        </p:nvSpPr>
        <p:spPr>
          <a:xfrm>
            <a:off x="7309158" y="5961359"/>
            <a:ext cx="1541739" cy="430887"/>
          </a:xfrm>
          <a:prstGeom prst="rect">
            <a:avLst/>
          </a:prstGeom>
          <a:noFill/>
        </p:spPr>
        <p:txBody>
          <a:bodyPr wrap="square" rtlCol="0">
            <a:spAutoFit/>
          </a:bodyPr>
          <a:lstStyle/>
          <a:p>
            <a:r>
              <a:rPr lang="en-US" sz="2200" b="1">
                <a:solidFill>
                  <a:schemeClr val="accent4">
                    <a:lumMod val="75000"/>
                  </a:schemeClr>
                </a:solidFill>
                <a:latin typeface="Lato Regular"/>
              </a:rPr>
              <a:t>C</a:t>
            </a:r>
          </a:p>
        </p:txBody>
      </p:sp>
      <p:sp>
        <p:nvSpPr>
          <p:cNvPr id="99" name="TextBox 98"/>
          <p:cNvSpPr txBox="1"/>
          <p:nvPr/>
        </p:nvSpPr>
        <p:spPr>
          <a:xfrm>
            <a:off x="7321477" y="5650757"/>
            <a:ext cx="2316094" cy="369332"/>
          </a:xfrm>
          <a:prstGeom prst="rect">
            <a:avLst/>
          </a:prstGeom>
          <a:noFill/>
        </p:spPr>
        <p:txBody>
          <a:bodyPr wrap="square" rtlCol="0">
            <a:spAutoFit/>
          </a:bodyPr>
          <a:lstStyle/>
          <a:p>
            <a:r>
              <a:rPr lang="en-US">
                <a:latin typeface="Lato Regular"/>
              </a:rPr>
              <a:t>Xếp loại: Trung bình</a:t>
            </a:r>
          </a:p>
        </p:txBody>
      </p:sp>
      <p:sp>
        <p:nvSpPr>
          <p:cNvPr id="100" name="Rectangle 99"/>
          <p:cNvSpPr/>
          <p:nvPr/>
        </p:nvSpPr>
        <p:spPr>
          <a:xfrm>
            <a:off x="1333896" y="327184"/>
            <a:ext cx="9823541" cy="523220"/>
          </a:xfrm>
          <a:prstGeom prst="rect">
            <a:avLst/>
          </a:prstGeom>
        </p:spPr>
        <p:txBody>
          <a:bodyPr wrap="square">
            <a:spAutoFit/>
          </a:bodyPr>
          <a:lstStyle/>
          <a:p>
            <a:r>
              <a:rPr lang="vi-VN" sz="2800" b="1" dirty="0">
                <a:solidFill>
                  <a:schemeClr val="bg1"/>
                </a:solidFill>
                <a:latin typeface="Verdana" panose="020B0604030504040204" pitchFamily="34" charset="0"/>
                <a:ea typeface="Verdana" panose="020B0604030504040204" pitchFamily="34" charset="0"/>
              </a:rPr>
              <a:t>3. Cơ sở và xây dựng hệ thống</a:t>
            </a:r>
            <a:endParaRPr lang="en-US" sz="2800" b="1" dirty="0">
              <a:solidFill>
                <a:schemeClr val="bg1"/>
              </a:solidFill>
              <a:latin typeface="Verdana" panose="020B0604030504040204" pitchFamily="34" charset="0"/>
              <a:ea typeface="Verdana" panose="020B0604030504040204" pitchFamily="34" charset="0"/>
            </a:endParaRPr>
          </a:p>
        </p:txBody>
      </p:sp>
      <p:sp>
        <p:nvSpPr>
          <p:cNvPr id="102" name="TextBox 101"/>
          <p:cNvSpPr txBox="1"/>
          <p:nvPr/>
        </p:nvSpPr>
        <p:spPr>
          <a:xfrm>
            <a:off x="733431" y="1170968"/>
            <a:ext cx="9606336" cy="338554"/>
          </a:xfrm>
          <a:prstGeom prst="rect">
            <a:avLst/>
          </a:prstGeom>
          <a:noFill/>
          <a:ln>
            <a:noFill/>
          </a:ln>
        </p:spPr>
        <p:txBody>
          <a:bodyPr wrap="square" rtlCol="0">
            <a:spAutoFit/>
          </a:bodyPr>
          <a:lstStyle/>
          <a:p>
            <a:pPr algn="ctr"/>
            <a:r>
              <a:rPr lang="en-US" sz="1600" b="1" dirty="0" err="1">
                <a:solidFill>
                  <a:schemeClr val="tx2"/>
                </a:solidFill>
                <a:latin typeface="Sinkin Sans 600 SemiBold"/>
              </a:rPr>
              <a:t>Tạm</a:t>
            </a:r>
            <a:r>
              <a:rPr lang="en-US" sz="1600" b="1" dirty="0">
                <a:solidFill>
                  <a:schemeClr val="tx2"/>
                </a:solidFill>
                <a:latin typeface="Sinkin Sans 600 SemiBold"/>
              </a:rPr>
              <a:t> </a:t>
            </a:r>
            <a:r>
              <a:rPr lang="en-US" sz="1600" b="1" dirty="0" err="1">
                <a:solidFill>
                  <a:schemeClr val="tx2"/>
                </a:solidFill>
                <a:latin typeface="Sinkin Sans 600 SemiBold"/>
              </a:rPr>
              <a:t>ứng</a:t>
            </a:r>
            <a:r>
              <a:rPr lang="en-US" sz="1600" b="1" dirty="0">
                <a:solidFill>
                  <a:schemeClr val="tx2"/>
                </a:solidFill>
                <a:latin typeface="Sinkin Sans 600 SemiBold"/>
              </a:rPr>
              <a:t> </a:t>
            </a:r>
            <a:r>
              <a:rPr lang="en-US" sz="1600" b="1" dirty="0" err="1">
                <a:solidFill>
                  <a:schemeClr val="tx2"/>
                </a:solidFill>
                <a:latin typeface="Sinkin Sans 600 SemiBold"/>
              </a:rPr>
              <a:t>thưởng</a:t>
            </a:r>
            <a:r>
              <a:rPr lang="en-US" sz="1600" b="1" dirty="0">
                <a:solidFill>
                  <a:schemeClr val="tx2"/>
                </a:solidFill>
                <a:latin typeface="Sinkin Sans 600 SemiBold"/>
              </a:rPr>
              <a:t> </a:t>
            </a:r>
            <a:r>
              <a:rPr lang="en-US" sz="1600" b="1" dirty="0" err="1">
                <a:solidFill>
                  <a:schemeClr val="tx2"/>
                </a:solidFill>
                <a:latin typeface="Sinkin Sans 600 SemiBold"/>
              </a:rPr>
              <a:t>hiệu</a:t>
            </a:r>
            <a:r>
              <a:rPr lang="en-US" sz="1600" b="1" dirty="0">
                <a:solidFill>
                  <a:schemeClr val="tx2"/>
                </a:solidFill>
                <a:latin typeface="Sinkin Sans 600 SemiBold"/>
              </a:rPr>
              <a:t> </a:t>
            </a:r>
            <a:r>
              <a:rPr lang="en-US" sz="1600" b="1" dirty="0" err="1">
                <a:solidFill>
                  <a:schemeClr val="tx2"/>
                </a:solidFill>
                <a:latin typeface="Sinkin Sans 600 SemiBold"/>
              </a:rPr>
              <a:t>quả</a:t>
            </a:r>
            <a:r>
              <a:rPr lang="en-US" sz="1600" b="1" dirty="0">
                <a:solidFill>
                  <a:schemeClr val="tx2"/>
                </a:solidFill>
                <a:latin typeface="Sinkin Sans 600 SemiBold"/>
              </a:rPr>
              <a:t> </a:t>
            </a:r>
            <a:r>
              <a:rPr lang="en-US" sz="1600" b="1" dirty="0" err="1">
                <a:solidFill>
                  <a:schemeClr val="tx2"/>
                </a:solidFill>
                <a:latin typeface="Sinkin Sans 600 SemiBold"/>
              </a:rPr>
              <a:t>dự</a:t>
            </a:r>
            <a:r>
              <a:rPr lang="en-US" sz="1600" b="1" dirty="0">
                <a:solidFill>
                  <a:schemeClr val="tx2"/>
                </a:solidFill>
                <a:latin typeface="Sinkin Sans 600 SemiBold"/>
              </a:rPr>
              <a:t> </a:t>
            </a:r>
            <a:r>
              <a:rPr lang="en-US" sz="1600" b="1" dirty="0" err="1">
                <a:solidFill>
                  <a:schemeClr val="tx2"/>
                </a:solidFill>
                <a:latin typeface="Sinkin Sans 600 SemiBold"/>
              </a:rPr>
              <a:t>án</a:t>
            </a:r>
            <a:r>
              <a:rPr lang="en-US" sz="1600" b="1" dirty="0">
                <a:solidFill>
                  <a:schemeClr val="tx2"/>
                </a:solidFill>
                <a:latin typeface="Sinkin Sans 600 SemiBold"/>
              </a:rPr>
              <a:t>  = 20%</a:t>
            </a:r>
            <a:r>
              <a:rPr lang="en-US" sz="1600" b="1" baseline="-25000" dirty="0">
                <a:solidFill>
                  <a:schemeClr val="tx2"/>
                </a:solidFill>
                <a:latin typeface="Sinkin Sans 600 SemiBold"/>
              </a:rPr>
              <a:t> </a:t>
            </a:r>
            <a:r>
              <a:rPr lang="en-US" sz="1600" b="1" dirty="0">
                <a:solidFill>
                  <a:schemeClr val="tx2"/>
                </a:solidFill>
                <a:latin typeface="Sinkin Sans 600 SemiBold"/>
              </a:rPr>
              <a:t>* </a:t>
            </a:r>
            <a:r>
              <a:rPr lang="en-US" sz="1600" b="1" dirty="0" err="1">
                <a:solidFill>
                  <a:schemeClr val="tx2"/>
                </a:solidFill>
                <a:latin typeface="Sinkin Sans 600 SemiBold"/>
              </a:rPr>
              <a:t>Lương</a:t>
            </a:r>
            <a:r>
              <a:rPr lang="en-US" sz="1600" b="1" dirty="0">
                <a:solidFill>
                  <a:schemeClr val="tx2"/>
                </a:solidFill>
                <a:latin typeface="Sinkin Sans 600 SemiBold"/>
              </a:rPr>
              <a:t> </a:t>
            </a:r>
            <a:r>
              <a:rPr lang="en-US" sz="1600" b="1" dirty="0" err="1">
                <a:solidFill>
                  <a:schemeClr val="tx2"/>
                </a:solidFill>
                <a:latin typeface="Sinkin Sans 600 SemiBold"/>
              </a:rPr>
              <a:t>cơ</a:t>
            </a:r>
            <a:r>
              <a:rPr lang="en-US" sz="1600" b="1" dirty="0">
                <a:solidFill>
                  <a:schemeClr val="tx2"/>
                </a:solidFill>
                <a:latin typeface="Sinkin Sans 600 SemiBold"/>
              </a:rPr>
              <a:t> </a:t>
            </a:r>
            <a:r>
              <a:rPr lang="en-US" sz="1600" b="1" dirty="0" err="1">
                <a:solidFill>
                  <a:schemeClr val="tx2"/>
                </a:solidFill>
                <a:latin typeface="Sinkin Sans 600 SemiBold"/>
              </a:rPr>
              <a:t>sở</a:t>
            </a:r>
            <a:r>
              <a:rPr lang="en-US" sz="1600" b="1" dirty="0">
                <a:solidFill>
                  <a:schemeClr val="tx2"/>
                </a:solidFill>
                <a:latin typeface="Sinkin Sans 600 SemiBold"/>
              </a:rPr>
              <a:t> * </a:t>
            </a:r>
            <a:r>
              <a:rPr lang="en-US" sz="1600" b="1" dirty="0" err="1">
                <a:solidFill>
                  <a:schemeClr val="tx2"/>
                </a:solidFill>
                <a:latin typeface="Sinkin Sans 600 SemiBold"/>
              </a:rPr>
              <a:t>H</a:t>
            </a:r>
            <a:r>
              <a:rPr lang="en-US" sz="1600" b="1" baseline="-25000" dirty="0" err="1">
                <a:solidFill>
                  <a:schemeClr val="tx2"/>
                </a:solidFill>
                <a:latin typeface="Sinkin Sans 600 SemiBold"/>
              </a:rPr>
              <a:t>dự</a:t>
            </a:r>
            <a:r>
              <a:rPr lang="en-US" sz="1600" b="1" baseline="-25000" dirty="0">
                <a:solidFill>
                  <a:schemeClr val="tx2"/>
                </a:solidFill>
                <a:latin typeface="Sinkin Sans 600 SemiBold"/>
              </a:rPr>
              <a:t> </a:t>
            </a:r>
            <a:r>
              <a:rPr lang="en-US" sz="1600" b="1" baseline="-25000" dirty="0" err="1">
                <a:solidFill>
                  <a:schemeClr val="tx2"/>
                </a:solidFill>
                <a:latin typeface="Sinkin Sans 600 SemiBold"/>
              </a:rPr>
              <a:t>án</a:t>
            </a:r>
            <a:r>
              <a:rPr lang="en-US" sz="1600" b="1" dirty="0">
                <a:solidFill>
                  <a:schemeClr val="tx2"/>
                </a:solidFill>
                <a:latin typeface="Sinkin Sans 600 SemiBold"/>
              </a:rPr>
              <a:t> * </a:t>
            </a:r>
            <a:r>
              <a:rPr lang="en-US" sz="1600" b="1" dirty="0" err="1">
                <a:solidFill>
                  <a:schemeClr val="tx2"/>
                </a:solidFill>
                <a:latin typeface="Sinkin Sans 600 SemiBold"/>
              </a:rPr>
              <a:t>H</a:t>
            </a:r>
            <a:r>
              <a:rPr lang="en-US" sz="1600" b="1" baseline="-25000" dirty="0" err="1">
                <a:solidFill>
                  <a:schemeClr val="tx2"/>
                </a:solidFill>
                <a:latin typeface="Sinkin Sans 600 SemiBold"/>
              </a:rPr>
              <a:t>cá</a:t>
            </a:r>
            <a:r>
              <a:rPr lang="en-US" sz="1600" b="1" baseline="-25000" dirty="0">
                <a:solidFill>
                  <a:schemeClr val="tx2"/>
                </a:solidFill>
                <a:latin typeface="Sinkin Sans 600 SemiBold"/>
              </a:rPr>
              <a:t> </a:t>
            </a:r>
            <a:r>
              <a:rPr lang="en-US" sz="1600" b="1" baseline="-25000" dirty="0" err="1">
                <a:solidFill>
                  <a:schemeClr val="tx2"/>
                </a:solidFill>
                <a:latin typeface="Sinkin Sans 600 SemiBold"/>
              </a:rPr>
              <a:t>nhân</a:t>
            </a:r>
            <a:endParaRPr lang="en-US" sz="1600" b="1" dirty="0">
              <a:solidFill>
                <a:schemeClr val="tx2"/>
              </a:solidFill>
              <a:latin typeface="Sinkin Sans 600 SemiBold"/>
            </a:endParaRPr>
          </a:p>
        </p:txBody>
      </p:sp>
      <p:sp>
        <p:nvSpPr>
          <p:cNvPr id="103" name="TextBox 102"/>
          <p:cNvSpPr txBox="1"/>
          <p:nvPr/>
        </p:nvSpPr>
        <p:spPr>
          <a:xfrm>
            <a:off x="503788" y="1695450"/>
            <a:ext cx="10285236" cy="1702710"/>
          </a:xfrm>
          <a:prstGeom prst="rect">
            <a:avLst/>
          </a:prstGeom>
          <a:noFill/>
        </p:spPr>
        <p:txBody>
          <a:bodyPr wrap="square" rtlCol="0">
            <a:spAutoFit/>
          </a:bodyPr>
          <a:lstStyle/>
          <a:p>
            <a:pPr>
              <a:lnSpc>
                <a:spcPct val="150000"/>
              </a:lnSpc>
            </a:pPr>
            <a:r>
              <a:rPr lang="en-US" b="1" i="1" dirty="0">
                <a:solidFill>
                  <a:schemeClr val="tx2"/>
                </a:solidFill>
                <a:latin typeface="Lato Regular"/>
              </a:rPr>
              <a:t>Trong </a:t>
            </a:r>
            <a:r>
              <a:rPr lang="en-US" b="1" i="1" dirty="0" err="1">
                <a:solidFill>
                  <a:schemeClr val="tx2"/>
                </a:solidFill>
                <a:latin typeface="Lato Regular"/>
              </a:rPr>
              <a:t>đó</a:t>
            </a:r>
            <a:r>
              <a:rPr lang="en-US" b="1" i="1" dirty="0">
                <a:solidFill>
                  <a:schemeClr val="tx2"/>
                </a:solidFill>
                <a:latin typeface="Lato Regular"/>
              </a:rPr>
              <a:t>:</a:t>
            </a:r>
          </a:p>
          <a:p>
            <a:pPr marL="285750" indent="-285750">
              <a:lnSpc>
                <a:spcPct val="150000"/>
              </a:lnSpc>
              <a:buFont typeface="Wingdings" panose="05000000000000000000" pitchFamily="2" charset="2"/>
              <a:buChar char="v"/>
            </a:pPr>
            <a:r>
              <a:rPr lang="en-US" dirty="0" err="1">
                <a:solidFill>
                  <a:schemeClr val="tx2"/>
                </a:solidFill>
                <a:latin typeface="Lato Regular"/>
              </a:rPr>
              <a:t>Tổng</a:t>
            </a:r>
            <a:r>
              <a:rPr lang="en-US" dirty="0">
                <a:solidFill>
                  <a:schemeClr val="tx2"/>
                </a:solidFill>
                <a:latin typeface="Lato Regular"/>
              </a:rPr>
              <a:t> </a:t>
            </a:r>
            <a:r>
              <a:rPr lang="en-US" dirty="0" err="1">
                <a:solidFill>
                  <a:schemeClr val="tx2"/>
                </a:solidFill>
                <a:latin typeface="Lato Regular"/>
              </a:rPr>
              <a:t>tạm</a:t>
            </a:r>
            <a:r>
              <a:rPr lang="en-US" dirty="0">
                <a:solidFill>
                  <a:schemeClr val="tx2"/>
                </a:solidFill>
                <a:latin typeface="Lato Regular"/>
              </a:rPr>
              <a:t> </a:t>
            </a:r>
            <a:r>
              <a:rPr lang="en-US" dirty="0" err="1">
                <a:solidFill>
                  <a:schemeClr val="tx2"/>
                </a:solidFill>
                <a:latin typeface="Lato Regular"/>
              </a:rPr>
              <a:t>ứng</a:t>
            </a:r>
            <a:r>
              <a:rPr lang="en-US" dirty="0">
                <a:solidFill>
                  <a:schemeClr val="tx2"/>
                </a:solidFill>
                <a:latin typeface="Lato Regular"/>
              </a:rPr>
              <a:t> </a:t>
            </a:r>
            <a:r>
              <a:rPr lang="en-US" dirty="0" err="1">
                <a:solidFill>
                  <a:schemeClr val="tx2"/>
                </a:solidFill>
                <a:latin typeface="Lato Regular"/>
              </a:rPr>
              <a:t>hiệu</a:t>
            </a:r>
            <a:r>
              <a:rPr lang="en-US" dirty="0">
                <a:solidFill>
                  <a:schemeClr val="tx2"/>
                </a:solidFill>
                <a:latin typeface="Lato Regular"/>
              </a:rPr>
              <a:t> </a:t>
            </a:r>
            <a:r>
              <a:rPr lang="en-US" dirty="0" err="1">
                <a:solidFill>
                  <a:schemeClr val="tx2"/>
                </a:solidFill>
                <a:latin typeface="Lato Regular"/>
              </a:rPr>
              <a:t>quả</a:t>
            </a:r>
            <a:r>
              <a:rPr lang="en-US" dirty="0">
                <a:solidFill>
                  <a:schemeClr val="tx2"/>
                </a:solidFill>
                <a:latin typeface="Lato Regular"/>
              </a:rPr>
              <a:t> </a:t>
            </a:r>
            <a:r>
              <a:rPr lang="en-US" dirty="0" err="1">
                <a:solidFill>
                  <a:schemeClr val="tx2"/>
                </a:solidFill>
                <a:latin typeface="Lato Regular"/>
              </a:rPr>
              <a:t>dự</a:t>
            </a:r>
            <a:r>
              <a:rPr lang="en-US" dirty="0">
                <a:solidFill>
                  <a:schemeClr val="tx2"/>
                </a:solidFill>
                <a:latin typeface="Lato Regular"/>
              </a:rPr>
              <a:t> </a:t>
            </a:r>
            <a:r>
              <a:rPr lang="en-US" dirty="0" err="1">
                <a:solidFill>
                  <a:schemeClr val="tx2"/>
                </a:solidFill>
                <a:latin typeface="Lato Regular"/>
              </a:rPr>
              <a:t>án</a:t>
            </a:r>
            <a:r>
              <a:rPr lang="en-US" dirty="0">
                <a:solidFill>
                  <a:schemeClr val="tx2"/>
                </a:solidFill>
                <a:latin typeface="Lato Regular"/>
              </a:rPr>
              <a:t> </a:t>
            </a:r>
            <a:r>
              <a:rPr lang="en-US" dirty="0" err="1">
                <a:solidFill>
                  <a:schemeClr val="tx2"/>
                </a:solidFill>
                <a:latin typeface="Lato Regular"/>
              </a:rPr>
              <a:t>không</a:t>
            </a:r>
            <a:r>
              <a:rPr lang="en-US" dirty="0">
                <a:solidFill>
                  <a:schemeClr val="tx2"/>
                </a:solidFill>
                <a:latin typeface="Lato Regular"/>
              </a:rPr>
              <a:t> </a:t>
            </a:r>
            <a:r>
              <a:rPr lang="en-US" dirty="0" err="1">
                <a:solidFill>
                  <a:schemeClr val="tx2"/>
                </a:solidFill>
                <a:latin typeface="Lato Regular"/>
              </a:rPr>
              <a:t>vượt</a:t>
            </a:r>
            <a:r>
              <a:rPr lang="en-US" dirty="0">
                <a:solidFill>
                  <a:schemeClr val="tx2"/>
                </a:solidFill>
                <a:latin typeface="Lato Regular"/>
              </a:rPr>
              <a:t> </a:t>
            </a:r>
            <a:r>
              <a:rPr lang="en-US" dirty="0" err="1">
                <a:solidFill>
                  <a:schemeClr val="tx2"/>
                </a:solidFill>
                <a:latin typeface="Lato Regular"/>
              </a:rPr>
              <a:t>quá</a:t>
            </a:r>
            <a:r>
              <a:rPr lang="en-US" dirty="0">
                <a:solidFill>
                  <a:schemeClr val="tx2"/>
                </a:solidFill>
                <a:latin typeface="Lato Regular"/>
              </a:rPr>
              <a:t>            </a:t>
            </a:r>
          </a:p>
          <a:p>
            <a:pPr marL="285750" indent="-285750">
              <a:lnSpc>
                <a:spcPct val="150000"/>
              </a:lnSpc>
              <a:buFont typeface="Wingdings" panose="05000000000000000000" pitchFamily="2" charset="2"/>
              <a:buChar char="v"/>
            </a:pPr>
            <a:r>
              <a:rPr lang="en-US" b="1" dirty="0" err="1">
                <a:solidFill>
                  <a:schemeClr val="tx2"/>
                </a:solidFill>
                <a:latin typeface="Sinkin Sans 600 SemiBold"/>
              </a:rPr>
              <a:t>H</a:t>
            </a:r>
            <a:r>
              <a:rPr lang="en-US" b="1" baseline="-25000" dirty="0" err="1">
                <a:solidFill>
                  <a:schemeClr val="tx2"/>
                </a:solidFill>
                <a:latin typeface="Sinkin Sans 600 SemiBold"/>
              </a:rPr>
              <a:t>dự</a:t>
            </a:r>
            <a:r>
              <a:rPr lang="en-US" b="1" baseline="-25000" dirty="0">
                <a:solidFill>
                  <a:schemeClr val="tx2"/>
                </a:solidFill>
                <a:latin typeface="Sinkin Sans 600 SemiBold"/>
              </a:rPr>
              <a:t> </a:t>
            </a:r>
            <a:r>
              <a:rPr lang="en-US" b="1" baseline="-25000" dirty="0" err="1">
                <a:solidFill>
                  <a:schemeClr val="tx2"/>
                </a:solidFill>
                <a:latin typeface="Sinkin Sans 600 SemiBold"/>
              </a:rPr>
              <a:t>án</a:t>
            </a:r>
            <a:r>
              <a:rPr lang="en-US" b="1" dirty="0">
                <a:solidFill>
                  <a:schemeClr val="tx2"/>
                </a:solidFill>
                <a:latin typeface="Sinkin Sans 600 SemiBold"/>
              </a:rPr>
              <a:t> </a:t>
            </a:r>
            <a:r>
              <a:rPr lang="en-US" dirty="0" err="1">
                <a:solidFill>
                  <a:schemeClr val="tx2"/>
                </a:solidFill>
                <a:latin typeface="Lato Regular"/>
              </a:rPr>
              <a:t>được</a:t>
            </a:r>
            <a:r>
              <a:rPr lang="en-US" dirty="0">
                <a:solidFill>
                  <a:schemeClr val="tx2"/>
                </a:solidFill>
                <a:latin typeface="Lato Regular"/>
              </a:rPr>
              <a:t> </a:t>
            </a:r>
            <a:r>
              <a:rPr lang="en-US" dirty="0" err="1">
                <a:solidFill>
                  <a:schemeClr val="tx2"/>
                </a:solidFill>
                <a:latin typeface="Lato Regular"/>
              </a:rPr>
              <a:t>tính</a:t>
            </a:r>
            <a:r>
              <a:rPr lang="en-US" dirty="0">
                <a:solidFill>
                  <a:schemeClr val="tx2"/>
                </a:solidFill>
                <a:latin typeface="Lato Regular"/>
              </a:rPr>
              <a:t> </a:t>
            </a:r>
            <a:r>
              <a:rPr lang="en-US" dirty="0" err="1">
                <a:solidFill>
                  <a:schemeClr val="tx2"/>
                </a:solidFill>
                <a:latin typeface="Lato Regular"/>
              </a:rPr>
              <a:t>bằng</a:t>
            </a:r>
            <a:r>
              <a:rPr lang="en-US" dirty="0">
                <a:solidFill>
                  <a:schemeClr val="tx2"/>
                </a:solidFill>
                <a:latin typeface="Lato Regular"/>
              </a:rPr>
              <a:t> </a:t>
            </a:r>
            <a:r>
              <a:rPr lang="en-US" dirty="0" err="1">
                <a:solidFill>
                  <a:schemeClr val="tx2"/>
                </a:solidFill>
                <a:latin typeface="Lato Regular"/>
              </a:rPr>
              <a:t>điểm</a:t>
            </a:r>
            <a:r>
              <a:rPr lang="en-US" dirty="0">
                <a:solidFill>
                  <a:schemeClr val="tx2"/>
                </a:solidFill>
                <a:latin typeface="Lato Regular"/>
              </a:rPr>
              <a:t> </a:t>
            </a:r>
            <a:r>
              <a:rPr lang="en-US" dirty="0" err="1">
                <a:solidFill>
                  <a:schemeClr val="tx2"/>
                </a:solidFill>
                <a:latin typeface="Lato Regular"/>
              </a:rPr>
              <a:t>dự</a:t>
            </a:r>
            <a:r>
              <a:rPr lang="en-US" dirty="0">
                <a:solidFill>
                  <a:schemeClr val="tx2"/>
                </a:solidFill>
                <a:latin typeface="Lato Regular"/>
              </a:rPr>
              <a:t> </a:t>
            </a:r>
            <a:r>
              <a:rPr lang="en-US" dirty="0" err="1">
                <a:solidFill>
                  <a:schemeClr val="tx2"/>
                </a:solidFill>
                <a:latin typeface="Lato Regular"/>
              </a:rPr>
              <a:t>án</a:t>
            </a:r>
            <a:r>
              <a:rPr lang="en-US" dirty="0">
                <a:solidFill>
                  <a:schemeClr val="tx2"/>
                </a:solidFill>
                <a:latin typeface="Lato Regular"/>
              </a:rPr>
              <a:t> </a:t>
            </a:r>
            <a:r>
              <a:rPr lang="en-US" b="1" dirty="0">
                <a:solidFill>
                  <a:schemeClr val="tx2"/>
                </a:solidFill>
                <a:latin typeface="Sinkin Sans 600 SemiBold"/>
              </a:rPr>
              <a:t>[0.8, 1.2] </a:t>
            </a:r>
            <a:r>
              <a:rPr lang="en-US" dirty="0" err="1">
                <a:solidFill>
                  <a:schemeClr val="tx2"/>
                </a:solidFill>
                <a:latin typeface="Lato Regular"/>
              </a:rPr>
              <a:t>nhân</a:t>
            </a:r>
            <a:r>
              <a:rPr lang="en-US" dirty="0">
                <a:solidFill>
                  <a:schemeClr val="tx2"/>
                </a:solidFill>
                <a:latin typeface="Lato Regular"/>
              </a:rPr>
              <a:t> </a:t>
            </a:r>
            <a:r>
              <a:rPr lang="en-US" dirty="0" err="1">
                <a:solidFill>
                  <a:schemeClr val="tx2"/>
                </a:solidFill>
                <a:latin typeface="Lato Regular"/>
              </a:rPr>
              <a:t>với</a:t>
            </a:r>
            <a:r>
              <a:rPr lang="en-US" dirty="0">
                <a:solidFill>
                  <a:schemeClr val="tx2"/>
                </a:solidFill>
                <a:latin typeface="Lato Regular"/>
              </a:rPr>
              <a:t> </a:t>
            </a:r>
            <a:r>
              <a:rPr lang="en-US" dirty="0" err="1">
                <a:solidFill>
                  <a:schemeClr val="tx2"/>
                </a:solidFill>
                <a:latin typeface="Lato Regular"/>
              </a:rPr>
              <a:t>hệ</a:t>
            </a:r>
            <a:r>
              <a:rPr lang="en-US" dirty="0">
                <a:solidFill>
                  <a:schemeClr val="tx2"/>
                </a:solidFill>
                <a:latin typeface="Lato Regular"/>
              </a:rPr>
              <a:t> </a:t>
            </a:r>
            <a:r>
              <a:rPr lang="en-US" dirty="0" err="1">
                <a:solidFill>
                  <a:schemeClr val="tx2"/>
                </a:solidFill>
                <a:latin typeface="Lato Regular"/>
              </a:rPr>
              <a:t>số</a:t>
            </a:r>
            <a:r>
              <a:rPr lang="en-US" dirty="0">
                <a:solidFill>
                  <a:schemeClr val="tx2"/>
                </a:solidFill>
                <a:latin typeface="Lato Regular"/>
              </a:rPr>
              <a:t> </a:t>
            </a:r>
            <a:r>
              <a:rPr lang="en-US" dirty="0" err="1">
                <a:solidFill>
                  <a:schemeClr val="tx2"/>
                </a:solidFill>
                <a:latin typeface="Lato Regular"/>
              </a:rPr>
              <a:t>cân</a:t>
            </a:r>
            <a:r>
              <a:rPr lang="en-US" dirty="0">
                <a:solidFill>
                  <a:schemeClr val="tx2"/>
                </a:solidFill>
                <a:latin typeface="Lato Regular"/>
              </a:rPr>
              <a:t> </a:t>
            </a:r>
            <a:r>
              <a:rPr lang="en-US" dirty="0" err="1">
                <a:solidFill>
                  <a:schemeClr val="tx2"/>
                </a:solidFill>
                <a:latin typeface="Lato Regular"/>
              </a:rPr>
              <a:t>bằng</a:t>
            </a:r>
            <a:r>
              <a:rPr lang="en-US" dirty="0">
                <a:solidFill>
                  <a:schemeClr val="tx2"/>
                </a:solidFill>
                <a:latin typeface="Lato Regular"/>
              </a:rPr>
              <a:t> (</a:t>
            </a:r>
            <a:r>
              <a:rPr lang="en-US" dirty="0" err="1">
                <a:solidFill>
                  <a:schemeClr val="tx2"/>
                </a:solidFill>
                <a:latin typeface="Lato Regular"/>
              </a:rPr>
              <a:t>nếu</a:t>
            </a:r>
            <a:r>
              <a:rPr lang="en-US" dirty="0">
                <a:solidFill>
                  <a:schemeClr val="tx2"/>
                </a:solidFill>
                <a:latin typeface="Lato Regular"/>
              </a:rPr>
              <a:t> </a:t>
            </a:r>
            <a:r>
              <a:rPr lang="en-US" dirty="0" err="1">
                <a:solidFill>
                  <a:schemeClr val="tx2"/>
                </a:solidFill>
                <a:latin typeface="Lato Regular"/>
              </a:rPr>
              <a:t>tổng</a:t>
            </a:r>
            <a:r>
              <a:rPr lang="en-US" dirty="0">
                <a:solidFill>
                  <a:schemeClr val="tx2"/>
                </a:solidFill>
                <a:latin typeface="Lato Regular"/>
              </a:rPr>
              <a:t> </a:t>
            </a:r>
            <a:r>
              <a:rPr lang="en-US" dirty="0" err="1">
                <a:solidFill>
                  <a:schemeClr val="tx2"/>
                </a:solidFill>
                <a:latin typeface="Lato Regular"/>
              </a:rPr>
              <a:t>tạm</a:t>
            </a:r>
            <a:r>
              <a:rPr lang="en-US" dirty="0">
                <a:solidFill>
                  <a:schemeClr val="tx2"/>
                </a:solidFill>
                <a:latin typeface="Lato Regular"/>
              </a:rPr>
              <a:t> </a:t>
            </a:r>
            <a:r>
              <a:rPr lang="en-US" dirty="0" err="1">
                <a:solidFill>
                  <a:schemeClr val="tx2"/>
                </a:solidFill>
                <a:latin typeface="Lato Regular"/>
              </a:rPr>
              <a:t>ứng</a:t>
            </a:r>
            <a:r>
              <a:rPr lang="en-US" dirty="0">
                <a:solidFill>
                  <a:schemeClr val="tx2"/>
                </a:solidFill>
                <a:latin typeface="Lato Regular"/>
              </a:rPr>
              <a:t> </a:t>
            </a:r>
            <a:r>
              <a:rPr lang="en-US" dirty="0" err="1">
                <a:solidFill>
                  <a:schemeClr val="tx2"/>
                </a:solidFill>
                <a:latin typeface="Lato Regular"/>
              </a:rPr>
              <a:t>vượt</a:t>
            </a:r>
            <a:r>
              <a:rPr lang="en-US" dirty="0">
                <a:solidFill>
                  <a:schemeClr val="tx2"/>
                </a:solidFill>
                <a:latin typeface="Lato Regular"/>
              </a:rPr>
              <a:t> </a:t>
            </a:r>
            <a:r>
              <a:rPr lang="en-US" dirty="0" err="1">
                <a:solidFill>
                  <a:schemeClr val="tx2"/>
                </a:solidFill>
                <a:latin typeface="Lato Regular"/>
              </a:rPr>
              <a:t>quá</a:t>
            </a:r>
            <a:r>
              <a:rPr lang="en-US" dirty="0">
                <a:solidFill>
                  <a:schemeClr val="tx2"/>
                </a:solidFill>
                <a:latin typeface="Lato Regular"/>
              </a:rPr>
              <a:t> </a:t>
            </a:r>
            <a:r>
              <a:rPr lang="en-US" dirty="0" err="1">
                <a:solidFill>
                  <a:schemeClr val="tx2"/>
                </a:solidFill>
                <a:latin typeface="Lato Regular"/>
              </a:rPr>
              <a:t>quy</a:t>
            </a:r>
            <a:r>
              <a:rPr lang="en-US" dirty="0">
                <a:solidFill>
                  <a:schemeClr val="tx2"/>
                </a:solidFill>
                <a:latin typeface="Lato Regular"/>
              </a:rPr>
              <a:t> </a:t>
            </a:r>
            <a:r>
              <a:rPr lang="en-US" dirty="0" err="1">
                <a:solidFill>
                  <a:schemeClr val="tx2"/>
                </a:solidFill>
                <a:latin typeface="Lato Regular"/>
              </a:rPr>
              <a:t>định</a:t>
            </a:r>
            <a:r>
              <a:rPr lang="en-US" dirty="0">
                <a:solidFill>
                  <a:schemeClr val="tx2"/>
                </a:solidFill>
                <a:latin typeface="Lato Regular"/>
              </a:rPr>
              <a:t>)</a:t>
            </a:r>
          </a:p>
        </p:txBody>
      </p:sp>
      <p:sp>
        <p:nvSpPr>
          <p:cNvPr id="55" name="AutoShape 11"/>
          <p:cNvSpPr>
            <a:spLocks/>
          </p:cNvSpPr>
          <p:nvPr/>
        </p:nvSpPr>
        <p:spPr bwMode="auto">
          <a:xfrm>
            <a:off x="9294927" y="4895218"/>
            <a:ext cx="1825040" cy="265698"/>
          </a:xfrm>
          <a:prstGeom prst="roundRect">
            <a:avLst>
              <a:gd name="adj" fmla="val 50000"/>
            </a:avLst>
          </a:prstGeom>
          <a:solidFill>
            <a:schemeClr val="tx2"/>
          </a:solidFill>
          <a:ln w="25400" cap="flat" cmpd="sng">
            <a:solidFill>
              <a:srgbClr val="000000">
                <a:alpha val="0"/>
              </a:srgbClr>
            </a:solidFill>
            <a:prstDash val="solid"/>
            <a:miter lim="0"/>
            <a:headEnd/>
            <a:tailEnd/>
          </a:ln>
          <a:effectLst/>
        </p:spPr>
        <p:txBody>
          <a:bodyPr lIns="0" tIns="0" rIns="0" bIns="0" anchor="ctr"/>
          <a:lstStyle/>
          <a:p>
            <a:pPr>
              <a:defRPr/>
            </a:pPr>
            <a:endParaRPr lang="es-ES" sz="5600">
              <a:effectLst>
                <a:outerShdw blurRad="38100" dist="38100" dir="2700000" algn="tl">
                  <a:srgbClr val="000000"/>
                </a:outerShdw>
              </a:effectLst>
              <a:latin typeface="Gill Sans" charset="0"/>
              <a:cs typeface="Gill Sans" charset="0"/>
              <a:sym typeface="Gill Sans" charset="0"/>
            </a:endParaRPr>
          </a:p>
        </p:txBody>
      </p:sp>
      <p:sp>
        <p:nvSpPr>
          <p:cNvPr id="58" name="AutoShape 54"/>
          <p:cNvSpPr>
            <a:spLocks/>
          </p:cNvSpPr>
          <p:nvPr/>
        </p:nvSpPr>
        <p:spPr bwMode="auto">
          <a:xfrm rot="21599989">
            <a:off x="9033836" y="4445906"/>
            <a:ext cx="309434" cy="207000"/>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1336" y="21599"/>
                </a:moveTo>
                <a:cubicBezTo>
                  <a:pt x="969" y="21599"/>
                  <a:pt x="657" y="21365"/>
                  <a:pt x="392" y="20890"/>
                </a:cubicBezTo>
                <a:cubicBezTo>
                  <a:pt x="132" y="20401"/>
                  <a:pt x="0" y="19835"/>
                  <a:pt x="0" y="19171"/>
                </a:cubicBezTo>
                <a:cubicBezTo>
                  <a:pt x="0" y="18480"/>
                  <a:pt x="135" y="17907"/>
                  <a:pt x="403" y="17419"/>
                </a:cubicBezTo>
                <a:lnTo>
                  <a:pt x="9821" y="716"/>
                </a:lnTo>
                <a:cubicBezTo>
                  <a:pt x="10089" y="240"/>
                  <a:pt x="10412" y="0"/>
                  <a:pt x="10790" y="0"/>
                </a:cubicBezTo>
                <a:cubicBezTo>
                  <a:pt x="11176" y="0"/>
                  <a:pt x="11503" y="240"/>
                  <a:pt x="11774" y="716"/>
                </a:cubicBezTo>
                <a:lnTo>
                  <a:pt x="21196" y="17419"/>
                </a:lnTo>
                <a:cubicBezTo>
                  <a:pt x="21464" y="17907"/>
                  <a:pt x="21600" y="18480"/>
                  <a:pt x="21600" y="19171"/>
                </a:cubicBezTo>
                <a:cubicBezTo>
                  <a:pt x="21600" y="19815"/>
                  <a:pt x="21467" y="20375"/>
                  <a:pt x="21203" y="20870"/>
                </a:cubicBezTo>
                <a:cubicBezTo>
                  <a:pt x="20942" y="21359"/>
                  <a:pt x="20626" y="21599"/>
                  <a:pt x="20263" y="21599"/>
                </a:cubicBezTo>
                <a:lnTo>
                  <a:pt x="1336" y="21599"/>
                </a:lnTo>
                <a:close/>
              </a:path>
            </a:pathLst>
          </a:custGeom>
          <a:solidFill>
            <a:schemeClr val="tx2"/>
          </a:solidFill>
          <a:ln>
            <a:noFill/>
          </a:ln>
          <a:effectLst/>
        </p:spPr>
        <p:txBody>
          <a:bodyPr lIns="38092" tIns="38092" rIns="38092" bIns="38092" anchor="ctr"/>
          <a:lstStyle/>
          <a:p>
            <a:pPr defTabSz="457109">
              <a:defRPr/>
            </a:pPr>
            <a:endParaRPr lang="es-ES" sz="3000">
              <a:effectLst>
                <a:outerShdw blurRad="38100" dist="38100" dir="2700000" algn="tl">
                  <a:srgbClr val="000000"/>
                </a:outerShdw>
              </a:effectLst>
              <a:latin typeface="Gill Sans" charset="0"/>
              <a:cs typeface="Gill Sans" charset="0"/>
              <a:sym typeface="Gill Sans" charset="0"/>
            </a:endParaRPr>
          </a:p>
        </p:txBody>
      </p:sp>
      <p:grpSp>
        <p:nvGrpSpPr>
          <p:cNvPr id="60" name="Group 59"/>
          <p:cNvGrpSpPr/>
          <p:nvPr/>
        </p:nvGrpSpPr>
        <p:grpSpPr>
          <a:xfrm rot="5400000">
            <a:off x="8863169" y="4015767"/>
            <a:ext cx="646979" cy="221615"/>
            <a:chOff x="2234756" y="2800350"/>
            <a:chExt cx="286824" cy="91440"/>
          </a:xfrm>
          <a:solidFill>
            <a:schemeClr val="tx2"/>
          </a:solidFill>
        </p:grpSpPr>
        <p:sp>
          <p:nvSpPr>
            <p:cNvPr id="62" name="Oval 61"/>
            <p:cNvSpPr/>
            <p:nvPr/>
          </p:nvSpPr>
          <p:spPr>
            <a:xfrm rot="5400000">
              <a:off x="2234756" y="2800350"/>
              <a:ext cx="91440" cy="91440"/>
            </a:xfrm>
            <a:prstGeom prst="ellipse">
              <a:avLst/>
            </a:prstGeom>
            <a:grpFill/>
            <a:ln w="12700">
              <a:noFill/>
            </a:ln>
          </p:spPr>
          <p:style>
            <a:lnRef idx="2">
              <a:schemeClr val="accent1">
                <a:shade val="50000"/>
              </a:schemeClr>
            </a:lnRef>
            <a:fillRef idx="1">
              <a:schemeClr val="accent1"/>
            </a:fillRef>
            <a:effectRef idx="0">
              <a:schemeClr val="accent1"/>
            </a:effectRef>
            <a:fontRef idx="minor">
              <a:schemeClr val="lt1"/>
            </a:fontRef>
          </p:style>
          <p:txBody>
            <a:bodyPr rtlCol="1" anchor="ctr"/>
            <a:lstStyle/>
            <a:p>
              <a:pPr algn="ctr"/>
              <a:endParaRPr lang="x-none" dirty="0">
                <a:latin typeface="Calibri Light"/>
              </a:endParaRPr>
            </a:p>
          </p:txBody>
        </p:sp>
        <p:cxnSp>
          <p:nvCxnSpPr>
            <p:cNvPr id="63" name="Straight Connector 62"/>
            <p:cNvCxnSpPr/>
            <p:nvPr/>
          </p:nvCxnSpPr>
          <p:spPr>
            <a:xfrm rot="16200000" flipH="1">
              <a:off x="2423784" y="2748334"/>
              <a:ext cx="59" cy="195532"/>
            </a:xfrm>
            <a:prstGeom prst="line">
              <a:avLst/>
            </a:prstGeom>
            <a:grpFill/>
            <a:ln w="12700">
              <a:solidFill>
                <a:schemeClr val="tx2"/>
              </a:solidFill>
              <a:prstDash val="dash"/>
            </a:ln>
          </p:spPr>
          <p:style>
            <a:lnRef idx="1">
              <a:schemeClr val="accent1"/>
            </a:lnRef>
            <a:fillRef idx="0">
              <a:schemeClr val="accent1"/>
            </a:fillRef>
            <a:effectRef idx="0">
              <a:schemeClr val="accent1"/>
            </a:effectRef>
            <a:fontRef idx="minor">
              <a:schemeClr val="tx1"/>
            </a:fontRef>
          </p:style>
        </p:cxnSp>
      </p:grpSp>
      <p:grpSp>
        <p:nvGrpSpPr>
          <p:cNvPr id="64" name="Group 63"/>
          <p:cNvGrpSpPr/>
          <p:nvPr/>
        </p:nvGrpSpPr>
        <p:grpSpPr>
          <a:xfrm>
            <a:off x="8891080" y="4716777"/>
            <a:ext cx="596201" cy="596355"/>
            <a:chOff x="2255370" y="6982392"/>
            <a:chExt cx="960187" cy="960436"/>
          </a:xfrm>
        </p:grpSpPr>
        <p:sp>
          <p:nvSpPr>
            <p:cNvPr id="81" name="AutoShape 13"/>
            <p:cNvSpPr>
              <a:spLocks/>
            </p:cNvSpPr>
            <p:nvPr/>
          </p:nvSpPr>
          <p:spPr bwMode="auto">
            <a:xfrm>
              <a:off x="2255370" y="6982392"/>
              <a:ext cx="960187" cy="960436"/>
            </a:xfrm>
            <a:custGeom>
              <a:avLst/>
              <a:gdLst>
                <a:gd name="T0" fmla="+- 0 10800 961"/>
                <a:gd name="T1" fmla="*/ T0 w 19679"/>
                <a:gd name="T2" fmla="+- 0 10800 961"/>
                <a:gd name="T3" fmla="*/ 10800 h 19679"/>
                <a:gd name="T4" fmla="+- 0 10800 961"/>
                <a:gd name="T5" fmla="*/ T4 w 19679"/>
                <a:gd name="T6" fmla="+- 0 10800 961"/>
                <a:gd name="T7" fmla="*/ 10800 h 19679"/>
                <a:gd name="T8" fmla="+- 0 10800 961"/>
                <a:gd name="T9" fmla="*/ T8 w 19679"/>
                <a:gd name="T10" fmla="+- 0 10800 961"/>
                <a:gd name="T11" fmla="*/ 10800 h 19679"/>
                <a:gd name="T12" fmla="+- 0 10800 961"/>
                <a:gd name="T13" fmla="*/ T12 w 19679"/>
                <a:gd name="T14" fmla="+- 0 10800 961"/>
                <a:gd name="T15" fmla="*/ 10800 h 19679"/>
              </a:gdLst>
              <a:ahLst/>
              <a:cxnLst>
                <a:cxn ang="0">
                  <a:pos x="T1" y="T3"/>
                </a:cxn>
                <a:cxn ang="0">
                  <a:pos x="T5" y="T7"/>
                </a:cxn>
                <a:cxn ang="0">
                  <a:pos x="T9" y="T11"/>
                </a:cxn>
                <a:cxn ang="0">
                  <a:pos x="T13" y="T15"/>
                </a:cxn>
              </a:cxnLst>
              <a:rect l="0" t="0" r="r" b="b"/>
              <a:pathLst>
                <a:path w="19679" h="19679">
                  <a:moveTo>
                    <a:pt x="16796" y="2881"/>
                  </a:moveTo>
                  <a:cubicBezTo>
                    <a:pt x="20638" y="6724"/>
                    <a:pt x="20638" y="12953"/>
                    <a:pt x="16796" y="16796"/>
                  </a:cubicBezTo>
                  <a:cubicBezTo>
                    <a:pt x="12953" y="20639"/>
                    <a:pt x="6724" y="20639"/>
                    <a:pt x="2881" y="16796"/>
                  </a:cubicBezTo>
                  <a:cubicBezTo>
                    <a:pt x="-961" y="12953"/>
                    <a:pt x="-961" y="6724"/>
                    <a:pt x="2881" y="2881"/>
                  </a:cubicBezTo>
                  <a:cubicBezTo>
                    <a:pt x="6724" y="-961"/>
                    <a:pt x="12953" y="-961"/>
                    <a:pt x="16796" y="2881"/>
                  </a:cubicBezTo>
                </a:path>
              </a:pathLst>
            </a:custGeom>
            <a:solidFill>
              <a:schemeClr val="tx2"/>
            </a:solidFill>
            <a:ln w="25400" cap="flat" cmpd="sng">
              <a:solidFill>
                <a:srgbClr val="000000">
                  <a:alpha val="0"/>
                </a:srgbClr>
              </a:solidFill>
              <a:prstDash val="solid"/>
              <a:miter lim="0"/>
              <a:headEnd/>
              <a:tailEnd/>
            </a:ln>
            <a:effectLst/>
          </p:spPr>
          <p:txBody>
            <a:bodyPr lIns="0" tIns="0" rIns="0" bIns="0" anchor="ctr"/>
            <a:lstStyle/>
            <a:p>
              <a:pPr>
                <a:defRPr/>
              </a:pPr>
              <a:endParaRPr lang="es-ES" sz="5600">
                <a:effectLst>
                  <a:outerShdw blurRad="38100" dist="38100" dir="2700000" algn="tl">
                    <a:srgbClr val="000000"/>
                  </a:outerShdw>
                </a:effectLst>
                <a:latin typeface="Gill Sans" charset="0"/>
                <a:cs typeface="Gill Sans" charset="0"/>
                <a:sym typeface="Gill Sans" charset="0"/>
              </a:endParaRPr>
            </a:p>
          </p:txBody>
        </p:sp>
        <p:sp>
          <p:nvSpPr>
            <p:cNvPr id="104" name="AutoShape 14"/>
            <p:cNvSpPr>
              <a:spLocks/>
            </p:cNvSpPr>
            <p:nvPr/>
          </p:nvSpPr>
          <p:spPr bwMode="auto">
            <a:xfrm>
              <a:off x="2550688" y="7255500"/>
              <a:ext cx="414109" cy="414214"/>
            </a:xfrm>
            <a:custGeom>
              <a:avLst/>
              <a:gdLst>
                <a:gd name="T0" fmla="+- 0 10800 961"/>
                <a:gd name="T1" fmla="*/ T0 w 19679"/>
                <a:gd name="T2" fmla="+- 0 10800 961"/>
                <a:gd name="T3" fmla="*/ 10800 h 19679"/>
                <a:gd name="T4" fmla="+- 0 10800 961"/>
                <a:gd name="T5" fmla="*/ T4 w 19679"/>
                <a:gd name="T6" fmla="+- 0 10800 961"/>
                <a:gd name="T7" fmla="*/ 10800 h 19679"/>
                <a:gd name="T8" fmla="+- 0 10800 961"/>
                <a:gd name="T9" fmla="*/ T8 w 19679"/>
                <a:gd name="T10" fmla="+- 0 10800 961"/>
                <a:gd name="T11" fmla="*/ 10800 h 19679"/>
                <a:gd name="T12" fmla="+- 0 10800 961"/>
                <a:gd name="T13" fmla="*/ T12 w 19679"/>
                <a:gd name="T14" fmla="+- 0 10800 961"/>
                <a:gd name="T15" fmla="*/ 10800 h 19679"/>
              </a:gdLst>
              <a:ahLst/>
              <a:cxnLst>
                <a:cxn ang="0">
                  <a:pos x="T1" y="T3"/>
                </a:cxn>
                <a:cxn ang="0">
                  <a:pos x="T5" y="T7"/>
                </a:cxn>
                <a:cxn ang="0">
                  <a:pos x="T9" y="T11"/>
                </a:cxn>
                <a:cxn ang="0">
                  <a:pos x="T13" y="T15"/>
                </a:cxn>
              </a:cxnLst>
              <a:rect l="0" t="0" r="r" b="b"/>
              <a:pathLst>
                <a:path w="19679" h="19679">
                  <a:moveTo>
                    <a:pt x="16796" y="2881"/>
                  </a:moveTo>
                  <a:cubicBezTo>
                    <a:pt x="20639" y="6724"/>
                    <a:pt x="20639" y="12953"/>
                    <a:pt x="16796" y="16796"/>
                  </a:cubicBezTo>
                  <a:cubicBezTo>
                    <a:pt x="12953" y="20639"/>
                    <a:pt x="6724" y="20639"/>
                    <a:pt x="2881" y="16796"/>
                  </a:cubicBezTo>
                  <a:cubicBezTo>
                    <a:pt x="-961" y="12953"/>
                    <a:pt x="-961" y="6724"/>
                    <a:pt x="2881" y="2881"/>
                  </a:cubicBezTo>
                  <a:cubicBezTo>
                    <a:pt x="6724" y="-961"/>
                    <a:pt x="12953" y="-961"/>
                    <a:pt x="16796" y="2881"/>
                  </a:cubicBezTo>
                </a:path>
              </a:pathLst>
            </a:custGeom>
            <a:solidFill>
              <a:schemeClr val="bg1"/>
            </a:solidFill>
            <a:ln w="25400" cap="flat" cmpd="sng">
              <a:solidFill>
                <a:srgbClr val="000000">
                  <a:alpha val="0"/>
                </a:srgbClr>
              </a:solidFill>
              <a:prstDash val="solid"/>
              <a:miter lim="0"/>
              <a:headEnd/>
              <a:tailEnd/>
            </a:ln>
            <a:effectLst/>
          </p:spPr>
          <p:txBody>
            <a:bodyPr lIns="0" tIns="0" rIns="0" bIns="0" anchor="ctr"/>
            <a:lstStyle/>
            <a:p>
              <a:pPr>
                <a:defRPr/>
              </a:pPr>
              <a:endParaRPr lang="es-ES" sz="5600">
                <a:effectLst>
                  <a:outerShdw blurRad="38100" dist="38100" dir="2700000" algn="tl">
                    <a:srgbClr val="000000"/>
                  </a:outerShdw>
                </a:effectLst>
                <a:latin typeface="Gill Sans" charset="0"/>
                <a:cs typeface="Gill Sans" charset="0"/>
                <a:sym typeface="Gill Sans" charset="0"/>
              </a:endParaRPr>
            </a:p>
          </p:txBody>
        </p:sp>
      </p:grpSp>
      <p:sp>
        <p:nvSpPr>
          <p:cNvPr id="105" name="TextBox 104"/>
          <p:cNvSpPr txBox="1"/>
          <p:nvPr/>
        </p:nvSpPr>
        <p:spPr>
          <a:xfrm>
            <a:off x="9381371" y="3690770"/>
            <a:ext cx="1541739" cy="430887"/>
          </a:xfrm>
          <a:prstGeom prst="rect">
            <a:avLst/>
          </a:prstGeom>
          <a:noFill/>
        </p:spPr>
        <p:txBody>
          <a:bodyPr wrap="square" rtlCol="0">
            <a:spAutoFit/>
          </a:bodyPr>
          <a:lstStyle/>
          <a:p>
            <a:r>
              <a:rPr lang="en-US" sz="2200" b="1">
                <a:solidFill>
                  <a:schemeClr val="tx2"/>
                </a:solidFill>
                <a:latin typeface="Lato Regular"/>
              </a:rPr>
              <a:t>D</a:t>
            </a:r>
          </a:p>
        </p:txBody>
      </p:sp>
      <p:sp>
        <p:nvSpPr>
          <p:cNvPr id="106" name="TextBox 105"/>
          <p:cNvSpPr txBox="1"/>
          <p:nvPr/>
        </p:nvSpPr>
        <p:spPr>
          <a:xfrm>
            <a:off x="9408029" y="4112808"/>
            <a:ext cx="2129665" cy="369332"/>
          </a:xfrm>
          <a:prstGeom prst="rect">
            <a:avLst/>
          </a:prstGeom>
          <a:noFill/>
        </p:spPr>
        <p:txBody>
          <a:bodyPr wrap="square" rtlCol="0">
            <a:spAutoFit/>
          </a:bodyPr>
          <a:lstStyle/>
          <a:p>
            <a:r>
              <a:rPr lang="en-US">
                <a:latin typeface="Lato Regular"/>
              </a:rPr>
              <a:t>Xếp loại: Kém</a:t>
            </a:r>
          </a:p>
        </p:txBody>
      </p:sp>
      <p:sp>
        <p:nvSpPr>
          <p:cNvPr id="107" name="TextBox 106"/>
          <p:cNvSpPr txBox="1"/>
          <p:nvPr/>
        </p:nvSpPr>
        <p:spPr>
          <a:xfrm>
            <a:off x="3461470" y="4927004"/>
            <a:ext cx="1202252" cy="246221"/>
          </a:xfrm>
          <a:prstGeom prst="rect">
            <a:avLst/>
          </a:prstGeom>
          <a:noFill/>
        </p:spPr>
        <p:txBody>
          <a:bodyPr wrap="none" lIns="0" tIns="0" rIns="0" bIns="0" rtlCol="1" anchor="t" anchorCtr="0">
            <a:spAutoFit/>
          </a:bodyPr>
          <a:lstStyle/>
          <a:p>
            <a:pPr algn="ctr" rtl="0"/>
            <a:r>
              <a:rPr lang="en-US" sz="1600" b="1">
                <a:solidFill>
                  <a:schemeClr val="bg1"/>
                </a:solidFill>
                <a:latin typeface="Lato" pitchFamily="34" charset="0"/>
                <a:ea typeface="Open Sans" pitchFamily="34" charset="0"/>
              </a:rPr>
              <a:t>H</a:t>
            </a:r>
            <a:r>
              <a:rPr lang="en-US" sz="1600" b="1" baseline="-25000">
                <a:solidFill>
                  <a:schemeClr val="bg1"/>
                </a:solidFill>
                <a:latin typeface="Lato" pitchFamily="34" charset="0"/>
                <a:ea typeface="Open Sans" pitchFamily="34" charset="0"/>
              </a:rPr>
              <a:t>cá</a:t>
            </a:r>
            <a:r>
              <a:rPr lang="en-US" sz="1600" b="1">
                <a:solidFill>
                  <a:schemeClr val="bg1"/>
                </a:solidFill>
                <a:latin typeface="Lato" pitchFamily="34" charset="0"/>
                <a:ea typeface="Open Sans" pitchFamily="34" charset="0"/>
              </a:rPr>
              <a:t> </a:t>
            </a:r>
            <a:r>
              <a:rPr lang="en-US" sz="1600" b="1" baseline="-25000">
                <a:solidFill>
                  <a:schemeClr val="bg1"/>
                </a:solidFill>
                <a:latin typeface="Lato" pitchFamily="34" charset="0"/>
                <a:ea typeface="Open Sans" pitchFamily="34" charset="0"/>
              </a:rPr>
              <a:t>nhân</a:t>
            </a:r>
            <a:r>
              <a:rPr lang="en-US" sz="1600" b="1">
                <a:solidFill>
                  <a:schemeClr val="bg1"/>
                </a:solidFill>
                <a:latin typeface="Lato" pitchFamily="34" charset="0"/>
                <a:ea typeface="Open Sans" pitchFamily="34" charset="0"/>
              </a:rPr>
              <a:t> = 1.2</a:t>
            </a:r>
            <a:endParaRPr lang="x-none" sz="1600" b="1" dirty="0">
              <a:solidFill>
                <a:schemeClr val="bg1"/>
              </a:solidFill>
              <a:latin typeface="Lato" pitchFamily="34" charset="0"/>
              <a:ea typeface="Open Sans" pitchFamily="34" charset="0"/>
            </a:endParaRPr>
          </a:p>
        </p:txBody>
      </p:sp>
      <p:sp>
        <p:nvSpPr>
          <p:cNvPr id="108" name="TextBox 107"/>
          <p:cNvSpPr txBox="1"/>
          <p:nvPr/>
        </p:nvSpPr>
        <p:spPr>
          <a:xfrm>
            <a:off x="5559048" y="4921463"/>
            <a:ext cx="1202252" cy="246221"/>
          </a:xfrm>
          <a:prstGeom prst="rect">
            <a:avLst/>
          </a:prstGeom>
          <a:noFill/>
        </p:spPr>
        <p:txBody>
          <a:bodyPr wrap="none" lIns="0" tIns="0" rIns="0" bIns="0" rtlCol="1" anchor="t" anchorCtr="0">
            <a:spAutoFit/>
          </a:bodyPr>
          <a:lstStyle/>
          <a:p>
            <a:pPr algn="ctr" rtl="0"/>
            <a:r>
              <a:rPr lang="en-US" sz="1600" b="1">
                <a:solidFill>
                  <a:schemeClr val="bg1"/>
                </a:solidFill>
                <a:latin typeface="Lato" pitchFamily="34" charset="0"/>
                <a:ea typeface="Open Sans" pitchFamily="34" charset="0"/>
              </a:rPr>
              <a:t>H</a:t>
            </a:r>
            <a:r>
              <a:rPr lang="en-US" sz="1600" b="1" baseline="-25000">
                <a:solidFill>
                  <a:schemeClr val="bg1"/>
                </a:solidFill>
                <a:latin typeface="Lato" pitchFamily="34" charset="0"/>
                <a:ea typeface="Open Sans" pitchFamily="34" charset="0"/>
              </a:rPr>
              <a:t>cá</a:t>
            </a:r>
            <a:r>
              <a:rPr lang="en-US" sz="1600" b="1">
                <a:solidFill>
                  <a:schemeClr val="bg1"/>
                </a:solidFill>
                <a:latin typeface="Lato" pitchFamily="34" charset="0"/>
                <a:ea typeface="Open Sans" pitchFamily="34" charset="0"/>
              </a:rPr>
              <a:t> </a:t>
            </a:r>
            <a:r>
              <a:rPr lang="en-US" sz="1600" b="1" baseline="-25000">
                <a:solidFill>
                  <a:schemeClr val="bg1"/>
                </a:solidFill>
                <a:latin typeface="Lato" pitchFamily="34" charset="0"/>
                <a:ea typeface="Open Sans" pitchFamily="34" charset="0"/>
              </a:rPr>
              <a:t>nhân</a:t>
            </a:r>
            <a:r>
              <a:rPr lang="en-US" sz="1600" b="1">
                <a:solidFill>
                  <a:schemeClr val="bg1"/>
                </a:solidFill>
                <a:latin typeface="Lato" pitchFamily="34" charset="0"/>
                <a:ea typeface="Open Sans" pitchFamily="34" charset="0"/>
              </a:rPr>
              <a:t> = 1.0</a:t>
            </a:r>
            <a:endParaRPr lang="x-none" sz="1600" b="1" dirty="0">
              <a:solidFill>
                <a:schemeClr val="bg1"/>
              </a:solidFill>
              <a:latin typeface="Lato" pitchFamily="34" charset="0"/>
              <a:ea typeface="Open Sans" pitchFamily="34" charset="0"/>
            </a:endParaRPr>
          </a:p>
        </p:txBody>
      </p:sp>
      <p:sp>
        <p:nvSpPr>
          <p:cNvPr id="109" name="TextBox 108"/>
          <p:cNvSpPr txBox="1"/>
          <p:nvPr/>
        </p:nvSpPr>
        <p:spPr>
          <a:xfrm>
            <a:off x="7642636" y="4907607"/>
            <a:ext cx="1030730" cy="246221"/>
          </a:xfrm>
          <a:prstGeom prst="rect">
            <a:avLst/>
          </a:prstGeom>
          <a:noFill/>
        </p:spPr>
        <p:txBody>
          <a:bodyPr wrap="none" lIns="0" tIns="0" rIns="0" bIns="0" rtlCol="1" anchor="t" anchorCtr="0">
            <a:spAutoFit/>
          </a:bodyPr>
          <a:lstStyle/>
          <a:p>
            <a:pPr algn="ctr" rtl="0"/>
            <a:r>
              <a:rPr lang="en-US" sz="1600" b="1">
                <a:solidFill>
                  <a:schemeClr val="bg1"/>
                </a:solidFill>
                <a:latin typeface="Lato" pitchFamily="34" charset="0"/>
                <a:ea typeface="Open Sans" pitchFamily="34" charset="0"/>
              </a:rPr>
              <a:t>H</a:t>
            </a:r>
            <a:r>
              <a:rPr lang="en-US" sz="1600" b="1" baseline="-25000">
                <a:solidFill>
                  <a:schemeClr val="bg1"/>
                </a:solidFill>
                <a:latin typeface="Lato" pitchFamily="34" charset="0"/>
                <a:ea typeface="Open Sans" pitchFamily="34" charset="0"/>
              </a:rPr>
              <a:t>cá</a:t>
            </a:r>
            <a:r>
              <a:rPr lang="en-US" sz="1600" b="1">
                <a:solidFill>
                  <a:schemeClr val="bg1"/>
                </a:solidFill>
                <a:latin typeface="Lato" pitchFamily="34" charset="0"/>
                <a:ea typeface="Open Sans" pitchFamily="34" charset="0"/>
              </a:rPr>
              <a:t> </a:t>
            </a:r>
            <a:r>
              <a:rPr lang="en-US" sz="1600" b="1" baseline="-25000">
                <a:solidFill>
                  <a:schemeClr val="bg1"/>
                </a:solidFill>
                <a:latin typeface="Lato" pitchFamily="34" charset="0"/>
                <a:ea typeface="Open Sans" pitchFamily="34" charset="0"/>
              </a:rPr>
              <a:t>nhân</a:t>
            </a:r>
            <a:r>
              <a:rPr lang="en-US" sz="1600" b="1">
                <a:solidFill>
                  <a:schemeClr val="bg1"/>
                </a:solidFill>
                <a:latin typeface="Lato" pitchFamily="34" charset="0"/>
                <a:ea typeface="Open Sans" pitchFamily="34" charset="0"/>
              </a:rPr>
              <a:t> = 0</a:t>
            </a:r>
            <a:endParaRPr lang="x-none" sz="1600" b="1" dirty="0">
              <a:solidFill>
                <a:schemeClr val="bg1"/>
              </a:solidFill>
              <a:latin typeface="Lato" pitchFamily="34" charset="0"/>
              <a:ea typeface="Open Sans" pitchFamily="34" charset="0"/>
            </a:endParaRPr>
          </a:p>
        </p:txBody>
      </p:sp>
      <p:sp>
        <p:nvSpPr>
          <p:cNvPr id="110" name="TextBox 109"/>
          <p:cNvSpPr txBox="1"/>
          <p:nvPr/>
        </p:nvSpPr>
        <p:spPr>
          <a:xfrm>
            <a:off x="9706963" y="4902065"/>
            <a:ext cx="1030730" cy="246221"/>
          </a:xfrm>
          <a:prstGeom prst="rect">
            <a:avLst/>
          </a:prstGeom>
          <a:noFill/>
        </p:spPr>
        <p:txBody>
          <a:bodyPr wrap="none" lIns="0" tIns="0" rIns="0" bIns="0" rtlCol="1" anchor="t" anchorCtr="0">
            <a:spAutoFit/>
          </a:bodyPr>
          <a:lstStyle/>
          <a:p>
            <a:pPr algn="ctr" rtl="0"/>
            <a:r>
              <a:rPr lang="en-US" sz="1600" b="1">
                <a:solidFill>
                  <a:schemeClr val="bg1"/>
                </a:solidFill>
                <a:latin typeface="Lato" pitchFamily="34" charset="0"/>
                <a:ea typeface="Open Sans" pitchFamily="34" charset="0"/>
              </a:rPr>
              <a:t>H</a:t>
            </a:r>
            <a:r>
              <a:rPr lang="en-US" sz="1600" b="1" baseline="-25000">
                <a:solidFill>
                  <a:schemeClr val="bg1"/>
                </a:solidFill>
                <a:latin typeface="Lato" pitchFamily="34" charset="0"/>
                <a:ea typeface="Open Sans" pitchFamily="34" charset="0"/>
              </a:rPr>
              <a:t>cá</a:t>
            </a:r>
            <a:r>
              <a:rPr lang="en-US" sz="1600" b="1">
                <a:solidFill>
                  <a:schemeClr val="bg1"/>
                </a:solidFill>
                <a:latin typeface="Lato" pitchFamily="34" charset="0"/>
                <a:ea typeface="Open Sans" pitchFamily="34" charset="0"/>
              </a:rPr>
              <a:t> </a:t>
            </a:r>
            <a:r>
              <a:rPr lang="en-US" sz="1600" b="1" baseline="-25000">
                <a:solidFill>
                  <a:schemeClr val="bg1"/>
                </a:solidFill>
                <a:latin typeface="Lato" pitchFamily="34" charset="0"/>
                <a:ea typeface="Open Sans" pitchFamily="34" charset="0"/>
              </a:rPr>
              <a:t>nhân</a:t>
            </a:r>
            <a:r>
              <a:rPr lang="en-US" sz="1600" b="1">
                <a:solidFill>
                  <a:schemeClr val="bg1"/>
                </a:solidFill>
                <a:latin typeface="Lato" pitchFamily="34" charset="0"/>
                <a:ea typeface="Open Sans" pitchFamily="34" charset="0"/>
              </a:rPr>
              <a:t> = 0</a:t>
            </a:r>
            <a:endParaRPr lang="x-none" sz="1600" b="1" dirty="0">
              <a:solidFill>
                <a:schemeClr val="bg1"/>
              </a:solidFill>
              <a:latin typeface="Lato" pitchFamily="34" charset="0"/>
              <a:ea typeface="Open Sans" pitchFamily="34" charset="0"/>
            </a:endParaRPr>
          </a:p>
        </p:txBody>
      </p:sp>
      <mc:AlternateContent xmlns:mc="http://schemas.openxmlformats.org/markup-compatibility/2006" xmlns:a14="http://schemas.microsoft.com/office/drawing/2010/main">
        <mc:Choice Requires="a14">
          <p:sp>
            <p:nvSpPr>
              <p:cNvPr id="111" name="TextBox 110"/>
              <p:cNvSpPr txBox="1"/>
              <p:nvPr/>
            </p:nvSpPr>
            <p:spPr>
              <a:xfrm>
                <a:off x="7642636" y="2056996"/>
                <a:ext cx="3714170" cy="670761"/>
              </a:xfrm>
              <a:prstGeom prst="rect">
                <a:avLst/>
              </a:prstGeom>
              <a:noFill/>
              <a:ln>
                <a:noFill/>
              </a:ln>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              </m:t>
                      </m:r>
                      <m:nary>
                        <m:naryPr>
                          <m:chr m:val="∑"/>
                          <m:grow m:val="on"/>
                          <m:subHide m:val="on"/>
                          <m:supHide m:val="on"/>
                          <m:ctrlPr>
                            <a:rPr lang="en-US" i="1">
                              <a:latin typeface="Cambria Math" panose="02040503050406030204" pitchFamily="18" charset="0"/>
                            </a:rPr>
                          </m:ctrlPr>
                        </m:naryPr>
                        <m:sub/>
                        <m:sup/>
                        <m:e>
                          <m:r>
                            <a:rPr lang="en-US" b="0" i="1" smtClean="0">
                              <a:latin typeface="Cambria Math" panose="02040503050406030204" pitchFamily="18" charset="0"/>
                            </a:rPr>
                            <m:t>𝑄𝑢</m:t>
                          </m:r>
                          <m:r>
                            <a:rPr lang="en-US" b="0" i="1" smtClean="0">
                              <a:latin typeface="Cambria Math" panose="02040503050406030204" pitchFamily="18" charset="0"/>
                            </a:rPr>
                            <m:t>ỹ </m:t>
                          </m:r>
                          <m:r>
                            <a:rPr lang="en-US" b="0" i="1" smtClean="0">
                              <a:latin typeface="Cambria Math" panose="02040503050406030204" pitchFamily="18" charset="0"/>
                            </a:rPr>
                            <m:t>𝑙</m:t>
                          </m:r>
                          <m:r>
                            <a:rPr lang="en-US" b="0" i="1" smtClean="0">
                              <a:latin typeface="Cambria Math" panose="02040503050406030204" pitchFamily="18" charset="0"/>
                            </a:rPr>
                            <m:t>ươ</m:t>
                          </m:r>
                          <m:r>
                            <a:rPr lang="en-US" b="0" i="1" smtClean="0">
                              <a:latin typeface="Cambria Math" panose="02040503050406030204" pitchFamily="18" charset="0"/>
                            </a:rPr>
                            <m:t>𝑛𝑔</m:t>
                          </m:r>
                          <m:r>
                            <a:rPr lang="en-US" b="0" i="1" smtClean="0">
                              <a:latin typeface="Cambria Math" panose="02040503050406030204" pitchFamily="18" charset="0"/>
                            </a:rPr>
                            <m:t> </m:t>
                          </m:r>
                          <m:r>
                            <a:rPr lang="en-US" b="0" i="1" smtClean="0">
                              <a:latin typeface="Cambria Math" panose="02040503050406030204" pitchFamily="18" charset="0"/>
                            </a:rPr>
                            <m:t>𝑐</m:t>
                          </m:r>
                          <m:r>
                            <a:rPr lang="en-US" b="0" i="1" smtClean="0">
                              <a:latin typeface="Cambria Math" panose="02040503050406030204" pitchFamily="18" charset="0"/>
                            </a:rPr>
                            <m:t>ơ </m:t>
                          </m:r>
                          <m:r>
                            <a:rPr lang="en-US" b="0" i="1" smtClean="0">
                              <a:latin typeface="Cambria Math" panose="02040503050406030204" pitchFamily="18" charset="0"/>
                            </a:rPr>
                            <m:t>𝑠</m:t>
                          </m:r>
                          <m:r>
                            <a:rPr lang="en-US" b="0" i="1" smtClean="0">
                              <a:latin typeface="Cambria Math" panose="02040503050406030204" pitchFamily="18" charset="0"/>
                            </a:rPr>
                            <m:t>ở         </m:t>
                          </m:r>
                        </m:e>
                      </m:nary>
                    </m:oMath>
                  </m:oMathPara>
                </a14:m>
                <a:endParaRPr lang="en-US">
                  <a:latin typeface="Sinkin Sans 600 SemiBold"/>
                </a:endParaRPr>
              </a:p>
            </p:txBody>
          </p:sp>
        </mc:Choice>
        <mc:Fallback xmlns="">
          <p:sp>
            <p:nvSpPr>
              <p:cNvPr id="111" name="TextBox 110"/>
              <p:cNvSpPr txBox="1">
                <a:spLocks noRot="1" noChangeAspect="1" noMove="1" noResize="1" noEditPoints="1" noAdjustHandles="1" noChangeArrowheads="1" noChangeShapeType="1" noTextEdit="1"/>
              </p:cNvSpPr>
              <p:nvPr/>
            </p:nvSpPr>
            <p:spPr>
              <a:xfrm>
                <a:off x="7642636" y="2056996"/>
                <a:ext cx="3714170" cy="670761"/>
              </a:xfrm>
              <a:prstGeom prst="rect">
                <a:avLst/>
              </a:prstGeom>
              <a:blipFill>
                <a:blip r:embed="rId2"/>
                <a:stretch>
                  <a:fillRect/>
                </a:stretch>
              </a:blipFill>
              <a:ln>
                <a:noFill/>
              </a:ln>
            </p:spPr>
            <p:txBody>
              <a:bodyPr/>
              <a:lstStyle/>
              <a:p>
                <a:r>
                  <a:rPr lang="en-GB">
                    <a:noFill/>
                  </a:rPr>
                  <a:t> </a:t>
                </a:r>
              </a:p>
            </p:txBody>
          </p:sp>
        </mc:Fallback>
      </mc:AlternateContent>
      <p:sp>
        <p:nvSpPr>
          <p:cNvPr id="112" name="TextBox 111"/>
          <p:cNvSpPr txBox="1"/>
          <p:nvPr/>
        </p:nvSpPr>
        <p:spPr>
          <a:xfrm>
            <a:off x="5595299" y="2129362"/>
            <a:ext cx="3078067" cy="461665"/>
          </a:xfrm>
          <a:prstGeom prst="rect">
            <a:avLst/>
          </a:prstGeom>
          <a:noFill/>
          <a:ln>
            <a:noFill/>
          </a:ln>
        </p:spPr>
        <p:txBody>
          <a:bodyPr wrap="square" rtlCol="0">
            <a:spAutoFit/>
          </a:bodyPr>
          <a:lstStyle/>
          <a:p>
            <a:pPr algn="ctr"/>
            <a:r>
              <a:rPr lang="en-US" sz="2400" b="1">
                <a:solidFill>
                  <a:schemeClr val="tx2"/>
                </a:solidFill>
                <a:latin typeface="Sinkin Sans 600 SemiBold"/>
              </a:rPr>
              <a:t>20% * Điểm dự án *</a:t>
            </a:r>
            <a:r>
              <a:rPr lang="en-US" sz="2400" b="1" baseline="-25000">
                <a:solidFill>
                  <a:schemeClr val="tx2"/>
                </a:solidFill>
                <a:latin typeface="Sinkin Sans 600 SemiBold"/>
              </a:rPr>
              <a:t> </a:t>
            </a:r>
            <a:endParaRPr lang="en-US" sz="2400" b="1">
              <a:solidFill>
                <a:schemeClr val="tx2"/>
              </a:solidFill>
              <a:latin typeface="Sinkin Sans 600 SemiBold"/>
            </a:endParaRPr>
          </a:p>
        </p:txBody>
      </p:sp>
      <p:sp>
        <p:nvSpPr>
          <p:cNvPr id="65" name="TextBox 64">
            <a:extLst>
              <a:ext uri="{FF2B5EF4-FFF2-40B4-BE49-F238E27FC236}">
                <a16:creationId xmlns:a16="http://schemas.microsoft.com/office/drawing/2014/main" id="{C61A65BB-7343-4B20-8F73-3E7BAC7EEDCE}"/>
              </a:ext>
            </a:extLst>
          </p:cNvPr>
          <p:cNvSpPr txBox="1"/>
          <p:nvPr/>
        </p:nvSpPr>
        <p:spPr>
          <a:xfrm>
            <a:off x="8175839" y="6381099"/>
            <a:ext cx="3350057" cy="338554"/>
          </a:xfrm>
          <a:prstGeom prst="rect">
            <a:avLst/>
          </a:prstGeom>
          <a:noFill/>
        </p:spPr>
        <p:txBody>
          <a:bodyPr wrap="square">
            <a:spAutoFit/>
          </a:bodyPr>
          <a:lstStyle/>
          <a:p>
            <a:r>
              <a:rPr lang="en-US" sz="1600" i="1" dirty="0">
                <a:solidFill>
                  <a:schemeClr val="accent1">
                    <a:lumMod val="50000"/>
                  </a:schemeClr>
                </a:solidFill>
                <a:latin typeface="Lato Regular"/>
              </a:rPr>
              <a:t>(</a:t>
            </a:r>
            <a:r>
              <a:rPr lang="en-US" sz="1600" i="1" dirty="0" err="1">
                <a:solidFill>
                  <a:schemeClr val="accent1">
                    <a:lumMod val="50000"/>
                  </a:schemeClr>
                </a:solidFill>
                <a:latin typeface="Lato Regular"/>
              </a:rPr>
              <a:t>Nguồn</a:t>
            </a:r>
            <a:r>
              <a:rPr lang="en-US" sz="1600" i="1" dirty="0">
                <a:solidFill>
                  <a:schemeClr val="accent1">
                    <a:lumMod val="50000"/>
                  </a:schemeClr>
                </a:solidFill>
                <a:latin typeface="Lato Regular"/>
              </a:rPr>
              <a:t>: Ban </a:t>
            </a:r>
            <a:r>
              <a:rPr lang="en-US" sz="1600" i="1" dirty="0" err="1">
                <a:solidFill>
                  <a:schemeClr val="accent1">
                    <a:lumMod val="50000"/>
                  </a:schemeClr>
                </a:solidFill>
                <a:latin typeface="Lato Regular"/>
              </a:rPr>
              <a:t>quản</a:t>
            </a:r>
            <a:r>
              <a:rPr lang="en-US" sz="1600" i="1" dirty="0">
                <a:solidFill>
                  <a:schemeClr val="accent1">
                    <a:lumMod val="50000"/>
                  </a:schemeClr>
                </a:solidFill>
                <a:latin typeface="Lato Regular"/>
              </a:rPr>
              <a:t> </a:t>
            </a:r>
            <a:r>
              <a:rPr lang="en-US" sz="1600" i="1" dirty="0" err="1">
                <a:solidFill>
                  <a:schemeClr val="accent1">
                    <a:lumMod val="50000"/>
                  </a:schemeClr>
                </a:solidFill>
                <a:latin typeface="Lato Regular"/>
              </a:rPr>
              <a:t>lý</a:t>
            </a:r>
            <a:r>
              <a:rPr lang="en-US" sz="1600" i="1" dirty="0">
                <a:solidFill>
                  <a:schemeClr val="accent1">
                    <a:lumMod val="50000"/>
                  </a:schemeClr>
                </a:solidFill>
                <a:latin typeface="Lato Regular"/>
              </a:rPr>
              <a:t> </a:t>
            </a:r>
            <a:r>
              <a:rPr lang="en-US" sz="1600" i="1" dirty="0" err="1">
                <a:solidFill>
                  <a:schemeClr val="accent1">
                    <a:lumMod val="50000"/>
                  </a:schemeClr>
                </a:solidFill>
                <a:latin typeface="Lato Regular"/>
              </a:rPr>
              <a:t>sản</a:t>
            </a:r>
            <a:r>
              <a:rPr lang="en-US" sz="1600" i="1" dirty="0">
                <a:solidFill>
                  <a:schemeClr val="accent1">
                    <a:lumMod val="50000"/>
                  </a:schemeClr>
                </a:solidFill>
                <a:latin typeface="Lato Regular"/>
              </a:rPr>
              <a:t> </a:t>
            </a:r>
            <a:r>
              <a:rPr lang="en-US" sz="1600" i="1" dirty="0" err="1">
                <a:solidFill>
                  <a:schemeClr val="accent1">
                    <a:lumMod val="50000"/>
                  </a:schemeClr>
                </a:solidFill>
                <a:latin typeface="Lato Regular"/>
              </a:rPr>
              <a:t>xuất</a:t>
            </a:r>
            <a:r>
              <a:rPr lang="en-US" sz="1600" i="1" dirty="0">
                <a:solidFill>
                  <a:schemeClr val="accent1">
                    <a:lumMod val="50000"/>
                  </a:schemeClr>
                </a:solidFill>
                <a:latin typeface="Lato Regular"/>
              </a:rPr>
              <a:t> FIS)</a:t>
            </a:r>
            <a:r>
              <a:rPr lang="vi-VN" sz="1600" i="1" kern="1200" dirty="0">
                <a:solidFill>
                  <a:schemeClr val="accent1">
                    <a:lumMod val="50000"/>
                  </a:schemeClr>
                </a:solidFill>
                <a:latin typeface="Lato Regular"/>
                <a:ea typeface="+mn-ea"/>
                <a:cs typeface="+mn-cs"/>
              </a:rPr>
              <a:t> </a:t>
            </a:r>
            <a:endParaRPr lang="en-US" sz="1600" i="1" dirty="0"/>
          </a:p>
        </p:txBody>
      </p:sp>
    </p:spTree>
    <p:extLst>
      <p:ext uri="{BB962C8B-B14F-4D97-AF65-F5344CB8AC3E}">
        <p14:creationId xmlns:p14="http://schemas.microsoft.com/office/powerpoint/2010/main" val="33838660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grpId="0" nodeType="clickEffect">
                                  <p:stCondLst>
                                    <p:cond delay="0"/>
                                  </p:stCondLst>
                                  <p:childTnLst>
                                    <p:set>
                                      <p:cBhvr>
                                        <p:cTn id="6" dur="1" fill="hold">
                                          <p:stCondLst>
                                            <p:cond delay="0"/>
                                          </p:stCondLst>
                                        </p:cTn>
                                        <p:tgtEl>
                                          <p:spTgt spid="47"/>
                                        </p:tgtEl>
                                        <p:attrNameLst>
                                          <p:attrName>style.visibility</p:attrName>
                                        </p:attrNameLst>
                                      </p:cBhvr>
                                      <p:to>
                                        <p:strVal val="visible"/>
                                      </p:to>
                                    </p:set>
                                    <p:animEffect transition="in" filter="wipe(down)">
                                      <p:cBhvr>
                                        <p:cTn id="7" dur="500"/>
                                        <p:tgtEl>
                                          <p:spTgt spid="47"/>
                                        </p:tgtEl>
                                      </p:cBhvr>
                                    </p:animEffect>
                                  </p:childTnLst>
                                </p:cTn>
                              </p:par>
                              <p:par>
                                <p:cTn id="8" presetID="22" presetClass="entr" presetSubtype="4" fill="hold" nodeType="withEffect">
                                  <p:stCondLst>
                                    <p:cond delay="0"/>
                                  </p:stCondLst>
                                  <p:childTnLst>
                                    <p:set>
                                      <p:cBhvr>
                                        <p:cTn id="9" dur="1" fill="hold">
                                          <p:stCondLst>
                                            <p:cond delay="0"/>
                                          </p:stCondLst>
                                        </p:cTn>
                                        <p:tgtEl>
                                          <p:spTgt spid="48"/>
                                        </p:tgtEl>
                                        <p:attrNameLst>
                                          <p:attrName>style.visibility</p:attrName>
                                        </p:attrNameLst>
                                      </p:cBhvr>
                                      <p:to>
                                        <p:strVal val="visible"/>
                                      </p:to>
                                    </p:set>
                                    <p:animEffect transition="in" filter="wipe(down)">
                                      <p:cBhvr>
                                        <p:cTn id="10" dur="500"/>
                                        <p:tgtEl>
                                          <p:spTgt spid="48"/>
                                        </p:tgtEl>
                                      </p:cBhvr>
                                    </p:animEffect>
                                  </p:childTnLst>
                                </p:cTn>
                              </p:par>
                              <p:par>
                                <p:cTn id="11" presetID="22" presetClass="entr" presetSubtype="4" fill="hold" grpId="0" nodeType="withEffect">
                                  <p:stCondLst>
                                    <p:cond delay="0"/>
                                  </p:stCondLst>
                                  <p:childTnLst>
                                    <p:set>
                                      <p:cBhvr>
                                        <p:cTn id="12" dur="1" fill="hold">
                                          <p:stCondLst>
                                            <p:cond delay="0"/>
                                          </p:stCondLst>
                                        </p:cTn>
                                        <p:tgtEl>
                                          <p:spTgt spid="51"/>
                                        </p:tgtEl>
                                        <p:attrNameLst>
                                          <p:attrName>style.visibility</p:attrName>
                                        </p:attrNameLst>
                                      </p:cBhvr>
                                      <p:to>
                                        <p:strVal val="visible"/>
                                      </p:to>
                                    </p:set>
                                    <p:animEffect transition="in" filter="wipe(down)">
                                      <p:cBhvr>
                                        <p:cTn id="13" dur="500"/>
                                        <p:tgtEl>
                                          <p:spTgt spid="51"/>
                                        </p:tgtEl>
                                      </p:cBhvr>
                                    </p:animEffect>
                                  </p:childTnLst>
                                </p:cTn>
                              </p:par>
                              <p:par>
                                <p:cTn id="14" presetID="22" presetClass="entr" presetSubtype="4" fill="hold" nodeType="withEffect">
                                  <p:stCondLst>
                                    <p:cond delay="0"/>
                                  </p:stCondLst>
                                  <p:childTnLst>
                                    <p:set>
                                      <p:cBhvr>
                                        <p:cTn id="15" dur="1" fill="hold">
                                          <p:stCondLst>
                                            <p:cond delay="0"/>
                                          </p:stCondLst>
                                        </p:cTn>
                                        <p:tgtEl>
                                          <p:spTgt spid="52"/>
                                        </p:tgtEl>
                                        <p:attrNameLst>
                                          <p:attrName>style.visibility</p:attrName>
                                        </p:attrNameLst>
                                      </p:cBhvr>
                                      <p:to>
                                        <p:strVal val="visible"/>
                                      </p:to>
                                    </p:set>
                                    <p:animEffect transition="in" filter="wipe(down)">
                                      <p:cBhvr>
                                        <p:cTn id="16" dur="500"/>
                                        <p:tgtEl>
                                          <p:spTgt spid="52"/>
                                        </p:tgtEl>
                                      </p:cBhvr>
                                    </p:animEffect>
                                  </p:childTnLst>
                                </p:cTn>
                              </p:par>
                              <p:par>
                                <p:cTn id="17" presetID="22" presetClass="entr" presetSubtype="4" fill="hold" grpId="0" nodeType="withEffect">
                                  <p:stCondLst>
                                    <p:cond delay="0"/>
                                  </p:stCondLst>
                                  <p:childTnLst>
                                    <p:set>
                                      <p:cBhvr>
                                        <p:cTn id="18" dur="1" fill="hold">
                                          <p:stCondLst>
                                            <p:cond delay="0"/>
                                          </p:stCondLst>
                                        </p:cTn>
                                        <p:tgtEl>
                                          <p:spTgt spid="56"/>
                                        </p:tgtEl>
                                        <p:attrNameLst>
                                          <p:attrName>style.visibility</p:attrName>
                                        </p:attrNameLst>
                                      </p:cBhvr>
                                      <p:to>
                                        <p:strVal val="visible"/>
                                      </p:to>
                                    </p:set>
                                    <p:animEffect transition="in" filter="wipe(down)">
                                      <p:cBhvr>
                                        <p:cTn id="19" dur="500"/>
                                        <p:tgtEl>
                                          <p:spTgt spid="56"/>
                                        </p:tgtEl>
                                      </p:cBhvr>
                                    </p:animEffect>
                                  </p:childTnLst>
                                </p:cTn>
                              </p:par>
                              <p:par>
                                <p:cTn id="20" presetID="22" presetClass="entr" presetSubtype="4" fill="hold" grpId="0" nodeType="withEffect">
                                  <p:stCondLst>
                                    <p:cond delay="0"/>
                                  </p:stCondLst>
                                  <p:childTnLst>
                                    <p:set>
                                      <p:cBhvr>
                                        <p:cTn id="21" dur="1" fill="hold">
                                          <p:stCondLst>
                                            <p:cond delay="0"/>
                                          </p:stCondLst>
                                        </p:cTn>
                                        <p:tgtEl>
                                          <p:spTgt spid="57"/>
                                        </p:tgtEl>
                                        <p:attrNameLst>
                                          <p:attrName>style.visibility</p:attrName>
                                        </p:attrNameLst>
                                      </p:cBhvr>
                                      <p:to>
                                        <p:strVal val="visible"/>
                                      </p:to>
                                    </p:set>
                                    <p:animEffect transition="in" filter="wipe(down)">
                                      <p:cBhvr>
                                        <p:cTn id="22" dur="500"/>
                                        <p:tgtEl>
                                          <p:spTgt spid="57"/>
                                        </p:tgtEl>
                                      </p:cBhvr>
                                    </p:animEffect>
                                  </p:childTnLst>
                                </p:cTn>
                              </p:par>
                              <p:par>
                                <p:cTn id="23" presetID="22" presetClass="entr" presetSubtype="4" fill="hold" grpId="0" nodeType="withEffect">
                                  <p:stCondLst>
                                    <p:cond delay="0"/>
                                  </p:stCondLst>
                                  <p:childTnLst>
                                    <p:set>
                                      <p:cBhvr>
                                        <p:cTn id="24" dur="1" fill="hold">
                                          <p:stCondLst>
                                            <p:cond delay="0"/>
                                          </p:stCondLst>
                                        </p:cTn>
                                        <p:tgtEl>
                                          <p:spTgt spid="61"/>
                                        </p:tgtEl>
                                        <p:attrNameLst>
                                          <p:attrName>style.visibility</p:attrName>
                                        </p:attrNameLst>
                                      </p:cBhvr>
                                      <p:to>
                                        <p:strVal val="visible"/>
                                      </p:to>
                                    </p:set>
                                    <p:animEffect transition="in" filter="wipe(down)">
                                      <p:cBhvr>
                                        <p:cTn id="25" dur="500"/>
                                        <p:tgtEl>
                                          <p:spTgt spid="61"/>
                                        </p:tgtEl>
                                      </p:cBhvr>
                                    </p:animEffect>
                                  </p:childTnLst>
                                </p:cTn>
                              </p:par>
                              <p:par>
                                <p:cTn id="26" presetID="22" presetClass="entr" presetSubtype="4" fill="hold" grpId="0" nodeType="withEffect">
                                  <p:stCondLst>
                                    <p:cond delay="0"/>
                                  </p:stCondLst>
                                  <p:childTnLst>
                                    <p:set>
                                      <p:cBhvr>
                                        <p:cTn id="27" dur="1" fill="hold">
                                          <p:stCondLst>
                                            <p:cond delay="0"/>
                                          </p:stCondLst>
                                        </p:cTn>
                                        <p:tgtEl>
                                          <p:spTgt spid="66"/>
                                        </p:tgtEl>
                                        <p:attrNameLst>
                                          <p:attrName>style.visibility</p:attrName>
                                        </p:attrNameLst>
                                      </p:cBhvr>
                                      <p:to>
                                        <p:strVal val="visible"/>
                                      </p:to>
                                    </p:set>
                                    <p:animEffect transition="in" filter="wipe(down)">
                                      <p:cBhvr>
                                        <p:cTn id="28" dur="500"/>
                                        <p:tgtEl>
                                          <p:spTgt spid="66"/>
                                        </p:tgtEl>
                                      </p:cBhvr>
                                    </p:animEffect>
                                  </p:childTnLst>
                                </p:cTn>
                              </p:par>
                              <p:par>
                                <p:cTn id="29" presetID="22" presetClass="entr" presetSubtype="4" fill="hold" nodeType="withEffect">
                                  <p:stCondLst>
                                    <p:cond delay="0"/>
                                  </p:stCondLst>
                                  <p:childTnLst>
                                    <p:set>
                                      <p:cBhvr>
                                        <p:cTn id="30" dur="1" fill="hold">
                                          <p:stCondLst>
                                            <p:cond delay="0"/>
                                          </p:stCondLst>
                                        </p:cTn>
                                        <p:tgtEl>
                                          <p:spTgt spid="67"/>
                                        </p:tgtEl>
                                        <p:attrNameLst>
                                          <p:attrName>style.visibility</p:attrName>
                                        </p:attrNameLst>
                                      </p:cBhvr>
                                      <p:to>
                                        <p:strVal val="visible"/>
                                      </p:to>
                                    </p:set>
                                    <p:animEffect transition="in" filter="wipe(down)">
                                      <p:cBhvr>
                                        <p:cTn id="31" dur="500"/>
                                        <p:tgtEl>
                                          <p:spTgt spid="67"/>
                                        </p:tgtEl>
                                      </p:cBhvr>
                                    </p:animEffect>
                                  </p:childTnLst>
                                </p:cTn>
                              </p:par>
                              <p:par>
                                <p:cTn id="32" presetID="22" presetClass="entr" presetSubtype="4" fill="hold" grpId="0" nodeType="withEffect">
                                  <p:stCondLst>
                                    <p:cond delay="0"/>
                                  </p:stCondLst>
                                  <p:childTnLst>
                                    <p:set>
                                      <p:cBhvr>
                                        <p:cTn id="33" dur="1" fill="hold">
                                          <p:stCondLst>
                                            <p:cond delay="0"/>
                                          </p:stCondLst>
                                        </p:cTn>
                                        <p:tgtEl>
                                          <p:spTgt spid="70"/>
                                        </p:tgtEl>
                                        <p:attrNameLst>
                                          <p:attrName>style.visibility</p:attrName>
                                        </p:attrNameLst>
                                      </p:cBhvr>
                                      <p:to>
                                        <p:strVal val="visible"/>
                                      </p:to>
                                    </p:set>
                                    <p:animEffect transition="in" filter="wipe(down)">
                                      <p:cBhvr>
                                        <p:cTn id="34" dur="500"/>
                                        <p:tgtEl>
                                          <p:spTgt spid="70"/>
                                        </p:tgtEl>
                                      </p:cBhvr>
                                    </p:animEffect>
                                  </p:childTnLst>
                                </p:cTn>
                              </p:par>
                              <p:par>
                                <p:cTn id="35" presetID="22" presetClass="entr" presetSubtype="4" fill="hold" nodeType="withEffect">
                                  <p:stCondLst>
                                    <p:cond delay="0"/>
                                  </p:stCondLst>
                                  <p:childTnLst>
                                    <p:set>
                                      <p:cBhvr>
                                        <p:cTn id="36" dur="1" fill="hold">
                                          <p:stCondLst>
                                            <p:cond delay="0"/>
                                          </p:stCondLst>
                                        </p:cTn>
                                        <p:tgtEl>
                                          <p:spTgt spid="71"/>
                                        </p:tgtEl>
                                        <p:attrNameLst>
                                          <p:attrName>style.visibility</p:attrName>
                                        </p:attrNameLst>
                                      </p:cBhvr>
                                      <p:to>
                                        <p:strVal val="visible"/>
                                      </p:to>
                                    </p:set>
                                    <p:animEffect transition="in" filter="wipe(down)">
                                      <p:cBhvr>
                                        <p:cTn id="37" dur="500"/>
                                        <p:tgtEl>
                                          <p:spTgt spid="71"/>
                                        </p:tgtEl>
                                      </p:cBhvr>
                                    </p:animEffect>
                                  </p:childTnLst>
                                </p:cTn>
                              </p:par>
                              <p:par>
                                <p:cTn id="38" presetID="22" presetClass="entr" presetSubtype="4" fill="hold" nodeType="withEffect">
                                  <p:stCondLst>
                                    <p:cond delay="0"/>
                                  </p:stCondLst>
                                  <p:childTnLst>
                                    <p:set>
                                      <p:cBhvr>
                                        <p:cTn id="39" dur="1" fill="hold">
                                          <p:stCondLst>
                                            <p:cond delay="0"/>
                                          </p:stCondLst>
                                        </p:cTn>
                                        <p:tgtEl>
                                          <p:spTgt spid="75"/>
                                        </p:tgtEl>
                                        <p:attrNameLst>
                                          <p:attrName>style.visibility</p:attrName>
                                        </p:attrNameLst>
                                      </p:cBhvr>
                                      <p:to>
                                        <p:strVal val="visible"/>
                                      </p:to>
                                    </p:set>
                                    <p:animEffect transition="in" filter="wipe(down)">
                                      <p:cBhvr>
                                        <p:cTn id="40" dur="500"/>
                                        <p:tgtEl>
                                          <p:spTgt spid="75"/>
                                        </p:tgtEl>
                                      </p:cBhvr>
                                    </p:animEffect>
                                  </p:childTnLst>
                                </p:cTn>
                              </p:par>
                              <p:par>
                                <p:cTn id="41" presetID="22" presetClass="entr" presetSubtype="4" fill="hold" nodeType="withEffect">
                                  <p:stCondLst>
                                    <p:cond delay="0"/>
                                  </p:stCondLst>
                                  <p:childTnLst>
                                    <p:set>
                                      <p:cBhvr>
                                        <p:cTn id="42" dur="1" fill="hold">
                                          <p:stCondLst>
                                            <p:cond delay="0"/>
                                          </p:stCondLst>
                                        </p:cTn>
                                        <p:tgtEl>
                                          <p:spTgt spid="78"/>
                                        </p:tgtEl>
                                        <p:attrNameLst>
                                          <p:attrName>style.visibility</p:attrName>
                                        </p:attrNameLst>
                                      </p:cBhvr>
                                      <p:to>
                                        <p:strVal val="visible"/>
                                      </p:to>
                                    </p:set>
                                    <p:animEffect transition="in" filter="wipe(down)">
                                      <p:cBhvr>
                                        <p:cTn id="43" dur="500"/>
                                        <p:tgtEl>
                                          <p:spTgt spid="78"/>
                                        </p:tgtEl>
                                      </p:cBhvr>
                                    </p:animEffect>
                                  </p:childTnLst>
                                </p:cTn>
                              </p:par>
                              <p:par>
                                <p:cTn id="44" presetID="22" presetClass="entr" presetSubtype="4" fill="hold" grpId="0" nodeType="withEffect">
                                  <p:stCondLst>
                                    <p:cond delay="0"/>
                                  </p:stCondLst>
                                  <p:childTnLst>
                                    <p:set>
                                      <p:cBhvr>
                                        <p:cTn id="45" dur="1" fill="hold">
                                          <p:stCondLst>
                                            <p:cond delay="0"/>
                                          </p:stCondLst>
                                        </p:cTn>
                                        <p:tgtEl>
                                          <p:spTgt spid="82"/>
                                        </p:tgtEl>
                                        <p:attrNameLst>
                                          <p:attrName>style.visibility</p:attrName>
                                        </p:attrNameLst>
                                      </p:cBhvr>
                                      <p:to>
                                        <p:strVal val="visible"/>
                                      </p:to>
                                    </p:set>
                                    <p:animEffect transition="in" filter="wipe(down)">
                                      <p:cBhvr>
                                        <p:cTn id="46" dur="500"/>
                                        <p:tgtEl>
                                          <p:spTgt spid="82"/>
                                        </p:tgtEl>
                                      </p:cBhvr>
                                    </p:animEffect>
                                  </p:childTnLst>
                                </p:cTn>
                              </p:par>
                              <p:par>
                                <p:cTn id="47" presetID="22" presetClass="entr" presetSubtype="4" fill="hold" grpId="0" nodeType="withEffect">
                                  <p:stCondLst>
                                    <p:cond delay="0"/>
                                  </p:stCondLst>
                                  <p:childTnLst>
                                    <p:set>
                                      <p:cBhvr>
                                        <p:cTn id="48" dur="1" fill="hold">
                                          <p:stCondLst>
                                            <p:cond delay="0"/>
                                          </p:stCondLst>
                                        </p:cTn>
                                        <p:tgtEl>
                                          <p:spTgt spid="83"/>
                                        </p:tgtEl>
                                        <p:attrNameLst>
                                          <p:attrName>style.visibility</p:attrName>
                                        </p:attrNameLst>
                                      </p:cBhvr>
                                      <p:to>
                                        <p:strVal val="visible"/>
                                      </p:to>
                                    </p:set>
                                    <p:animEffect transition="in" filter="wipe(down)">
                                      <p:cBhvr>
                                        <p:cTn id="49" dur="500"/>
                                        <p:tgtEl>
                                          <p:spTgt spid="83"/>
                                        </p:tgtEl>
                                      </p:cBhvr>
                                    </p:animEffect>
                                  </p:childTnLst>
                                </p:cTn>
                              </p:par>
                              <p:par>
                                <p:cTn id="50" presetID="22" presetClass="entr" presetSubtype="4" fill="hold" grpId="0" nodeType="withEffect">
                                  <p:stCondLst>
                                    <p:cond delay="0"/>
                                  </p:stCondLst>
                                  <p:childTnLst>
                                    <p:set>
                                      <p:cBhvr>
                                        <p:cTn id="51" dur="1" fill="hold">
                                          <p:stCondLst>
                                            <p:cond delay="0"/>
                                          </p:stCondLst>
                                        </p:cTn>
                                        <p:tgtEl>
                                          <p:spTgt spid="85"/>
                                        </p:tgtEl>
                                        <p:attrNameLst>
                                          <p:attrName>style.visibility</p:attrName>
                                        </p:attrNameLst>
                                      </p:cBhvr>
                                      <p:to>
                                        <p:strVal val="visible"/>
                                      </p:to>
                                    </p:set>
                                    <p:animEffect transition="in" filter="wipe(down)">
                                      <p:cBhvr>
                                        <p:cTn id="52" dur="500"/>
                                        <p:tgtEl>
                                          <p:spTgt spid="85"/>
                                        </p:tgtEl>
                                      </p:cBhvr>
                                    </p:animEffect>
                                  </p:childTnLst>
                                </p:cTn>
                              </p:par>
                              <p:par>
                                <p:cTn id="53" presetID="22" presetClass="entr" presetSubtype="4" fill="hold" grpId="0" nodeType="withEffect">
                                  <p:stCondLst>
                                    <p:cond delay="0"/>
                                  </p:stCondLst>
                                  <p:childTnLst>
                                    <p:set>
                                      <p:cBhvr>
                                        <p:cTn id="54" dur="1" fill="hold">
                                          <p:stCondLst>
                                            <p:cond delay="0"/>
                                          </p:stCondLst>
                                        </p:cTn>
                                        <p:tgtEl>
                                          <p:spTgt spid="86"/>
                                        </p:tgtEl>
                                        <p:attrNameLst>
                                          <p:attrName>style.visibility</p:attrName>
                                        </p:attrNameLst>
                                      </p:cBhvr>
                                      <p:to>
                                        <p:strVal val="visible"/>
                                      </p:to>
                                    </p:set>
                                    <p:animEffect transition="in" filter="wipe(down)">
                                      <p:cBhvr>
                                        <p:cTn id="55" dur="500"/>
                                        <p:tgtEl>
                                          <p:spTgt spid="86"/>
                                        </p:tgtEl>
                                      </p:cBhvr>
                                    </p:animEffect>
                                  </p:childTnLst>
                                </p:cTn>
                              </p:par>
                              <p:par>
                                <p:cTn id="56" presetID="22" presetClass="entr" presetSubtype="4" fill="hold" grpId="0" nodeType="withEffect">
                                  <p:stCondLst>
                                    <p:cond delay="0"/>
                                  </p:stCondLst>
                                  <p:childTnLst>
                                    <p:set>
                                      <p:cBhvr>
                                        <p:cTn id="57" dur="1" fill="hold">
                                          <p:stCondLst>
                                            <p:cond delay="0"/>
                                          </p:stCondLst>
                                        </p:cTn>
                                        <p:tgtEl>
                                          <p:spTgt spid="87"/>
                                        </p:tgtEl>
                                        <p:attrNameLst>
                                          <p:attrName>style.visibility</p:attrName>
                                        </p:attrNameLst>
                                      </p:cBhvr>
                                      <p:to>
                                        <p:strVal val="visible"/>
                                      </p:to>
                                    </p:set>
                                    <p:animEffect transition="in" filter="wipe(down)">
                                      <p:cBhvr>
                                        <p:cTn id="58" dur="500"/>
                                        <p:tgtEl>
                                          <p:spTgt spid="87"/>
                                        </p:tgtEl>
                                      </p:cBhvr>
                                    </p:animEffect>
                                  </p:childTnLst>
                                </p:cTn>
                              </p:par>
                              <p:par>
                                <p:cTn id="59" presetID="22" presetClass="entr" presetSubtype="4" fill="hold" grpId="0" nodeType="withEffect">
                                  <p:stCondLst>
                                    <p:cond delay="0"/>
                                  </p:stCondLst>
                                  <p:childTnLst>
                                    <p:set>
                                      <p:cBhvr>
                                        <p:cTn id="60" dur="1" fill="hold">
                                          <p:stCondLst>
                                            <p:cond delay="0"/>
                                          </p:stCondLst>
                                        </p:cTn>
                                        <p:tgtEl>
                                          <p:spTgt spid="88"/>
                                        </p:tgtEl>
                                        <p:attrNameLst>
                                          <p:attrName>style.visibility</p:attrName>
                                        </p:attrNameLst>
                                      </p:cBhvr>
                                      <p:to>
                                        <p:strVal val="visible"/>
                                      </p:to>
                                    </p:set>
                                    <p:animEffect transition="in" filter="wipe(down)">
                                      <p:cBhvr>
                                        <p:cTn id="61" dur="500"/>
                                        <p:tgtEl>
                                          <p:spTgt spid="88"/>
                                        </p:tgtEl>
                                      </p:cBhvr>
                                    </p:animEffect>
                                  </p:childTnLst>
                                </p:cTn>
                              </p:par>
                              <p:par>
                                <p:cTn id="62" presetID="22" presetClass="entr" presetSubtype="4" fill="hold" nodeType="withEffect">
                                  <p:stCondLst>
                                    <p:cond delay="0"/>
                                  </p:stCondLst>
                                  <p:childTnLst>
                                    <p:set>
                                      <p:cBhvr>
                                        <p:cTn id="63" dur="1" fill="hold">
                                          <p:stCondLst>
                                            <p:cond delay="0"/>
                                          </p:stCondLst>
                                        </p:cTn>
                                        <p:tgtEl>
                                          <p:spTgt spid="89"/>
                                        </p:tgtEl>
                                        <p:attrNameLst>
                                          <p:attrName>style.visibility</p:attrName>
                                        </p:attrNameLst>
                                      </p:cBhvr>
                                      <p:to>
                                        <p:strVal val="visible"/>
                                      </p:to>
                                    </p:set>
                                    <p:animEffect transition="in" filter="wipe(down)">
                                      <p:cBhvr>
                                        <p:cTn id="64" dur="500"/>
                                        <p:tgtEl>
                                          <p:spTgt spid="89"/>
                                        </p:tgtEl>
                                      </p:cBhvr>
                                    </p:animEffect>
                                  </p:childTnLst>
                                </p:cTn>
                              </p:par>
                              <p:par>
                                <p:cTn id="65" presetID="22" presetClass="entr" presetSubtype="4" fill="hold" grpId="0" nodeType="withEffect">
                                  <p:stCondLst>
                                    <p:cond delay="0"/>
                                  </p:stCondLst>
                                  <p:childTnLst>
                                    <p:set>
                                      <p:cBhvr>
                                        <p:cTn id="66" dur="1" fill="hold">
                                          <p:stCondLst>
                                            <p:cond delay="0"/>
                                          </p:stCondLst>
                                        </p:cTn>
                                        <p:tgtEl>
                                          <p:spTgt spid="92"/>
                                        </p:tgtEl>
                                        <p:attrNameLst>
                                          <p:attrName>style.visibility</p:attrName>
                                        </p:attrNameLst>
                                      </p:cBhvr>
                                      <p:to>
                                        <p:strVal val="visible"/>
                                      </p:to>
                                    </p:set>
                                    <p:animEffect transition="in" filter="wipe(down)">
                                      <p:cBhvr>
                                        <p:cTn id="67" dur="500"/>
                                        <p:tgtEl>
                                          <p:spTgt spid="92"/>
                                        </p:tgtEl>
                                      </p:cBhvr>
                                    </p:animEffect>
                                  </p:childTnLst>
                                </p:cTn>
                              </p:par>
                              <p:par>
                                <p:cTn id="68" presetID="22" presetClass="entr" presetSubtype="4" fill="hold" grpId="0" nodeType="withEffect">
                                  <p:stCondLst>
                                    <p:cond delay="0"/>
                                  </p:stCondLst>
                                  <p:childTnLst>
                                    <p:set>
                                      <p:cBhvr>
                                        <p:cTn id="69" dur="1" fill="hold">
                                          <p:stCondLst>
                                            <p:cond delay="0"/>
                                          </p:stCondLst>
                                        </p:cTn>
                                        <p:tgtEl>
                                          <p:spTgt spid="93"/>
                                        </p:tgtEl>
                                        <p:attrNameLst>
                                          <p:attrName>style.visibility</p:attrName>
                                        </p:attrNameLst>
                                      </p:cBhvr>
                                      <p:to>
                                        <p:strVal val="visible"/>
                                      </p:to>
                                    </p:set>
                                    <p:animEffect transition="in" filter="wipe(down)">
                                      <p:cBhvr>
                                        <p:cTn id="70" dur="500"/>
                                        <p:tgtEl>
                                          <p:spTgt spid="93"/>
                                        </p:tgtEl>
                                      </p:cBhvr>
                                    </p:animEffect>
                                  </p:childTnLst>
                                </p:cTn>
                              </p:par>
                              <p:par>
                                <p:cTn id="71" presetID="22" presetClass="entr" presetSubtype="4" fill="hold" grpId="0" nodeType="withEffect">
                                  <p:stCondLst>
                                    <p:cond delay="0"/>
                                  </p:stCondLst>
                                  <p:childTnLst>
                                    <p:set>
                                      <p:cBhvr>
                                        <p:cTn id="72" dur="1" fill="hold">
                                          <p:stCondLst>
                                            <p:cond delay="0"/>
                                          </p:stCondLst>
                                        </p:cTn>
                                        <p:tgtEl>
                                          <p:spTgt spid="94"/>
                                        </p:tgtEl>
                                        <p:attrNameLst>
                                          <p:attrName>style.visibility</p:attrName>
                                        </p:attrNameLst>
                                      </p:cBhvr>
                                      <p:to>
                                        <p:strVal val="visible"/>
                                      </p:to>
                                    </p:set>
                                    <p:animEffect transition="in" filter="wipe(down)">
                                      <p:cBhvr>
                                        <p:cTn id="73" dur="500"/>
                                        <p:tgtEl>
                                          <p:spTgt spid="94"/>
                                        </p:tgtEl>
                                      </p:cBhvr>
                                    </p:animEffect>
                                  </p:childTnLst>
                                </p:cTn>
                              </p:par>
                              <p:par>
                                <p:cTn id="74" presetID="22" presetClass="entr" presetSubtype="4" fill="hold" nodeType="withEffect">
                                  <p:stCondLst>
                                    <p:cond delay="0"/>
                                  </p:stCondLst>
                                  <p:childTnLst>
                                    <p:set>
                                      <p:cBhvr>
                                        <p:cTn id="75" dur="1" fill="hold">
                                          <p:stCondLst>
                                            <p:cond delay="0"/>
                                          </p:stCondLst>
                                        </p:cTn>
                                        <p:tgtEl>
                                          <p:spTgt spid="95"/>
                                        </p:tgtEl>
                                        <p:attrNameLst>
                                          <p:attrName>style.visibility</p:attrName>
                                        </p:attrNameLst>
                                      </p:cBhvr>
                                      <p:to>
                                        <p:strVal val="visible"/>
                                      </p:to>
                                    </p:set>
                                    <p:animEffect transition="in" filter="wipe(down)">
                                      <p:cBhvr>
                                        <p:cTn id="76" dur="500"/>
                                        <p:tgtEl>
                                          <p:spTgt spid="95"/>
                                        </p:tgtEl>
                                      </p:cBhvr>
                                    </p:animEffect>
                                  </p:childTnLst>
                                </p:cTn>
                              </p:par>
                              <p:par>
                                <p:cTn id="77" presetID="22" presetClass="entr" presetSubtype="4" fill="hold" grpId="0" nodeType="withEffect">
                                  <p:stCondLst>
                                    <p:cond delay="0"/>
                                  </p:stCondLst>
                                  <p:childTnLst>
                                    <p:set>
                                      <p:cBhvr>
                                        <p:cTn id="78" dur="1" fill="hold">
                                          <p:stCondLst>
                                            <p:cond delay="0"/>
                                          </p:stCondLst>
                                        </p:cTn>
                                        <p:tgtEl>
                                          <p:spTgt spid="98"/>
                                        </p:tgtEl>
                                        <p:attrNameLst>
                                          <p:attrName>style.visibility</p:attrName>
                                        </p:attrNameLst>
                                      </p:cBhvr>
                                      <p:to>
                                        <p:strVal val="visible"/>
                                      </p:to>
                                    </p:set>
                                    <p:animEffect transition="in" filter="wipe(down)">
                                      <p:cBhvr>
                                        <p:cTn id="79" dur="500"/>
                                        <p:tgtEl>
                                          <p:spTgt spid="98"/>
                                        </p:tgtEl>
                                      </p:cBhvr>
                                    </p:animEffect>
                                  </p:childTnLst>
                                </p:cTn>
                              </p:par>
                              <p:par>
                                <p:cTn id="80" presetID="22" presetClass="entr" presetSubtype="4" fill="hold" grpId="0" nodeType="withEffect">
                                  <p:stCondLst>
                                    <p:cond delay="0"/>
                                  </p:stCondLst>
                                  <p:childTnLst>
                                    <p:set>
                                      <p:cBhvr>
                                        <p:cTn id="81" dur="1" fill="hold">
                                          <p:stCondLst>
                                            <p:cond delay="0"/>
                                          </p:stCondLst>
                                        </p:cTn>
                                        <p:tgtEl>
                                          <p:spTgt spid="99"/>
                                        </p:tgtEl>
                                        <p:attrNameLst>
                                          <p:attrName>style.visibility</p:attrName>
                                        </p:attrNameLst>
                                      </p:cBhvr>
                                      <p:to>
                                        <p:strVal val="visible"/>
                                      </p:to>
                                    </p:set>
                                    <p:animEffect transition="in" filter="wipe(down)">
                                      <p:cBhvr>
                                        <p:cTn id="82" dur="500"/>
                                        <p:tgtEl>
                                          <p:spTgt spid="99"/>
                                        </p:tgtEl>
                                      </p:cBhvr>
                                    </p:animEffect>
                                  </p:childTnLst>
                                </p:cTn>
                              </p:par>
                              <p:par>
                                <p:cTn id="83" presetID="22" presetClass="entr" presetSubtype="4" fill="hold" grpId="0" nodeType="withEffect">
                                  <p:stCondLst>
                                    <p:cond delay="0"/>
                                  </p:stCondLst>
                                  <p:childTnLst>
                                    <p:set>
                                      <p:cBhvr>
                                        <p:cTn id="84" dur="1" fill="hold">
                                          <p:stCondLst>
                                            <p:cond delay="0"/>
                                          </p:stCondLst>
                                        </p:cTn>
                                        <p:tgtEl>
                                          <p:spTgt spid="55"/>
                                        </p:tgtEl>
                                        <p:attrNameLst>
                                          <p:attrName>style.visibility</p:attrName>
                                        </p:attrNameLst>
                                      </p:cBhvr>
                                      <p:to>
                                        <p:strVal val="visible"/>
                                      </p:to>
                                    </p:set>
                                    <p:animEffect transition="in" filter="wipe(down)">
                                      <p:cBhvr>
                                        <p:cTn id="85" dur="500"/>
                                        <p:tgtEl>
                                          <p:spTgt spid="55"/>
                                        </p:tgtEl>
                                      </p:cBhvr>
                                    </p:animEffect>
                                  </p:childTnLst>
                                </p:cTn>
                              </p:par>
                              <p:par>
                                <p:cTn id="86" presetID="22" presetClass="entr" presetSubtype="4" fill="hold" grpId="0" nodeType="withEffect">
                                  <p:stCondLst>
                                    <p:cond delay="0"/>
                                  </p:stCondLst>
                                  <p:childTnLst>
                                    <p:set>
                                      <p:cBhvr>
                                        <p:cTn id="87" dur="1" fill="hold">
                                          <p:stCondLst>
                                            <p:cond delay="0"/>
                                          </p:stCondLst>
                                        </p:cTn>
                                        <p:tgtEl>
                                          <p:spTgt spid="58"/>
                                        </p:tgtEl>
                                        <p:attrNameLst>
                                          <p:attrName>style.visibility</p:attrName>
                                        </p:attrNameLst>
                                      </p:cBhvr>
                                      <p:to>
                                        <p:strVal val="visible"/>
                                      </p:to>
                                    </p:set>
                                    <p:animEffect transition="in" filter="wipe(down)">
                                      <p:cBhvr>
                                        <p:cTn id="88" dur="500"/>
                                        <p:tgtEl>
                                          <p:spTgt spid="58"/>
                                        </p:tgtEl>
                                      </p:cBhvr>
                                    </p:animEffect>
                                  </p:childTnLst>
                                </p:cTn>
                              </p:par>
                              <p:par>
                                <p:cTn id="89" presetID="22" presetClass="entr" presetSubtype="4" fill="hold" nodeType="withEffect">
                                  <p:stCondLst>
                                    <p:cond delay="0"/>
                                  </p:stCondLst>
                                  <p:childTnLst>
                                    <p:set>
                                      <p:cBhvr>
                                        <p:cTn id="90" dur="1" fill="hold">
                                          <p:stCondLst>
                                            <p:cond delay="0"/>
                                          </p:stCondLst>
                                        </p:cTn>
                                        <p:tgtEl>
                                          <p:spTgt spid="60"/>
                                        </p:tgtEl>
                                        <p:attrNameLst>
                                          <p:attrName>style.visibility</p:attrName>
                                        </p:attrNameLst>
                                      </p:cBhvr>
                                      <p:to>
                                        <p:strVal val="visible"/>
                                      </p:to>
                                    </p:set>
                                    <p:animEffect transition="in" filter="wipe(down)">
                                      <p:cBhvr>
                                        <p:cTn id="91" dur="500"/>
                                        <p:tgtEl>
                                          <p:spTgt spid="60"/>
                                        </p:tgtEl>
                                      </p:cBhvr>
                                    </p:animEffect>
                                  </p:childTnLst>
                                </p:cTn>
                              </p:par>
                              <p:par>
                                <p:cTn id="92" presetID="22" presetClass="entr" presetSubtype="4" fill="hold" nodeType="withEffect">
                                  <p:stCondLst>
                                    <p:cond delay="0"/>
                                  </p:stCondLst>
                                  <p:childTnLst>
                                    <p:set>
                                      <p:cBhvr>
                                        <p:cTn id="93" dur="1" fill="hold">
                                          <p:stCondLst>
                                            <p:cond delay="0"/>
                                          </p:stCondLst>
                                        </p:cTn>
                                        <p:tgtEl>
                                          <p:spTgt spid="64"/>
                                        </p:tgtEl>
                                        <p:attrNameLst>
                                          <p:attrName>style.visibility</p:attrName>
                                        </p:attrNameLst>
                                      </p:cBhvr>
                                      <p:to>
                                        <p:strVal val="visible"/>
                                      </p:to>
                                    </p:set>
                                    <p:animEffect transition="in" filter="wipe(down)">
                                      <p:cBhvr>
                                        <p:cTn id="94" dur="500"/>
                                        <p:tgtEl>
                                          <p:spTgt spid="64"/>
                                        </p:tgtEl>
                                      </p:cBhvr>
                                    </p:animEffect>
                                  </p:childTnLst>
                                </p:cTn>
                              </p:par>
                              <p:par>
                                <p:cTn id="95" presetID="22" presetClass="entr" presetSubtype="4" fill="hold" grpId="0" nodeType="withEffect">
                                  <p:stCondLst>
                                    <p:cond delay="0"/>
                                  </p:stCondLst>
                                  <p:childTnLst>
                                    <p:set>
                                      <p:cBhvr>
                                        <p:cTn id="96" dur="1" fill="hold">
                                          <p:stCondLst>
                                            <p:cond delay="0"/>
                                          </p:stCondLst>
                                        </p:cTn>
                                        <p:tgtEl>
                                          <p:spTgt spid="105"/>
                                        </p:tgtEl>
                                        <p:attrNameLst>
                                          <p:attrName>style.visibility</p:attrName>
                                        </p:attrNameLst>
                                      </p:cBhvr>
                                      <p:to>
                                        <p:strVal val="visible"/>
                                      </p:to>
                                    </p:set>
                                    <p:animEffect transition="in" filter="wipe(down)">
                                      <p:cBhvr>
                                        <p:cTn id="97" dur="500"/>
                                        <p:tgtEl>
                                          <p:spTgt spid="105"/>
                                        </p:tgtEl>
                                      </p:cBhvr>
                                    </p:animEffect>
                                  </p:childTnLst>
                                </p:cTn>
                              </p:par>
                              <p:par>
                                <p:cTn id="98" presetID="22" presetClass="entr" presetSubtype="4" fill="hold" grpId="0" nodeType="withEffect">
                                  <p:stCondLst>
                                    <p:cond delay="0"/>
                                  </p:stCondLst>
                                  <p:childTnLst>
                                    <p:set>
                                      <p:cBhvr>
                                        <p:cTn id="99" dur="1" fill="hold">
                                          <p:stCondLst>
                                            <p:cond delay="0"/>
                                          </p:stCondLst>
                                        </p:cTn>
                                        <p:tgtEl>
                                          <p:spTgt spid="106"/>
                                        </p:tgtEl>
                                        <p:attrNameLst>
                                          <p:attrName>style.visibility</p:attrName>
                                        </p:attrNameLst>
                                      </p:cBhvr>
                                      <p:to>
                                        <p:strVal val="visible"/>
                                      </p:to>
                                    </p:set>
                                    <p:animEffect transition="in" filter="wipe(down)">
                                      <p:cBhvr>
                                        <p:cTn id="100" dur="500"/>
                                        <p:tgtEl>
                                          <p:spTgt spid="106"/>
                                        </p:tgtEl>
                                      </p:cBhvr>
                                    </p:animEffect>
                                  </p:childTnLst>
                                </p:cTn>
                              </p:par>
                              <p:par>
                                <p:cTn id="101" presetID="22" presetClass="entr" presetSubtype="4" fill="hold" grpId="0" nodeType="withEffect">
                                  <p:stCondLst>
                                    <p:cond delay="0"/>
                                  </p:stCondLst>
                                  <p:childTnLst>
                                    <p:set>
                                      <p:cBhvr>
                                        <p:cTn id="102" dur="1" fill="hold">
                                          <p:stCondLst>
                                            <p:cond delay="0"/>
                                          </p:stCondLst>
                                        </p:cTn>
                                        <p:tgtEl>
                                          <p:spTgt spid="107"/>
                                        </p:tgtEl>
                                        <p:attrNameLst>
                                          <p:attrName>style.visibility</p:attrName>
                                        </p:attrNameLst>
                                      </p:cBhvr>
                                      <p:to>
                                        <p:strVal val="visible"/>
                                      </p:to>
                                    </p:set>
                                    <p:animEffect transition="in" filter="wipe(down)">
                                      <p:cBhvr>
                                        <p:cTn id="103" dur="500"/>
                                        <p:tgtEl>
                                          <p:spTgt spid="107"/>
                                        </p:tgtEl>
                                      </p:cBhvr>
                                    </p:animEffect>
                                  </p:childTnLst>
                                </p:cTn>
                              </p:par>
                              <p:par>
                                <p:cTn id="104" presetID="22" presetClass="entr" presetSubtype="4" fill="hold" grpId="0" nodeType="withEffect">
                                  <p:stCondLst>
                                    <p:cond delay="0"/>
                                  </p:stCondLst>
                                  <p:childTnLst>
                                    <p:set>
                                      <p:cBhvr>
                                        <p:cTn id="105" dur="1" fill="hold">
                                          <p:stCondLst>
                                            <p:cond delay="0"/>
                                          </p:stCondLst>
                                        </p:cTn>
                                        <p:tgtEl>
                                          <p:spTgt spid="108"/>
                                        </p:tgtEl>
                                        <p:attrNameLst>
                                          <p:attrName>style.visibility</p:attrName>
                                        </p:attrNameLst>
                                      </p:cBhvr>
                                      <p:to>
                                        <p:strVal val="visible"/>
                                      </p:to>
                                    </p:set>
                                    <p:animEffect transition="in" filter="wipe(down)">
                                      <p:cBhvr>
                                        <p:cTn id="106" dur="500"/>
                                        <p:tgtEl>
                                          <p:spTgt spid="108"/>
                                        </p:tgtEl>
                                      </p:cBhvr>
                                    </p:animEffect>
                                  </p:childTnLst>
                                </p:cTn>
                              </p:par>
                              <p:par>
                                <p:cTn id="107" presetID="22" presetClass="entr" presetSubtype="4" fill="hold" grpId="0" nodeType="withEffect">
                                  <p:stCondLst>
                                    <p:cond delay="0"/>
                                  </p:stCondLst>
                                  <p:childTnLst>
                                    <p:set>
                                      <p:cBhvr>
                                        <p:cTn id="108" dur="1" fill="hold">
                                          <p:stCondLst>
                                            <p:cond delay="0"/>
                                          </p:stCondLst>
                                        </p:cTn>
                                        <p:tgtEl>
                                          <p:spTgt spid="109"/>
                                        </p:tgtEl>
                                        <p:attrNameLst>
                                          <p:attrName>style.visibility</p:attrName>
                                        </p:attrNameLst>
                                      </p:cBhvr>
                                      <p:to>
                                        <p:strVal val="visible"/>
                                      </p:to>
                                    </p:set>
                                    <p:animEffect transition="in" filter="wipe(down)">
                                      <p:cBhvr>
                                        <p:cTn id="109" dur="500"/>
                                        <p:tgtEl>
                                          <p:spTgt spid="109"/>
                                        </p:tgtEl>
                                      </p:cBhvr>
                                    </p:animEffect>
                                  </p:childTnLst>
                                </p:cTn>
                              </p:par>
                              <p:par>
                                <p:cTn id="110" presetID="22" presetClass="entr" presetSubtype="4" fill="hold" grpId="0" nodeType="withEffect">
                                  <p:stCondLst>
                                    <p:cond delay="0"/>
                                  </p:stCondLst>
                                  <p:childTnLst>
                                    <p:set>
                                      <p:cBhvr>
                                        <p:cTn id="111" dur="1" fill="hold">
                                          <p:stCondLst>
                                            <p:cond delay="0"/>
                                          </p:stCondLst>
                                        </p:cTn>
                                        <p:tgtEl>
                                          <p:spTgt spid="110"/>
                                        </p:tgtEl>
                                        <p:attrNameLst>
                                          <p:attrName>style.visibility</p:attrName>
                                        </p:attrNameLst>
                                      </p:cBhvr>
                                      <p:to>
                                        <p:strVal val="visible"/>
                                      </p:to>
                                    </p:set>
                                    <p:animEffect transition="in" filter="wipe(down)">
                                      <p:cBhvr>
                                        <p:cTn id="112" dur="500"/>
                                        <p:tgtEl>
                                          <p:spTgt spid="1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7" grpId="0" animBg="1"/>
      <p:bldP spid="51" grpId="0" animBg="1"/>
      <p:bldP spid="56" grpId="0"/>
      <p:bldP spid="57" grpId="0" animBg="1"/>
      <p:bldP spid="61" grpId="0" animBg="1"/>
      <p:bldP spid="66" grpId="0" animBg="1"/>
      <p:bldP spid="70" grpId="0" animBg="1"/>
      <p:bldP spid="82" grpId="0"/>
      <p:bldP spid="83" grpId="0" animBg="1"/>
      <p:bldP spid="85" grpId="0"/>
      <p:bldP spid="86" grpId="0"/>
      <p:bldP spid="87" grpId="0"/>
      <p:bldP spid="88" grpId="0"/>
      <p:bldP spid="92" grpId="0"/>
      <p:bldP spid="93" grpId="0"/>
      <p:bldP spid="94" grpId="0" animBg="1"/>
      <p:bldP spid="98" grpId="0"/>
      <p:bldP spid="99" grpId="0"/>
      <p:bldP spid="55" grpId="0" animBg="1"/>
      <p:bldP spid="58" grpId="0" animBg="1"/>
      <p:bldP spid="105" grpId="0"/>
      <p:bldP spid="106" grpId="0"/>
      <p:bldP spid="107" grpId="0"/>
      <p:bldP spid="108" grpId="0"/>
      <p:bldP spid="109" grpId="0"/>
      <p:bldP spid="110"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203E85BE-5136-436D-93FB-AA3DEB0F5255}"/>
              </a:ext>
            </a:extLst>
          </p:cNvPr>
          <p:cNvGraphicFramePr>
            <a:graphicFrameLocks noGrp="1"/>
          </p:cNvGraphicFramePr>
          <p:nvPr>
            <p:extLst>
              <p:ext uri="{D42A27DB-BD31-4B8C-83A1-F6EECF244321}">
                <p14:modId xmlns:p14="http://schemas.microsoft.com/office/powerpoint/2010/main" val="2074210794"/>
              </p:ext>
            </p:extLst>
          </p:nvPr>
        </p:nvGraphicFramePr>
        <p:xfrm>
          <a:off x="635183" y="1847066"/>
          <a:ext cx="7287181" cy="3845485"/>
        </p:xfrm>
        <a:graphic>
          <a:graphicData uri="http://schemas.openxmlformats.org/drawingml/2006/table">
            <a:tbl>
              <a:tblPr firstRow="1" firstCol="1" bandRow="1"/>
              <a:tblGrid>
                <a:gridCol w="2349273">
                  <a:extLst>
                    <a:ext uri="{9D8B030D-6E8A-4147-A177-3AD203B41FA5}">
                      <a16:colId xmlns:a16="http://schemas.microsoft.com/office/drawing/2014/main" val="3823412343"/>
                    </a:ext>
                  </a:extLst>
                </a:gridCol>
                <a:gridCol w="324004">
                  <a:extLst>
                    <a:ext uri="{9D8B030D-6E8A-4147-A177-3AD203B41FA5}">
                      <a16:colId xmlns:a16="http://schemas.microsoft.com/office/drawing/2014/main" val="3516509525"/>
                    </a:ext>
                  </a:extLst>
                </a:gridCol>
                <a:gridCol w="4352641">
                  <a:extLst>
                    <a:ext uri="{9D8B030D-6E8A-4147-A177-3AD203B41FA5}">
                      <a16:colId xmlns:a16="http://schemas.microsoft.com/office/drawing/2014/main" val="1332307332"/>
                    </a:ext>
                  </a:extLst>
                </a:gridCol>
                <a:gridCol w="261263">
                  <a:extLst>
                    <a:ext uri="{9D8B030D-6E8A-4147-A177-3AD203B41FA5}">
                      <a16:colId xmlns:a16="http://schemas.microsoft.com/office/drawing/2014/main" val="1509283267"/>
                    </a:ext>
                  </a:extLst>
                </a:gridCol>
              </a:tblGrid>
              <a:tr h="1469975">
                <a:tc gridSpan="4">
                  <a:txBody>
                    <a:bodyPr/>
                    <a:lstStyle/>
                    <a:p>
                      <a:pPr marL="285750" marR="0" indent="-285750">
                        <a:lnSpc>
                          <a:spcPct val="130000"/>
                        </a:lnSpc>
                        <a:spcBef>
                          <a:spcPts val="400"/>
                        </a:spcBef>
                        <a:spcAft>
                          <a:spcPts val="400"/>
                        </a:spcAft>
                        <a:buFont typeface="Wingdings" panose="05000000000000000000" pitchFamily="2" charset="2"/>
                        <a:buChar char="v"/>
                      </a:pPr>
                      <a:r>
                        <a:rPr lang="en-US" sz="1800" b="1" kern="1200" dirty="0" err="1">
                          <a:solidFill>
                            <a:schemeClr val="tx2"/>
                          </a:solidFill>
                          <a:latin typeface="Lato Regular"/>
                          <a:ea typeface="+mn-ea"/>
                          <a:cs typeface="+mn-cs"/>
                        </a:rPr>
                        <a:t>Hdự</a:t>
                      </a:r>
                      <a:r>
                        <a:rPr lang="en-US" sz="1800" b="1" kern="1200" dirty="0">
                          <a:solidFill>
                            <a:schemeClr val="tx2"/>
                          </a:solidFill>
                          <a:latin typeface="Lato Regular"/>
                          <a:ea typeface="+mn-ea"/>
                          <a:cs typeface="+mn-cs"/>
                        </a:rPr>
                        <a:t> </a:t>
                      </a:r>
                      <a:r>
                        <a:rPr lang="en-US" sz="1800" b="1" kern="1200" dirty="0" err="1">
                          <a:solidFill>
                            <a:schemeClr val="tx2"/>
                          </a:solidFill>
                          <a:latin typeface="Lato Regular"/>
                          <a:ea typeface="+mn-ea"/>
                          <a:cs typeface="+mn-cs"/>
                        </a:rPr>
                        <a:t>án</a:t>
                      </a:r>
                      <a:r>
                        <a:rPr lang="en-US" sz="1800" b="1" kern="1200" dirty="0">
                          <a:solidFill>
                            <a:schemeClr val="tx2"/>
                          </a:solidFill>
                          <a:latin typeface="Lato Regular"/>
                          <a:ea typeface="+mn-ea"/>
                          <a:cs typeface="+mn-cs"/>
                        </a:rPr>
                        <a:t> = </a:t>
                      </a:r>
                      <a:r>
                        <a:rPr lang="en-US" sz="1800" b="1" kern="1200" dirty="0" err="1">
                          <a:solidFill>
                            <a:schemeClr val="tx2"/>
                          </a:solidFill>
                          <a:latin typeface="Lato Regular"/>
                          <a:ea typeface="+mn-ea"/>
                          <a:cs typeface="+mn-cs"/>
                        </a:rPr>
                        <a:t>Điểm</a:t>
                      </a:r>
                      <a:r>
                        <a:rPr lang="en-US" sz="1800" b="1" kern="1200" dirty="0">
                          <a:solidFill>
                            <a:schemeClr val="tx2"/>
                          </a:solidFill>
                          <a:latin typeface="Lato Regular"/>
                          <a:ea typeface="+mn-ea"/>
                          <a:cs typeface="+mn-cs"/>
                        </a:rPr>
                        <a:t> </a:t>
                      </a:r>
                      <a:r>
                        <a:rPr lang="en-US" sz="1800" b="1" kern="1200" dirty="0" err="1">
                          <a:solidFill>
                            <a:schemeClr val="tx2"/>
                          </a:solidFill>
                          <a:latin typeface="Lato Regular"/>
                          <a:ea typeface="+mn-ea"/>
                          <a:cs typeface="+mn-cs"/>
                        </a:rPr>
                        <a:t>dự</a:t>
                      </a:r>
                      <a:r>
                        <a:rPr lang="en-US" sz="1800" b="1" kern="1200" dirty="0">
                          <a:solidFill>
                            <a:schemeClr val="tx2"/>
                          </a:solidFill>
                          <a:latin typeface="Lato Regular"/>
                          <a:ea typeface="+mn-ea"/>
                          <a:cs typeface="+mn-cs"/>
                        </a:rPr>
                        <a:t> </a:t>
                      </a:r>
                      <a:r>
                        <a:rPr lang="en-US" sz="1800" b="1" kern="1200" dirty="0" err="1">
                          <a:solidFill>
                            <a:schemeClr val="tx2"/>
                          </a:solidFill>
                          <a:latin typeface="Lato Regular"/>
                          <a:ea typeface="+mn-ea"/>
                          <a:cs typeface="+mn-cs"/>
                        </a:rPr>
                        <a:t>án</a:t>
                      </a:r>
                      <a:r>
                        <a:rPr lang="en-US" sz="1800" b="1" kern="1200" dirty="0">
                          <a:solidFill>
                            <a:schemeClr val="tx2"/>
                          </a:solidFill>
                          <a:latin typeface="Lato Regular"/>
                          <a:ea typeface="+mn-ea"/>
                          <a:cs typeface="+mn-cs"/>
                        </a:rPr>
                        <a:t> × </a:t>
                      </a:r>
                      <a:r>
                        <a:rPr lang="en-US" sz="1800" b="1" kern="1200" dirty="0" err="1">
                          <a:solidFill>
                            <a:schemeClr val="tx2"/>
                          </a:solidFill>
                          <a:latin typeface="Lato Regular"/>
                          <a:ea typeface="+mn-ea"/>
                          <a:cs typeface="+mn-cs"/>
                        </a:rPr>
                        <a:t>Hệ</a:t>
                      </a:r>
                      <a:r>
                        <a:rPr lang="en-US" sz="1800" b="1" kern="1200" dirty="0">
                          <a:solidFill>
                            <a:schemeClr val="tx2"/>
                          </a:solidFill>
                          <a:latin typeface="Lato Regular"/>
                          <a:ea typeface="+mn-ea"/>
                          <a:cs typeface="+mn-cs"/>
                        </a:rPr>
                        <a:t> </a:t>
                      </a:r>
                      <a:r>
                        <a:rPr lang="en-US" sz="1800" b="1" kern="1200" dirty="0" err="1">
                          <a:solidFill>
                            <a:schemeClr val="tx2"/>
                          </a:solidFill>
                          <a:latin typeface="Lato Regular"/>
                          <a:ea typeface="+mn-ea"/>
                          <a:cs typeface="+mn-cs"/>
                        </a:rPr>
                        <a:t>số</a:t>
                      </a:r>
                      <a:r>
                        <a:rPr lang="en-US" sz="1800" b="1" kern="1200" dirty="0">
                          <a:solidFill>
                            <a:schemeClr val="tx2"/>
                          </a:solidFill>
                          <a:latin typeface="Lato Regular"/>
                          <a:ea typeface="+mn-ea"/>
                          <a:cs typeface="+mn-cs"/>
                        </a:rPr>
                        <a:t> </a:t>
                      </a:r>
                      <a:r>
                        <a:rPr lang="en-US" sz="1800" b="1" kern="1200" dirty="0" err="1">
                          <a:solidFill>
                            <a:schemeClr val="tx2"/>
                          </a:solidFill>
                          <a:latin typeface="Lato Regular"/>
                          <a:ea typeface="+mn-ea"/>
                          <a:cs typeface="+mn-cs"/>
                        </a:rPr>
                        <a:t>cân</a:t>
                      </a:r>
                      <a:r>
                        <a:rPr lang="en-US" sz="1800" b="1" kern="1200" dirty="0">
                          <a:solidFill>
                            <a:schemeClr val="tx2"/>
                          </a:solidFill>
                          <a:latin typeface="Lato Regular"/>
                          <a:ea typeface="+mn-ea"/>
                          <a:cs typeface="+mn-cs"/>
                        </a:rPr>
                        <a:t> </a:t>
                      </a:r>
                      <a:r>
                        <a:rPr lang="en-US" sz="1800" b="1" kern="1200" dirty="0" err="1">
                          <a:solidFill>
                            <a:schemeClr val="tx2"/>
                          </a:solidFill>
                          <a:latin typeface="Lato Regular"/>
                          <a:ea typeface="+mn-ea"/>
                          <a:cs typeface="+mn-cs"/>
                        </a:rPr>
                        <a:t>bằng</a:t>
                      </a:r>
                      <a:endParaRPr lang="en-US" sz="1800" b="1" kern="1200" dirty="0">
                        <a:solidFill>
                          <a:schemeClr val="tx2"/>
                        </a:solidFill>
                        <a:latin typeface="Lato Regular"/>
                        <a:ea typeface="+mn-ea"/>
                        <a:cs typeface="+mn-cs"/>
                      </a:endParaRPr>
                    </a:p>
                    <a:p>
                      <a:pPr marL="285750" marR="0" indent="-285750">
                        <a:lnSpc>
                          <a:spcPct val="130000"/>
                        </a:lnSpc>
                        <a:spcBef>
                          <a:spcPts val="400"/>
                        </a:spcBef>
                        <a:spcAft>
                          <a:spcPts val="400"/>
                        </a:spcAft>
                        <a:buFont typeface="Wingdings" panose="05000000000000000000" pitchFamily="2" charset="2"/>
                        <a:buChar char="ü"/>
                      </a:pPr>
                      <a:r>
                        <a:rPr lang="vi-VN" sz="1800" kern="1200" dirty="0">
                          <a:solidFill>
                            <a:schemeClr val="accent1">
                              <a:lumMod val="50000"/>
                            </a:schemeClr>
                          </a:solidFill>
                          <a:latin typeface="Lato Regular"/>
                          <a:ea typeface="+mn-ea"/>
                          <a:cs typeface="+mn-cs"/>
                        </a:rPr>
                        <a:t>Điểm dự án = [0.8;1.2] được xác định dựa trên tỷ lệ hoàn thành dự án. Điểm dự án phản ánh kết quả của dự án theo theo từng tháng do QA tính (căn cứ theo dữ liệu thực tế trên hệ thống Jira), PM dự án đề xuất và GĐSX FISx phê duyệt.</a:t>
                      </a:r>
                      <a:endParaRPr lang="en-US" sz="1800" kern="1200" dirty="0">
                        <a:solidFill>
                          <a:schemeClr val="accent1">
                            <a:lumMod val="50000"/>
                          </a:schemeClr>
                        </a:solidFill>
                        <a:latin typeface="Lato Regular"/>
                        <a:ea typeface="+mn-ea"/>
                        <a:cs typeface="+mn-cs"/>
                      </a:endParaRPr>
                    </a:p>
                    <a:p>
                      <a:pPr marL="285750" marR="0" indent="-285750">
                        <a:lnSpc>
                          <a:spcPct val="130000"/>
                        </a:lnSpc>
                        <a:spcBef>
                          <a:spcPts val="400"/>
                        </a:spcBef>
                        <a:spcAft>
                          <a:spcPts val="400"/>
                        </a:spcAft>
                        <a:buFont typeface="Wingdings" panose="05000000000000000000" pitchFamily="2" charset="2"/>
                        <a:buChar char="ü"/>
                      </a:pPr>
                      <a:r>
                        <a:rPr lang="en-US" sz="1800" kern="1200" dirty="0" err="1">
                          <a:solidFill>
                            <a:schemeClr val="accent5">
                              <a:lumMod val="50000"/>
                            </a:schemeClr>
                          </a:solidFill>
                          <a:latin typeface="Lato Regular"/>
                          <a:ea typeface="+mn-ea"/>
                          <a:cs typeface="+mn-cs"/>
                        </a:rPr>
                        <a:t>Hệ</a:t>
                      </a:r>
                      <a:r>
                        <a:rPr lang="en-US" sz="1800" kern="1200" dirty="0">
                          <a:solidFill>
                            <a:schemeClr val="accent5">
                              <a:lumMod val="50000"/>
                            </a:schemeClr>
                          </a:solidFill>
                          <a:latin typeface="Lato Regular"/>
                          <a:ea typeface="+mn-ea"/>
                          <a:cs typeface="+mn-cs"/>
                        </a:rPr>
                        <a:t> </a:t>
                      </a:r>
                      <a:r>
                        <a:rPr lang="en-US" sz="1800" kern="1200" dirty="0" err="1">
                          <a:solidFill>
                            <a:schemeClr val="accent5">
                              <a:lumMod val="50000"/>
                            </a:schemeClr>
                          </a:solidFill>
                          <a:latin typeface="Lato Regular"/>
                          <a:ea typeface="+mn-ea"/>
                          <a:cs typeface="+mn-cs"/>
                        </a:rPr>
                        <a:t>số</a:t>
                      </a:r>
                      <a:r>
                        <a:rPr lang="en-US" sz="1800" kern="1200" dirty="0">
                          <a:solidFill>
                            <a:schemeClr val="accent5">
                              <a:lumMod val="50000"/>
                            </a:schemeClr>
                          </a:solidFill>
                          <a:latin typeface="Lato Regular"/>
                          <a:ea typeface="+mn-ea"/>
                          <a:cs typeface="+mn-cs"/>
                        </a:rPr>
                        <a:t> </a:t>
                      </a:r>
                      <a:r>
                        <a:rPr lang="en-US" sz="1800" kern="1200" dirty="0" err="1">
                          <a:solidFill>
                            <a:schemeClr val="accent5">
                              <a:lumMod val="50000"/>
                            </a:schemeClr>
                          </a:solidFill>
                          <a:latin typeface="Lato Regular"/>
                          <a:ea typeface="+mn-ea"/>
                          <a:cs typeface="+mn-cs"/>
                        </a:rPr>
                        <a:t>cân</a:t>
                      </a:r>
                      <a:r>
                        <a:rPr lang="en-US" sz="1800" kern="1200" dirty="0">
                          <a:solidFill>
                            <a:schemeClr val="accent5">
                              <a:lumMod val="50000"/>
                            </a:schemeClr>
                          </a:solidFill>
                          <a:latin typeface="Lato Regular"/>
                          <a:ea typeface="+mn-ea"/>
                          <a:cs typeface="+mn-cs"/>
                        </a:rPr>
                        <a:t> </a:t>
                      </a:r>
                      <a:r>
                        <a:rPr lang="en-US" sz="1800" kern="1200" dirty="0" err="1">
                          <a:solidFill>
                            <a:schemeClr val="accent5">
                              <a:lumMod val="50000"/>
                            </a:schemeClr>
                          </a:solidFill>
                          <a:latin typeface="Lato Regular"/>
                          <a:ea typeface="+mn-ea"/>
                          <a:cs typeface="+mn-cs"/>
                        </a:rPr>
                        <a:t>bằng</a:t>
                      </a:r>
                      <a:r>
                        <a:rPr lang="en-US" sz="1800" kern="1200" dirty="0">
                          <a:solidFill>
                            <a:schemeClr val="accent5">
                              <a:lumMod val="50000"/>
                            </a:schemeClr>
                          </a:solidFill>
                          <a:latin typeface="Lato Regular"/>
                          <a:ea typeface="+mn-ea"/>
                          <a:cs typeface="+mn-cs"/>
                        </a:rPr>
                        <a:t>: </a:t>
                      </a:r>
                      <a:r>
                        <a:rPr lang="en-US" sz="1800" kern="1200" dirty="0" err="1">
                          <a:solidFill>
                            <a:schemeClr val="accent5">
                              <a:lumMod val="50000"/>
                            </a:schemeClr>
                          </a:solidFill>
                          <a:latin typeface="Lato Regular"/>
                          <a:ea typeface="+mn-ea"/>
                          <a:cs typeface="+mn-cs"/>
                        </a:rPr>
                        <a:t>áp</a:t>
                      </a:r>
                      <a:r>
                        <a:rPr lang="en-US" sz="1800" kern="1200" dirty="0">
                          <a:solidFill>
                            <a:schemeClr val="accent5">
                              <a:lumMod val="50000"/>
                            </a:schemeClr>
                          </a:solidFill>
                          <a:latin typeface="Lato Regular"/>
                          <a:ea typeface="+mn-ea"/>
                          <a:cs typeface="+mn-cs"/>
                        </a:rPr>
                        <a:t> </a:t>
                      </a:r>
                      <a:r>
                        <a:rPr lang="en-US" sz="1800" kern="1200" dirty="0" err="1">
                          <a:solidFill>
                            <a:schemeClr val="accent5">
                              <a:lumMod val="50000"/>
                            </a:schemeClr>
                          </a:solidFill>
                          <a:latin typeface="Lato Regular"/>
                          <a:ea typeface="+mn-ea"/>
                          <a:cs typeface="+mn-cs"/>
                        </a:rPr>
                        <a:t>dụng</a:t>
                      </a:r>
                      <a:r>
                        <a:rPr lang="en-US" sz="1800" kern="1200" dirty="0">
                          <a:solidFill>
                            <a:schemeClr val="accent5">
                              <a:lumMod val="50000"/>
                            </a:schemeClr>
                          </a:solidFill>
                          <a:latin typeface="Lato Regular"/>
                          <a:ea typeface="+mn-ea"/>
                          <a:cs typeface="+mn-cs"/>
                        </a:rPr>
                        <a:t> </a:t>
                      </a:r>
                      <a:r>
                        <a:rPr lang="en-US" sz="1800" kern="1200" dirty="0" err="1">
                          <a:solidFill>
                            <a:schemeClr val="accent5">
                              <a:lumMod val="50000"/>
                            </a:schemeClr>
                          </a:solidFill>
                          <a:latin typeface="Lato Regular"/>
                          <a:ea typeface="+mn-ea"/>
                          <a:cs typeface="+mn-cs"/>
                        </a:rPr>
                        <a:t>trong</a:t>
                      </a:r>
                      <a:r>
                        <a:rPr lang="en-US" sz="1800" kern="1200" dirty="0">
                          <a:solidFill>
                            <a:schemeClr val="accent5">
                              <a:lumMod val="50000"/>
                            </a:schemeClr>
                          </a:solidFill>
                          <a:latin typeface="Lato Regular"/>
                          <a:ea typeface="+mn-ea"/>
                          <a:cs typeface="+mn-cs"/>
                        </a:rPr>
                        <a:t> </a:t>
                      </a:r>
                      <a:r>
                        <a:rPr lang="en-US" sz="1800" kern="1200" dirty="0" err="1">
                          <a:solidFill>
                            <a:schemeClr val="accent5">
                              <a:lumMod val="50000"/>
                            </a:schemeClr>
                          </a:solidFill>
                          <a:latin typeface="Lato Regular"/>
                          <a:ea typeface="+mn-ea"/>
                          <a:cs typeface="+mn-cs"/>
                        </a:rPr>
                        <a:t>trường</a:t>
                      </a:r>
                      <a:r>
                        <a:rPr lang="en-US" sz="1800" kern="1200" dirty="0">
                          <a:solidFill>
                            <a:schemeClr val="accent5">
                              <a:lumMod val="50000"/>
                            </a:schemeClr>
                          </a:solidFill>
                          <a:latin typeface="Lato Regular"/>
                          <a:ea typeface="+mn-ea"/>
                          <a:cs typeface="+mn-cs"/>
                        </a:rPr>
                        <a:t> </a:t>
                      </a:r>
                      <a:r>
                        <a:rPr lang="en-US" sz="1800" kern="1200" dirty="0" err="1">
                          <a:solidFill>
                            <a:schemeClr val="accent5">
                              <a:lumMod val="50000"/>
                            </a:schemeClr>
                          </a:solidFill>
                          <a:latin typeface="Lato Regular"/>
                          <a:ea typeface="+mn-ea"/>
                          <a:cs typeface="+mn-cs"/>
                        </a:rPr>
                        <a:t>hợp</a:t>
                      </a:r>
                      <a:r>
                        <a:rPr lang="en-US" sz="1800" kern="1200" dirty="0">
                          <a:solidFill>
                            <a:schemeClr val="accent5">
                              <a:lumMod val="50000"/>
                            </a:schemeClr>
                          </a:solidFill>
                          <a:latin typeface="Lato Regular"/>
                          <a:ea typeface="+mn-ea"/>
                          <a:cs typeface="+mn-cs"/>
                        </a:rPr>
                        <a:t> </a:t>
                      </a:r>
                    </a:p>
                    <a:p>
                      <a:pPr marL="0" marR="0" indent="0">
                        <a:lnSpc>
                          <a:spcPct val="130000"/>
                        </a:lnSpc>
                        <a:spcBef>
                          <a:spcPts val="400"/>
                        </a:spcBef>
                        <a:spcAft>
                          <a:spcPts val="400"/>
                        </a:spcAft>
                        <a:buFont typeface="Arial" panose="020B0604020202020204" pitchFamily="34" charset="0"/>
                        <a:buNone/>
                      </a:pPr>
                      <a:r>
                        <a:rPr lang="en-US" sz="1800" kern="1200" baseline="0" dirty="0">
                          <a:solidFill>
                            <a:schemeClr val="accent5">
                              <a:lumMod val="50000"/>
                            </a:schemeClr>
                          </a:solidFill>
                          <a:latin typeface="Lato Regular"/>
                          <a:ea typeface="+mn-ea"/>
                          <a:cs typeface="+mn-cs"/>
                        </a:rPr>
                        <a:t>     </a:t>
                      </a:r>
                      <a:r>
                        <a:rPr lang="en-US" sz="1800" kern="1200" dirty="0">
                          <a:solidFill>
                            <a:schemeClr val="accent5">
                              <a:lumMod val="50000"/>
                            </a:schemeClr>
                          </a:solidFill>
                          <a:latin typeface="Lato Regular"/>
                          <a:ea typeface="+mn-ea"/>
                          <a:cs typeface="+mn-cs"/>
                        </a:rPr>
                        <a:t>∑ (20%Lương </a:t>
                      </a:r>
                      <a:r>
                        <a:rPr lang="en-US" sz="1800" kern="1200" dirty="0" err="1">
                          <a:solidFill>
                            <a:schemeClr val="accent5">
                              <a:lumMod val="50000"/>
                            </a:schemeClr>
                          </a:solidFill>
                          <a:latin typeface="Lato Regular"/>
                          <a:ea typeface="+mn-ea"/>
                          <a:cs typeface="+mn-cs"/>
                        </a:rPr>
                        <a:t>cơ</a:t>
                      </a:r>
                      <a:r>
                        <a:rPr lang="en-US" sz="1800" kern="1200" dirty="0">
                          <a:solidFill>
                            <a:schemeClr val="accent5">
                              <a:lumMod val="50000"/>
                            </a:schemeClr>
                          </a:solidFill>
                          <a:latin typeface="Lato Regular"/>
                          <a:ea typeface="+mn-ea"/>
                          <a:cs typeface="+mn-cs"/>
                        </a:rPr>
                        <a:t> </a:t>
                      </a:r>
                      <a:r>
                        <a:rPr lang="en-US" sz="1800" kern="1200" dirty="0" err="1">
                          <a:solidFill>
                            <a:schemeClr val="accent5">
                              <a:lumMod val="50000"/>
                            </a:schemeClr>
                          </a:solidFill>
                          <a:latin typeface="Lato Regular"/>
                          <a:ea typeface="+mn-ea"/>
                          <a:cs typeface="+mn-cs"/>
                        </a:rPr>
                        <a:t>sở</a:t>
                      </a:r>
                      <a:r>
                        <a:rPr lang="en-US" sz="1800" kern="1200" dirty="0">
                          <a:solidFill>
                            <a:schemeClr val="accent5">
                              <a:lumMod val="50000"/>
                            </a:schemeClr>
                          </a:solidFill>
                          <a:latin typeface="Lato Regular"/>
                          <a:ea typeface="+mn-ea"/>
                          <a:cs typeface="+mn-cs"/>
                        </a:rPr>
                        <a:t> × </a:t>
                      </a:r>
                      <a:r>
                        <a:rPr lang="en-US" sz="1800" kern="1200" dirty="0" err="1">
                          <a:solidFill>
                            <a:schemeClr val="accent5">
                              <a:lumMod val="50000"/>
                            </a:schemeClr>
                          </a:solidFill>
                          <a:latin typeface="Lato Regular"/>
                          <a:ea typeface="+mn-ea"/>
                          <a:cs typeface="+mn-cs"/>
                        </a:rPr>
                        <a:t>Hcá</a:t>
                      </a:r>
                      <a:r>
                        <a:rPr lang="en-US" sz="1800" kern="1200" dirty="0">
                          <a:solidFill>
                            <a:schemeClr val="accent5">
                              <a:lumMod val="50000"/>
                            </a:schemeClr>
                          </a:solidFill>
                          <a:latin typeface="Lato Regular"/>
                          <a:ea typeface="+mn-ea"/>
                          <a:cs typeface="+mn-cs"/>
                        </a:rPr>
                        <a:t> nhân) &gt; 20%∑ Lương </a:t>
                      </a:r>
                      <a:r>
                        <a:rPr lang="en-US" sz="1800" kern="1200" dirty="0" err="1">
                          <a:solidFill>
                            <a:schemeClr val="accent5">
                              <a:lumMod val="50000"/>
                            </a:schemeClr>
                          </a:solidFill>
                          <a:latin typeface="Lato Regular"/>
                          <a:ea typeface="+mn-ea"/>
                          <a:cs typeface="+mn-cs"/>
                        </a:rPr>
                        <a:t>cơ</a:t>
                      </a:r>
                      <a:r>
                        <a:rPr lang="en-US" sz="1800" kern="1200" dirty="0">
                          <a:solidFill>
                            <a:schemeClr val="accent5">
                              <a:lumMod val="50000"/>
                            </a:schemeClr>
                          </a:solidFill>
                          <a:latin typeface="Lato Regular"/>
                          <a:ea typeface="+mn-ea"/>
                          <a:cs typeface="+mn-cs"/>
                        </a:rPr>
                        <a:t> </a:t>
                      </a:r>
                      <a:r>
                        <a:rPr lang="en-US" sz="1800" kern="1200" dirty="0" err="1">
                          <a:solidFill>
                            <a:schemeClr val="accent5">
                              <a:lumMod val="50000"/>
                            </a:schemeClr>
                          </a:solidFill>
                          <a:latin typeface="Lato Regular"/>
                          <a:ea typeface="+mn-ea"/>
                          <a:cs typeface="+mn-cs"/>
                        </a:rPr>
                        <a:t>sở</a:t>
                      </a:r>
                      <a:endParaRPr lang="en-US" sz="1800" kern="1200" dirty="0">
                        <a:solidFill>
                          <a:schemeClr val="accent5">
                            <a:lumMod val="50000"/>
                          </a:schemeClr>
                        </a:solidFill>
                        <a:latin typeface="Lato Regular"/>
                        <a:ea typeface="+mn-ea"/>
                        <a:cs typeface="+mn-cs"/>
                      </a:endParaRPr>
                    </a:p>
                  </a:txBody>
                  <a:tcPr marL="110025" marR="110025" marT="55012" marB="55012">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hMerge="1">
                  <a:txBody>
                    <a:bodyPr/>
                    <a:lstStyle/>
                    <a:p>
                      <a:endParaRPr lang="en-US"/>
                    </a:p>
                  </a:txBody>
                  <a:tcPr/>
                </a:tc>
                <a:tc hMerge="1">
                  <a:txBody>
                    <a:bodyPr/>
                    <a:lstStyle/>
                    <a:p>
                      <a:endParaRPr lang="en-US"/>
                    </a:p>
                  </a:txBody>
                  <a:tcPr/>
                </a:tc>
                <a:tc hMerge="1">
                  <a:txBody>
                    <a:bodyPr/>
                    <a:lstStyle/>
                    <a:p>
                      <a:pPr marL="0" marR="0">
                        <a:lnSpc>
                          <a:spcPct val="130000"/>
                        </a:lnSpc>
                        <a:spcBef>
                          <a:spcPts val="400"/>
                        </a:spcBef>
                        <a:spcAft>
                          <a:spcPts val="400"/>
                        </a:spcAft>
                      </a:pPr>
                      <a:endParaRPr lang="en-US" sz="1300" dirty="0">
                        <a:effectLst/>
                        <a:latin typeface="Arial" panose="020B0604020202020204" pitchFamily="34" charset="0"/>
                        <a:ea typeface="Calibri" panose="020F0502020204030204" pitchFamily="34" charset="0"/>
                        <a:cs typeface="Times New Roman" panose="02020603050405020304" pitchFamily="18" charset="0"/>
                      </a:endParaRPr>
                    </a:p>
                  </a:txBody>
                  <a:tcPr marL="110025" marR="110025" marT="55012" marB="55012">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tcPr>
                </a:tc>
                <a:extLst>
                  <a:ext uri="{0D108BD9-81ED-4DB2-BD59-A6C34878D82A}">
                    <a16:rowId xmlns:a16="http://schemas.microsoft.com/office/drawing/2014/main" val="3907983498"/>
                  </a:ext>
                </a:extLst>
              </a:tr>
              <a:tr h="497192">
                <a:tc rowSpan="2">
                  <a:txBody>
                    <a:bodyPr/>
                    <a:lstStyle/>
                    <a:p>
                      <a:pPr marL="0" marR="0">
                        <a:lnSpc>
                          <a:spcPct val="130000"/>
                        </a:lnSpc>
                        <a:spcBef>
                          <a:spcPts val="400"/>
                        </a:spcBef>
                        <a:spcAft>
                          <a:spcPts val="400"/>
                        </a:spcAft>
                      </a:pPr>
                      <a:r>
                        <a:rPr lang="en-US" sz="1800" kern="1200" dirty="0">
                          <a:solidFill>
                            <a:schemeClr val="accent5">
                              <a:lumMod val="50000"/>
                            </a:schemeClr>
                          </a:solidFill>
                          <a:latin typeface="Lato Regular"/>
                          <a:ea typeface="+mn-ea"/>
                          <a:cs typeface="+mn-cs"/>
                        </a:rPr>
                        <a:t>     </a:t>
                      </a:r>
                      <a:r>
                        <a:rPr lang="en-US" sz="1800" kern="1200" dirty="0" err="1">
                          <a:solidFill>
                            <a:schemeClr val="accent5">
                              <a:lumMod val="50000"/>
                            </a:schemeClr>
                          </a:solidFill>
                          <a:latin typeface="Lato Regular"/>
                          <a:ea typeface="+mn-ea"/>
                          <a:cs typeface="+mn-cs"/>
                        </a:rPr>
                        <a:t>Hệ</a:t>
                      </a:r>
                      <a:r>
                        <a:rPr lang="en-US" sz="1800" kern="1200" dirty="0">
                          <a:solidFill>
                            <a:schemeClr val="accent5">
                              <a:lumMod val="50000"/>
                            </a:schemeClr>
                          </a:solidFill>
                          <a:latin typeface="Lato Regular"/>
                          <a:ea typeface="+mn-ea"/>
                          <a:cs typeface="+mn-cs"/>
                        </a:rPr>
                        <a:t> </a:t>
                      </a:r>
                      <a:r>
                        <a:rPr lang="en-US" sz="1800" kern="1200" dirty="0" err="1">
                          <a:solidFill>
                            <a:schemeClr val="accent5">
                              <a:lumMod val="50000"/>
                            </a:schemeClr>
                          </a:solidFill>
                          <a:latin typeface="Lato Regular"/>
                          <a:ea typeface="+mn-ea"/>
                          <a:cs typeface="+mn-cs"/>
                        </a:rPr>
                        <a:t>số</a:t>
                      </a:r>
                      <a:r>
                        <a:rPr lang="en-US" sz="1800" kern="1200" dirty="0">
                          <a:solidFill>
                            <a:schemeClr val="accent5">
                              <a:lumMod val="50000"/>
                            </a:schemeClr>
                          </a:solidFill>
                          <a:latin typeface="Lato Regular"/>
                          <a:ea typeface="+mn-ea"/>
                          <a:cs typeface="+mn-cs"/>
                        </a:rPr>
                        <a:t> </a:t>
                      </a:r>
                      <a:r>
                        <a:rPr lang="en-US" sz="1800" kern="1200" dirty="0" err="1">
                          <a:solidFill>
                            <a:schemeClr val="accent5">
                              <a:lumMod val="50000"/>
                            </a:schemeClr>
                          </a:solidFill>
                          <a:latin typeface="Lato Regular"/>
                          <a:ea typeface="+mn-ea"/>
                          <a:cs typeface="+mn-cs"/>
                        </a:rPr>
                        <a:t>cân</a:t>
                      </a:r>
                      <a:r>
                        <a:rPr lang="en-US" sz="1800" kern="1200" dirty="0">
                          <a:solidFill>
                            <a:schemeClr val="accent5">
                              <a:lumMod val="50000"/>
                            </a:schemeClr>
                          </a:solidFill>
                          <a:latin typeface="Lato Regular"/>
                          <a:ea typeface="+mn-ea"/>
                          <a:cs typeface="+mn-cs"/>
                        </a:rPr>
                        <a:t> </a:t>
                      </a:r>
                      <a:r>
                        <a:rPr lang="en-US" sz="1800" kern="1200" dirty="0" err="1">
                          <a:solidFill>
                            <a:schemeClr val="accent5">
                              <a:lumMod val="50000"/>
                            </a:schemeClr>
                          </a:solidFill>
                          <a:latin typeface="Lato Regular"/>
                          <a:ea typeface="+mn-ea"/>
                          <a:cs typeface="+mn-cs"/>
                        </a:rPr>
                        <a:t>bằng</a:t>
                      </a:r>
                      <a:endParaRPr lang="en-US" sz="1800" kern="1200" dirty="0">
                        <a:solidFill>
                          <a:schemeClr val="accent5">
                            <a:lumMod val="50000"/>
                          </a:schemeClr>
                        </a:solidFill>
                        <a:latin typeface="Lato Regular"/>
                        <a:ea typeface="+mn-ea"/>
                        <a:cs typeface="+mn-cs"/>
                      </a:endParaRPr>
                    </a:p>
                  </a:txBody>
                  <a:tcPr marL="110025" marR="110025" marT="55012" marB="55012" anchor="ctr">
                    <a:lnL w="12700" cap="flat" cmpd="sng" algn="ctr">
                      <a:noFill/>
                      <a:prstDash val="solid"/>
                      <a:round/>
                      <a:headEnd type="none" w="med" len="med"/>
                      <a:tailEnd type="none" w="med" len="med"/>
                    </a:lnL>
                    <a:lnR>
                      <a:noFill/>
                    </a:lnR>
                    <a:lnT>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rowSpan="2">
                  <a:txBody>
                    <a:bodyPr/>
                    <a:lstStyle/>
                    <a:p>
                      <a:pPr marL="0" marR="0" algn="ctr">
                        <a:lnSpc>
                          <a:spcPct val="130000"/>
                        </a:lnSpc>
                        <a:spcBef>
                          <a:spcPts val="400"/>
                        </a:spcBef>
                        <a:spcAft>
                          <a:spcPts val="400"/>
                        </a:spcAft>
                      </a:pPr>
                      <a:r>
                        <a:rPr lang="en-US" sz="1800" kern="1200" dirty="0">
                          <a:solidFill>
                            <a:schemeClr val="accent5">
                              <a:lumMod val="50000"/>
                            </a:schemeClr>
                          </a:solidFill>
                          <a:latin typeface="Lato Regular"/>
                          <a:ea typeface="+mn-ea"/>
                          <a:cs typeface="+mn-cs"/>
                        </a:rPr>
                        <a:t>=</a:t>
                      </a:r>
                    </a:p>
                  </a:txBody>
                  <a:tcPr marL="110025" marR="110025" marT="55012" marB="55012" anchor="ctr">
                    <a:lnL>
                      <a:noFill/>
                    </a:lnL>
                    <a:lnR>
                      <a:noFill/>
                    </a:lnR>
                    <a:lnT>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30000"/>
                        </a:lnSpc>
                        <a:spcBef>
                          <a:spcPts val="400"/>
                        </a:spcBef>
                        <a:spcAft>
                          <a:spcPts val="400"/>
                        </a:spcAft>
                      </a:pPr>
                      <a:r>
                        <a:rPr lang="en-US" sz="1800" kern="1200" dirty="0">
                          <a:solidFill>
                            <a:schemeClr val="accent5">
                              <a:lumMod val="50000"/>
                            </a:schemeClr>
                          </a:solidFill>
                          <a:latin typeface="Lato Regular"/>
                          <a:ea typeface="+mn-ea"/>
                          <a:cs typeface="+mn-cs"/>
                        </a:rPr>
                        <a:t>20%∑ Lương </a:t>
                      </a:r>
                      <a:r>
                        <a:rPr lang="en-US" sz="1800" kern="1200" dirty="0" err="1">
                          <a:solidFill>
                            <a:schemeClr val="accent5">
                              <a:lumMod val="50000"/>
                            </a:schemeClr>
                          </a:solidFill>
                          <a:latin typeface="Lato Regular"/>
                          <a:ea typeface="+mn-ea"/>
                          <a:cs typeface="+mn-cs"/>
                        </a:rPr>
                        <a:t>cơ</a:t>
                      </a:r>
                      <a:r>
                        <a:rPr lang="en-US" sz="1800" kern="1200" dirty="0">
                          <a:solidFill>
                            <a:schemeClr val="accent5">
                              <a:lumMod val="50000"/>
                            </a:schemeClr>
                          </a:solidFill>
                          <a:latin typeface="Lato Regular"/>
                          <a:ea typeface="+mn-ea"/>
                          <a:cs typeface="+mn-cs"/>
                        </a:rPr>
                        <a:t> </a:t>
                      </a:r>
                      <a:r>
                        <a:rPr lang="en-US" sz="1800" kern="1200" dirty="0" err="1">
                          <a:solidFill>
                            <a:schemeClr val="accent5">
                              <a:lumMod val="50000"/>
                            </a:schemeClr>
                          </a:solidFill>
                          <a:latin typeface="Lato Regular"/>
                          <a:ea typeface="+mn-ea"/>
                          <a:cs typeface="+mn-cs"/>
                        </a:rPr>
                        <a:t>sở</a:t>
                      </a:r>
                      <a:r>
                        <a:rPr lang="en-US" sz="1800" kern="1200" dirty="0">
                          <a:solidFill>
                            <a:schemeClr val="accent5">
                              <a:lumMod val="50000"/>
                            </a:schemeClr>
                          </a:solidFill>
                          <a:latin typeface="Lato Regular"/>
                          <a:ea typeface="+mn-ea"/>
                          <a:cs typeface="+mn-cs"/>
                        </a:rPr>
                        <a:t> </a:t>
                      </a:r>
                      <a:r>
                        <a:rPr lang="en-US" sz="1800" kern="1200" dirty="0" err="1">
                          <a:solidFill>
                            <a:schemeClr val="accent5">
                              <a:lumMod val="50000"/>
                            </a:schemeClr>
                          </a:solidFill>
                          <a:latin typeface="Lato Regular"/>
                          <a:ea typeface="+mn-ea"/>
                          <a:cs typeface="+mn-cs"/>
                        </a:rPr>
                        <a:t>dự</a:t>
                      </a:r>
                      <a:r>
                        <a:rPr lang="en-US" sz="1800" kern="1200" dirty="0">
                          <a:solidFill>
                            <a:schemeClr val="accent5">
                              <a:lumMod val="50000"/>
                            </a:schemeClr>
                          </a:solidFill>
                          <a:latin typeface="Lato Regular"/>
                          <a:ea typeface="+mn-ea"/>
                          <a:cs typeface="+mn-cs"/>
                        </a:rPr>
                        <a:t> </a:t>
                      </a:r>
                      <a:r>
                        <a:rPr lang="en-US" sz="1800" kern="1200" dirty="0" err="1">
                          <a:solidFill>
                            <a:schemeClr val="accent5">
                              <a:lumMod val="50000"/>
                            </a:schemeClr>
                          </a:solidFill>
                          <a:latin typeface="Lato Regular"/>
                          <a:ea typeface="+mn-ea"/>
                          <a:cs typeface="+mn-cs"/>
                        </a:rPr>
                        <a:t>án</a:t>
                      </a:r>
                      <a:endParaRPr lang="en-US" sz="1800" kern="1200" dirty="0">
                        <a:solidFill>
                          <a:schemeClr val="accent5">
                            <a:lumMod val="50000"/>
                          </a:schemeClr>
                        </a:solidFill>
                        <a:latin typeface="Lato Regular"/>
                        <a:ea typeface="+mn-ea"/>
                        <a:cs typeface="+mn-cs"/>
                      </a:endParaRPr>
                    </a:p>
                  </a:txBody>
                  <a:tcPr marL="110025" marR="110025" marT="55012" marB="55012"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nSpc>
                          <a:spcPct val="130000"/>
                        </a:lnSpc>
                        <a:spcBef>
                          <a:spcPts val="400"/>
                        </a:spcBef>
                        <a:spcAft>
                          <a:spcPts val="400"/>
                        </a:spcAft>
                      </a:pPr>
                      <a:r>
                        <a:rPr lang="en-US" sz="1300" spc="-20" dirty="0">
                          <a:effectLst/>
                          <a:latin typeface="Arial" panose="020B0604020202020204" pitchFamily="34" charset="0"/>
                          <a:ea typeface="Calibri" panose="020F0502020204030204" pitchFamily="34" charset="0"/>
                          <a:cs typeface="Arial" panose="020B0604020202020204" pitchFamily="34" charset="0"/>
                        </a:rPr>
                        <a:t> </a:t>
                      </a:r>
                      <a:endParaRPr lang="en-US" sz="1300" dirty="0">
                        <a:effectLst/>
                        <a:latin typeface="Arial" panose="020B0604020202020204" pitchFamily="34" charset="0"/>
                        <a:ea typeface="Calibri" panose="020F0502020204030204" pitchFamily="34" charset="0"/>
                        <a:cs typeface="Times New Roman" panose="02020603050405020304" pitchFamily="18" charset="0"/>
                      </a:endParaRPr>
                    </a:p>
                  </a:txBody>
                  <a:tcPr marL="110025" marR="110025" marT="55012" marB="55012">
                    <a:lnL>
                      <a:noFill/>
                    </a:lnL>
                    <a:lnR w="12700" cap="flat" cmpd="sng" algn="ctr">
                      <a:noFill/>
                      <a:prstDash val="solid"/>
                      <a:round/>
                      <a:headEnd type="none" w="med" len="med"/>
                      <a:tailEnd type="none" w="med" len="med"/>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2066189754"/>
                  </a:ext>
                </a:extLst>
              </a:tr>
              <a:tr h="474558">
                <a:tc vMerge="1">
                  <a:txBody>
                    <a:bodyPr/>
                    <a:lstStyle/>
                    <a:p>
                      <a:endParaRPr lang="en-US"/>
                    </a:p>
                  </a:txBody>
                  <a:tcPr/>
                </a:tc>
                <a:tc vMerge="1">
                  <a:txBody>
                    <a:bodyPr/>
                    <a:lstStyle/>
                    <a:p>
                      <a:endParaRPr lang="en-US"/>
                    </a:p>
                  </a:txBody>
                  <a:tcPr/>
                </a:tc>
                <a:tc>
                  <a:txBody>
                    <a:bodyPr/>
                    <a:lstStyle/>
                    <a:p>
                      <a:pPr marL="0" marR="0" algn="ctr">
                        <a:lnSpc>
                          <a:spcPct val="130000"/>
                        </a:lnSpc>
                        <a:spcBef>
                          <a:spcPts val="400"/>
                        </a:spcBef>
                        <a:spcAft>
                          <a:spcPts val="400"/>
                        </a:spcAft>
                      </a:pPr>
                      <a:r>
                        <a:rPr lang="en-US" sz="1800" kern="1200" dirty="0">
                          <a:solidFill>
                            <a:schemeClr val="accent5">
                              <a:lumMod val="50000"/>
                            </a:schemeClr>
                          </a:solidFill>
                          <a:latin typeface="Lato Regular"/>
                          <a:ea typeface="+mn-ea"/>
                          <a:cs typeface="+mn-cs"/>
                        </a:rPr>
                        <a:t>∑ (20%Lương </a:t>
                      </a:r>
                      <a:r>
                        <a:rPr lang="en-US" sz="1800" kern="1200" dirty="0" err="1">
                          <a:solidFill>
                            <a:schemeClr val="accent5">
                              <a:lumMod val="50000"/>
                            </a:schemeClr>
                          </a:solidFill>
                          <a:latin typeface="Lato Regular"/>
                          <a:ea typeface="+mn-ea"/>
                          <a:cs typeface="+mn-cs"/>
                        </a:rPr>
                        <a:t>cơ</a:t>
                      </a:r>
                      <a:r>
                        <a:rPr lang="en-US" sz="1800" kern="1200" dirty="0">
                          <a:solidFill>
                            <a:schemeClr val="accent5">
                              <a:lumMod val="50000"/>
                            </a:schemeClr>
                          </a:solidFill>
                          <a:latin typeface="Lato Regular"/>
                          <a:ea typeface="+mn-ea"/>
                          <a:cs typeface="+mn-cs"/>
                        </a:rPr>
                        <a:t> </a:t>
                      </a:r>
                      <a:r>
                        <a:rPr lang="en-US" sz="1800" kern="1200" dirty="0" err="1">
                          <a:solidFill>
                            <a:schemeClr val="accent5">
                              <a:lumMod val="50000"/>
                            </a:schemeClr>
                          </a:solidFill>
                          <a:latin typeface="Lato Regular"/>
                          <a:ea typeface="+mn-ea"/>
                          <a:cs typeface="+mn-cs"/>
                        </a:rPr>
                        <a:t>sở</a:t>
                      </a:r>
                      <a:r>
                        <a:rPr lang="en-US" sz="1800" kern="1200" dirty="0">
                          <a:solidFill>
                            <a:schemeClr val="accent5">
                              <a:lumMod val="50000"/>
                            </a:schemeClr>
                          </a:solidFill>
                          <a:latin typeface="Lato Regular"/>
                          <a:ea typeface="+mn-ea"/>
                          <a:cs typeface="+mn-cs"/>
                        </a:rPr>
                        <a:t> × </a:t>
                      </a:r>
                      <a:r>
                        <a:rPr lang="en-US" sz="1800" kern="1200" dirty="0" err="1">
                          <a:solidFill>
                            <a:schemeClr val="accent5">
                              <a:lumMod val="50000"/>
                            </a:schemeClr>
                          </a:solidFill>
                          <a:latin typeface="Lato Regular"/>
                          <a:ea typeface="+mn-ea"/>
                          <a:cs typeface="+mn-cs"/>
                        </a:rPr>
                        <a:t>Hcá</a:t>
                      </a:r>
                      <a:r>
                        <a:rPr lang="en-US" sz="1800" kern="1200" dirty="0">
                          <a:solidFill>
                            <a:schemeClr val="accent5">
                              <a:lumMod val="50000"/>
                            </a:schemeClr>
                          </a:solidFill>
                          <a:latin typeface="Lato Regular"/>
                          <a:ea typeface="+mn-ea"/>
                          <a:cs typeface="+mn-cs"/>
                        </a:rPr>
                        <a:t> nhân) </a:t>
                      </a:r>
                      <a:r>
                        <a:rPr lang="en-US" sz="1800" kern="1200" dirty="0" err="1">
                          <a:solidFill>
                            <a:schemeClr val="accent5">
                              <a:lumMod val="50000"/>
                            </a:schemeClr>
                          </a:solidFill>
                          <a:latin typeface="Lato Regular"/>
                          <a:ea typeface="+mn-ea"/>
                          <a:cs typeface="+mn-cs"/>
                        </a:rPr>
                        <a:t>dự</a:t>
                      </a:r>
                      <a:r>
                        <a:rPr lang="en-US" sz="1800" kern="1200" dirty="0">
                          <a:solidFill>
                            <a:schemeClr val="accent5">
                              <a:lumMod val="50000"/>
                            </a:schemeClr>
                          </a:solidFill>
                          <a:latin typeface="Lato Regular"/>
                          <a:ea typeface="+mn-ea"/>
                          <a:cs typeface="+mn-cs"/>
                        </a:rPr>
                        <a:t> </a:t>
                      </a:r>
                      <a:r>
                        <a:rPr lang="en-US" sz="1800" kern="1200" dirty="0" err="1">
                          <a:solidFill>
                            <a:schemeClr val="accent5">
                              <a:lumMod val="50000"/>
                            </a:schemeClr>
                          </a:solidFill>
                          <a:latin typeface="Lato Regular"/>
                          <a:ea typeface="+mn-ea"/>
                          <a:cs typeface="+mn-cs"/>
                        </a:rPr>
                        <a:t>án</a:t>
                      </a:r>
                      <a:endParaRPr lang="en-US" sz="1800" kern="1200" dirty="0">
                        <a:solidFill>
                          <a:schemeClr val="accent5">
                            <a:lumMod val="50000"/>
                          </a:schemeClr>
                        </a:solidFill>
                        <a:latin typeface="Lato Regular"/>
                        <a:ea typeface="+mn-ea"/>
                        <a:cs typeface="+mn-cs"/>
                      </a:endParaRPr>
                    </a:p>
                  </a:txBody>
                  <a:tcPr marL="110025" marR="110025" marT="55012" marB="55012" anchor="ctr">
                    <a:lnL>
                      <a:noFill/>
                    </a:lnL>
                    <a:lnR>
                      <a:noFill/>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nSpc>
                          <a:spcPct val="130000"/>
                        </a:lnSpc>
                        <a:spcBef>
                          <a:spcPts val="400"/>
                        </a:spcBef>
                        <a:spcAft>
                          <a:spcPts val="400"/>
                        </a:spcAft>
                      </a:pPr>
                      <a:r>
                        <a:rPr lang="en-US" sz="1300" spc="-20" dirty="0">
                          <a:effectLst/>
                          <a:latin typeface="Arial" panose="020B0604020202020204" pitchFamily="34" charset="0"/>
                          <a:ea typeface="Calibri" panose="020F0502020204030204" pitchFamily="34" charset="0"/>
                          <a:cs typeface="Arial" panose="020B0604020202020204" pitchFamily="34" charset="0"/>
                        </a:rPr>
                        <a:t> </a:t>
                      </a:r>
                      <a:endParaRPr lang="en-US" sz="1300" dirty="0">
                        <a:effectLst/>
                        <a:latin typeface="Arial" panose="020B0604020202020204" pitchFamily="34" charset="0"/>
                        <a:ea typeface="Calibri" panose="020F0502020204030204" pitchFamily="34" charset="0"/>
                        <a:cs typeface="Times New Roman" panose="02020603050405020304" pitchFamily="18" charset="0"/>
                      </a:endParaRPr>
                    </a:p>
                  </a:txBody>
                  <a:tcPr marL="110025" marR="110025" marT="55012" marB="55012">
                    <a:lnL>
                      <a:noFill/>
                    </a:lnL>
                    <a:lnR w="12700" cap="flat" cmpd="sng" algn="ctr">
                      <a:noFill/>
                      <a:prstDash val="solid"/>
                      <a:round/>
                      <a:headEnd type="none" w="med" len="med"/>
                      <a:tailEnd type="none" w="med" len="med"/>
                    </a:lnR>
                    <a:lnT>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209921002"/>
                  </a:ext>
                </a:extLst>
              </a:tr>
            </a:tbl>
          </a:graphicData>
        </a:graphic>
      </p:graphicFrame>
      <p:sp>
        <p:nvSpPr>
          <p:cNvPr id="5" name="Rectangle: Rounded Corners 9">
            <a:extLst>
              <a:ext uri="{FF2B5EF4-FFF2-40B4-BE49-F238E27FC236}">
                <a16:creationId xmlns:a16="http://schemas.microsoft.com/office/drawing/2014/main" id="{BECBD21E-1D30-4EBA-97C2-A5587F90C630}"/>
              </a:ext>
            </a:extLst>
          </p:cNvPr>
          <p:cNvSpPr/>
          <p:nvPr/>
        </p:nvSpPr>
        <p:spPr>
          <a:xfrm>
            <a:off x="8247246" y="1743441"/>
            <a:ext cx="3477491" cy="4457318"/>
          </a:xfrm>
          <a:prstGeom prst="roundRect">
            <a:avLst>
              <a:gd name="adj" fmla="val 2649"/>
            </a:avLst>
          </a:prstGeom>
          <a:solidFill>
            <a:schemeClr val="accent1">
              <a:lumMod val="20000"/>
              <a:lumOff val="80000"/>
            </a:schemeClr>
          </a:solidFill>
          <a:ln>
            <a:solidFill>
              <a:schemeClr val="accent1">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dirty="0" err="1">
                <a:solidFill>
                  <a:schemeClr val="accent1">
                    <a:lumMod val="75000"/>
                  </a:schemeClr>
                </a:solidFill>
                <a:latin typeface="Open Sans" panose="020B0306030504020204"/>
              </a:rPr>
              <a:t>Căn</a:t>
            </a:r>
            <a:r>
              <a:rPr lang="en-US" dirty="0">
                <a:solidFill>
                  <a:schemeClr val="accent1">
                    <a:lumMod val="75000"/>
                  </a:schemeClr>
                </a:solidFill>
                <a:latin typeface="Open Sans" panose="020B0306030504020204"/>
              </a:rPr>
              <a:t> </a:t>
            </a:r>
            <a:r>
              <a:rPr lang="en-US" dirty="0" err="1">
                <a:solidFill>
                  <a:schemeClr val="accent1">
                    <a:lumMod val="75000"/>
                  </a:schemeClr>
                </a:solidFill>
                <a:latin typeface="Open Sans" panose="020B0306030504020204"/>
              </a:rPr>
              <a:t>cứ</a:t>
            </a:r>
            <a:r>
              <a:rPr lang="en-US" dirty="0">
                <a:solidFill>
                  <a:schemeClr val="accent1">
                    <a:lumMod val="75000"/>
                  </a:schemeClr>
                </a:solidFill>
                <a:latin typeface="Open Sans" panose="020B0306030504020204"/>
              </a:rPr>
              <a:t> </a:t>
            </a:r>
            <a:r>
              <a:rPr lang="en-US" dirty="0" err="1">
                <a:solidFill>
                  <a:schemeClr val="accent1">
                    <a:lumMod val="75000"/>
                  </a:schemeClr>
                </a:solidFill>
                <a:latin typeface="Open Sans" panose="020B0306030504020204"/>
              </a:rPr>
              <a:t>trên</a:t>
            </a:r>
            <a:r>
              <a:rPr lang="en-US" dirty="0">
                <a:solidFill>
                  <a:schemeClr val="accent1">
                    <a:lumMod val="75000"/>
                  </a:schemeClr>
                </a:solidFill>
                <a:latin typeface="Open Sans" panose="020B0306030504020204"/>
              </a:rPr>
              <a:t> </a:t>
            </a:r>
            <a:r>
              <a:rPr lang="en-US" dirty="0" err="1">
                <a:solidFill>
                  <a:schemeClr val="accent1">
                    <a:lumMod val="75000"/>
                  </a:schemeClr>
                </a:solidFill>
                <a:latin typeface="Open Sans" panose="020B0306030504020204"/>
              </a:rPr>
              <a:t>tỷ</a:t>
            </a:r>
            <a:r>
              <a:rPr lang="en-US" dirty="0">
                <a:solidFill>
                  <a:schemeClr val="accent1">
                    <a:lumMod val="75000"/>
                  </a:schemeClr>
                </a:solidFill>
                <a:latin typeface="Open Sans" panose="020B0306030504020204"/>
              </a:rPr>
              <a:t> </a:t>
            </a:r>
            <a:r>
              <a:rPr lang="en-US" dirty="0" err="1">
                <a:solidFill>
                  <a:schemeClr val="accent1">
                    <a:lumMod val="75000"/>
                  </a:schemeClr>
                </a:solidFill>
                <a:latin typeface="Open Sans" panose="020B0306030504020204"/>
              </a:rPr>
              <a:t>lệ</a:t>
            </a:r>
            <a:r>
              <a:rPr lang="en-US" dirty="0">
                <a:solidFill>
                  <a:schemeClr val="accent1">
                    <a:lumMod val="75000"/>
                  </a:schemeClr>
                </a:solidFill>
                <a:latin typeface="Open Sans" panose="020B0306030504020204"/>
              </a:rPr>
              <a:t> Completeness hàng </a:t>
            </a:r>
            <a:r>
              <a:rPr lang="en-US" dirty="0" err="1">
                <a:solidFill>
                  <a:schemeClr val="accent1">
                    <a:lumMod val="75000"/>
                  </a:schemeClr>
                </a:solidFill>
                <a:latin typeface="Open Sans" panose="020B0306030504020204"/>
              </a:rPr>
              <a:t>tháng</a:t>
            </a:r>
            <a:r>
              <a:rPr lang="en-US" dirty="0">
                <a:solidFill>
                  <a:schemeClr val="accent1">
                    <a:lumMod val="75000"/>
                  </a:schemeClr>
                </a:solidFill>
                <a:latin typeface="Open Sans" panose="020B0306030504020204"/>
              </a:rPr>
              <a:t> </a:t>
            </a:r>
            <a:r>
              <a:rPr lang="en-US" dirty="0" err="1">
                <a:solidFill>
                  <a:schemeClr val="accent1">
                    <a:lumMod val="75000"/>
                  </a:schemeClr>
                </a:solidFill>
                <a:latin typeface="Open Sans" panose="020B0306030504020204"/>
              </a:rPr>
              <a:t>của</a:t>
            </a:r>
            <a:r>
              <a:rPr lang="en-US" dirty="0">
                <a:solidFill>
                  <a:schemeClr val="accent1">
                    <a:lumMod val="75000"/>
                  </a:schemeClr>
                </a:solidFill>
                <a:latin typeface="Open Sans" panose="020B0306030504020204"/>
              </a:rPr>
              <a:t> </a:t>
            </a:r>
            <a:r>
              <a:rPr lang="en-US" dirty="0" err="1">
                <a:solidFill>
                  <a:schemeClr val="accent1">
                    <a:lumMod val="75000"/>
                  </a:schemeClr>
                </a:solidFill>
                <a:latin typeface="Open Sans" panose="020B0306030504020204"/>
              </a:rPr>
              <a:t>dự</a:t>
            </a:r>
            <a:r>
              <a:rPr lang="en-US" dirty="0">
                <a:solidFill>
                  <a:schemeClr val="accent1">
                    <a:lumMod val="75000"/>
                  </a:schemeClr>
                </a:solidFill>
                <a:latin typeface="Open Sans" panose="020B0306030504020204"/>
              </a:rPr>
              <a:t> </a:t>
            </a:r>
            <a:r>
              <a:rPr lang="en-US" dirty="0" err="1">
                <a:solidFill>
                  <a:schemeClr val="accent1">
                    <a:lumMod val="75000"/>
                  </a:schemeClr>
                </a:solidFill>
                <a:latin typeface="Open Sans" panose="020B0306030504020204"/>
              </a:rPr>
              <a:t>án</a:t>
            </a:r>
            <a:r>
              <a:rPr lang="en-US" dirty="0">
                <a:solidFill>
                  <a:schemeClr val="accent1">
                    <a:lumMod val="75000"/>
                  </a:schemeClr>
                </a:solidFill>
                <a:latin typeface="Open Sans" panose="020B0306030504020204"/>
              </a:rPr>
              <a:t>, PQA </a:t>
            </a:r>
            <a:r>
              <a:rPr lang="en-US" dirty="0" err="1">
                <a:solidFill>
                  <a:schemeClr val="accent1">
                    <a:lumMod val="75000"/>
                  </a:schemeClr>
                </a:solidFill>
                <a:latin typeface="Open Sans" panose="020B0306030504020204"/>
              </a:rPr>
              <a:t>cung</a:t>
            </a:r>
            <a:r>
              <a:rPr lang="en-US" dirty="0">
                <a:solidFill>
                  <a:schemeClr val="accent1">
                    <a:lumMod val="75000"/>
                  </a:schemeClr>
                </a:solidFill>
                <a:latin typeface="Open Sans" panose="020B0306030504020204"/>
              </a:rPr>
              <a:t> </a:t>
            </a:r>
            <a:r>
              <a:rPr lang="en-US" dirty="0" err="1">
                <a:solidFill>
                  <a:schemeClr val="accent1">
                    <a:lumMod val="75000"/>
                  </a:schemeClr>
                </a:solidFill>
                <a:latin typeface="Open Sans" panose="020B0306030504020204"/>
              </a:rPr>
              <a:t>cấp</a:t>
            </a:r>
            <a:r>
              <a:rPr lang="en-US" dirty="0">
                <a:solidFill>
                  <a:schemeClr val="accent1">
                    <a:lumMod val="75000"/>
                  </a:schemeClr>
                </a:solidFill>
                <a:latin typeface="Open Sans" panose="020B0306030504020204"/>
              </a:rPr>
              <a:t>, GĐSX </a:t>
            </a:r>
            <a:r>
              <a:rPr lang="en-US" dirty="0" err="1">
                <a:solidFill>
                  <a:schemeClr val="accent1">
                    <a:lumMod val="75000"/>
                  </a:schemeClr>
                </a:solidFill>
                <a:latin typeface="Open Sans" panose="020B0306030504020204"/>
              </a:rPr>
              <a:t>FISx</a:t>
            </a:r>
            <a:r>
              <a:rPr lang="en-US" dirty="0">
                <a:solidFill>
                  <a:schemeClr val="accent1">
                    <a:lumMod val="75000"/>
                  </a:schemeClr>
                </a:solidFill>
                <a:latin typeface="Open Sans" panose="020B0306030504020204"/>
              </a:rPr>
              <a:t> </a:t>
            </a:r>
            <a:r>
              <a:rPr lang="en-US" dirty="0" err="1">
                <a:solidFill>
                  <a:schemeClr val="accent1">
                    <a:lumMod val="75000"/>
                  </a:schemeClr>
                </a:solidFill>
                <a:latin typeface="Open Sans" panose="020B0306030504020204"/>
              </a:rPr>
              <a:t>quyết</a:t>
            </a:r>
            <a:r>
              <a:rPr lang="en-US" dirty="0">
                <a:solidFill>
                  <a:schemeClr val="accent1">
                    <a:lumMod val="75000"/>
                  </a:schemeClr>
                </a:solidFill>
                <a:latin typeface="Open Sans" panose="020B0306030504020204"/>
              </a:rPr>
              <a:t> </a:t>
            </a:r>
            <a:r>
              <a:rPr lang="en-US" dirty="0" err="1">
                <a:solidFill>
                  <a:schemeClr val="accent1">
                    <a:lumMod val="75000"/>
                  </a:schemeClr>
                </a:solidFill>
                <a:latin typeface="Open Sans" panose="020B0306030504020204"/>
              </a:rPr>
              <a:t>định</a:t>
            </a:r>
            <a:endParaRPr lang="en-US" dirty="0">
              <a:solidFill>
                <a:schemeClr val="accent1">
                  <a:lumMod val="75000"/>
                </a:schemeClr>
              </a:solidFill>
              <a:latin typeface="Open Sans" panose="020B0306030504020204"/>
            </a:endParaRPr>
          </a:p>
        </p:txBody>
      </p:sp>
      <p:graphicFrame>
        <p:nvGraphicFramePr>
          <p:cNvPr id="6" name="Table 11">
            <a:extLst>
              <a:ext uri="{FF2B5EF4-FFF2-40B4-BE49-F238E27FC236}">
                <a16:creationId xmlns:a16="http://schemas.microsoft.com/office/drawing/2014/main" id="{616C5E33-94FC-4989-8745-C5A2D3B111FA}"/>
              </a:ext>
            </a:extLst>
          </p:cNvPr>
          <p:cNvGraphicFramePr>
            <a:graphicFrameLocks noGrp="1"/>
          </p:cNvGraphicFramePr>
          <p:nvPr>
            <p:extLst>
              <p:ext uri="{D42A27DB-BD31-4B8C-83A1-F6EECF244321}">
                <p14:modId xmlns:p14="http://schemas.microsoft.com/office/powerpoint/2010/main" val="1854058379"/>
              </p:ext>
            </p:extLst>
          </p:nvPr>
        </p:nvGraphicFramePr>
        <p:xfrm>
          <a:off x="8468918" y="2752652"/>
          <a:ext cx="3024909" cy="1737360"/>
        </p:xfrm>
        <a:graphic>
          <a:graphicData uri="http://schemas.openxmlformats.org/drawingml/2006/table">
            <a:tbl>
              <a:tblPr firstRow="1" bandRow="1">
                <a:tableStyleId>{1FECB4D8-DB02-4DC6-A0A2-4F2EBAE1DC90}</a:tableStyleId>
              </a:tblPr>
              <a:tblGrid>
                <a:gridCol w="1625600">
                  <a:extLst>
                    <a:ext uri="{9D8B030D-6E8A-4147-A177-3AD203B41FA5}">
                      <a16:colId xmlns:a16="http://schemas.microsoft.com/office/drawing/2014/main" val="1345157911"/>
                    </a:ext>
                  </a:extLst>
                </a:gridCol>
                <a:gridCol w="1399309">
                  <a:extLst>
                    <a:ext uri="{9D8B030D-6E8A-4147-A177-3AD203B41FA5}">
                      <a16:colId xmlns:a16="http://schemas.microsoft.com/office/drawing/2014/main" val="375680844"/>
                    </a:ext>
                  </a:extLst>
                </a:gridCol>
              </a:tblGrid>
              <a:tr h="361751">
                <a:tc>
                  <a:txBody>
                    <a:bodyPr/>
                    <a:lstStyle/>
                    <a:p>
                      <a:pPr algn="ctr"/>
                      <a:r>
                        <a:rPr lang="en-US" sz="1400" dirty="0" err="1">
                          <a:solidFill>
                            <a:schemeClr val="accent1">
                              <a:lumMod val="75000"/>
                            </a:schemeClr>
                          </a:solidFill>
                          <a:latin typeface="Open Sans" panose="020B0306030504020204"/>
                        </a:rPr>
                        <a:t>Tỷ</a:t>
                      </a:r>
                      <a:r>
                        <a:rPr lang="en-US" sz="1400" dirty="0">
                          <a:solidFill>
                            <a:schemeClr val="accent1">
                              <a:lumMod val="75000"/>
                            </a:schemeClr>
                          </a:solidFill>
                          <a:latin typeface="Open Sans" panose="020B0306030504020204"/>
                        </a:rPr>
                        <a:t> </a:t>
                      </a:r>
                      <a:r>
                        <a:rPr lang="en-US" sz="1400" dirty="0" err="1">
                          <a:solidFill>
                            <a:schemeClr val="accent1">
                              <a:lumMod val="75000"/>
                            </a:schemeClr>
                          </a:solidFill>
                          <a:latin typeface="Open Sans" panose="020B0306030504020204"/>
                        </a:rPr>
                        <a:t>lệ</a:t>
                      </a:r>
                      <a:r>
                        <a:rPr lang="en-US" sz="1400" dirty="0">
                          <a:solidFill>
                            <a:schemeClr val="accent1">
                              <a:lumMod val="75000"/>
                            </a:schemeClr>
                          </a:solidFill>
                          <a:latin typeface="Open Sans" panose="020B0306030504020204"/>
                        </a:rPr>
                        <a:t> completeness</a:t>
                      </a:r>
                    </a:p>
                  </a:txBody>
                  <a:tcPr>
                    <a:solidFill>
                      <a:schemeClr val="bg1">
                        <a:lumMod val="85000"/>
                      </a:schemeClr>
                    </a:solidFill>
                  </a:tcPr>
                </a:tc>
                <a:tc>
                  <a:txBody>
                    <a:bodyPr/>
                    <a:lstStyle/>
                    <a:p>
                      <a:pPr algn="ctr"/>
                      <a:r>
                        <a:rPr lang="en-US" sz="1400" dirty="0" err="1">
                          <a:solidFill>
                            <a:schemeClr val="accent1">
                              <a:lumMod val="75000"/>
                            </a:schemeClr>
                          </a:solidFill>
                          <a:latin typeface="Open Sans" panose="020B0306030504020204"/>
                        </a:rPr>
                        <a:t>Dải</a:t>
                      </a:r>
                      <a:r>
                        <a:rPr lang="en-US" sz="1400" dirty="0">
                          <a:solidFill>
                            <a:schemeClr val="accent1">
                              <a:lumMod val="75000"/>
                            </a:schemeClr>
                          </a:solidFill>
                          <a:latin typeface="Open Sans" panose="020B0306030504020204"/>
                        </a:rPr>
                        <a:t> </a:t>
                      </a:r>
                      <a:r>
                        <a:rPr lang="en-US" sz="1400" dirty="0" err="1">
                          <a:solidFill>
                            <a:schemeClr val="accent1">
                              <a:lumMod val="75000"/>
                            </a:schemeClr>
                          </a:solidFill>
                          <a:latin typeface="Open Sans" panose="020B0306030504020204"/>
                        </a:rPr>
                        <a:t>điểm</a:t>
                      </a:r>
                      <a:r>
                        <a:rPr lang="en-US" sz="1400" dirty="0">
                          <a:solidFill>
                            <a:schemeClr val="accent1">
                              <a:lumMod val="75000"/>
                            </a:schemeClr>
                          </a:solidFill>
                          <a:latin typeface="Open Sans" panose="020B0306030504020204"/>
                        </a:rPr>
                        <a:t> </a:t>
                      </a:r>
                      <a:r>
                        <a:rPr lang="en-US" sz="1400" dirty="0" err="1">
                          <a:solidFill>
                            <a:schemeClr val="accent1">
                              <a:lumMod val="75000"/>
                            </a:schemeClr>
                          </a:solidFill>
                          <a:latin typeface="Open Sans" panose="020B0306030504020204"/>
                        </a:rPr>
                        <a:t>khuyến</a:t>
                      </a:r>
                      <a:r>
                        <a:rPr lang="en-US" sz="1400" dirty="0">
                          <a:solidFill>
                            <a:schemeClr val="accent1">
                              <a:lumMod val="75000"/>
                            </a:schemeClr>
                          </a:solidFill>
                          <a:latin typeface="Open Sans" panose="020B0306030504020204"/>
                        </a:rPr>
                        <a:t> </a:t>
                      </a:r>
                      <a:r>
                        <a:rPr lang="en-US" sz="1400" dirty="0" err="1">
                          <a:solidFill>
                            <a:schemeClr val="accent1">
                              <a:lumMod val="75000"/>
                            </a:schemeClr>
                          </a:solidFill>
                          <a:latin typeface="Open Sans" panose="020B0306030504020204"/>
                        </a:rPr>
                        <a:t>nghị</a:t>
                      </a:r>
                      <a:endParaRPr lang="en-US" sz="1400" dirty="0">
                        <a:solidFill>
                          <a:schemeClr val="accent1">
                            <a:lumMod val="75000"/>
                          </a:schemeClr>
                        </a:solidFill>
                        <a:latin typeface="Open Sans" panose="020B0306030504020204"/>
                      </a:endParaRPr>
                    </a:p>
                  </a:txBody>
                  <a:tcPr>
                    <a:solidFill>
                      <a:schemeClr val="bg1">
                        <a:lumMod val="85000"/>
                      </a:schemeClr>
                    </a:solidFill>
                  </a:tcPr>
                </a:tc>
                <a:extLst>
                  <a:ext uri="{0D108BD9-81ED-4DB2-BD59-A6C34878D82A}">
                    <a16:rowId xmlns:a16="http://schemas.microsoft.com/office/drawing/2014/main" val="377617336"/>
                  </a:ext>
                </a:extLst>
              </a:tr>
              <a:tr h="209586">
                <a:tc>
                  <a:txBody>
                    <a:bodyPr/>
                    <a:lstStyle/>
                    <a:p>
                      <a:pPr algn="ctr"/>
                      <a:r>
                        <a:rPr lang="en-US" sz="1400" dirty="0">
                          <a:latin typeface="Open Sans" panose="020B0306030504020204"/>
                        </a:rPr>
                        <a:t>&gt;100%</a:t>
                      </a:r>
                    </a:p>
                  </a:txBody>
                  <a:tcPr/>
                </a:tc>
                <a:tc>
                  <a:txBody>
                    <a:bodyPr/>
                    <a:lstStyle/>
                    <a:p>
                      <a:pPr algn="ctr"/>
                      <a:r>
                        <a:rPr lang="en-US" sz="1400" dirty="0">
                          <a:latin typeface="Open Sans" panose="020B0306030504020204"/>
                        </a:rPr>
                        <a:t>1 – 1.2</a:t>
                      </a:r>
                    </a:p>
                  </a:txBody>
                  <a:tcPr/>
                </a:tc>
                <a:extLst>
                  <a:ext uri="{0D108BD9-81ED-4DB2-BD59-A6C34878D82A}">
                    <a16:rowId xmlns:a16="http://schemas.microsoft.com/office/drawing/2014/main" val="2726031816"/>
                  </a:ext>
                </a:extLst>
              </a:tr>
              <a:tr h="209586">
                <a:tc>
                  <a:txBody>
                    <a:bodyPr/>
                    <a:lstStyle/>
                    <a:p>
                      <a:pPr algn="ctr"/>
                      <a:r>
                        <a:rPr lang="en-US" sz="1400" dirty="0">
                          <a:latin typeface="Open Sans" panose="020B0306030504020204"/>
                        </a:rPr>
                        <a:t>80% - 100%</a:t>
                      </a:r>
                    </a:p>
                  </a:txBody>
                  <a:tcPr/>
                </a:tc>
                <a:tc>
                  <a:txBody>
                    <a:bodyPr/>
                    <a:lstStyle/>
                    <a:p>
                      <a:pPr algn="ctr"/>
                      <a:r>
                        <a:rPr lang="en-US" sz="1400" dirty="0">
                          <a:latin typeface="Open Sans" panose="020B0306030504020204"/>
                        </a:rPr>
                        <a:t>0.8 – 1</a:t>
                      </a:r>
                    </a:p>
                  </a:txBody>
                  <a:tcPr/>
                </a:tc>
                <a:extLst>
                  <a:ext uri="{0D108BD9-81ED-4DB2-BD59-A6C34878D82A}">
                    <a16:rowId xmlns:a16="http://schemas.microsoft.com/office/drawing/2014/main" val="1666729479"/>
                  </a:ext>
                </a:extLst>
              </a:tr>
              <a:tr h="209586">
                <a:tc>
                  <a:txBody>
                    <a:bodyPr/>
                    <a:lstStyle/>
                    <a:p>
                      <a:pPr algn="ctr"/>
                      <a:r>
                        <a:rPr lang="en-US" sz="1400" dirty="0">
                          <a:latin typeface="Open Sans" panose="020B0306030504020204"/>
                        </a:rPr>
                        <a:t>60% - 80%</a:t>
                      </a:r>
                    </a:p>
                  </a:txBody>
                  <a:tcPr/>
                </a:tc>
                <a:tc>
                  <a:txBody>
                    <a:bodyPr/>
                    <a:lstStyle/>
                    <a:p>
                      <a:pPr algn="ctr"/>
                      <a:r>
                        <a:rPr lang="en-US" sz="1400" dirty="0">
                          <a:latin typeface="Open Sans" panose="020B0306030504020204"/>
                        </a:rPr>
                        <a:t>0.8</a:t>
                      </a:r>
                    </a:p>
                  </a:txBody>
                  <a:tcPr/>
                </a:tc>
                <a:extLst>
                  <a:ext uri="{0D108BD9-81ED-4DB2-BD59-A6C34878D82A}">
                    <a16:rowId xmlns:a16="http://schemas.microsoft.com/office/drawing/2014/main" val="2899799653"/>
                  </a:ext>
                </a:extLst>
              </a:tr>
              <a:tr h="209586">
                <a:tc>
                  <a:txBody>
                    <a:bodyPr/>
                    <a:lstStyle/>
                    <a:p>
                      <a:pPr algn="ctr"/>
                      <a:r>
                        <a:rPr lang="en-US" sz="1400" dirty="0">
                          <a:latin typeface="Open Sans" panose="020B0306030504020204"/>
                        </a:rPr>
                        <a:t>&lt;60%</a:t>
                      </a:r>
                    </a:p>
                  </a:txBody>
                  <a:tcPr/>
                </a:tc>
                <a:tc>
                  <a:txBody>
                    <a:bodyPr/>
                    <a:lstStyle/>
                    <a:p>
                      <a:pPr algn="ctr"/>
                      <a:r>
                        <a:rPr lang="en-US" sz="1400" dirty="0">
                          <a:latin typeface="Open Sans" panose="020B0306030504020204"/>
                        </a:rPr>
                        <a:t>0</a:t>
                      </a:r>
                    </a:p>
                  </a:txBody>
                  <a:tcPr/>
                </a:tc>
                <a:extLst>
                  <a:ext uri="{0D108BD9-81ED-4DB2-BD59-A6C34878D82A}">
                    <a16:rowId xmlns:a16="http://schemas.microsoft.com/office/drawing/2014/main" val="36376267"/>
                  </a:ext>
                </a:extLst>
              </a:tr>
            </a:tbl>
          </a:graphicData>
        </a:graphic>
      </p:graphicFrame>
      <p:sp>
        <p:nvSpPr>
          <p:cNvPr id="7" name="TextBox 6">
            <a:extLst>
              <a:ext uri="{FF2B5EF4-FFF2-40B4-BE49-F238E27FC236}">
                <a16:creationId xmlns:a16="http://schemas.microsoft.com/office/drawing/2014/main" id="{56D3382B-14D8-457F-BED0-058518C26DB4}"/>
              </a:ext>
            </a:extLst>
          </p:cNvPr>
          <p:cNvSpPr txBox="1"/>
          <p:nvPr/>
        </p:nvSpPr>
        <p:spPr>
          <a:xfrm>
            <a:off x="8299204" y="4999488"/>
            <a:ext cx="1260764" cy="461665"/>
          </a:xfrm>
          <a:prstGeom prst="rect">
            <a:avLst/>
          </a:prstGeom>
          <a:noFill/>
        </p:spPr>
        <p:txBody>
          <a:bodyPr wrap="square">
            <a:spAutoFit/>
          </a:bodyPr>
          <a:lstStyle/>
          <a:p>
            <a:pPr algn="ctr"/>
            <a:r>
              <a:rPr lang="en-US" sz="1200" dirty="0" err="1">
                <a:solidFill>
                  <a:schemeClr val="accent1">
                    <a:lumMod val="75000"/>
                  </a:schemeClr>
                </a:solidFill>
                <a:latin typeface="Open Sans" panose="020B0306030504020204"/>
              </a:rPr>
              <a:t>Tỷ</a:t>
            </a:r>
            <a:r>
              <a:rPr lang="en-US" sz="1200" dirty="0">
                <a:solidFill>
                  <a:schemeClr val="accent1">
                    <a:lumMod val="75000"/>
                  </a:schemeClr>
                </a:solidFill>
                <a:latin typeface="Open Sans" panose="020B0306030504020204"/>
              </a:rPr>
              <a:t> </a:t>
            </a:r>
            <a:r>
              <a:rPr lang="en-US" sz="1200" dirty="0" err="1">
                <a:solidFill>
                  <a:schemeClr val="accent1">
                    <a:lumMod val="75000"/>
                  </a:schemeClr>
                </a:solidFill>
                <a:latin typeface="Open Sans" panose="020B0306030504020204"/>
              </a:rPr>
              <a:t>lệ</a:t>
            </a:r>
            <a:r>
              <a:rPr lang="en-US" sz="1200" dirty="0">
                <a:solidFill>
                  <a:schemeClr val="accent1">
                    <a:lumMod val="75000"/>
                  </a:schemeClr>
                </a:solidFill>
                <a:latin typeface="Open Sans" panose="020B0306030504020204"/>
              </a:rPr>
              <a:t> </a:t>
            </a:r>
          </a:p>
          <a:p>
            <a:pPr algn="ctr"/>
            <a:r>
              <a:rPr lang="en-US" sz="1200" dirty="0">
                <a:solidFill>
                  <a:schemeClr val="accent1">
                    <a:lumMod val="75000"/>
                  </a:schemeClr>
                </a:solidFill>
                <a:latin typeface="Open Sans" panose="020B0306030504020204"/>
              </a:rPr>
              <a:t>Completeness </a:t>
            </a:r>
            <a:endParaRPr lang="en-US" sz="1200" dirty="0"/>
          </a:p>
        </p:txBody>
      </p:sp>
      <p:sp>
        <p:nvSpPr>
          <p:cNvPr id="8" name="TextBox 7">
            <a:extLst>
              <a:ext uri="{FF2B5EF4-FFF2-40B4-BE49-F238E27FC236}">
                <a16:creationId xmlns:a16="http://schemas.microsoft.com/office/drawing/2014/main" id="{757FA18A-6BD6-46FB-99C0-A5D921FAF565}"/>
              </a:ext>
            </a:extLst>
          </p:cNvPr>
          <p:cNvSpPr txBox="1"/>
          <p:nvPr/>
        </p:nvSpPr>
        <p:spPr>
          <a:xfrm>
            <a:off x="8929586" y="5091820"/>
            <a:ext cx="1260764" cy="276999"/>
          </a:xfrm>
          <a:prstGeom prst="rect">
            <a:avLst/>
          </a:prstGeom>
          <a:noFill/>
        </p:spPr>
        <p:txBody>
          <a:bodyPr wrap="square">
            <a:spAutoFit/>
          </a:bodyPr>
          <a:lstStyle/>
          <a:p>
            <a:pPr algn="ctr"/>
            <a:r>
              <a:rPr lang="en-US" sz="1200" dirty="0">
                <a:solidFill>
                  <a:schemeClr val="accent1">
                    <a:lumMod val="75000"/>
                  </a:schemeClr>
                </a:solidFill>
                <a:latin typeface="Open Sans" panose="020B0306030504020204"/>
              </a:rPr>
              <a:t>=</a:t>
            </a:r>
            <a:endParaRPr lang="en-US" sz="1200" dirty="0"/>
          </a:p>
        </p:txBody>
      </p:sp>
      <p:sp>
        <p:nvSpPr>
          <p:cNvPr id="9" name="TextBox 8">
            <a:extLst>
              <a:ext uri="{FF2B5EF4-FFF2-40B4-BE49-F238E27FC236}">
                <a16:creationId xmlns:a16="http://schemas.microsoft.com/office/drawing/2014/main" id="{31FC0335-2470-46D7-A9D9-27134A533075}"/>
              </a:ext>
            </a:extLst>
          </p:cNvPr>
          <p:cNvSpPr txBox="1"/>
          <p:nvPr/>
        </p:nvSpPr>
        <p:spPr>
          <a:xfrm>
            <a:off x="9205523" y="4962575"/>
            <a:ext cx="2688936" cy="276999"/>
          </a:xfrm>
          <a:prstGeom prst="rect">
            <a:avLst/>
          </a:prstGeom>
          <a:noFill/>
        </p:spPr>
        <p:txBody>
          <a:bodyPr wrap="square">
            <a:spAutoFit/>
          </a:bodyPr>
          <a:lstStyle/>
          <a:p>
            <a:pPr algn="ctr"/>
            <a:r>
              <a:rPr lang="en-US" sz="1200" dirty="0">
                <a:solidFill>
                  <a:schemeClr val="accent1">
                    <a:lumMod val="75000"/>
                  </a:schemeClr>
                </a:solidFill>
                <a:latin typeface="Open Sans" panose="020B0306030504020204"/>
              </a:rPr>
              <a:t>% </a:t>
            </a:r>
            <a:r>
              <a:rPr lang="en-US" sz="1200" dirty="0" err="1">
                <a:solidFill>
                  <a:schemeClr val="accent1">
                    <a:lumMod val="75000"/>
                  </a:schemeClr>
                </a:solidFill>
                <a:latin typeface="Open Sans" panose="020B0306030504020204"/>
              </a:rPr>
              <a:t>Hoàn</a:t>
            </a:r>
            <a:r>
              <a:rPr lang="en-US" sz="1200" dirty="0">
                <a:solidFill>
                  <a:schemeClr val="accent1">
                    <a:lumMod val="75000"/>
                  </a:schemeClr>
                </a:solidFill>
                <a:latin typeface="Open Sans" panose="020B0306030504020204"/>
              </a:rPr>
              <a:t> </a:t>
            </a:r>
            <a:r>
              <a:rPr lang="en-US" sz="1200" dirty="0" err="1">
                <a:solidFill>
                  <a:schemeClr val="accent1">
                    <a:lumMod val="75000"/>
                  </a:schemeClr>
                </a:solidFill>
                <a:latin typeface="Open Sans" panose="020B0306030504020204"/>
              </a:rPr>
              <a:t>thành</a:t>
            </a:r>
            <a:r>
              <a:rPr lang="en-US" sz="1200" dirty="0">
                <a:solidFill>
                  <a:schemeClr val="accent1">
                    <a:lumMod val="75000"/>
                  </a:schemeClr>
                </a:solidFill>
                <a:latin typeface="Open Sans" panose="020B0306030504020204"/>
              </a:rPr>
              <a:t> </a:t>
            </a:r>
            <a:r>
              <a:rPr lang="en-US" sz="1200" dirty="0" err="1">
                <a:solidFill>
                  <a:schemeClr val="accent1">
                    <a:lumMod val="75000"/>
                  </a:schemeClr>
                </a:solidFill>
                <a:latin typeface="Open Sans" panose="020B0306030504020204"/>
              </a:rPr>
              <a:t>sản</a:t>
            </a:r>
            <a:r>
              <a:rPr lang="en-US" sz="1200" dirty="0">
                <a:solidFill>
                  <a:schemeClr val="accent1">
                    <a:lumMod val="75000"/>
                  </a:schemeClr>
                </a:solidFill>
                <a:latin typeface="Open Sans" panose="020B0306030504020204"/>
              </a:rPr>
              <a:t> </a:t>
            </a:r>
            <a:r>
              <a:rPr lang="en-US" sz="1200" dirty="0" err="1">
                <a:solidFill>
                  <a:schemeClr val="accent1">
                    <a:lumMod val="75000"/>
                  </a:schemeClr>
                </a:solidFill>
                <a:latin typeface="Open Sans" panose="020B0306030504020204"/>
              </a:rPr>
              <a:t>phẩm</a:t>
            </a:r>
            <a:endParaRPr lang="en-US" sz="1200" dirty="0"/>
          </a:p>
        </p:txBody>
      </p:sp>
      <p:sp>
        <p:nvSpPr>
          <p:cNvPr id="10" name="TextBox 9">
            <a:extLst>
              <a:ext uri="{FF2B5EF4-FFF2-40B4-BE49-F238E27FC236}">
                <a16:creationId xmlns:a16="http://schemas.microsoft.com/office/drawing/2014/main" id="{6EA179BE-335D-4EC1-958E-1CF7B17AE0BD}"/>
              </a:ext>
            </a:extLst>
          </p:cNvPr>
          <p:cNvSpPr txBox="1"/>
          <p:nvPr/>
        </p:nvSpPr>
        <p:spPr>
          <a:xfrm>
            <a:off x="9177813" y="5234920"/>
            <a:ext cx="2688936" cy="276999"/>
          </a:xfrm>
          <a:prstGeom prst="rect">
            <a:avLst/>
          </a:prstGeom>
          <a:noFill/>
        </p:spPr>
        <p:txBody>
          <a:bodyPr wrap="square">
            <a:spAutoFit/>
          </a:bodyPr>
          <a:lstStyle/>
          <a:p>
            <a:pPr algn="ctr"/>
            <a:r>
              <a:rPr lang="en-US" sz="1200" dirty="0">
                <a:solidFill>
                  <a:schemeClr val="accent1">
                    <a:lumMod val="75000"/>
                  </a:schemeClr>
                </a:solidFill>
                <a:latin typeface="Open Sans" panose="020B0306030504020204"/>
              </a:rPr>
              <a:t>% Timeline </a:t>
            </a:r>
            <a:r>
              <a:rPr lang="en-US" sz="1200" dirty="0" err="1">
                <a:solidFill>
                  <a:schemeClr val="accent1">
                    <a:lumMod val="75000"/>
                  </a:schemeClr>
                </a:solidFill>
                <a:latin typeface="Open Sans" panose="020B0306030504020204"/>
              </a:rPr>
              <a:t>dự</a:t>
            </a:r>
            <a:r>
              <a:rPr lang="en-US" sz="1200" dirty="0">
                <a:solidFill>
                  <a:schemeClr val="accent1">
                    <a:lumMod val="75000"/>
                  </a:schemeClr>
                </a:solidFill>
                <a:latin typeface="Open Sans" panose="020B0306030504020204"/>
              </a:rPr>
              <a:t> </a:t>
            </a:r>
            <a:r>
              <a:rPr lang="en-US" sz="1200" dirty="0" err="1">
                <a:solidFill>
                  <a:schemeClr val="accent1">
                    <a:lumMod val="75000"/>
                  </a:schemeClr>
                </a:solidFill>
                <a:latin typeface="Open Sans" panose="020B0306030504020204"/>
              </a:rPr>
              <a:t>án</a:t>
            </a:r>
            <a:endParaRPr lang="en-US" sz="1200" dirty="0"/>
          </a:p>
        </p:txBody>
      </p:sp>
      <p:cxnSp>
        <p:nvCxnSpPr>
          <p:cNvPr id="11" name="Straight Connector 10">
            <a:extLst>
              <a:ext uri="{FF2B5EF4-FFF2-40B4-BE49-F238E27FC236}">
                <a16:creationId xmlns:a16="http://schemas.microsoft.com/office/drawing/2014/main" id="{A70D4B18-C0F3-45E6-B7EE-14B72791D895}"/>
              </a:ext>
            </a:extLst>
          </p:cNvPr>
          <p:cNvCxnSpPr/>
          <p:nvPr/>
        </p:nvCxnSpPr>
        <p:spPr>
          <a:xfrm flipH="1">
            <a:off x="9753935" y="5230319"/>
            <a:ext cx="1645920" cy="0"/>
          </a:xfrm>
          <a:prstGeom prst="line">
            <a:avLst/>
          </a:prstGeom>
        </p:spPr>
        <p:style>
          <a:lnRef idx="1">
            <a:schemeClr val="accent1"/>
          </a:lnRef>
          <a:fillRef idx="0">
            <a:schemeClr val="accent1"/>
          </a:fillRef>
          <a:effectRef idx="0">
            <a:schemeClr val="accent1"/>
          </a:effectRef>
          <a:fontRef idx="minor">
            <a:schemeClr val="tx1"/>
          </a:fontRef>
        </p:style>
      </p:cxnSp>
      <p:sp>
        <p:nvSpPr>
          <p:cNvPr id="12" name="Rectangle 11"/>
          <p:cNvSpPr/>
          <p:nvPr/>
        </p:nvSpPr>
        <p:spPr>
          <a:xfrm>
            <a:off x="1333896" y="327184"/>
            <a:ext cx="9823541" cy="523220"/>
          </a:xfrm>
          <a:prstGeom prst="rect">
            <a:avLst/>
          </a:prstGeom>
        </p:spPr>
        <p:txBody>
          <a:bodyPr wrap="square">
            <a:spAutoFit/>
          </a:bodyPr>
          <a:lstStyle/>
          <a:p>
            <a:r>
              <a:rPr lang="vi-VN" sz="2800" b="1" dirty="0">
                <a:solidFill>
                  <a:schemeClr val="bg1"/>
                </a:solidFill>
                <a:latin typeface="Verdana" panose="020B0604030504040204" pitchFamily="34" charset="0"/>
                <a:ea typeface="Verdana" panose="020B0604030504040204" pitchFamily="34" charset="0"/>
              </a:rPr>
              <a:t>3. Cơ sở và xây dựng hệ thống</a:t>
            </a:r>
            <a:endParaRPr lang="en-US" sz="2800" b="1" dirty="0">
              <a:solidFill>
                <a:schemeClr val="bg1"/>
              </a:solidFill>
              <a:latin typeface="Verdana" panose="020B0604030504040204" pitchFamily="34" charset="0"/>
              <a:ea typeface="Verdana" panose="020B0604030504040204" pitchFamily="34" charset="0"/>
            </a:endParaRPr>
          </a:p>
        </p:txBody>
      </p:sp>
      <p:sp>
        <p:nvSpPr>
          <p:cNvPr id="13" name="Arrow: Right 7">
            <a:extLst>
              <a:ext uri="{FF2B5EF4-FFF2-40B4-BE49-F238E27FC236}">
                <a16:creationId xmlns:a16="http://schemas.microsoft.com/office/drawing/2014/main" id="{5F6423B5-7CEF-441C-A2C5-8925689F3D46}"/>
              </a:ext>
            </a:extLst>
          </p:cNvPr>
          <p:cNvSpPr/>
          <p:nvPr/>
        </p:nvSpPr>
        <p:spPr>
          <a:xfrm>
            <a:off x="7769412" y="2367735"/>
            <a:ext cx="402657" cy="38491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8BD6484F-BEAB-443C-885D-F359A0E2C59C}"/>
              </a:ext>
            </a:extLst>
          </p:cNvPr>
          <p:cNvSpPr txBox="1"/>
          <p:nvPr/>
        </p:nvSpPr>
        <p:spPr>
          <a:xfrm>
            <a:off x="8374680" y="6401285"/>
            <a:ext cx="3350057" cy="338554"/>
          </a:xfrm>
          <a:prstGeom prst="rect">
            <a:avLst/>
          </a:prstGeom>
          <a:noFill/>
        </p:spPr>
        <p:txBody>
          <a:bodyPr wrap="square">
            <a:spAutoFit/>
          </a:bodyPr>
          <a:lstStyle/>
          <a:p>
            <a:r>
              <a:rPr lang="en-US" sz="1600" i="1" dirty="0">
                <a:solidFill>
                  <a:schemeClr val="accent1">
                    <a:lumMod val="50000"/>
                  </a:schemeClr>
                </a:solidFill>
                <a:latin typeface="Lato Regular"/>
              </a:rPr>
              <a:t>(</a:t>
            </a:r>
            <a:r>
              <a:rPr lang="en-US" sz="1600" i="1" dirty="0" err="1">
                <a:solidFill>
                  <a:schemeClr val="accent1">
                    <a:lumMod val="50000"/>
                  </a:schemeClr>
                </a:solidFill>
                <a:latin typeface="Lato Regular"/>
              </a:rPr>
              <a:t>Nguồn</a:t>
            </a:r>
            <a:r>
              <a:rPr lang="en-US" sz="1600" i="1" dirty="0">
                <a:solidFill>
                  <a:schemeClr val="accent1">
                    <a:lumMod val="50000"/>
                  </a:schemeClr>
                </a:solidFill>
                <a:latin typeface="Lato Regular"/>
              </a:rPr>
              <a:t>: Ban </a:t>
            </a:r>
            <a:r>
              <a:rPr lang="en-US" sz="1600" i="1" dirty="0" err="1">
                <a:solidFill>
                  <a:schemeClr val="accent1">
                    <a:lumMod val="50000"/>
                  </a:schemeClr>
                </a:solidFill>
                <a:latin typeface="Lato Regular"/>
              </a:rPr>
              <a:t>quản</a:t>
            </a:r>
            <a:r>
              <a:rPr lang="en-US" sz="1600" i="1" dirty="0">
                <a:solidFill>
                  <a:schemeClr val="accent1">
                    <a:lumMod val="50000"/>
                  </a:schemeClr>
                </a:solidFill>
                <a:latin typeface="Lato Regular"/>
              </a:rPr>
              <a:t> </a:t>
            </a:r>
            <a:r>
              <a:rPr lang="en-US" sz="1600" i="1" dirty="0" err="1">
                <a:solidFill>
                  <a:schemeClr val="accent1">
                    <a:lumMod val="50000"/>
                  </a:schemeClr>
                </a:solidFill>
                <a:latin typeface="Lato Regular"/>
              </a:rPr>
              <a:t>lý</a:t>
            </a:r>
            <a:r>
              <a:rPr lang="en-US" sz="1600" i="1" dirty="0">
                <a:solidFill>
                  <a:schemeClr val="accent1">
                    <a:lumMod val="50000"/>
                  </a:schemeClr>
                </a:solidFill>
                <a:latin typeface="Lato Regular"/>
              </a:rPr>
              <a:t> </a:t>
            </a:r>
            <a:r>
              <a:rPr lang="en-US" sz="1600" i="1" dirty="0" err="1">
                <a:solidFill>
                  <a:schemeClr val="accent1">
                    <a:lumMod val="50000"/>
                  </a:schemeClr>
                </a:solidFill>
                <a:latin typeface="Lato Regular"/>
              </a:rPr>
              <a:t>sản</a:t>
            </a:r>
            <a:r>
              <a:rPr lang="en-US" sz="1600" i="1" dirty="0">
                <a:solidFill>
                  <a:schemeClr val="accent1">
                    <a:lumMod val="50000"/>
                  </a:schemeClr>
                </a:solidFill>
                <a:latin typeface="Lato Regular"/>
              </a:rPr>
              <a:t> </a:t>
            </a:r>
            <a:r>
              <a:rPr lang="en-US" sz="1600" i="1" dirty="0" err="1">
                <a:solidFill>
                  <a:schemeClr val="accent1">
                    <a:lumMod val="50000"/>
                  </a:schemeClr>
                </a:solidFill>
                <a:latin typeface="Lato Regular"/>
              </a:rPr>
              <a:t>xuất</a:t>
            </a:r>
            <a:r>
              <a:rPr lang="en-US" sz="1600" i="1" dirty="0">
                <a:solidFill>
                  <a:schemeClr val="accent1">
                    <a:lumMod val="50000"/>
                  </a:schemeClr>
                </a:solidFill>
                <a:latin typeface="Lato Regular"/>
              </a:rPr>
              <a:t> FIS)</a:t>
            </a:r>
            <a:r>
              <a:rPr lang="vi-VN" sz="1600" i="1" kern="1200" dirty="0">
                <a:solidFill>
                  <a:schemeClr val="accent1">
                    <a:lumMod val="50000"/>
                  </a:schemeClr>
                </a:solidFill>
                <a:latin typeface="Lato Regular"/>
                <a:ea typeface="+mn-ea"/>
                <a:cs typeface="+mn-cs"/>
              </a:rPr>
              <a:t> </a:t>
            </a:r>
            <a:endParaRPr lang="en-US" sz="1600" i="1" dirty="0"/>
          </a:p>
        </p:txBody>
      </p:sp>
    </p:spTree>
    <p:extLst>
      <p:ext uri="{BB962C8B-B14F-4D97-AF65-F5344CB8AC3E}">
        <p14:creationId xmlns:p14="http://schemas.microsoft.com/office/powerpoint/2010/main" val="231448896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 name="Rectangle 47"/>
          <p:cNvSpPr/>
          <p:nvPr/>
        </p:nvSpPr>
        <p:spPr>
          <a:xfrm>
            <a:off x="1333896" y="327184"/>
            <a:ext cx="9823541" cy="461665"/>
          </a:xfrm>
          <a:prstGeom prst="rect">
            <a:avLst/>
          </a:prstGeom>
        </p:spPr>
        <p:txBody>
          <a:bodyPr wrap="square">
            <a:spAutoFit/>
          </a:bodyPr>
          <a:lstStyle/>
          <a:p>
            <a:r>
              <a:rPr lang="vi-VN" sz="2400" b="1" dirty="0">
                <a:solidFill>
                  <a:schemeClr val="bg1"/>
                </a:solidFill>
                <a:latin typeface="Verdana" panose="020B0604030504040204" pitchFamily="34" charset="0"/>
                <a:ea typeface="Verdana" panose="020B0604030504040204" pitchFamily="34" charset="0"/>
              </a:rPr>
              <a:t>3. Cơ sở và xây dựng hệ thống</a:t>
            </a:r>
            <a:endParaRPr lang="en-US" sz="2400" b="1" dirty="0">
              <a:solidFill>
                <a:schemeClr val="bg1"/>
              </a:solidFill>
              <a:latin typeface="Verdana" panose="020B0604030504040204" pitchFamily="34" charset="0"/>
              <a:ea typeface="Verdana" panose="020B0604030504040204" pitchFamily="34" charset="0"/>
            </a:endParaRPr>
          </a:p>
        </p:txBody>
      </p:sp>
      <p:sp>
        <p:nvSpPr>
          <p:cNvPr id="7" name="Title 1">
            <a:extLst>
              <a:ext uri="{FF2B5EF4-FFF2-40B4-BE49-F238E27FC236}">
                <a16:creationId xmlns:a16="http://schemas.microsoft.com/office/drawing/2014/main" id="{368ADFA8-9CB8-40CE-9A36-FE76FE842C50}"/>
              </a:ext>
            </a:extLst>
          </p:cNvPr>
          <p:cNvSpPr txBox="1">
            <a:spLocks/>
          </p:cNvSpPr>
          <p:nvPr/>
        </p:nvSpPr>
        <p:spPr>
          <a:xfrm>
            <a:off x="1094509" y="969818"/>
            <a:ext cx="10307782" cy="5715795"/>
          </a:xfrm>
          <a:prstGeom prst="rect">
            <a:avLst/>
          </a:prstGeom>
        </p:spPr>
        <p:txBody>
          <a:bodyPr vert="horz" lIns="91440" tIns="45720" rIns="91440" bIns="45720" rtlCol="0" anchor="t">
            <a:normAutofit fontScale="97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nSpc>
                <a:spcPct val="200000"/>
              </a:lnSpc>
            </a:pPr>
            <a:r>
              <a:rPr lang="en-US" sz="1800" b="1" dirty="0" err="1">
                <a:latin typeface="Verdana" panose="020B0604030504040204" pitchFamily="34" charset="0"/>
                <a:ea typeface="Verdana" panose="020B0604030504040204" pitchFamily="34" charset="0"/>
              </a:rPr>
              <a:t>Tính</a:t>
            </a:r>
            <a:r>
              <a:rPr lang="en-US" sz="1800" b="1" dirty="0">
                <a:latin typeface="Verdana" panose="020B0604030504040204" pitchFamily="34" charset="0"/>
                <a:ea typeface="Verdana" panose="020B0604030504040204" pitchFamily="34" charset="0"/>
              </a:rPr>
              <a:t> </a:t>
            </a:r>
            <a:r>
              <a:rPr lang="en-US" sz="1800" b="1" dirty="0" err="1">
                <a:latin typeface="Verdana" panose="020B0604030504040204" pitchFamily="34" charset="0"/>
                <a:ea typeface="Verdana" panose="020B0604030504040204" pitchFamily="34" charset="0"/>
              </a:rPr>
              <a:t>mới</a:t>
            </a:r>
            <a:r>
              <a:rPr lang="en-US" sz="1800" b="1" dirty="0">
                <a:latin typeface="Verdana" panose="020B0604030504040204" pitchFamily="34" charset="0"/>
                <a:ea typeface="Verdana" panose="020B0604030504040204" pitchFamily="34" charset="0"/>
              </a:rPr>
              <a:t> so </a:t>
            </a:r>
            <a:r>
              <a:rPr lang="en-US" sz="1800" b="1" dirty="0" err="1">
                <a:latin typeface="Verdana" panose="020B0604030504040204" pitchFamily="34" charset="0"/>
                <a:ea typeface="Verdana" panose="020B0604030504040204" pitchFamily="34" charset="0"/>
              </a:rPr>
              <a:t>với</a:t>
            </a:r>
            <a:r>
              <a:rPr lang="en-US" sz="1800" b="1" dirty="0">
                <a:latin typeface="Verdana" panose="020B0604030504040204" pitchFamily="34" charset="0"/>
                <a:ea typeface="Verdana" panose="020B0604030504040204" pitchFamily="34" charset="0"/>
              </a:rPr>
              <a:t> </a:t>
            </a:r>
            <a:r>
              <a:rPr lang="en-US" sz="1800" b="1" dirty="0" err="1">
                <a:latin typeface="Verdana" panose="020B0604030504040204" pitchFamily="34" charset="0"/>
                <a:ea typeface="Verdana" panose="020B0604030504040204" pitchFamily="34" charset="0"/>
              </a:rPr>
              <a:t>hệ</a:t>
            </a:r>
            <a:r>
              <a:rPr lang="en-US" sz="1800" b="1" dirty="0">
                <a:latin typeface="Verdana" panose="020B0604030504040204" pitchFamily="34" charset="0"/>
                <a:ea typeface="Verdana" panose="020B0604030504040204" pitchFamily="34" charset="0"/>
              </a:rPr>
              <a:t> </a:t>
            </a:r>
            <a:r>
              <a:rPr lang="en-US" sz="1800" b="1" dirty="0" err="1">
                <a:latin typeface="Verdana" panose="020B0604030504040204" pitchFamily="34" charset="0"/>
                <a:ea typeface="Verdana" panose="020B0604030504040204" pitchFamily="34" charset="0"/>
              </a:rPr>
              <a:t>thống</a:t>
            </a:r>
            <a:r>
              <a:rPr lang="en-US" sz="1800" b="1" dirty="0">
                <a:latin typeface="Verdana" panose="020B0604030504040204" pitchFamily="34" charset="0"/>
                <a:ea typeface="Verdana" panose="020B0604030504040204" pitchFamily="34" charset="0"/>
              </a:rPr>
              <a:t> </a:t>
            </a:r>
            <a:r>
              <a:rPr lang="en-US" sz="1800" b="1" dirty="0" err="1">
                <a:latin typeface="Verdana" panose="020B0604030504040204" pitchFamily="34" charset="0"/>
                <a:ea typeface="Verdana" panose="020B0604030504040204" pitchFamily="34" charset="0"/>
              </a:rPr>
              <a:t>cũ</a:t>
            </a:r>
            <a:endParaRPr lang="en-US" sz="1800" b="1" dirty="0">
              <a:latin typeface="Verdana" panose="020B0604030504040204" pitchFamily="34" charset="0"/>
              <a:ea typeface="Verdana" panose="020B0604030504040204" pitchFamily="34" charset="0"/>
            </a:endParaRPr>
          </a:p>
          <a:p>
            <a:pPr marL="285750" indent="-285750">
              <a:lnSpc>
                <a:spcPct val="200000"/>
              </a:lnSpc>
              <a:buFontTx/>
              <a:buChar char="-"/>
            </a:pPr>
            <a:r>
              <a:rPr lang="en-US" sz="1800" dirty="0" err="1">
                <a:latin typeface="Verdana" panose="020B0604030504040204" pitchFamily="34" charset="0"/>
                <a:ea typeface="Verdana" panose="020B0604030504040204" pitchFamily="34" charset="0"/>
              </a:rPr>
              <a:t>Phân</a:t>
            </a:r>
            <a:r>
              <a:rPr lang="en-US" sz="1800" dirty="0">
                <a:latin typeface="Verdana" panose="020B0604030504040204" pitchFamily="34" charset="0"/>
                <a:ea typeface="Verdana" panose="020B0604030504040204" pitchFamily="34" charset="0"/>
              </a:rPr>
              <a:t> chia </a:t>
            </a:r>
            <a:r>
              <a:rPr lang="en-US" sz="1800" dirty="0" err="1">
                <a:latin typeface="Verdana" panose="020B0604030504040204" pitchFamily="34" charset="0"/>
                <a:ea typeface="Verdana" panose="020B0604030504040204" pitchFamily="34" charset="0"/>
              </a:rPr>
              <a:t>chỉ</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số</a:t>
            </a:r>
            <a:r>
              <a:rPr lang="en-US" sz="1800" dirty="0">
                <a:latin typeface="Verdana" panose="020B0604030504040204" pitchFamily="34" charset="0"/>
                <a:ea typeface="Verdana" panose="020B0604030504040204" pitchFamily="34" charset="0"/>
              </a:rPr>
              <a:t> KPI </a:t>
            </a:r>
            <a:r>
              <a:rPr lang="en-US" sz="1800" dirty="0" err="1">
                <a:latin typeface="Verdana" panose="020B0604030504040204" pitchFamily="34" charset="0"/>
                <a:ea typeface="Verdana" panose="020B0604030504040204" pitchFamily="34" charset="0"/>
              </a:rPr>
              <a:t>một</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cách</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rõ</a:t>
            </a:r>
            <a:r>
              <a:rPr lang="en-US" sz="1800" dirty="0">
                <a:latin typeface="Verdana" panose="020B0604030504040204" pitchFamily="34" charset="0"/>
                <a:ea typeface="Verdana" panose="020B0604030504040204" pitchFamily="34" charset="0"/>
              </a:rPr>
              <a:t> rang, chi </a:t>
            </a:r>
            <a:r>
              <a:rPr lang="en-US" sz="1800" dirty="0" err="1">
                <a:latin typeface="Verdana" panose="020B0604030504040204" pitchFamily="34" charset="0"/>
                <a:ea typeface="Verdana" panose="020B0604030504040204" pitchFamily="34" charset="0"/>
              </a:rPr>
              <a:t>tiết</a:t>
            </a:r>
            <a:endParaRPr lang="en-US" sz="1800" dirty="0">
              <a:latin typeface="Verdana" panose="020B0604030504040204" pitchFamily="34" charset="0"/>
              <a:ea typeface="Verdana" panose="020B0604030504040204" pitchFamily="34" charset="0"/>
            </a:endParaRPr>
          </a:p>
          <a:p>
            <a:pPr marL="285750" indent="-285750">
              <a:lnSpc>
                <a:spcPct val="200000"/>
              </a:lnSpc>
              <a:buFontTx/>
              <a:buChar char="-"/>
            </a:pPr>
            <a:r>
              <a:rPr lang="en-US" sz="1800" dirty="0" err="1">
                <a:latin typeface="Verdana" panose="020B0604030504040204" pitchFamily="34" charset="0"/>
                <a:ea typeface="Verdana" panose="020B0604030504040204" pitchFamily="34" charset="0"/>
              </a:rPr>
              <a:t>Quản</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lý</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các</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công</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việc</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không</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nằm</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trong</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dự</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án</a:t>
            </a:r>
            <a:endParaRPr lang="en-US" sz="1800" dirty="0">
              <a:latin typeface="Verdana" panose="020B0604030504040204" pitchFamily="34" charset="0"/>
              <a:ea typeface="Verdana" panose="020B0604030504040204" pitchFamily="34" charset="0"/>
            </a:endParaRPr>
          </a:p>
          <a:p>
            <a:pPr marL="285750" indent="-285750">
              <a:lnSpc>
                <a:spcPct val="200000"/>
              </a:lnSpc>
              <a:buFontTx/>
              <a:buChar char="-"/>
            </a:pPr>
            <a:r>
              <a:rPr lang="en-US" sz="1800" dirty="0" err="1">
                <a:latin typeface="Verdana" panose="020B0604030504040204" pitchFamily="34" charset="0"/>
                <a:ea typeface="Verdana" panose="020B0604030504040204" pitchFamily="34" charset="0"/>
              </a:rPr>
              <a:t>Tinh</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khoán</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đến</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từng</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cá</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nhân</a:t>
            </a:r>
            <a:r>
              <a:rPr lang="en-US" sz="1800" dirty="0">
                <a:latin typeface="Verdana" panose="020B0604030504040204" pitchFamily="34" charset="0"/>
                <a:ea typeface="Verdana" panose="020B0604030504040204" pitchFamily="34" charset="0"/>
              </a:rPr>
              <a:t> </a:t>
            </a:r>
          </a:p>
          <a:p>
            <a:pPr marL="285750" indent="-285750">
              <a:lnSpc>
                <a:spcPct val="200000"/>
              </a:lnSpc>
              <a:buFontTx/>
              <a:buChar char="-"/>
            </a:pPr>
            <a:r>
              <a:rPr lang="en-US" sz="1800" dirty="0" err="1">
                <a:latin typeface="Verdana" panose="020B0604030504040204" pitchFamily="34" charset="0"/>
                <a:ea typeface="Verdana" panose="020B0604030504040204" pitchFamily="34" charset="0"/>
              </a:rPr>
              <a:t>Tính</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khoán</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theo</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mức</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độ</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đóng</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góp</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của</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cá</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nhân</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vào</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công</a:t>
            </a:r>
            <a:r>
              <a:rPr lang="en-US" sz="1800" dirty="0">
                <a:latin typeface="Verdana" panose="020B0604030504040204" pitchFamily="34" charset="0"/>
                <a:ea typeface="Verdana" panose="020B0604030504040204" pitchFamily="34" charset="0"/>
              </a:rPr>
              <a:t> ty</a:t>
            </a:r>
          </a:p>
        </p:txBody>
      </p:sp>
    </p:spTree>
    <p:extLst>
      <p:ext uri="{BB962C8B-B14F-4D97-AF65-F5344CB8AC3E}">
        <p14:creationId xmlns:p14="http://schemas.microsoft.com/office/powerpoint/2010/main" val="312793595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 name="Rectangle 47"/>
          <p:cNvSpPr/>
          <p:nvPr/>
        </p:nvSpPr>
        <p:spPr>
          <a:xfrm>
            <a:off x="1333896" y="327184"/>
            <a:ext cx="9823541" cy="492443"/>
          </a:xfrm>
          <a:prstGeom prst="rect">
            <a:avLst/>
          </a:prstGeom>
        </p:spPr>
        <p:txBody>
          <a:bodyPr wrap="square">
            <a:spAutoFit/>
          </a:bodyPr>
          <a:lstStyle/>
          <a:p>
            <a:r>
              <a:rPr lang="vi-VN" sz="2600" b="1" dirty="0">
                <a:solidFill>
                  <a:schemeClr val="bg1"/>
                </a:solidFill>
                <a:latin typeface="Verdana" panose="020B0604030504040204" pitchFamily="34" charset="0"/>
                <a:ea typeface="Verdana" panose="020B0604030504040204" pitchFamily="34" charset="0"/>
              </a:rPr>
              <a:t>4. ỨNG DỤNG -  PHÂN TÍCH THIẾT KẾ HỆ THỐNG</a:t>
            </a:r>
            <a:endParaRPr lang="en-US" sz="2600" b="1" dirty="0">
              <a:solidFill>
                <a:schemeClr val="bg1"/>
              </a:solidFill>
              <a:latin typeface="Verdana" panose="020B0604030504040204" pitchFamily="34" charset="0"/>
              <a:ea typeface="Verdana" panose="020B0604030504040204" pitchFamily="34" charset="0"/>
            </a:endParaRPr>
          </a:p>
        </p:txBody>
      </p:sp>
      <p:pic>
        <p:nvPicPr>
          <p:cNvPr id="3" name="Picture 2">
            <a:extLst>
              <a:ext uri="{FF2B5EF4-FFF2-40B4-BE49-F238E27FC236}">
                <a16:creationId xmlns:a16="http://schemas.microsoft.com/office/drawing/2014/main" id="{27AD3B45-F12D-4C60-A9E2-52278D13D95A}"/>
              </a:ext>
            </a:extLst>
          </p:cNvPr>
          <p:cNvPicPr/>
          <p:nvPr/>
        </p:nvPicPr>
        <p:blipFill>
          <a:blip r:embed="rId2"/>
          <a:stretch>
            <a:fillRect/>
          </a:stretch>
        </p:blipFill>
        <p:spPr>
          <a:xfrm>
            <a:off x="2684206" y="1740310"/>
            <a:ext cx="7344697" cy="3982064"/>
          </a:xfrm>
          <a:prstGeom prst="rect">
            <a:avLst/>
          </a:prstGeom>
        </p:spPr>
      </p:pic>
    </p:spTree>
    <p:extLst>
      <p:ext uri="{BB962C8B-B14F-4D97-AF65-F5344CB8AC3E}">
        <p14:creationId xmlns:p14="http://schemas.microsoft.com/office/powerpoint/2010/main" val="121043445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 name="Rectangle 47"/>
          <p:cNvSpPr/>
          <p:nvPr/>
        </p:nvSpPr>
        <p:spPr>
          <a:xfrm>
            <a:off x="1333896" y="327184"/>
            <a:ext cx="9823541" cy="492443"/>
          </a:xfrm>
          <a:prstGeom prst="rect">
            <a:avLst/>
          </a:prstGeom>
        </p:spPr>
        <p:txBody>
          <a:bodyPr wrap="square">
            <a:spAutoFit/>
          </a:bodyPr>
          <a:lstStyle/>
          <a:p>
            <a:r>
              <a:rPr lang="vi-VN" sz="2600" b="1" dirty="0">
                <a:solidFill>
                  <a:schemeClr val="bg1"/>
                </a:solidFill>
                <a:latin typeface="Verdana" panose="020B0604030504040204" pitchFamily="34" charset="0"/>
                <a:ea typeface="Verdana" panose="020B0604030504040204" pitchFamily="34" charset="0"/>
              </a:rPr>
              <a:t>4. ỨNG DỤNG -  PHÂN TÍCH THIẾT KẾ HỆ THỐNG</a:t>
            </a:r>
            <a:endParaRPr lang="en-US" sz="2600" b="1" dirty="0">
              <a:solidFill>
                <a:schemeClr val="bg1"/>
              </a:solidFill>
              <a:latin typeface="Verdana" panose="020B0604030504040204" pitchFamily="34" charset="0"/>
              <a:ea typeface="Verdana" panose="020B0604030504040204" pitchFamily="34" charset="0"/>
            </a:endParaRPr>
          </a:p>
        </p:txBody>
      </p:sp>
      <p:pic>
        <p:nvPicPr>
          <p:cNvPr id="4" name="Picture 3">
            <a:extLst>
              <a:ext uri="{FF2B5EF4-FFF2-40B4-BE49-F238E27FC236}">
                <a16:creationId xmlns:a16="http://schemas.microsoft.com/office/drawing/2014/main" id="{5FE10B45-5293-4951-BFDC-3A33B66D4F34}"/>
              </a:ext>
            </a:extLst>
          </p:cNvPr>
          <p:cNvPicPr>
            <a:picLocks noChangeAspect="1"/>
          </p:cNvPicPr>
          <p:nvPr/>
        </p:nvPicPr>
        <p:blipFill>
          <a:blip r:embed="rId2"/>
          <a:stretch>
            <a:fillRect/>
          </a:stretch>
        </p:blipFill>
        <p:spPr>
          <a:xfrm>
            <a:off x="1651819" y="1152974"/>
            <a:ext cx="9026013" cy="5377842"/>
          </a:xfrm>
          <a:prstGeom prst="rect">
            <a:avLst/>
          </a:prstGeom>
        </p:spPr>
      </p:pic>
    </p:spTree>
    <p:extLst>
      <p:ext uri="{BB962C8B-B14F-4D97-AF65-F5344CB8AC3E}">
        <p14:creationId xmlns:p14="http://schemas.microsoft.com/office/powerpoint/2010/main" val="395421586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 name="Rectangle 47"/>
          <p:cNvSpPr/>
          <p:nvPr/>
        </p:nvSpPr>
        <p:spPr>
          <a:xfrm>
            <a:off x="1333896" y="327184"/>
            <a:ext cx="9823541" cy="492443"/>
          </a:xfrm>
          <a:prstGeom prst="rect">
            <a:avLst/>
          </a:prstGeom>
        </p:spPr>
        <p:txBody>
          <a:bodyPr wrap="square">
            <a:spAutoFit/>
          </a:bodyPr>
          <a:lstStyle/>
          <a:p>
            <a:r>
              <a:rPr lang="vi-VN" sz="2600" b="1" dirty="0">
                <a:solidFill>
                  <a:schemeClr val="bg1"/>
                </a:solidFill>
                <a:latin typeface="Verdana" panose="020B0604030504040204" pitchFamily="34" charset="0"/>
                <a:ea typeface="Verdana" panose="020B0604030504040204" pitchFamily="34" charset="0"/>
              </a:rPr>
              <a:t>4. ỨNG DỤNG -  PHÂN TÍCH THIẾT KẾ HỆ THỐNG</a:t>
            </a:r>
            <a:endParaRPr lang="en-US" sz="2600" b="1" dirty="0">
              <a:solidFill>
                <a:schemeClr val="bg1"/>
              </a:solidFill>
              <a:latin typeface="Verdana" panose="020B0604030504040204" pitchFamily="34" charset="0"/>
              <a:ea typeface="Verdana" panose="020B0604030504040204" pitchFamily="34" charset="0"/>
            </a:endParaRPr>
          </a:p>
        </p:txBody>
      </p:sp>
      <p:pic>
        <p:nvPicPr>
          <p:cNvPr id="5" name="image36.png">
            <a:extLst>
              <a:ext uri="{FF2B5EF4-FFF2-40B4-BE49-F238E27FC236}">
                <a16:creationId xmlns:a16="http://schemas.microsoft.com/office/drawing/2014/main" id="{A68F466A-ED4E-467E-B0E5-936AFBE451C7}"/>
              </a:ext>
            </a:extLst>
          </p:cNvPr>
          <p:cNvPicPr/>
          <p:nvPr/>
        </p:nvPicPr>
        <p:blipFill>
          <a:blip r:embed="rId2"/>
          <a:srcRect/>
          <a:stretch>
            <a:fillRect/>
          </a:stretch>
        </p:blipFill>
        <p:spPr>
          <a:xfrm>
            <a:off x="2094271" y="1209367"/>
            <a:ext cx="8318090" cy="4984955"/>
          </a:xfrm>
          <a:prstGeom prst="rect">
            <a:avLst/>
          </a:prstGeom>
          <a:ln w="9525">
            <a:solidFill>
              <a:srgbClr val="000000"/>
            </a:solidFill>
            <a:prstDash val="solid"/>
          </a:ln>
        </p:spPr>
      </p:pic>
    </p:spTree>
    <p:extLst>
      <p:ext uri="{BB962C8B-B14F-4D97-AF65-F5344CB8AC3E}">
        <p14:creationId xmlns:p14="http://schemas.microsoft.com/office/powerpoint/2010/main" val="244270390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 name="Rectangle 47"/>
          <p:cNvSpPr/>
          <p:nvPr/>
        </p:nvSpPr>
        <p:spPr>
          <a:xfrm>
            <a:off x="1333896" y="327184"/>
            <a:ext cx="9823541" cy="492443"/>
          </a:xfrm>
          <a:prstGeom prst="rect">
            <a:avLst/>
          </a:prstGeom>
        </p:spPr>
        <p:txBody>
          <a:bodyPr wrap="square">
            <a:spAutoFit/>
          </a:bodyPr>
          <a:lstStyle/>
          <a:p>
            <a:r>
              <a:rPr lang="vi-VN" sz="2600" b="1" dirty="0">
                <a:solidFill>
                  <a:schemeClr val="bg1"/>
                </a:solidFill>
                <a:latin typeface="Verdana" panose="020B0604030504040204" pitchFamily="34" charset="0"/>
                <a:ea typeface="Verdana" panose="020B0604030504040204" pitchFamily="34" charset="0"/>
              </a:rPr>
              <a:t>5. Cài đặt thực nghiệm</a:t>
            </a:r>
            <a:endParaRPr lang="en-US" sz="2600" b="1" dirty="0">
              <a:solidFill>
                <a:schemeClr val="bg1"/>
              </a:solidFill>
              <a:latin typeface="Verdana" panose="020B0604030504040204" pitchFamily="34" charset="0"/>
              <a:ea typeface="Verdana" panose="020B0604030504040204" pitchFamily="34" charset="0"/>
            </a:endParaRPr>
          </a:p>
        </p:txBody>
      </p:sp>
      <p:sp>
        <p:nvSpPr>
          <p:cNvPr id="3" name="Title 1">
            <a:extLst>
              <a:ext uri="{FF2B5EF4-FFF2-40B4-BE49-F238E27FC236}">
                <a16:creationId xmlns:a16="http://schemas.microsoft.com/office/drawing/2014/main" id="{03DC9A0F-A145-4F22-A58E-1D12D358EA00}"/>
              </a:ext>
            </a:extLst>
          </p:cNvPr>
          <p:cNvSpPr txBox="1">
            <a:spLocks/>
          </p:cNvSpPr>
          <p:nvPr/>
        </p:nvSpPr>
        <p:spPr>
          <a:xfrm>
            <a:off x="1094509" y="969818"/>
            <a:ext cx="10307782" cy="5715795"/>
          </a:xfrm>
          <a:prstGeom prst="rect">
            <a:avLst/>
          </a:prstGeom>
        </p:spPr>
        <p:txBody>
          <a:bodyPr vert="horz" lIns="91440" tIns="45720" rIns="91440" bIns="45720" rtlCol="0" anchor="t">
            <a:normAutofit fontScale="97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nSpc>
                <a:spcPct val="200000"/>
              </a:lnSpc>
            </a:pPr>
            <a:r>
              <a:rPr lang="vi-VN" sz="1800" dirty="0">
                <a:latin typeface="Verdana" panose="020B0604030504040204" pitchFamily="34" charset="0"/>
                <a:ea typeface="Verdana" panose="020B0604030504040204" pitchFamily="34" charset="0"/>
              </a:rPr>
              <a:t>Chương trình được viết bằng ngôn ngữ lập trình Java.</a:t>
            </a:r>
          </a:p>
          <a:p>
            <a:pPr>
              <a:lnSpc>
                <a:spcPct val="200000"/>
              </a:lnSpc>
            </a:pPr>
            <a:r>
              <a:rPr lang="vi-VN" sz="1800" dirty="0">
                <a:latin typeface="Verdana" panose="020B0604030504040204" pitchFamily="34" charset="0"/>
                <a:ea typeface="Verdana" panose="020B0604030504040204" pitchFamily="34" charset="0"/>
              </a:rPr>
              <a:t>Công cụ lập trình: </a:t>
            </a:r>
          </a:p>
          <a:p>
            <a:pPr marL="914400" indent="-285750">
              <a:lnSpc>
                <a:spcPct val="200000"/>
              </a:lnSpc>
              <a:buFont typeface="Wingdings" panose="05000000000000000000" pitchFamily="2" charset="2"/>
              <a:buChar char="Ø"/>
            </a:pPr>
            <a:r>
              <a:rPr lang="vi-VN" sz="1800" dirty="0">
                <a:latin typeface="Verdana" panose="020B0604030504040204" pitchFamily="34" charset="0"/>
                <a:ea typeface="Verdana" panose="020B0604030504040204" pitchFamily="34" charset="0"/>
              </a:rPr>
              <a:t>NetBeans IDE 8.2 </a:t>
            </a:r>
          </a:p>
          <a:p>
            <a:pPr marL="914400" indent="-285750">
              <a:lnSpc>
                <a:spcPct val="200000"/>
              </a:lnSpc>
              <a:buFont typeface="Wingdings" panose="05000000000000000000" pitchFamily="2" charset="2"/>
              <a:buChar char="Ø"/>
            </a:pPr>
            <a:r>
              <a:rPr lang="vi-VN" sz="1800" dirty="0">
                <a:latin typeface="Verdana" panose="020B0604030504040204" pitchFamily="34" charset="0"/>
                <a:ea typeface="Verdana" panose="020B0604030504040204" pitchFamily="34" charset="0"/>
              </a:rPr>
              <a:t>JDK 8</a:t>
            </a:r>
          </a:p>
          <a:p>
            <a:pPr marL="914400" indent="-285750">
              <a:lnSpc>
                <a:spcPct val="200000"/>
              </a:lnSpc>
              <a:buFont typeface="Wingdings" panose="05000000000000000000" pitchFamily="2" charset="2"/>
              <a:buChar char="Ø"/>
            </a:pPr>
            <a:r>
              <a:rPr lang="vi-VN" sz="1800" dirty="0">
                <a:latin typeface="Verdana" panose="020B0604030504040204" pitchFamily="34" charset="0"/>
                <a:ea typeface="Verdana" panose="020B0604030504040204" pitchFamily="34" charset="0"/>
              </a:rPr>
              <a:t>MySQL server 5.8</a:t>
            </a:r>
          </a:p>
          <a:p>
            <a:pPr marL="914400" indent="-285750">
              <a:lnSpc>
                <a:spcPct val="200000"/>
              </a:lnSpc>
              <a:buFont typeface="Wingdings" panose="05000000000000000000" pitchFamily="2" charset="2"/>
              <a:buChar char="Ø"/>
            </a:pPr>
            <a:r>
              <a:rPr lang="vi-VN" sz="1800" dirty="0">
                <a:latin typeface="Verdana" panose="020B0604030504040204" pitchFamily="34" charset="0"/>
                <a:ea typeface="Verdana" panose="020B0604030504040204" pitchFamily="34" charset="0"/>
              </a:rPr>
              <a:t>MySQL Workbeans 6.3 CE</a:t>
            </a:r>
          </a:p>
          <a:p>
            <a:pPr>
              <a:lnSpc>
                <a:spcPct val="200000"/>
              </a:lnSpc>
            </a:pPr>
            <a:r>
              <a:rPr lang="vi-VN" sz="1800" dirty="0">
                <a:latin typeface="Verdana" panose="020B0604030504040204" pitchFamily="34" charset="0"/>
                <a:ea typeface="Verdana" panose="020B0604030504040204" pitchFamily="34" charset="0"/>
              </a:rPr>
              <a:t>Phát triển trên hệ điều hành Windows 10</a:t>
            </a:r>
            <a:endParaRPr lang="en-US" sz="1800" dirty="0">
              <a:latin typeface="Verdana" panose="020B0604030504040204" pitchFamily="34" charset="0"/>
              <a:ea typeface="Verdana" panose="020B0604030504040204" pitchFamily="34" charset="0"/>
            </a:endParaRPr>
          </a:p>
          <a:p>
            <a:pPr>
              <a:lnSpc>
                <a:spcPct val="200000"/>
              </a:lnSpc>
            </a:pPr>
            <a:r>
              <a:rPr lang="en-US" sz="1800" dirty="0">
                <a:latin typeface="Verdana" panose="020B0604030504040204" pitchFamily="34" charset="0"/>
                <a:ea typeface="Verdana" panose="020B0604030504040204" pitchFamily="34" charset="0"/>
              </a:rPr>
              <a:t>Framework: Struts 2, Hibernate 4</a:t>
            </a:r>
            <a:endParaRPr lang="vi-VN" sz="1800" dirty="0">
              <a:latin typeface="Verdana" panose="020B0604030504040204" pitchFamily="34" charset="0"/>
              <a:ea typeface="Verdana" panose="020B0604030504040204" pitchFamily="34" charset="0"/>
            </a:endParaRPr>
          </a:p>
          <a:p>
            <a:pPr>
              <a:lnSpc>
                <a:spcPct val="200000"/>
              </a:lnSpc>
            </a:pPr>
            <a:endParaRPr lang="en-US" sz="1800" dirty="0">
              <a:latin typeface="Verdana" panose="020B0604030504040204" pitchFamily="34" charset="0"/>
              <a:ea typeface="Verdana" panose="020B0604030504040204" pitchFamily="34" charset="0"/>
            </a:endParaRPr>
          </a:p>
        </p:txBody>
      </p:sp>
    </p:spTree>
    <p:extLst>
      <p:ext uri="{BB962C8B-B14F-4D97-AF65-F5344CB8AC3E}">
        <p14:creationId xmlns:p14="http://schemas.microsoft.com/office/powerpoint/2010/main" val="69636117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 name="Rectangle 47"/>
          <p:cNvSpPr/>
          <p:nvPr/>
        </p:nvSpPr>
        <p:spPr>
          <a:xfrm>
            <a:off x="1333896" y="327184"/>
            <a:ext cx="9823541" cy="492443"/>
          </a:xfrm>
          <a:prstGeom prst="rect">
            <a:avLst/>
          </a:prstGeom>
        </p:spPr>
        <p:txBody>
          <a:bodyPr wrap="square">
            <a:spAutoFit/>
          </a:bodyPr>
          <a:lstStyle/>
          <a:p>
            <a:r>
              <a:rPr lang="vi-VN" sz="2600" b="1" dirty="0">
                <a:solidFill>
                  <a:schemeClr val="bg1"/>
                </a:solidFill>
                <a:latin typeface="Verdana" panose="020B0604030504040204" pitchFamily="34" charset="0"/>
                <a:ea typeface="Verdana" panose="020B0604030504040204" pitchFamily="34" charset="0"/>
              </a:rPr>
              <a:t>5. Cài đặt thực nghiệm</a:t>
            </a:r>
            <a:endParaRPr lang="en-US" sz="2600" b="1" dirty="0">
              <a:solidFill>
                <a:schemeClr val="bg1"/>
              </a:solidFill>
              <a:latin typeface="Verdana" panose="020B0604030504040204" pitchFamily="34" charset="0"/>
              <a:ea typeface="Verdana" panose="020B0604030504040204" pitchFamily="34" charset="0"/>
            </a:endParaRPr>
          </a:p>
        </p:txBody>
      </p:sp>
      <p:sp>
        <p:nvSpPr>
          <p:cNvPr id="3" name="Title 1">
            <a:extLst>
              <a:ext uri="{FF2B5EF4-FFF2-40B4-BE49-F238E27FC236}">
                <a16:creationId xmlns:a16="http://schemas.microsoft.com/office/drawing/2014/main" id="{03DC9A0F-A145-4F22-A58E-1D12D358EA00}"/>
              </a:ext>
            </a:extLst>
          </p:cNvPr>
          <p:cNvSpPr txBox="1">
            <a:spLocks/>
          </p:cNvSpPr>
          <p:nvPr/>
        </p:nvSpPr>
        <p:spPr>
          <a:xfrm>
            <a:off x="1094509" y="969818"/>
            <a:ext cx="10307782" cy="5715795"/>
          </a:xfrm>
          <a:prstGeom prst="rect">
            <a:avLst/>
          </a:prstGeom>
        </p:spPr>
        <p:txBody>
          <a:bodyPr vert="horz" lIns="91440" tIns="45720" rIns="91440" bIns="45720" rtlCol="0" anchor="t">
            <a:normAutofit fontScale="97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nSpc>
                <a:spcPct val="200000"/>
              </a:lnSpc>
            </a:pPr>
            <a:r>
              <a:rPr lang="en-US" sz="1800" dirty="0" err="1">
                <a:latin typeface="Verdana" panose="020B0604030504040204" pitchFamily="34" charset="0"/>
                <a:ea typeface="Verdana" panose="020B0604030504040204" pitchFamily="34" charset="0"/>
              </a:rPr>
              <a:t>Ảnh</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kết</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quả</a:t>
            </a:r>
            <a:endParaRPr lang="en-US" sz="1800" dirty="0">
              <a:latin typeface="Verdana" panose="020B0604030504040204" pitchFamily="34" charset="0"/>
              <a:ea typeface="Verdana" panose="020B0604030504040204" pitchFamily="34" charset="0"/>
            </a:endParaRPr>
          </a:p>
        </p:txBody>
      </p:sp>
      <p:pic>
        <p:nvPicPr>
          <p:cNvPr id="4" name="Picture 3">
            <a:extLst>
              <a:ext uri="{FF2B5EF4-FFF2-40B4-BE49-F238E27FC236}">
                <a16:creationId xmlns:a16="http://schemas.microsoft.com/office/drawing/2014/main" id="{0B9F4BE0-7A0E-410C-AEF3-0424E48F1D46}"/>
              </a:ext>
            </a:extLst>
          </p:cNvPr>
          <p:cNvPicPr>
            <a:picLocks noChangeAspect="1"/>
          </p:cNvPicPr>
          <p:nvPr/>
        </p:nvPicPr>
        <p:blipFill>
          <a:blip r:embed="rId2"/>
          <a:stretch>
            <a:fillRect/>
          </a:stretch>
        </p:blipFill>
        <p:spPr>
          <a:xfrm>
            <a:off x="1468581" y="1666227"/>
            <a:ext cx="9497664" cy="4587498"/>
          </a:xfrm>
          <a:prstGeom prst="rect">
            <a:avLst/>
          </a:prstGeom>
          <a:ln w="9525" cap="sq" cmpd="thickThin">
            <a:solidFill>
              <a:srgbClr val="000000"/>
            </a:solidFill>
            <a:prstDash val="solid"/>
            <a:miter lim="800000"/>
          </a:ln>
          <a:effectLst>
            <a:innerShdw blurRad="76200">
              <a:srgbClr val="000000"/>
            </a:innerShdw>
          </a:effectLst>
        </p:spPr>
      </p:pic>
    </p:spTree>
    <p:extLst>
      <p:ext uri="{BB962C8B-B14F-4D97-AF65-F5344CB8AC3E}">
        <p14:creationId xmlns:p14="http://schemas.microsoft.com/office/powerpoint/2010/main" val="267237974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 name="Rectangle 47"/>
          <p:cNvSpPr/>
          <p:nvPr/>
        </p:nvSpPr>
        <p:spPr>
          <a:xfrm>
            <a:off x="1333896" y="327184"/>
            <a:ext cx="9823541" cy="492443"/>
          </a:xfrm>
          <a:prstGeom prst="rect">
            <a:avLst/>
          </a:prstGeom>
        </p:spPr>
        <p:txBody>
          <a:bodyPr wrap="square">
            <a:spAutoFit/>
          </a:bodyPr>
          <a:lstStyle/>
          <a:p>
            <a:r>
              <a:rPr lang="vi-VN" sz="2600" b="1" dirty="0">
                <a:solidFill>
                  <a:schemeClr val="bg1"/>
                </a:solidFill>
                <a:latin typeface="Verdana" panose="020B0604030504040204" pitchFamily="34" charset="0"/>
                <a:ea typeface="Verdana" panose="020B0604030504040204" pitchFamily="34" charset="0"/>
              </a:rPr>
              <a:t>5. Cài đặt thực nghiệm</a:t>
            </a:r>
            <a:endParaRPr lang="en-US" sz="2600" b="1" dirty="0">
              <a:solidFill>
                <a:schemeClr val="bg1"/>
              </a:solidFill>
              <a:latin typeface="Verdana" panose="020B0604030504040204" pitchFamily="34" charset="0"/>
              <a:ea typeface="Verdana" panose="020B0604030504040204" pitchFamily="34" charset="0"/>
            </a:endParaRPr>
          </a:p>
        </p:txBody>
      </p:sp>
      <p:sp>
        <p:nvSpPr>
          <p:cNvPr id="3" name="Title 1">
            <a:extLst>
              <a:ext uri="{FF2B5EF4-FFF2-40B4-BE49-F238E27FC236}">
                <a16:creationId xmlns:a16="http://schemas.microsoft.com/office/drawing/2014/main" id="{03DC9A0F-A145-4F22-A58E-1D12D358EA00}"/>
              </a:ext>
            </a:extLst>
          </p:cNvPr>
          <p:cNvSpPr txBox="1">
            <a:spLocks/>
          </p:cNvSpPr>
          <p:nvPr/>
        </p:nvSpPr>
        <p:spPr>
          <a:xfrm>
            <a:off x="1094509" y="969818"/>
            <a:ext cx="10307782" cy="5715795"/>
          </a:xfrm>
          <a:prstGeom prst="rect">
            <a:avLst/>
          </a:prstGeom>
        </p:spPr>
        <p:txBody>
          <a:bodyPr vert="horz" lIns="91440" tIns="45720" rIns="91440" bIns="45720" rtlCol="0" anchor="t">
            <a:normAutofit fontScale="97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nSpc>
                <a:spcPct val="200000"/>
              </a:lnSpc>
            </a:pPr>
            <a:r>
              <a:rPr lang="en-US" sz="1800" dirty="0" err="1">
                <a:latin typeface="Verdana" panose="020B0604030504040204" pitchFamily="34" charset="0"/>
                <a:ea typeface="Verdana" panose="020B0604030504040204" pitchFamily="34" charset="0"/>
              </a:rPr>
              <a:t>Ảnh</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kết</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quả</a:t>
            </a:r>
            <a:endParaRPr lang="en-US" sz="1800" dirty="0">
              <a:latin typeface="Verdana" panose="020B0604030504040204" pitchFamily="34" charset="0"/>
              <a:ea typeface="Verdana" panose="020B0604030504040204" pitchFamily="34" charset="0"/>
            </a:endParaRPr>
          </a:p>
        </p:txBody>
      </p:sp>
      <p:pic>
        <p:nvPicPr>
          <p:cNvPr id="4" name="Picture 3">
            <a:extLst>
              <a:ext uri="{FF2B5EF4-FFF2-40B4-BE49-F238E27FC236}">
                <a16:creationId xmlns:a16="http://schemas.microsoft.com/office/drawing/2014/main" id="{2B9A2214-228D-46B3-BDC8-C0F4F03DFCBB}"/>
              </a:ext>
            </a:extLst>
          </p:cNvPr>
          <p:cNvPicPr>
            <a:picLocks noChangeAspect="1"/>
          </p:cNvPicPr>
          <p:nvPr/>
        </p:nvPicPr>
        <p:blipFill>
          <a:blip r:embed="rId2"/>
          <a:stretch>
            <a:fillRect/>
          </a:stretch>
        </p:blipFill>
        <p:spPr>
          <a:xfrm>
            <a:off x="1091775" y="1696526"/>
            <a:ext cx="10307782" cy="4517893"/>
          </a:xfrm>
          <a:prstGeom prst="rect">
            <a:avLst/>
          </a:prstGeom>
          <a:ln w="12700" cap="sq" cmpd="thickThin">
            <a:solidFill>
              <a:srgbClr val="000000"/>
            </a:solidFill>
            <a:prstDash val="solid"/>
            <a:miter lim="800000"/>
          </a:ln>
          <a:effectLst>
            <a:innerShdw blurRad="76200">
              <a:srgbClr val="000000"/>
            </a:innerShdw>
          </a:effectLst>
        </p:spPr>
      </p:pic>
    </p:spTree>
    <p:extLst>
      <p:ext uri="{BB962C8B-B14F-4D97-AF65-F5344CB8AC3E}">
        <p14:creationId xmlns:p14="http://schemas.microsoft.com/office/powerpoint/2010/main" val="168226159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 name="Rectangle 47"/>
          <p:cNvSpPr/>
          <p:nvPr/>
        </p:nvSpPr>
        <p:spPr>
          <a:xfrm>
            <a:off x="1333896" y="327184"/>
            <a:ext cx="9823541" cy="492443"/>
          </a:xfrm>
          <a:prstGeom prst="rect">
            <a:avLst/>
          </a:prstGeom>
        </p:spPr>
        <p:txBody>
          <a:bodyPr wrap="square">
            <a:spAutoFit/>
          </a:bodyPr>
          <a:lstStyle/>
          <a:p>
            <a:r>
              <a:rPr lang="vi-VN" sz="2600" b="1" dirty="0">
                <a:solidFill>
                  <a:schemeClr val="bg1"/>
                </a:solidFill>
                <a:latin typeface="Verdana" panose="020B0604030504040204" pitchFamily="34" charset="0"/>
                <a:ea typeface="Verdana" panose="020B0604030504040204" pitchFamily="34" charset="0"/>
              </a:rPr>
              <a:t>5. Cài đặt thực nghiệm</a:t>
            </a:r>
            <a:endParaRPr lang="en-US" sz="2600" b="1" dirty="0">
              <a:solidFill>
                <a:schemeClr val="bg1"/>
              </a:solidFill>
              <a:latin typeface="Verdana" panose="020B0604030504040204" pitchFamily="34" charset="0"/>
              <a:ea typeface="Verdana" panose="020B0604030504040204" pitchFamily="34" charset="0"/>
            </a:endParaRPr>
          </a:p>
        </p:txBody>
      </p:sp>
      <p:sp>
        <p:nvSpPr>
          <p:cNvPr id="3" name="Title 1">
            <a:extLst>
              <a:ext uri="{FF2B5EF4-FFF2-40B4-BE49-F238E27FC236}">
                <a16:creationId xmlns:a16="http://schemas.microsoft.com/office/drawing/2014/main" id="{03DC9A0F-A145-4F22-A58E-1D12D358EA00}"/>
              </a:ext>
            </a:extLst>
          </p:cNvPr>
          <p:cNvSpPr txBox="1">
            <a:spLocks/>
          </p:cNvSpPr>
          <p:nvPr/>
        </p:nvSpPr>
        <p:spPr>
          <a:xfrm>
            <a:off x="1094509" y="969818"/>
            <a:ext cx="10307782" cy="5715795"/>
          </a:xfrm>
          <a:prstGeom prst="rect">
            <a:avLst/>
          </a:prstGeom>
        </p:spPr>
        <p:txBody>
          <a:bodyPr vert="horz" lIns="91440" tIns="45720" rIns="91440" bIns="45720" rtlCol="0" anchor="t">
            <a:normAutofit fontScale="97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nSpc>
                <a:spcPct val="200000"/>
              </a:lnSpc>
            </a:pPr>
            <a:r>
              <a:rPr lang="en-US" sz="1800" dirty="0" err="1">
                <a:latin typeface="Verdana" panose="020B0604030504040204" pitchFamily="34" charset="0"/>
                <a:ea typeface="Verdana" panose="020B0604030504040204" pitchFamily="34" charset="0"/>
              </a:rPr>
              <a:t>Ảnh</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kết</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quả</a:t>
            </a:r>
            <a:endParaRPr lang="en-US" sz="1800" dirty="0">
              <a:latin typeface="Verdana" panose="020B0604030504040204" pitchFamily="34" charset="0"/>
              <a:ea typeface="Verdana" panose="020B0604030504040204" pitchFamily="34" charset="0"/>
            </a:endParaRPr>
          </a:p>
        </p:txBody>
      </p:sp>
      <p:pic>
        <p:nvPicPr>
          <p:cNvPr id="4" name="Picture 3">
            <a:extLst>
              <a:ext uri="{FF2B5EF4-FFF2-40B4-BE49-F238E27FC236}">
                <a16:creationId xmlns:a16="http://schemas.microsoft.com/office/drawing/2014/main" id="{C77F4008-38CE-482F-A026-14AEBF85E69D}"/>
              </a:ext>
            </a:extLst>
          </p:cNvPr>
          <p:cNvPicPr>
            <a:picLocks noChangeAspect="1"/>
          </p:cNvPicPr>
          <p:nvPr/>
        </p:nvPicPr>
        <p:blipFill>
          <a:blip r:embed="rId2"/>
          <a:stretch>
            <a:fillRect/>
          </a:stretch>
        </p:blipFill>
        <p:spPr>
          <a:xfrm>
            <a:off x="1594109" y="1587279"/>
            <a:ext cx="9563328" cy="4647268"/>
          </a:xfrm>
          <a:prstGeom prst="rect">
            <a:avLst/>
          </a:prstGeom>
          <a:ln w="12700" cap="sq" cmpd="thickThin">
            <a:solidFill>
              <a:srgbClr val="000000"/>
            </a:solidFill>
            <a:prstDash val="solid"/>
            <a:miter lim="800000"/>
          </a:ln>
          <a:effectLst>
            <a:innerShdw blurRad="76200">
              <a:srgbClr val="000000"/>
            </a:innerShdw>
          </a:effectLst>
        </p:spPr>
      </p:pic>
    </p:spTree>
    <p:extLst>
      <p:ext uri="{BB962C8B-B14F-4D97-AF65-F5344CB8AC3E}">
        <p14:creationId xmlns:p14="http://schemas.microsoft.com/office/powerpoint/2010/main" val="57216736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 name="Rectangle 47"/>
          <p:cNvSpPr/>
          <p:nvPr/>
        </p:nvSpPr>
        <p:spPr>
          <a:xfrm>
            <a:off x="1333896" y="327184"/>
            <a:ext cx="9823541" cy="492443"/>
          </a:xfrm>
          <a:prstGeom prst="rect">
            <a:avLst/>
          </a:prstGeom>
        </p:spPr>
        <p:txBody>
          <a:bodyPr wrap="square">
            <a:spAutoFit/>
          </a:bodyPr>
          <a:lstStyle/>
          <a:p>
            <a:r>
              <a:rPr lang="vi-VN" sz="2600" b="1" dirty="0">
                <a:solidFill>
                  <a:schemeClr val="bg1"/>
                </a:solidFill>
                <a:latin typeface="Verdana" panose="020B0604030504040204" pitchFamily="34" charset="0"/>
                <a:ea typeface="Verdana" panose="020B0604030504040204" pitchFamily="34" charset="0"/>
              </a:rPr>
              <a:t>5. Cài đặt thực nghiệm</a:t>
            </a:r>
            <a:endParaRPr lang="en-US" sz="2600" b="1" dirty="0">
              <a:solidFill>
                <a:schemeClr val="bg1"/>
              </a:solidFill>
              <a:latin typeface="Verdana" panose="020B0604030504040204" pitchFamily="34" charset="0"/>
              <a:ea typeface="Verdana" panose="020B0604030504040204" pitchFamily="34" charset="0"/>
            </a:endParaRPr>
          </a:p>
        </p:txBody>
      </p:sp>
      <p:sp>
        <p:nvSpPr>
          <p:cNvPr id="3" name="Title 1">
            <a:extLst>
              <a:ext uri="{FF2B5EF4-FFF2-40B4-BE49-F238E27FC236}">
                <a16:creationId xmlns:a16="http://schemas.microsoft.com/office/drawing/2014/main" id="{03DC9A0F-A145-4F22-A58E-1D12D358EA00}"/>
              </a:ext>
            </a:extLst>
          </p:cNvPr>
          <p:cNvSpPr txBox="1">
            <a:spLocks/>
          </p:cNvSpPr>
          <p:nvPr/>
        </p:nvSpPr>
        <p:spPr>
          <a:xfrm>
            <a:off x="1094509" y="969818"/>
            <a:ext cx="10307782" cy="5715795"/>
          </a:xfrm>
          <a:prstGeom prst="rect">
            <a:avLst/>
          </a:prstGeom>
        </p:spPr>
        <p:txBody>
          <a:bodyPr vert="horz" lIns="91440" tIns="45720" rIns="91440" bIns="45720" rtlCol="0" anchor="t">
            <a:normAutofit fontScale="97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nSpc>
                <a:spcPct val="200000"/>
              </a:lnSpc>
            </a:pPr>
            <a:r>
              <a:rPr lang="en-US" sz="1800" dirty="0" err="1">
                <a:latin typeface="Verdana" panose="020B0604030504040204" pitchFamily="34" charset="0"/>
                <a:ea typeface="Verdana" panose="020B0604030504040204" pitchFamily="34" charset="0"/>
              </a:rPr>
              <a:t>Ảnh</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kết</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quả</a:t>
            </a:r>
            <a:endParaRPr lang="en-US" sz="1800" dirty="0">
              <a:latin typeface="Verdana" panose="020B0604030504040204" pitchFamily="34" charset="0"/>
              <a:ea typeface="Verdana" panose="020B0604030504040204" pitchFamily="34" charset="0"/>
            </a:endParaRPr>
          </a:p>
        </p:txBody>
      </p:sp>
      <p:pic>
        <p:nvPicPr>
          <p:cNvPr id="4" name="Picture 3">
            <a:extLst>
              <a:ext uri="{FF2B5EF4-FFF2-40B4-BE49-F238E27FC236}">
                <a16:creationId xmlns:a16="http://schemas.microsoft.com/office/drawing/2014/main" id="{97E47472-CA5F-4EF9-9071-06714836FDF2}"/>
              </a:ext>
            </a:extLst>
          </p:cNvPr>
          <p:cNvPicPr/>
          <p:nvPr/>
        </p:nvPicPr>
        <p:blipFill>
          <a:blip r:embed="rId2"/>
          <a:stretch>
            <a:fillRect/>
          </a:stretch>
        </p:blipFill>
        <p:spPr>
          <a:xfrm>
            <a:off x="1333897" y="1676401"/>
            <a:ext cx="9763594" cy="4530436"/>
          </a:xfrm>
          <a:prstGeom prst="rect">
            <a:avLst/>
          </a:prstGeom>
          <a:ln w="6350" cap="sq" cmpd="thickThin">
            <a:solidFill>
              <a:srgbClr val="000000"/>
            </a:solidFill>
            <a:prstDash val="solid"/>
            <a:miter lim="800000"/>
          </a:ln>
          <a:effectLst>
            <a:innerShdw blurRad="76200">
              <a:srgbClr val="000000"/>
            </a:innerShdw>
          </a:effectLst>
        </p:spPr>
      </p:pic>
    </p:spTree>
    <p:extLst>
      <p:ext uri="{BB962C8B-B14F-4D97-AF65-F5344CB8AC3E}">
        <p14:creationId xmlns:p14="http://schemas.microsoft.com/office/powerpoint/2010/main" val="55422219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 name="Rectangle 47"/>
          <p:cNvSpPr/>
          <p:nvPr/>
        </p:nvSpPr>
        <p:spPr>
          <a:xfrm>
            <a:off x="1333896" y="327184"/>
            <a:ext cx="9823541" cy="492443"/>
          </a:xfrm>
          <a:prstGeom prst="rect">
            <a:avLst/>
          </a:prstGeom>
        </p:spPr>
        <p:txBody>
          <a:bodyPr wrap="square">
            <a:spAutoFit/>
          </a:bodyPr>
          <a:lstStyle/>
          <a:p>
            <a:r>
              <a:rPr lang="vi-VN" sz="2600" b="1" dirty="0">
                <a:solidFill>
                  <a:schemeClr val="bg1"/>
                </a:solidFill>
                <a:latin typeface="Verdana" panose="020B0604030504040204" pitchFamily="34" charset="0"/>
                <a:ea typeface="Verdana" panose="020B0604030504040204" pitchFamily="34" charset="0"/>
              </a:rPr>
              <a:t>5. Cài đặt thực nghiệm</a:t>
            </a:r>
            <a:endParaRPr lang="en-US" sz="2600" b="1" dirty="0">
              <a:solidFill>
                <a:schemeClr val="bg1"/>
              </a:solidFill>
              <a:latin typeface="Verdana" panose="020B0604030504040204" pitchFamily="34" charset="0"/>
              <a:ea typeface="Verdana" panose="020B0604030504040204" pitchFamily="34" charset="0"/>
            </a:endParaRPr>
          </a:p>
        </p:txBody>
      </p:sp>
      <p:sp>
        <p:nvSpPr>
          <p:cNvPr id="3" name="Title 1">
            <a:extLst>
              <a:ext uri="{FF2B5EF4-FFF2-40B4-BE49-F238E27FC236}">
                <a16:creationId xmlns:a16="http://schemas.microsoft.com/office/drawing/2014/main" id="{03DC9A0F-A145-4F22-A58E-1D12D358EA00}"/>
              </a:ext>
            </a:extLst>
          </p:cNvPr>
          <p:cNvSpPr txBox="1">
            <a:spLocks/>
          </p:cNvSpPr>
          <p:nvPr/>
        </p:nvSpPr>
        <p:spPr>
          <a:xfrm>
            <a:off x="1094509" y="969818"/>
            <a:ext cx="10307782" cy="5715795"/>
          </a:xfrm>
          <a:prstGeom prst="rect">
            <a:avLst/>
          </a:prstGeom>
        </p:spPr>
        <p:txBody>
          <a:bodyPr vert="horz" lIns="91440" tIns="45720" rIns="91440" bIns="45720" rtlCol="0" anchor="t">
            <a:normAutofit fontScale="97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nSpc>
                <a:spcPct val="200000"/>
              </a:lnSpc>
            </a:pPr>
            <a:r>
              <a:rPr lang="en-US" sz="1800" dirty="0" err="1">
                <a:latin typeface="Verdana" panose="020B0604030504040204" pitchFamily="34" charset="0"/>
                <a:ea typeface="Verdana" panose="020B0604030504040204" pitchFamily="34" charset="0"/>
              </a:rPr>
              <a:t>Ảnh</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kết</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quả</a:t>
            </a:r>
            <a:endParaRPr lang="en-US" sz="1800" dirty="0">
              <a:latin typeface="Verdana" panose="020B0604030504040204" pitchFamily="34" charset="0"/>
              <a:ea typeface="Verdana" panose="020B0604030504040204" pitchFamily="34" charset="0"/>
            </a:endParaRPr>
          </a:p>
        </p:txBody>
      </p:sp>
      <p:pic>
        <p:nvPicPr>
          <p:cNvPr id="4" name="Picture 3">
            <a:extLst>
              <a:ext uri="{FF2B5EF4-FFF2-40B4-BE49-F238E27FC236}">
                <a16:creationId xmlns:a16="http://schemas.microsoft.com/office/drawing/2014/main" id="{785F2A80-6D78-4F50-A5B7-BEF80B75AD86}"/>
              </a:ext>
            </a:extLst>
          </p:cNvPr>
          <p:cNvPicPr/>
          <p:nvPr/>
        </p:nvPicPr>
        <p:blipFill>
          <a:blip r:embed="rId2"/>
          <a:stretch>
            <a:fillRect/>
          </a:stretch>
        </p:blipFill>
        <p:spPr>
          <a:xfrm>
            <a:off x="1676399" y="1717964"/>
            <a:ext cx="9481037" cy="4812852"/>
          </a:xfrm>
          <a:prstGeom prst="rect">
            <a:avLst/>
          </a:prstGeom>
          <a:ln w="6350" cap="sq" cmpd="thickThin">
            <a:solidFill>
              <a:srgbClr val="000000"/>
            </a:solidFill>
            <a:prstDash val="solid"/>
            <a:miter lim="800000"/>
          </a:ln>
          <a:effectLst>
            <a:innerShdw blurRad="76200">
              <a:srgbClr val="000000"/>
            </a:innerShdw>
          </a:effectLst>
        </p:spPr>
      </p:pic>
    </p:spTree>
    <p:extLst>
      <p:ext uri="{BB962C8B-B14F-4D97-AF65-F5344CB8AC3E}">
        <p14:creationId xmlns:p14="http://schemas.microsoft.com/office/powerpoint/2010/main" val="82702338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 name="Rectangle 47"/>
          <p:cNvSpPr/>
          <p:nvPr/>
        </p:nvSpPr>
        <p:spPr>
          <a:xfrm>
            <a:off x="1333896" y="327184"/>
            <a:ext cx="9823541" cy="492443"/>
          </a:xfrm>
          <a:prstGeom prst="rect">
            <a:avLst/>
          </a:prstGeom>
        </p:spPr>
        <p:txBody>
          <a:bodyPr wrap="square">
            <a:spAutoFit/>
          </a:bodyPr>
          <a:lstStyle/>
          <a:p>
            <a:r>
              <a:rPr lang="vi-VN" sz="2600" b="1" dirty="0">
                <a:solidFill>
                  <a:schemeClr val="bg1"/>
                </a:solidFill>
                <a:latin typeface="Verdana" panose="020B0604030504040204" pitchFamily="34" charset="0"/>
                <a:ea typeface="Verdana" panose="020B0604030504040204" pitchFamily="34" charset="0"/>
              </a:rPr>
              <a:t>KẾT LUẬN</a:t>
            </a:r>
            <a:endParaRPr lang="en-US" sz="2600" b="1" dirty="0">
              <a:solidFill>
                <a:schemeClr val="bg1"/>
              </a:solidFill>
              <a:latin typeface="Verdana" panose="020B0604030504040204" pitchFamily="34" charset="0"/>
              <a:ea typeface="Verdana" panose="020B0604030504040204" pitchFamily="34" charset="0"/>
            </a:endParaRPr>
          </a:p>
        </p:txBody>
      </p:sp>
      <p:sp>
        <p:nvSpPr>
          <p:cNvPr id="3" name="Title 1">
            <a:extLst>
              <a:ext uri="{FF2B5EF4-FFF2-40B4-BE49-F238E27FC236}">
                <a16:creationId xmlns:a16="http://schemas.microsoft.com/office/drawing/2014/main" id="{2365E43C-F3FE-4778-B89D-3BEFE90D0A22}"/>
              </a:ext>
            </a:extLst>
          </p:cNvPr>
          <p:cNvSpPr txBox="1">
            <a:spLocks/>
          </p:cNvSpPr>
          <p:nvPr/>
        </p:nvSpPr>
        <p:spPr>
          <a:xfrm>
            <a:off x="1094509" y="969818"/>
            <a:ext cx="10307782" cy="5715795"/>
          </a:xfrm>
          <a:prstGeom prst="rect">
            <a:avLst/>
          </a:prstGeom>
        </p:spPr>
        <p:txBody>
          <a:bodyPr vert="horz" lIns="91440" tIns="45720" rIns="91440" bIns="45720" rtlCol="0" anchor="t">
            <a:normAutofit fontScale="9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nSpc>
                <a:spcPct val="200000"/>
              </a:lnSpc>
            </a:pPr>
            <a:r>
              <a:rPr lang="en-US" sz="1800" b="1" dirty="0" err="1">
                <a:latin typeface="Verdana" panose="020B0604030504040204" pitchFamily="34" charset="0"/>
                <a:ea typeface="Verdana" panose="020B0604030504040204" pitchFamily="34" charset="0"/>
              </a:rPr>
              <a:t>Kết</a:t>
            </a:r>
            <a:r>
              <a:rPr lang="en-US" sz="1800" b="1" dirty="0">
                <a:latin typeface="Verdana" panose="020B0604030504040204" pitchFamily="34" charset="0"/>
                <a:ea typeface="Verdana" panose="020B0604030504040204" pitchFamily="34" charset="0"/>
              </a:rPr>
              <a:t> </a:t>
            </a:r>
            <a:r>
              <a:rPr lang="en-US" sz="1800" b="1" dirty="0" err="1">
                <a:latin typeface="Verdana" panose="020B0604030504040204" pitchFamily="34" charset="0"/>
                <a:ea typeface="Verdana" panose="020B0604030504040204" pitchFamily="34" charset="0"/>
              </a:rPr>
              <a:t>quả</a:t>
            </a:r>
            <a:endParaRPr lang="en-US" sz="1800" b="1" dirty="0">
              <a:latin typeface="Verdana" panose="020B0604030504040204" pitchFamily="34" charset="0"/>
              <a:ea typeface="Verdana" panose="020B0604030504040204" pitchFamily="34" charset="0"/>
            </a:endParaRPr>
          </a:p>
          <a:p>
            <a:pPr marL="342900" indent="-342900">
              <a:lnSpc>
                <a:spcPct val="200000"/>
              </a:lnSpc>
              <a:buFont typeface="+mj-lt"/>
              <a:buAutoNum type="arabicPeriod"/>
            </a:pPr>
            <a:r>
              <a:rPr lang="en-US" sz="1800" dirty="0" err="1">
                <a:latin typeface="Verdana" panose="020B0604030504040204" pitchFamily="34" charset="0"/>
                <a:ea typeface="Verdana" panose="020B0604030504040204" pitchFamily="34" charset="0"/>
              </a:rPr>
              <a:t>Có</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bộ</a:t>
            </a:r>
            <a:r>
              <a:rPr lang="en-US" sz="1800" dirty="0">
                <a:latin typeface="Verdana" panose="020B0604030504040204" pitchFamily="34" charset="0"/>
                <a:ea typeface="Verdana" panose="020B0604030504040204" pitchFamily="34" charset="0"/>
              </a:rPr>
              <a:t> KPI </a:t>
            </a:r>
            <a:r>
              <a:rPr lang="en-US" sz="1800" dirty="0" err="1">
                <a:latin typeface="Verdana" panose="020B0604030504040204" pitchFamily="34" charset="0"/>
                <a:ea typeface="Verdana" panose="020B0604030504040204" pitchFamily="34" charset="0"/>
              </a:rPr>
              <a:t>và</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đánh</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giá</a:t>
            </a:r>
            <a:r>
              <a:rPr lang="en-US" sz="1800" dirty="0">
                <a:latin typeface="Verdana" panose="020B0604030504040204" pitchFamily="34" charset="0"/>
                <a:ea typeface="Verdana" panose="020B0604030504040204" pitchFamily="34" charset="0"/>
              </a:rPr>
              <a:t> KPI </a:t>
            </a:r>
            <a:r>
              <a:rPr lang="en-US" sz="1800" dirty="0" err="1">
                <a:latin typeface="Verdana" panose="020B0604030504040204" pitchFamily="34" charset="0"/>
                <a:ea typeface="Verdana" panose="020B0604030504040204" pitchFamily="34" charset="0"/>
              </a:rPr>
              <a:t>một</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cách</a:t>
            </a:r>
            <a:r>
              <a:rPr lang="en-US" sz="1800" dirty="0">
                <a:latin typeface="Verdana" panose="020B0604030504040204" pitchFamily="34" charset="0"/>
                <a:ea typeface="Verdana" panose="020B0604030504040204" pitchFamily="34" charset="0"/>
              </a:rPr>
              <a:t> chi </a:t>
            </a:r>
            <a:r>
              <a:rPr lang="en-US" sz="1800" dirty="0" err="1">
                <a:latin typeface="Verdana" panose="020B0604030504040204" pitchFamily="34" charset="0"/>
                <a:ea typeface="Verdana" panose="020B0604030504040204" pitchFamily="34" charset="0"/>
              </a:rPr>
              <a:t>tiết</a:t>
            </a:r>
            <a:endParaRPr lang="en-US" sz="1800" dirty="0">
              <a:latin typeface="Verdana" panose="020B0604030504040204" pitchFamily="34" charset="0"/>
              <a:ea typeface="Verdana" panose="020B0604030504040204" pitchFamily="34" charset="0"/>
            </a:endParaRPr>
          </a:p>
          <a:p>
            <a:pPr marL="342900" indent="-342900">
              <a:lnSpc>
                <a:spcPct val="200000"/>
              </a:lnSpc>
              <a:buFont typeface="+mj-lt"/>
              <a:buAutoNum type="arabicPeriod"/>
            </a:pPr>
            <a:r>
              <a:rPr lang="en-US" sz="1800" dirty="0" err="1">
                <a:latin typeface="Verdana" panose="020B0604030504040204" pitchFamily="34" charset="0"/>
                <a:ea typeface="Verdana" panose="020B0604030504040204" pitchFamily="34" charset="0"/>
              </a:rPr>
              <a:t>Tính</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khoán</a:t>
            </a:r>
            <a:r>
              <a:rPr lang="en-US" sz="1800" dirty="0">
                <a:latin typeface="Verdana" panose="020B0604030504040204" pitchFamily="34" charset="0"/>
                <a:ea typeface="Verdana" panose="020B0604030504040204" pitchFamily="34" charset="0"/>
              </a:rPr>
              <a:t> Công </a:t>
            </a:r>
            <a:r>
              <a:rPr lang="en-US" sz="1800" dirty="0" err="1">
                <a:latin typeface="Verdana" panose="020B0604030504040204" pitchFamily="34" charset="0"/>
                <a:ea typeface="Verdana" panose="020B0604030504040204" pitchFamily="34" charset="0"/>
              </a:rPr>
              <a:t>việc</a:t>
            </a:r>
            <a:endParaRPr lang="en-US" sz="1800" dirty="0">
              <a:latin typeface="Verdana" panose="020B0604030504040204" pitchFamily="34" charset="0"/>
              <a:ea typeface="Verdana" panose="020B0604030504040204" pitchFamily="34" charset="0"/>
            </a:endParaRPr>
          </a:p>
          <a:p>
            <a:pPr marL="342900" indent="-342900">
              <a:lnSpc>
                <a:spcPct val="200000"/>
              </a:lnSpc>
              <a:buFont typeface="+mj-lt"/>
              <a:buAutoNum type="arabicPeriod"/>
            </a:pPr>
            <a:r>
              <a:rPr lang="en-US" sz="1800" dirty="0" err="1">
                <a:latin typeface="Verdana" panose="020B0604030504040204" pitchFamily="34" charset="0"/>
                <a:ea typeface="Verdana" panose="020B0604030504040204" pitchFamily="34" charset="0"/>
              </a:rPr>
              <a:t>Tính</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khoán</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Giai</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đoạn</a:t>
            </a:r>
            <a:endParaRPr lang="en-US" sz="1800" dirty="0">
              <a:latin typeface="Verdana" panose="020B0604030504040204" pitchFamily="34" charset="0"/>
              <a:ea typeface="Verdana" panose="020B0604030504040204" pitchFamily="34" charset="0"/>
            </a:endParaRPr>
          </a:p>
          <a:p>
            <a:pPr marL="342900" indent="-342900">
              <a:lnSpc>
                <a:spcPct val="200000"/>
              </a:lnSpc>
              <a:buFont typeface="+mj-lt"/>
              <a:buAutoNum type="arabicPeriod"/>
            </a:pPr>
            <a:r>
              <a:rPr lang="en-US" sz="1800" dirty="0" err="1">
                <a:latin typeface="Verdana" panose="020B0604030504040204" pitchFamily="34" charset="0"/>
                <a:ea typeface="Verdana" panose="020B0604030504040204" pitchFamily="34" charset="0"/>
              </a:rPr>
              <a:t>Tính</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khoán</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tạm</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ứng</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hiệu</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quả</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dự</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án</a:t>
            </a:r>
            <a:endParaRPr lang="en-US" sz="1800" dirty="0">
              <a:latin typeface="Verdana" panose="020B0604030504040204" pitchFamily="34" charset="0"/>
              <a:ea typeface="Verdana" panose="020B0604030504040204" pitchFamily="34" charset="0"/>
            </a:endParaRPr>
          </a:p>
          <a:p>
            <a:pPr marL="342900" indent="-342900">
              <a:lnSpc>
                <a:spcPct val="200000"/>
              </a:lnSpc>
              <a:buFont typeface="+mj-lt"/>
              <a:buAutoNum type="arabicPeriod"/>
            </a:pPr>
            <a:r>
              <a:rPr lang="en-US" sz="1800" dirty="0" err="1">
                <a:latin typeface="Verdana" panose="020B0604030504040204" pitchFamily="34" charset="0"/>
                <a:ea typeface="Verdana" panose="020B0604030504040204" pitchFamily="34" charset="0"/>
              </a:rPr>
              <a:t>Quản</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lý</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các</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công</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việc</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không</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nằm</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trong</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dự</a:t>
            </a:r>
            <a:r>
              <a:rPr lang="en-US" sz="1800" dirty="0">
                <a:latin typeface="Verdana" panose="020B0604030504040204" pitchFamily="34" charset="0"/>
                <a:ea typeface="Verdana" panose="020B0604030504040204" pitchFamily="34" charset="0"/>
              </a:rPr>
              <a:t> </a:t>
            </a:r>
            <a:r>
              <a:rPr lang="en-US" sz="1800" dirty="0" err="1">
                <a:latin typeface="Verdana" panose="020B0604030504040204" pitchFamily="34" charset="0"/>
                <a:ea typeface="Verdana" panose="020B0604030504040204" pitchFamily="34" charset="0"/>
              </a:rPr>
              <a:t>án</a:t>
            </a:r>
            <a:endParaRPr lang="en-US" sz="1800" dirty="0">
              <a:latin typeface="Verdana" panose="020B0604030504040204" pitchFamily="34" charset="0"/>
              <a:ea typeface="Verdana" panose="020B0604030504040204" pitchFamily="34" charset="0"/>
            </a:endParaRPr>
          </a:p>
          <a:p>
            <a:pPr>
              <a:lnSpc>
                <a:spcPct val="200000"/>
              </a:lnSpc>
            </a:pPr>
            <a:r>
              <a:rPr lang="en-US" sz="1800" b="1" dirty="0" err="1">
                <a:latin typeface="Verdana" panose="020B0604030504040204" pitchFamily="34" charset="0"/>
                <a:ea typeface="Verdana" panose="020B0604030504040204" pitchFamily="34" charset="0"/>
              </a:rPr>
              <a:t>Tồn</a:t>
            </a:r>
            <a:r>
              <a:rPr lang="en-US" sz="1800" b="1" dirty="0">
                <a:latin typeface="Verdana" panose="020B0604030504040204" pitchFamily="34" charset="0"/>
                <a:ea typeface="Verdana" panose="020B0604030504040204" pitchFamily="34" charset="0"/>
              </a:rPr>
              <a:t> </a:t>
            </a:r>
            <a:r>
              <a:rPr lang="en-US" sz="1800" b="1" dirty="0" err="1">
                <a:latin typeface="Verdana" panose="020B0604030504040204" pitchFamily="34" charset="0"/>
                <a:ea typeface="Verdana" panose="020B0604030504040204" pitchFamily="34" charset="0"/>
              </a:rPr>
              <a:t>tại</a:t>
            </a:r>
            <a:endParaRPr lang="en-US" sz="1800" b="1" dirty="0">
              <a:latin typeface="Verdana" panose="020B0604030504040204" pitchFamily="34" charset="0"/>
              <a:ea typeface="Verdana" panose="020B0604030504040204" pitchFamily="34" charset="0"/>
            </a:endParaRPr>
          </a:p>
          <a:p>
            <a:pPr marL="342900" indent="-342900">
              <a:lnSpc>
                <a:spcPct val="200000"/>
              </a:lnSpc>
              <a:buFont typeface="Wingdings" panose="05000000000000000000" pitchFamily="2" charset="2"/>
              <a:buChar char="Ø"/>
            </a:pPr>
            <a:r>
              <a:rPr lang="vi-VN" sz="2000" dirty="0">
                <a:latin typeface="Verdana" panose="020B0604030504040204" pitchFamily="34" charset="0"/>
                <a:ea typeface="Verdana" panose="020B0604030504040204" pitchFamily="34" charset="0"/>
              </a:rPr>
              <a:t>Chưa tích hợp các hệ thống bên ngoài như Jira, quản lý file, quản lý thời gian</a:t>
            </a:r>
          </a:p>
          <a:p>
            <a:pPr marL="342900" indent="-342900">
              <a:lnSpc>
                <a:spcPct val="200000"/>
              </a:lnSpc>
              <a:buFont typeface="Wingdings" panose="05000000000000000000" pitchFamily="2" charset="2"/>
              <a:buChar char="Ø"/>
            </a:pPr>
            <a:r>
              <a:rPr lang="vi-VN" sz="2000" dirty="0">
                <a:latin typeface="Verdana" panose="020B0604030504040204" pitchFamily="34" charset="0"/>
                <a:ea typeface="Verdana" panose="020B0604030504040204" pitchFamily="34" charset="0"/>
              </a:rPr>
              <a:t>Chưa tạo Notification cho hệ thống.</a:t>
            </a:r>
          </a:p>
          <a:p>
            <a:pPr marL="342900" indent="-342900">
              <a:lnSpc>
                <a:spcPct val="200000"/>
              </a:lnSpc>
              <a:buFont typeface="Wingdings" panose="05000000000000000000" pitchFamily="2" charset="2"/>
              <a:buChar char="Ø"/>
            </a:pPr>
            <a:r>
              <a:rPr lang="vi-VN" sz="2000" dirty="0">
                <a:latin typeface="Verdana" panose="020B0604030504040204" pitchFamily="34" charset="0"/>
                <a:ea typeface="Verdana" panose="020B0604030504040204" pitchFamily="34" charset="0"/>
              </a:rPr>
              <a:t>Hệ thống mới chỉ được triển khai cho một phòng ban có số lượng người dùng nhỏ</a:t>
            </a:r>
          </a:p>
          <a:p>
            <a:pPr>
              <a:lnSpc>
                <a:spcPct val="200000"/>
              </a:lnSpc>
            </a:pPr>
            <a:endParaRPr lang="en-US" sz="1800" b="1" dirty="0">
              <a:latin typeface="Verdana" panose="020B0604030504040204" pitchFamily="34" charset="0"/>
              <a:ea typeface="Verdana" panose="020B0604030504040204" pitchFamily="34" charset="0"/>
            </a:endParaRPr>
          </a:p>
        </p:txBody>
      </p:sp>
    </p:spTree>
    <p:extLst>
      <p:ext uri="{BB962C8B-B14F-4D97-AF65-F5344CB8AC3E}">
        <p14:creationId xmlns:p14="http://schemas.microsoft.com/office/powerpoint/2010/main" val="171179729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 name="Rectangle 47"/>
          <p:cNvSpPr/>
          <p:nvPr/>
        </p:nvSpPr>
        <p:spPr>
          <a:xfrm>
            <a:off x="1333896" y="327184"/>
            <a:ext cx="9823541" cy="492443"/>
          </a:xfrm>
          <a:prstGeom prst="rect">
            <a:avLst/>
          </a:prstGeom>
        </p:spPr>
        <p:txBody>
          <a:bodyPr wrap="square">
            <a:spAutoFit/>
          </a:bodyPr>
          <a:lstStyle/>
          <a:p>
            <a:r>
              <a:rPr lang="vi-VN" sz="2600" b="1" dirty="0">
                <a:solidFill>
                  <a:schemeClr val="bg1"/>
                </a:solidFill>
                <a:latin typeface="Verdana" panose="020B0604030504040204" pitchFamily="34" charset="0"/>
                <a:ea typeface="Verdana" panose="020B0604030504040204" pitchFamily="34" charset="0"/>
              </a:rPr>
              <a:t>KẾT LUẬN</a:t>
            </a:r>
            <a:endParaRPr lang="en-US" sz="2600" b="1" dirty="0">
              <a:solidFill>
                <a:schemeClr val="bg1"/>
              </a:solidFill>
              <a:latin typeface="Verdana" panose="020B0604030504040204" pitchFamily="34" charset="0"/>
              <a:ea typeface="Verdana" panose="020B0604030504040204" pitchFamily="34" charset="0"/>
            </a:endParaRPr>
          </a:p>
        </p:txBody>
      </p:sp>
      <p:sp>
        <p:nvSpPr>
          <p:cNvPr id="3" name="Title 1">
            <a:extLst>
              <a:ext uri="{FF2B5EF4-FFF2-40B4-BE49-F238E27FC236}">
                <a16:creationId xmlns:a16="http://schemas.microsoft.com/office/drawing/2014/main" id="{2365E43C-F3FE-4778-B89D-3BEFE90D0A22}"/>
              </a:ext>
            </a:extLst>
          </p:cNvPr>
          <p:cNvSpPr txBox="1">
            <a:spLocks/>
          </p:cNvSpPr>
          <p:nvPr/>
        </p:nvSpPr>
        <p:spPr>
          <a:xfrm>
            <a:off x="1094509" y="969818"/>
            <a:ext cx="10307782" cy="5715795"/>
          </a:xfrm>
          <a:prstGeom prst="rect">
            <a:avLst/>
          </a:prstGeom>
        </p:spPr>
        <p:txBody>
          <a:bodyPr vert="horz" lIns="91440" tIns="45720" rIns="91440" bIns="45720" rtlCol="0" anchor="t">
            <a:normAutofit fontScale="97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nSpc>
                <a:spcPct val="200000"/>
              </a:lnSpc>
            </a:pPr>
            <a:r>
              <a:rPr lang="en-US" sz="1800" b="1" dirty="0" err="1">
                <a:latin typeface="Verdana" panose="020B0604030504040204" pitchFamily="34" charset="0"/>
                <a:ea typeface="Verdana" panose="020B0604030504040204" pitchFamily="34" charset="0"/>
              </a:rPr>
              <a:t>Hướng</a:t>
            </a:r>
            <a:r>
              <a:rPr lang="en-US" sz="1800" b="1" dirty="0">
                <a:latin typeface="Verdana" panose="020B0604030504040204" pitchFamily="34" charset="0"/>
                <a:ea typeface="Verdana" panose="020B0604030504040204" pitchFamily="34" charset="0"/>
              </a:rPr>
              <a:t> </a:t>
            </a:r>
            <a:r>
              <a:rPr lang="en-US" sz="1800" b="1" dirty="0" err="1">
                <a:latin typeface="Verdana" panose="020B0604030504040204" pitchFamily="34" charset="0"/>
                <a:ea typeface="Verdana" panose="020B0604030504040204" pitchFamily="34" charset="0"/>
              </a:rPr>
              <a:t>phát</a:t>
            </a:r>
            <a:r>
              <a:rPr lang="en-US" sz="1800" b="1" dirty="0">
                <a:latin typeface="Verdana" panose="020B0604030504040204" pitchFamily="34" charset="0"/>
                <a:ea typeface="Verdana" panose="020B0604030504040204" pitchFamily="34" charset="0"/>
              </a:rPr>
              <a:t> </a:t>
            </a:r>
            <a:r>
              <a:rPr lang="en-US" sz="1800" b="1" dirty="0" err="1">
                <a:latin typeface="Verdana" panose="020B0604030504040204" pitchFamily="34" charset="0"/>
                <a:ea typeface="Verdana" panose="020B0604030504040204" pitchFamily="34" charset="0"/>
              </a:rPr>
              <a:t>triển</a:t>
            </a:r>
            <a:endParaRPr lang="en-US" sz="1800" b="1" dirty="0">
              <a:latin typeface="Verdana" panose="020B0604030504040204" pitchFamily="34" charset="0"/>
              <a:ea typeface="Verdana" panose="020B0604030504040204" pitchFamily="34" charset="0"/>
            </a:endParaRPr>
          </a:p>
          <a:p>
            <a:pPr>
              <a:lnSpc>
                <a:spcPct val="200000"/>
              </a:lnSpc>
            </a:pPr>
            <a:endParaRPr lang="en-US" sz="1800" dirty="0">
              <a:latin typeface="Verdana" panose="020B0604030504040204" pitchFamily="34" charset="0"/>
              <a:ea typeface="Verdana" panose="020B0604030504040204" pitchFamily="34" charset="0"/>
            </a:endParaRPr>
          </a:p>
        </p:txBody>
      </p:sp>
    </p:spTree>
    <p:extLst>
      <p:ext uri="{BB962C8B-B14F-4D97-AF65-F5344CB8AC3E}">
        <p14:creationId xmlns:p14="http://schemas.microsoft.com/office/powerpoint/2010/main" val="171886474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 name="Rectangle 47"/>
          <p:cNvSpPr/>
          <p:nvPr/>
        </p:nvSpPr>
        <p:spPr>
          <a:xfrm>
            <a:off x="1333896" y="327184"/>
            <a:ext cx="9823541" cy="492443"/>
          </a:xfrm>
          <a:prstGeom prst="rect">
            <a:avLst/>
          </a:prstGeom>
        </p:spPr>
        <p:txBody>
          <a:bodyPr wrap="square">
            <a:spAutoFit/>
          </a:bodyPr>
          <a:lstStyle/>
          <a:p>
            <a:r>
              <a:rPr lang="vi-VN" sz="2600" b="1" dirty="0">
                <a:solidFill>
                  <a:schemeClr val="bg1"/>
                </a:solidFill>
                <a:latin typeface="Verdana" panose="020B0604030504040204" pitchFamily="34" charset="0"/>
                <a:ea typeface="Verdana" panose="020B0604030504040204" pitchFamily="34" charset="0"/>
              </a:rPr>
              <a:t>TÀI LIỆU THAM KHẢO</a:t>
            </a:r>
            <a:endParaRPr lang="en-US" sz="2600" b="1" dirty="0">
              <a:solidFill>
                <a:schemeClr val="bg1"/>
              </a:solidFill>
              <a:latin typeface="Verdana" panose="020B0604030504040204" pitchFamily="34" charset="0"/>
              <a:ea typeface="Verdana" panose="020B0604030504040204" pitchFamily="34" charset="0"/>
            </a:endParaRPr>
          </a:p>
        </p:txBody>
      </p:sp>
      <p:sp>
        <p:nvSpPr>
          <p:cNvPr id="3" name="Title 1">
            <a:extLst>
              <a:ext uri="{FF2B5EF4-FFF2-40B4-BE49-F238E27FC236}">
                <a16:creationId xmlns:a16="http://schemas.microsoft.com/office/drawing/2014/main" id="{BB8207C9-33D5-42CE-8AED-B246F125B8C9}"/>
              </a:ext>
            </a:extLst>
          </p:cNvPr>
          <p:cNvSpPr txBox="1">
            <a:spLocks/>
          </p:cNvSpPr>
          <p:nvPr/>
        </p:nvSpPr>
        <p:spPr>
          <a:xfrm>
            <a:off x="1094509" y="969818"/>
            <a:ext cx="10307782" cy="5715795"/>
          </a:xfrm>
          <a:prstGeom prst="rect">
            <a:avLst/>
          </a:prstGeom>
        </p:spPr>
        <p:txBody>
          <a:bodyPr vert="horz" lIns="91440" tIns="45720" rIns="91440" bIns="45720" rtlCol="0" anchor="t">
            <a:normAutofit fontScale="97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nSpc>
                <a:spcPct val="200000"/>
              </a:lnSpc>
            </a:pPr>
            <a:r>
              <a:rPr lang="en-US" sz="1800" dirty="0" err="1">
                <a:solidFill>
                  <a:srgbClr val="000000"/>
                </a:solidFill>
                <a:effectLst/>
                <a:latin typeface="Times New Roman" panose="02020603050405020304" pitchFamily="18" charset="0"/>
                <a:ea typeface="Calibri" panose="020F0502020204030204" pitchFamily="34" charset="0"/>
              </a:rPr>
              <a:t>Trần</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Bách</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Lưới</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điện</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và</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hệ</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thống</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điện</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Nhà</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xuất</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bản</a:t>
            </a:r>
            <a:r>
              <a:rPr lang="en-US" sz="1800" dirty="0">
                <a:solidFill>
                  <a:srgbClr val="000000"/>
                </a:solidFill>
                <a:effectLst/>
                <a:latin typeface="Times New Roman" panose="02020603050405020304" pitchFamily="18" charset="0"/>
                <a:ea typeface="Calibri" panose="020F0502020204030204" pitchFamily="34" charset="0"/>
              </a:rPr>
              <a:t> Khoa </a:t>
            </a:r>
            <a:r>
              <a:rPr lang="en-US" sz="1800" dirty="0" err="1">
                <a:solidFill>
                  <a:srgbClr val="000000"/>
                </a:solidFill>
                <a:effectLst/>
                <a:latin typeface="Times New Roman" panose="02020603050405020304" pitchFamily="18" charset="0"/>
                <a:ea typeface="Calibri" panose="020F0502020204030204" pitchFamily="34" charset="0"/>
              </a:rPr>
              <a:t>học</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Kỹ</a:t>
            </a:r>
            <a:r>
              <a:rPr lang="en-US" sz="1800" dirty="0">
                <a:solidFill>
                  <a:srgbClr val="000000"/>
                </a:solidFill>
                <a:effectLst/>
                <a:latin typeface="Times New Roman" panose="02020603050405020304" pitchFamily="18" charset="0"/>
                <a:ea typeface="Calibri" panose="020F0502020204030204" pitchFamily="34" charset="0"/>
              </a:rPr>
              <a:t> </a:t>
            </a:r>
            <a:r>
              <a:rPr lang="en-US" sz="1800" dirty="0" err="1">
                <a:solidFill>
                  <a:srgbClr val="000000"/>
                </a:solidFill>
                <a:effectLst/>
                <a:latin typeface="Times New Roman" panose="02020603050405020304" pitchFamily="18" charset="0"/>
                <a:ea typeface="Calibri" panose="020F0502020204030204" pitchFamily="34" charset="0"/>
              </a:rPr>
              <a:t>thuật</a:t>
            </a:r>
            <a:r>
              <a:rPr lang="en-US" sz="1800" dirty="0">
                <a:solidFill>
                  <a:srgbClr val="000000"/>
                </a:solidFill>
                <a:effectLst/>
                <a:latin typeface="Times New Roman" panose="02020603050405020304" pitchFamily="18" charset="0"/>
                <a:ea typeface="Calibri" panose="020F0502020204030204" pitchFamily="34" charset="0"/>
              </a:rPr>
              <a:t>, 2004</a:t>
            </a:r>
          </a:p>
          <a:p>
            <a:pPr>
              <a:lnSpc>
                <a:spcPct val="200000"/>
              </a:lnSpc>
            </a:pPr>
            <a:r>
              <a:rPr lang="vi-VN" sz="1800" dirty="0">
                <a:solidFill>
                  <a:srgbClr val="000000"/>
                </a:solidFill>
                <a:effectLst/>
                <a:latin typeface="Times New Roman" panose="02020603050405020304" pitchFamily="18" charset="0"/>
                <a:ea typeface="Calibri" panose="020F0502020204030204" pitchFamily="34" charset="0"/>
              </a:rPr>
              <a:t>Abe Masayuki, “A Practical Approach to Accurate Fault Location on Extra High Voltage Teed Feeders,” </a:t>
            </a:r>
            <a:r>
              <a:rPr lang="vi-VN" sz="1800" i="1" dirty="0">
                <a:solidFill>
                  <a:srgbClr val="000000"/>
                </a:solidFill>
                <a:effectLst/>
                <a:latin typeface="Times New Roman" panose="02020603050405020304" pitchFamily="18" charset="0"/>
                <a:ea typeface="Calibri" panose="020F0502020204030204" pitchFamily="34" charset="0"/>
              </a:rPr>
              <a:t>IEEE Transaction on Power Delivery, </a:t>
            </a:r>
            <a:r>
              <a:rPr lang="vi-VN" sz="1800" dirty="0">
                <a:solidFill>
                  <a:srgbClr val="000000"/>
                </a:solidFill>
                <a:effectLst/>
                <a:latin typeface="Times New Roman" panose="02020603050405020304" pitchFamily="18" charset="0"/>
                <a:ea typeface="Calibri" panose="020F0502020204030204" pitchFamily="34" charset="0"/>
              </a:rPr>
              <a:t>pp. 159-168, 1995</a:t>
            </a:r>
            <a:endParaRPr lang="en-US" sz="1800" dirty="0">
              <a:solidFill>
                <a:srgbClr val="000000"/>
              </a:solidFill>
              <a:effectLst/>
              <a:latin typeface="Times New Roman" panose="02020603050405020304" pitchFamily="18" charset="0"/>
              <a:ea typeface="Calibri" panose="020F0502020204030204" pitchFamily="34" charset="0"/>
            </a:endParaRPr>
          </a:p>
          <a:p>
            <a:pPr>
              <a:lnSpc>
                <a:spcPct val="200000"/>
              </a:lnSpc>
            </a:pPr>
            <a:r>
              <a:rPr lang="en-US" sz="1800" dirty="0" err="1">
                <a:solidFill>
                  <a:srgbClr val="000000"/>
                </a:solidFill>
                <a:latin typeface="Times New Roman" panose="02020603050405020304" pitchFamily="18" charset="0"/>
                <a:ea typeface="Verdana" panose="020B0604030504040204" pitchFamily="34" charset="0"/>
              </a:rPr>
              <a:t>Tài</a:t>
            </a:r>
            <a:r>
              <a:rPr lang="en-US" sz="1800" dirty="0">
                <a:solidFill>
                  <a:srgbClr val="000000"/>
                </a:solidFill>
                <a:latin typeface="Times New Roman" panose="02020603050405020304" pitchFamily="18" charset="0"/>
                <a:ea typeface="Verdana" panose="020B0604030504040204" pitchFamily="34" charset="0"/>
              </a:rPr>
              <a:t> </a:t>
            </a:r>
            <a:r>
              <a:rPr lang="en-US" sz="1800" dirty="0" err="1">
                <a:solidFill>
                  <a:srgbClr val="000000"/>
                </a:solidFill>
                <a:latin typeface="Times New Roman" panose="02020603050405020304" pitchFamily="18" charset="0"/>
                <a:ea typeface="Verdana" panose="020B0604030504040204" pitchFamily="34" charset="0"/>
              </a:rPr>
              <a:t>liệu</a:t>
            </a:r>
            <a:r>
              <a:rPr lang="en-US" sz="1800" dirty="0">
                <a:solidFill>
                  <a:srgbClr val="000000"/>
                </a:solidFill>
                <a:latin typeface="Times New Roman" panose="02020603050405020304" pitchFamily="18" charset="0"/>
                <a:ea typeface="Verdana" panose="020B0604030504040204" pitchFamily="34" charset="0"/>
              </a:rPr>
              <a:t>, slide </a:t>
            </a:r>
            <a:r>
              <a:rPr lang="en-US" sz="1800" dirty="0" err="1">
                <a:solidFill>
                  <a:srgbClr val="000000"/>
                </a:solidFill>
                <a:latin typeface="Times New Roman" panose="02020603050405020304" pitchFamily="18" charset="0"/>
                <a:ea typeface="Verdana" panose="020B0604030504040204" pitchFamily="34" charset="0"/>
              </a:rPr>
              <a:t>công</a:t>
            </a:r>
            <a:r>
              <a:rPr lang="en-US" sz="1800" dirty="0">
                <a:solidFill>
                  <a:srgbClr val="000000"/>
                </a:solidFill>
                <a:latin typeface="Times New Roman" panose="02020603050405020304" pitchFamily="18" charset="0"/>
                <a:ea typeface="Verdana" panose="020B0604030504040204" pitchFamily="34" charset="0"/>
              </a:rPr>
              <a:t> </a:t>
            </a:r>
            <a:r>
              <a:rPr lang="en-US" sz="1800" dirty="0" err="1">
                <a:solidFill>
                  <a:srgbClr val="000000"/>
                </a:solidFill>
                <a:latin typeface="Times New Roman" panose="02020603050405020304" pitchFamily="18" charset="0"/>
                <a:ea typeface="Verdana" panose="020B0604030504040204" pitchFamily="34" charset="0"/>
              </a:rPr>
              <a:t>thức</a:t>
            </a:r>
            <a:r>
              <a:rPr lang="en-US" sz="1800" dirty="0">
                <a:solidFill>
                  <a:srgbClr val="000000"/>
                </a:solidFill>
                <a:latin typeface="Times New Roman" panose="02020603050405020304" pitchFamily="18" charset="0"/>
                <a:ea typeface="Verdana" panose="020B0604030504040204" pitchFamily="34" charset="0"/>
              </a:rPr>
              <a:t> </a:t>
            </a:r>
            <a:r>
              <a:rPr lang="en-US" sz="1800" dirty="0" err="1">
                <a:solidFill>
                  <a:srgbClr val="000000"/>
                </a:solidFill>
                <a:latin typeface="Times New Roman" panose="02020603050405020304" pitchFamily="18" charset="0"/>
                <a:ea typeface="Verdana" panose="020B0604030504040204" pitchFamily="34" charset="0"/>
              </a:rPr>
              <a:t>tính</a:t>
            </a:r>
            <a:r>
              <a:rPr lang="en-US" sz="1800" dirty="0">
                <a:solidFill>
                  <a:srgbClr val="000000"/>
                </a:solidFill>
                <a:latin typeface="Times New Roman" panose="02020603050405020304" pitchFamily="18" charset="0"/>
                <a:ea typeface="Verdana" panose="020B0604030504040204" pitchFamily="34" charset="0"/>
              </a:rPr>
              <a:t> </a:t>
            </a:r>
            <a:r>
              <a:rPr lang="en-US" sz="1800" dirty="0" err="1">
                <a:solidFill>
                  <a:srgbClr val="000000"/>
                </a:solidFill>
                <a:latin typeface="Times New Roman" panose="02020603050405020304" pitchFamily="18" charset="0"/>
                <a:ea typeface="Verdana" panose="020B0604030504040204" pitchFamily="34" charset="0"/>
              </a:rPr>
              <a:t>khoán</a:t>
            </a:r>
            <a:r>
              <a:rPr lang="en-US" sz="1800" dirty="0">
                <a:solidFill>
                  <a:srgbClr val="000000"/>
                </a:solidFill>
                <a:latin typeface="Times New Roman" panose="02020603050405020304" pitchFamily="18" charset="0"/>
                <a:ea typeface="Verdana" panose="020B0604030504040204" pitchFamily="34" charset="0"/>
              </a:rPr>
              <a:t> FPT</a:t>
            </a:r>
          </a:p>
          <a:p>
            <a:pPr>
              <a:lnSpc>
                <a:spcPct val="200000"/>
              </a:lnSpc>
            </a:pPr>
            <a:endParaRPr lang="en-US" sz="1800" dirty="0">
              <a:latin typeface="Verdana" panose="020B0604030504040204" pitchFamily="34" charset="0"/>
              <a:ea typeface="Verdana" panose="020B0604030504040204" pitchFamily="34" charset="0"/>
            </a:endParaRPr>
          </a:p>
        </p:txBody>
      </p:sp>
    </p:spTree>
    <p:extLst>
      <p:ext uri="{BB962C8B-B14F-4D97-AF65-F5344CB8AC3E}">
        <p14:creationId xmlns:p14="http://schemas.microsoft.com/office/powerpoint/2010/main" val="133050667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WordArt 6"/>
          <p:cNvSpPr>
            <a:spLocks noChangeArrowheads="1" noChangeShapeType="1" noTextEdit="1"/>
          </p:cNvSpPr>
          <p:nvPr/>
        </p:nvSpPr>
        <p:spPr bwMode="gray">
          <a:xfrm>
            <a:off x="4399085" y="2819400"/>
            <a:ext cx="4343400" cy="609600"/>
          </a:xfrm>
          <a:prstGeom prst="rect">
            <a:avLst/>
          </a:prstGeom>
        </p:spPr>
        <p:txBody>
          <a:bodyPr wrap="none" fromWordArt="1">
            <a:prstTxWarp prst="textDeflate">
              <a:avLst>
                <a:gd name="adj" fmla="val 0"/>
              </a:avLst>
            </a:prstTxWarp>
          </a:bodyPr>
          <a:lstStyle/>
          <a:p>
            <a:pPr algn="ctr"/>
            <a:r>
              <a:rPr lang="en-US" sz="3600" b="1" kern="10">
                <a:ln w="28575">
                  <a:solidFill>
                    <a:srgbClr val="FFFFFF"/>
                  </a:solidFill>
                  <a:round/>
                  <a:headEnd/>
                  <a:tailEnd/>
                </a:ln>
                <a:solidFill>
                  <a:schemeClr val="accent2">
                    <a:lumMod val="75000"/>
                  </a:schemeClr>
                </a:solidFill>
                <a:effectLst>
                  <a:glow rad="228600">
                    <a:schemeClr val="accent3">
                      <a:satMod val="175000"/>
                      <a:alpha val="40000"/>
                    </a:schemeClr>
                  </a:glow>
                  <a:outerShdw dist="71842" dir="2700000" algn="ctr" rotWithShape="0">
                    <a:schemeClr val="tx1">
                      <a:alpha val="50000"/>
                    </a:schemeClr>
                  </a:outerShdw>
                </a:effectLst>
                <a:cs typeface="Arial" panose="020B0604020202020204" pitchFamily="34" charset="0"/>
              </a:rPr>
              <a:t>Thank You!</a:t>
            </a:r>
          </a:p>
        </p:txBody>
      </p:sp>
    </p:spTree>
    <p:extLst>
      <p:ext uri="{BB962C8B-B14F-4D97-AF65-F5344CB8AC3E}">
        <p14:creationId xmlns:p14="http://schemas.microsoft.com/office/powerpoint/2010/main" val="26271199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0"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4714</TotalTime>
  <Words>3227</Words>
  <Application>Microsoft Office PowerPoint</Application>
  <PresentationFormat>Widescreen</PresentationFormat>
  <Paragraphs>344</Paragraphs>
  <Slides>37</Slides>
  <Notes>3</Notes>
  <HiddenSlides>0</HiddenSlides>
  <MMClips>0</MMClips>
  <ScaleCrop>false</ScaleCrop>
  <HeadingPairs>
    <vt:vector size="6" baseType="variant">
      <vt:variant>
        <vt:lpstr>Fonts Used</vt:lpstr>
      </vt:variant>
      <vt:variant>
        <vt:i4>13</vt:i4>
      </vt:variant>
      <vt:variant>
        <vt:lpstr>Theme</vt:lpstr>
      </vt:variant>
      <vt:variant>
        <vt:i4>1</vt:i4>
      </vt:variant>
      <vt:variant>
        <vt:lpstr>Slide Titles</vt:lpstr>
      </vt:variant>
      <vt:variant>
        <vt:i4>37</vt:i4>
      </vt:variant>
    </vt:vector>
  </HeadingPairs>
  <TitlesOfParts>
    <vt:vector size="51" baseType="lpstr">
      <vt:lpstr>Arial</vt:lpstr>
      <vt:lpstr>Calibri</vt:lpstr>
      <vt:lpstr>Calibri Light</vt:lpstr>
      <vt:lpstr>Cambria Math</vt:lpstr>
      <vt:lpstr>Gill Sans</vt:lpstr>
      <vt:lpstr>Lato</vt:lpstr>
      <vt:lpstr>Lato Regular</vt:lpstr>
      <vt:lpstr>Open Sans</vt:lpstr>
      <vt:lpstr>Sinkin Sans 600 SemiBold</vt:lpstr>
      <vt:lpstr>Symbol</vt:lpstr>
      <vt:lpstr>Times New Roman</vt:lpstr>
      <vt:lpstr>Verdana</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Tran Minh Luong (FIS HR HN)</dc:creator>
  <cp:lastModifiedBy>Nguyễn Công Sơn</cp:lastModifiedBy>
  <cp:revision>225</cp:revision>
  <dcterms:created xsi:type="dcterms:W3CDTF">2020-10-28T02:11:29Z</dcterms:created>
  <dcterms:modified xsi:type="dcterms:W3CDTF">2021-03-14T11:30:48Z</dcterms:modified>
</cp:coreProperties>
</file>