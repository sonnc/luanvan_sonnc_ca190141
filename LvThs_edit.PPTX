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310" r:id="rId2"/>
    <p:sldId id="312" r:id="rId3"/>
    <p:sldId id="320" r:id="rId4"/>
    <p:sldId id="321" r:id="rId5"/>
    <p:sldId id="322" r:id="rId6"/>
    <p:sldId id="323" r:id="rId7"/>
    <p:sldId id="324" r:id="rId8"/>
    <p:sldId id="26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o Van Truong (FIS HR HN)" initials="NVT(HH" lastIdx="1" clrIdx="0">
    <p:extLst>
      <p:ext uri="{19B8F6BF-5375-455C-9EA6-DF929625EA0E}">
        <p15:presenceInfo xmlns:p15="http://schemas.microsoft.com/office/powerpoint/2012/main" userId="Ngo Van Truong (FIS HR H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8944"/>
    <a:srgbClr val="660033"/>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5" autoAdjust="0"/>
    <p:restoredTop sz="62983" autoAdjust="0"/>
  </p:normalViewPr>
  <p:slideViewPr>
    <p:cSldViewPr snapToGrid="0">
      <p:cViewPr varScale="1">
        <p:scale>
          <a:sx n="111" d="100"/>
          <a:sy n="111" d="100"/>
        </p:scale>
        <p:origin x="34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209061-6C39-450F-A509-8FFE57C1251C}" type="datetimeFigureOut">
              <a:rPr lang="en-US" smtClean="0"/>
              <a:t>3/15/2021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F9A174-BD37-4CF9-A3FC-30F95FD3068F}" type="slidenum">
              <a:rPr lang="en-US" smtClean="0"/>
              <a:t>‹#›</a:t>
            </a:fld>
            <a:endParaRPr lang="en-US"/>
          </a:p>
        </p:txBody>
      </p:sp>
    </p:spTree>
    <p:extLst>
      <p:ext uri="{BB962C8B-B14F-4D97-AF65-F5344CB8AC3E}">
        <p14:creationId xmlns:p14="http://schemas.microsoft.com/office/powerpoint/2010/main" val="2256156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r>
              <a:rPr lang="vi-VN" sz="1200" dirty="0">
                <a:latin typeface="Verdana" panose="020B0604030504040204" pitchFamily="34" charset="0"/>
                <a:ea typeface="Verdana" panose="020B0604030504040204" pitchFamily="34" charset="0"/>
              </a:rPr>
              <a:t>Tạo công việc, nhiệm vụ: Đó là đưa ra các công việc cần thực hiện có gắn với một mục đích nào đó và phải đảm bảo các yếu tố về thời gian, con người, nguồn lực, trí tuệ</a:t>
            </a:r>
          </a:p>
          <a:p>
            <a:pPr>
              <a:lnSpc>
                <a:spcPct val="150000"/>
              </a:lnSpc>
            </a:pPr>
            <a:r>
              <a:rPr lang="vi-VN" sz="1200" dirty="0">
                <a:latin typeface="Verdana" panose="020B0604030504040204" pitchFamily="34" charset="0"/>
                <a:ea typeface="Verdana" panose="020B0604030504040204" pitchFamily="34" charset="0"/>
              </a:rPr>
              <a:t>Sắp xếp và ưu tiên: đó là việc quan trọng nhất trong quản lý công việc. Bạn cần xem tất cả các nhân tố có thể ảnh hưởng đến việc thực hiện công việc của bạn và việc đánh giá của cấp trên đối với bạn. Do đó, cần phải thiết lập thứ tự ưu tiên các công việc và hoàn thành một cách hợp lý nhất.</a:t>
            </a:r>
          </a:p>
          <a:p>
            <a:pPr>
              <a:lnSpc>
                <a:spcPct val="150000"/>
              </a:lnSpc>
            </a:pPr>
            <a:r>
              <a:rPr lang="vi-VN" sz="1200" dirty="0">
                <a:latin typeface="Verdana" panose="020B0604030504040204" pitchFamily="34" charset="0"/>
                <a:ea typeface="Verdana" panose="020B0604030504040204" pitchFamily="34" charset="0"/>
              </a:rPr>
              <a:t>Theo dõi chặt chẽ các công việc của bạn hoặc công việc của cấp dưới. Nó được thực hiện khi một người bắt đầu xử lý công việc. Mọi hoạt động phải được kiểm soát một cách chặt chẽ để có thể thống kê, hoặc có giải pháp kịp thời nếu có tình huống bất ngờ xảy ra.</a:t>
            </a:r>
            <a:endParaRPr lang="en-US" sz="1200" dirty="0">
              <a:latin typeface="Verdana" panose="020B0604030504040204" pitchFamily="34" charset="0"/>
              <a:ea typeface="Verdana" panose="020B0604030504040204" pitchFamily="34" charset="0"/>
            </a:endParaRPr>
          </a:p>
          <a:p>
            <a:pPr>
              <a:lnSpc>
                <a:spcPct val="150000"/>
              </a:lnSpc>
            </a:pPr>
            <a:endParaRPr lang="en-US" sz="1200" dirty="0">
              <a:latin typeface="Verdana" panose="020B0604030504040204" pitchFamily="34" charset="0"/>
              <a:ea typeface="Verdana" panose="020B0604030504040204" pitchFamily="34" charset="0"/>
            </a:endParaRPr>
          </a:p>
          <a:p>
            <a:pPr>
              <a:lnSpc>
                <a:spcPct val="150000"/>
              </a:lnSpc>
            </a:pPr>
            <a:r>
              <a:rPr lang="en-US" sz="1200" dirty="0">
                <a:latin typeface="Verdana" panose="020B0604030504040204" pitchFamily="34" charset="0"/>
                <a:ea typeface="Verdana" panose="020B0604030504040204" pitchFamily="34" charset="0"/>
              </a:rPr>
              <a:t>--</a:t>
            </a:r>
          </a:p>
          <a:p>
            <a:pPr>
              <a:lnSpc>
                <a:spcPct val="150000"/>
              </a:lnSpc>
            </a:pP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đánh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giá</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cần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phải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xác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từ</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quan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trọng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đó</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một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kết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nhân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viên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mang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lượng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kết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mang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như</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thái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độ</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chấp</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hành</a:t>
            </a:r>
            <a:r>
              <a:rPr lang="en-US" sz="1800" dirty="0">
                <a:solidFill>
                  <a:srgbClr val="000000"/>
                </a:solidFill>
                <a:effectLst/>
                <a:latin typeface="Times New Roman" panose="02020603050405020304" pitchFamily="18" charset="0"/>
                <a:ea typeface="Calibri" panose="020F0502020204030204" pitchFamily="34" charset="0"/>
              </a:rPr>
              <a:t> hay </a:t>
            </a:r>
            <a:r>
              <a:rPr lang="en-US" sz="1800" dirty="0" err="1">
                <a:solidFill>
                  <a:srgbClr val="000000"/>
                </a:solidFill>
                <a:effectLst/>
                <a:latin typeface="Times New Roman" panose="02020603050405020304" pitchFamily="18" charset="0"/>
                <a:ea typeface="Calibri" panose="020F0502020204030204" pitchFamily="34" charset="0"/>
              </a:rPr>
              <a:t>năng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a:t>
            </a:r>
            <a:endParaRPr lang="vi-VN" sz="1200" dirty="0">
              <a:latin typeface="Verdana" panose="020B0604030504040204" pitchFamily="34" charset="0"/>
              <a:ea typeface="Verdana" panose="020B0604030504040204" pitchFamily="34" charset="0"/>
            </a:endParaRPr>
          </a:p>
          <a:p>
            <a:pPr>
              <a:lnSpc>
                <a:spcPct val="150000"/>
              </a:lnSpc>
            </a:pPr>
            <a:endParaRPr lang="en-US" sz="1200" b="1" dirty="0">
              <a:latin typeface="Verdana" panose="020B0604030504040204" pitchFamily="34" charset="0"/>
              <a:ea typeface="Verdana" panose="020B0604030504040204" pitchFamily="34" charset="0"/>
            </a:endParaRPr>
          </a:p>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3</a:t>
            </a:fld>
            <a:endParaRPr lang="en-US"/>
          </a:p>
        </p:txBody>
      </p:sp>
    </p:spTree>
    <p:extLst>
      <p:ext uri="{BB962C8B-B14F-4D97-AF65-F5344CB8AC3E}">
        <p14:creationId xmlns:p14="http://schemas.microsoft.com/office/powerpoint/2010/main" val="796110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r>
              <a:rPr lang="vi-VN" sz="1200" dirty="0">
                <a:latin typeface="Verdana" panose="020B0604030504040204" pitchFamily="34" charset="0"/>
                <a:ea typeface="Verdana" panose="020B0604030504040204" pitchFamily="34" charset="0"/>
              </a:rPr>
              <a:t>Tạo công việc, nhiệm vụ: Đó là đưa ra các công việc cần thực hiện có gắn với một mục đích nào đó và phải đảm bảo các yếu tố về thời gian, con người, nguồn lực, trí tuệ</a:t>
            </a:r>
          </a:p>
          <a:p>
            <a:pPr>
              <a:lnSpc>
                <a:spcPct val="150000"/>
              </a:lnSpc>
            </a:pPr>
            <a:r>
              <a:rPr lang="vi-VN" sz="1200" dirty="0">
                <a:latin typeface="Verdana" panose="020B0604030504040204" pitchFamily="34" charset="0"/>
                <a:ea typeface="Verdana" panose="020B0604030504040204" pitchFamily="34" charset="0"/>
              </a:rPr>
              <a:t>Sắp xếp và ưu tiên: đó là việc quan trọng nhất trong quản lý công việc. Bạn cần xem tất cả các nhân tố có thể ảnh hưởng đến việc thực hiện công việc của bạn và việc đánh giá của cấp trên đối với bạn. Do đó, cần phải thiết lập thứ tự ưu tiên các công việc và hoàn thành một cách hợp lý nhất.</a:t>
            </a:r>
          </a:p>
          <a:p>
            <a:pPr>
              <a:lnSpc>
                <a:spcPct val="150000"/>
              </a:lnSpc>
            </a:pPr>
            <a:r>
              <a:rPr lang="vi-VN" sz="1200" dirty="0">
                <a:latin typeface="Verdana" panose="020B0604030504040204" pitchFamily="34" charset="0"/>
                <a:ea typeface="Verdana" panose="020B0604030504040204" pitchFamily="34" charset="0"/>
              </a:rPr>
              <a:t>Theo dõi chặt chẽ các công việc của bạn hoặc công việc của cấp dưới. Nó được thực hiện khi một người bắt đầu xử lý công việc. Mọi hoạt động phải được kiểm soát một cách chặt chẽ để có thể thống kê, hoặc có giải pháp kịp thời nếu có tình huống bất ngờ xảy ra.</a:t>
            </a:r>
            <a:endParaRPr lang="en-US" sz="1200" dirty="0">
              <a:latin typeface="Verdana" panose="020B0604030504040204" pitchFamily="34" charset="0"/>
              <a:ea typeface="Verdana" panose="020B0604030504040204" pitchFamily="34" charset="0"/>
            </a:endParaRPr>
          </a:p>
          <a:p>
            <a:pPr>
              <a:lnSpc>
                <a:spcPct val="150000"/>
              </a:lnSpc>
            </a:pPr>
            <a:endParaRPr lang="en-US" sz="1200" dirty="0">
              <a:latin typeface="Verdana" panose="020B0604030504040204" pitchFamily="34" charset="0"/>
              <a:ea typeface="Verdana" panose="020B0604030504040204" pitchFamily="34" charset="0"/>
            </a:endParaRPr>
          </a:p>
          <a:p>
            <a:pPr>
              <a:lnSpc>
                <a:spcPct val="150000"/>
              </a:lnSpc>
            </a:pPr>
            <a:r>
              <a:rPr lang="en-US" sz="1200" dirty="0">
                <a:latin typeface="Verdana" panose="020B0604030504040204" pitchFamily="34" charset="0"/>
                <a:ea typeface="Verdana" panose="020B0604030504040204" pitchFamily="34" charset="0"/>
              </a:rPr>
              <a:t>--</a:t>
            </a:r>
          </a:p>
          <a:p>
            <a:pPr>
              <a:lnSpc>
                <a:spcPct val="150000"/>
              </a:lnSpc>
            </a:pP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đánh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giá</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cần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phải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xác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từ</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quan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trọng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đó</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một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kết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nhân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viên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mang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lượng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kết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mang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như</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thái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độ</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chấp</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hành</a:t>
            </a:r>
            <a:r>
              <a:rPr lang="en-US" sz="1800" dirty="0">
                <a:solidFill>
                  <a:srgbClr val="000000"/>
                </a:solidFill>
                <a:effectLst/>
                <a:latin typeface="Times New Roman" panose="02020603050405020304" pitchFamily="18" charset="0"/>
                <a:ea typeface="Calibri" panose="020F0502020204030204" pitchFamily="34" charset="0"/>
              </a:rPr>
              <a:t> hay </a:t>
            </a:r>
            <a:r>
              <a:rPr lang="en-US" sz="1800" dirty="0" err="1">
                <a:solidFill>
                  <a:srgbClr val="000000"/>
                </a:solidFill>
                <a:effectLst/>
                <a:latin typeface="Times New Roman" panose="02020603050405020304" pitchFamily="18" charset="0"/>
                <a:ea typeface="Calibri" panose="020F0502020204030204" pitchFamily="34" charset="0"/>
              </a:rPr>
              <a:t>năng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a:t>
            </a:r>
            <a:endParaRPr lang="vi-VN" sz="1200" dirty="0">
              <a:latin typeface="Verdana" panose="020B0604030504040204" pitchFamily="34" charset="0"/>
              <a:ea typeface="Verdana" panose="020B0604030504040204" pitchFamily="34" charset="0"/>
            </a:endParaRPr>
          </a:p>
          <a:p>
            <a:pPr>
              <a:lnSpc>
                <a:spcPct val="150000"/>
              </a:lnSpc>
            </a:pPr>
            <a:endParaRPr lang="en-US" sz="1200" b="1" dirty="0">
              <a:latin typeface="Verdana" panose="020B0604030504040204" pitchFamily="34" charset="0"/>
              <a:ea typeface="Verdana" panose="020B0604030504040204" pitchFamily="34" charset="0"/>
            </a:endParaRPr>
          </a:p>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4</a:t>
            </a:fld>
            <a:endParaRPr lang="en-US"/>
          </a:p>
        </p:txBody>
      </p:sp>
    </p:spTree>
    <p:extLst>
      <p:ext uri="{BB962C8B-B14F-4D97-AF65-F5344CB8AC3E}">
        <p14:creationId xmlns:p14="http://schemas.microsoft.com/office/powerpoint/2010/main" val="42799292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r>
              <a:rPr lang="vi-VN" sz="1200" dirty="0">
                <a:latin typeface="Verdana" panose="020B0604030504040204" pitchFamily="34" charset="0"/>
                <a:ea typeface="Verdana" panose="020B0604030504040204" pitchFamily="34" charset="0"/>
              </a:rPr>
              <a:t>Tạo công việc, nhiệm vụ: Đó là đưa ra các công việc cần thực hiện có gắn với một mục đích nào đó và phải đảm bảo các yếu tố về thời gian, con người, nguồn lực, trí tuệ</a:t>
            </a:r>
          </a:p>
          <a:p>
            <a:pPr>
              <a:lnSpc>
                <a:spcPct val="150000"/>
              </a:lnSpc>
            </a:pPr>
            <a:r>
              <a:rPr lang="vi-VN" sz="1200" dirty="0">
                <a:latin typeface="Verdana" panose="020B0604030504040204" pitchFamily="34" charset="0"/>
                <a:ea typeface="Verdana" panose="020B0604030504040204" pitchFamily="34" charset="0"/>
              </a:rPr>
              <a:t>Sắp xếp và ưu tiên: đó là việc quan trọng nhất trong quản lý công việc. Bạn cần xem tất cả các nhân tố có thể ảnh hưởng đến việc thực hiện công việc của bạn và việc đánh giá của cấp trên đối với bạn. Do đó, cần phải thiết lập thứ tự ưu tiên các công việc và hoàn thành một cách hợp lý nhất.</a:t>
            </a:r>
          </a:p>
          <a:p>
            <a:pPr>
              <a:lnSpc>
                <a:spcPct val="150000"/>
              </a:lnSpc>
            </a:pPr>
            <a:r>
              <a:rPr lang="vi-VN" sz="1200" dirty="0">
                <a:latin typeface="Verdana" panose="020B0604030504040204" pitchFamily="34" charset="0"/>
                <a:ea typeface="Verdana" panose="020B0604030504040204" pitchFamily="34" charset="0"/>
              </a:rPr>
              <a:t>Theo dõi chặt chẽ các công việc của bạn hoặc công việc của cấp dưới. Nó được thực hiện khi một người bắt đầu xử lý công việc. Mọi hoạt động phải được kiểm soát một cách chặt chẽ để có thể thống kê, hoặc có giải pháp kịp thời nếu có tình huống bất ngờ xảy ra.</a:t>
            </a:r>
            <a:endParaRPr lang="en-US" sz="1200" dirty="0">
              <a:latin typeface="Verdana" panose="020B0604030504040204" pitchFamily="34" charset="0"/>
              <a:ea typeface="Verdana" panose="020B0604030504040204" pitchFamily="34" charset="0"/>
            </a:endParaRPr>
          </a:p>
          <a:p>
            <a:pPr>
              <a:lnSpc>
                <a:spcPct val="150000"/>
              </a:lnSpc>
            </a:pPr>
            <a:endParaRPr lang="en-US" sz="1200" dirty="0">
              <a:latin typeface="Verdana" panose="020B0604030504040204" pitchFamily="34" charset="0"/>
              <a:ea typeface="Verdana" panose="020B0604030504040204" pitchFamily="34" charset="0"/>
            </a:endParaRPr>
          </a:p>
          <a:p>
            <a:pPr>
              <a:lnSpc>
                <a:spcPct val="150000"/>
              </a:lnSpc>
            </a:pPr>
            <a:r>
              <a:rPr lang="en-US" sz="1200" dirty="0">
                <a:latin typeface="Verdana" panose="020B0604030504040204" pitchFamily="34" charset="0"/>
                <a:ea typeface="Verdana" panose="020B0604030504040204" pitchFamily="34" charset="0"/>
              </a:rPr>
              <a:t>--</a:t>
            </a:r>
          </a:p>
          <a:p>
            <a:pPr>
              <a:lnSpc>
                <a:spcPct val="150000"/>
              </a:lnSpc>
            </a:pP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đánh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giá</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cần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phải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xác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từ</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quan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trọng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đó</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một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kết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nhân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viên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mang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lượng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kết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mang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như</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thái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độ</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chấp</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hành</a:t>
            </a:r>
            <a:r>
              <a:rPr lang="en-US" sz="1800" dirty="0">
                <a:solidFill>
                  <a:srgbClr val="000000"/>
                </a:solidFill>
                <a:effectLst/>
                <a:latin typeface="Times New Roman" panose="02020603050405020304" pitchFamily="18" charset="0"/>
                <a:ea typeface="Calibri" panose="020F0502020204030204" pitchFamily="34" charset="0"/>
              </a:rPr>
              <a:t> hay </a:t>
            </a:r>
            <a:r>
              <a:rPr lang="en-US" sz="1800" dirty="0" err="1">
                <a:solidFill>
                  <a:srgbClr val="000000"/>
                </a:solidFill>
                <a:effectLst/>
                <a:latin typeface="Times New Roman" panose="02020603050405020304" pitchFamily="18" charset="0"/>
                <a:ea typeface="Calibri" panose="020F0502020204030204" pitchFamily="34" charset="0"/>
              </a:rPr>
              <a:t>năng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a:t>
            </a:r>
            <a:endParaRPr lang="vi-VN" sz="1200" dirty="0">
              <a:latin typeface="Verdana" panose="020B0604030504040204" pitchFamily="34" charset="0"/>
              <a:ea typeface="Verdana" panose="020B0604030504040204" pitchFamily="34" charset="0"/>
            </a:endParaRPr>
          </a:p>
          <a:p>
            <a:pPr>
              <a:lnSpc>
                <a:spcPct val="150000"/>
              </a:lnSpc>
            </a:pPr>
            <a:endParaRPr lang="en-US" sz="1200" b="1" dirty="0">
              <a:latin typeface="Verdana" panose="020B0604030504040204" pitchFamily="34" charset="0"/>
              <a:ea typeface="Verdana" panose="020B0604030504040204" pitchFamily="34" charset="0"/>
            </a:endParaRPr>
          </a:p>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5</a:t>
            </a:fld>
            <a:endParaRPr lang="en-US"/>
          </a:p>
        </p:txBody>
      </p:sp>
    </p:spTree>
    <p:extLst>
      <p:ext uri="{BB962C8B-B14F-4D97-AF65-F5344CB8AC3E}">
        <p14:creationId xmlns:p14="http://schemas.microsoft.com/office/powerpoint/2010/main" val="3694058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r>
              <a:rPr lang="vi-VN" sz="1200" dirty="0">
                <a:latin typeface="Verdana" panose="020B0604030504040204" pitchFamily="34" charset="0"/>
                <a:ea typeface="Verdana" panose="020B0604030504040204" pitchFamily="34" charset="0"/>
              </a:rPr>
              <a:t>Tạo công việc, nhiệm vụ: Đó là đưa ra các công việc cần thực hiện có gắn với một mục đích nào đó và phải đảm bảo các yếu tố về thời gian, con người, nguồn lực, trí tuệ</a:t>
            </a:r>
          </a:p>
          <a:p>
            <a:pPr>
              <a:lnSpc>
                <a:spcPct val="150000"/>
              </a:lnSpc>
            </a:pPr>
            <a:r>
              <a:rPr lang="vi-VN" sz="1200" dirty="0">
                <a:latin typeface="Verdana" panose="020B0604030504040204" pitchFamily="34" charset="0"/>
                <a:ea typeface="Verdana" panose="020B0604030504040204" pitchFamily="34" charset="0"/>
              </a:rPr>
              <a:t>Sắp xếp và ưu tiên: đó là việc quan trọng nhất trong quản lý công việc. Bạn cần xem tất cả các nhân tố có thể ảnh hưởng đến việc thực hiện công việc của bạn và việc đánh giá của cấp trên đối với bạn. Do đó, cần phải thiết lập thứ tự ưu tiên các công việc và hoàn thành một cách hợp lý nhất.</a:t>
            </a:r>
          </a:p>
          <a:p>
            <a:pPr>
              <a:lnSpc>
                <a:spcPct val="150000"/>
              </a:lnSpc>
            </a:pPr>
            <a:r>
              <a:rPr lang="vi-VN" sz="1200" dirty="0">
                <a:latin typeface="Verdana" panose="020B0604030504040204" pitchFamily="34" charset="0"/>
                <a:ea typeface="Verdana" panose="020B0604030504040204" pitchFamily="34" charset="0"/>
              </a:rPr>
              <a:t>Theo dõi chặt chẽ các công việc của bạn hoặc công việc của cấp dưới. Nó được thực hiện khi một người bắt đầu xử lý công việc. Mọi hoạt động phải được kiểm soát một cách chặt chẽ để có thể thống kê, hoặc có giải pháp kịp thời nếu có tình huống bất ngờ xảy ra.</a:t>
            </a:r>
            <a:endParaRPr lang="en-US" sz="1200" dirty="0">
              <a:latin typeface="Verdana" panose="020B0604030504040204" pitchFamily="34" charset="0"/>
              <a:ea typeface="Verdana" panose="020B0604030504040204" pitchFamily="34" charset="0"/>
            </a:endParaRPr>
          </a:p>
          <a:p>
            <a:pPr>
              <a:lnSpc>
                <a:spcPct val="150000"/>
              </a:lnSpc>
            </a:pPr>
            <a:endParaRPr lang="en-US" sz="1200" dirty="0">
              <a:latin typeface="Verdana" panose="020B0604030504040204" pitchFamily="34" charset="0"/>
              <a:ea typeface="Verdana" panose="020B0604030504040204" pitchFamily="34" charset="0"/>
            </a:endParaRPr>
          </a:p>
          <a:p>
            <a:pPr>
              <a:lnSpc>
                <a:spcPct val="150000"/>
              </a:lnSpc>
            </a:pPr>
            <a:r>
              <a:rPr lang="en-US" sz="1200" dirty="0">
                <a:latin typeface="Verdana" panose="020B0604030504040204" pitchFamily="34" charset="0"/>
                <a:ea typeface="Verdana" panose="020B0604030504040204" pitchFamily="34" charset="0"/>
              </a:rPr>
              <a:t>--</a:t>
            </a:r>
          </a:p>
          <a:p>
            <a:pPr>
              <a:lnSpc>
                <a:spcPct val="150000"/>
              </a:lnSpc>
            </a:pP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đánh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giá</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cần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phải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xác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từ</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quan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trọng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đó</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một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kết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nhân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viên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mang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lượng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kết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mang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như</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thái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độ</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chấp</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hành</a:t>
            </a:r>
            <a:r>
              <a:rPr lang="en-US" sz="1800" dirty="0">
                <a:solidFill>
                  <a:srgbClr val="000000"/>
                </a:solidFill>
                <a:effectLst/>
                <a:latin typeface="Times New Roman" panose="02020603050405020304" pitchFamily="18" charset="0"/>
                <a:ea typeface="Calibri" panose="020F0502020204030204" pitchFamily="34" charset="0"/>
              </a:rPr>
              <a:t> hay </a:t>
            </a:r>
            <a:r>
              <a:rPr lang="en-US" sz="1800" dirty="0" err="1">
                <a:solidFill>
                  <a:srgbClr val="000000"/>
                </a:solidFill>
                <a:effectLst/>
                <a:latin typeface="Times New Roman" panose="02020603050405020304" pitchFamily="18" charset="0"/>
                <a:ea typeface="Calibri" panose="020F0502020204030204" pitchFamily="34" charset="0"/>
              </a:rPr>
              <a:t>năng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a:t>
            </a:r>
            <a:endParaRPr lang="vi-VN" sz="1200" dirty="0">
              <a:latin typeface="Verdana" panose="020B0604030504040204" pitchFamily="34" charset="0"/>
              <a:ea typeface="Verdana" panose="020B0604030504040204" pitchFamily="34" charset="0"/>
            </a:endParaRPr>
          </a:p>
          <a:p>
            <a:pPr>
              <a:lnSpc>
                <a:spcPct val="150000"/>
              </a:lnSpc>
            </a:pPr>
            <a:endParaRPr lang="en-US" sz="1200" b="1" dirty="0">
              <a:latin typeface="Verdana" panose="020B0604030504040204" pitchFamily="34" charset="0"/>
              <a:ea typeface="Verdana" panose="020B0604030504040204" pitchFamily="34" charset="0"/>
            </a:endParaRPr>
          </a:p>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6</a:t>
            </a:fld>
            <a:endParaRPr lang="en-US"/>
          </a:p>
        </p:txBody>
      </p:sp>
    </p:spTree>
    <p:extLst>
      <p:ext uri="{BB962C8B-B14F-4D97-AF65-F5344CB8AC3E}">
        <p14:creationId xmlns:p14="http://schemas.microsoft.com/office/powerpoint/2010/main" val="2954479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r>
              <a:rPr lang="vi-VN" sz="1200" dirty="0">
                <a:latin typeface="Verdana" panose="020B0604030504040204" pitchFamily="34" charset="0"/>
                <a:ea typeface="Verdana" panose="020B0604030504040204" pitchFamily="34" charset="0"/>
              </a:rPr>
              <a:t>Tạo công việc, nhiệm vụ: Đó là đưa ra các công việc cần thực hiện có gắn với một mục đích nào đó và phải đảm bảo các yếu tố về thời gian, con người, nguồn lực, trí tuệ</a:t>
            </a:r>
          </a:p>
          <a:p>
            <a:pPr>
              <a:lnSpc>
                <a:spcPct val="150000"/>
              </a:lnSpc>
            </a:pPr>
            <a:r>
              <a:rPr lang="vi-VN" sz="1200" dirty="0">
                <a:latin typeface="Verdana" panose="020B0604030504040204" pitchFamily="34" charset="0"/>
                <a:ea typeface="Verdana" panose="020B0604030504040204" pitchFamily="34" charset="0"/>
              </a:rPr>
              <a:t>Sắp xếp và ưu tiên: đó là việc quan trọng nhất trong quản lý công việc. Bạn cần xem tất cả các nhân tố có thể ảnh hưởng đến việc thực hiện công việc của bạn và việc đánh giá của cấp trên đối với bạn. Do đó, cần phải thiết lập thứ tự ưu tiên các công việc và hoàn thành một cách hợp lý nhất.</a:t>
            </a:r>
          </a:p>
          <a:p>
            <a:pPr>
              <a:lnSpc>
                <a:spcPct val="150000"/>
              </a:lnSpc>
            </a:pPr>
            <a:r>
              <a:rPr lang="vi-VN" sz="1200" dirty="0">
                <a:latin typeface="Verdana" panose="020B0604030504040204" pitchFamily="34" charset="0"/>
                <a:ea typeface="Verdana" panose="020B0604030504040204" pitchFamily="34" charset="0"/>
              </a:rPr>
              <a:t>Theo dõi chặt chẽ các công việc của bạn hoặc công việc của cấp dưới. Nó được thực hiện khi một người bắt đầu xử lý công việc. Mọi hoạt động phải được kiểm soát một cách chặt chẽ để có thể thống kê, hoặc có giải pháp kịp thời nếu có tình huống bất ngờ xảy ra.</a:t>
            </a:r>
            <a:endParaRPr lang="en-US" sz="1200" dirty="0">
              <a:latin typeface="Verdana" panose="020B0604030504040204" pitchFamily="34" charset="0"/>
              <a:ea typeface="Verdana" panose="020B0604030504040204" pitchFamily="34" charset="0"/>
            </a:endParaRPr>
          </a:p>
          <a:p>
            <a:pPr>
              <a:lnSpc>
                <a:spcPct val="150000"/>
              </a:lnSpc>
            </a:pPr>
            <a:endParaRPr lang="en-US" sz="1200" dirty="0">
              <a:latin typeface="Verdana" panose="020B0604030504040204" pitchFamily="34" charset="0"/>
              <a:ea typeface="Verdana" panose="020B0604030504040204" pitchFamily="34" charset="0"/>
            </a:endParaRPr>
          </a:p>
          <a:p>
            <a:pPr>
              <a:lnSpc>
                <a:spcPct val="150000"/>
              </a:lnSpc>
            </a:pPr>
            <a:r>
              <a:rPr lang="en-US" sz="1200" dirty="0">
                <a:latin typeface="Verdana" panose="020B0604030504040204" pitchFamily="34" charset="0"/>
                <a:ea typeface="Verdana" panose="020B0604030504040204" pitchFamily="34" charset="0"/>
              </a:rPr>
              <a:t>--</a:t>
            </a:r>
          </a:p>
          <a:p>
            <a:pPr>
              <a:lnSpc>
                <a:spcPct val="150000"/>
              </a:lnSpc>
            </a:pP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đánh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giá</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công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việc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cần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phải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xác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từ</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quan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trọng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đó</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một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kết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được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của</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nhân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viên</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mang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lượng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hai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là</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kết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quả</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các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yếu</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tố</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mang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chất</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định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tính</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như</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thái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độ</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chấp</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hành</a:t>
            </a:r>
            <a:r>
              <a:rPr lang="en-US" sz="1800" dirty="0">
                <a:solidFill>
                  <a:srgbClr val="000000"/>
                </a:solidFill>
                <a:effectLst/>
                <a:latin typeface="Times New Roman" panose="02020603050405020304" pitchFamily="18" charset="0"/>
                <a:ea typeface="Calibri" panose="020F0502020204030204" pitchFamily="34" charset="0"/>
              </a:rPr>
              <a:t> hay </a:t>
            </a:r>
            <a:r>
              <a:rPr lang="en-US" sz="1800" dirty="0" err="1">
                <a:solidFill>
                  <a:srgbClr val="000000"/>
                </a:solidFill>
                <a:effectLst/>
                <a:latin typeface="Times New Roman" panose="02020603050405020304" pitchFamily="18" charset="0"/>
                <a:ea typeface="Calibri" panose="020F0502020204030204" pitchFamily="34" charset="0"/>
              </a:rPr>
              <a:t>năng</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lực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thực</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hiện</a:t>
            </a:r>
            <a:r>
              <a:rPr lang="en-US" sz="1800" dirty="0">
                <a:solidFill>
                  <a:srgbClr val="000000"/>
                </a:solidFill>
                <a:effectLst/>
                <a:latin typeface="Times New Roman" panose="02020603050405020304" pitchFamily="18" charset="0"/>
                <a:ea typeface="Calibri" panose="020F0502020204030204" pitchFamily="34" charset="0"/>
              </a:rPr>
              <a:t>. </a:t>
            </a:r>
            <a:endParaRPr lang="vi-VN" sz="1200" dirty="0">
              <a:latin typeface="Verdana" panose="020B0604030504040204" pitchFamily="34" charset="0"/>
              <a:ea typeface="Verdana" panose="020B0604030504040204" pitchFamily="34" charset="0"/>
            </a:endParaRPr>
          </a:p>
          <a:p>
            <a:pPr>
              <a:lnSpc>
                <a:spcPct val="150000"/>
              </a:lnSpc>
            </a:pPr>
            <a:endParaRPr lang="en-US" sz="1200" b="1" dirty="0">
              <a:latin typeface="Verdana" panose="020B0604030504040204" pitchFamily="34" charset="0"/>
              <a:ea typeface="Verdana" panose="020B0604030504040204" pitchFamily="34" charset="0"/>
            </a:endParaRPr>
          </a:p>
          <a:p>
            <a:endParaRPr lang="en-US" dirty="0"/>
          </a:p>
        </p:txBody>
      </p:sp>
      <p:sp>
        <p:nvSpPr>
          <p:cNvPr id="4" name="Slide Number Placeholder 3"/>
          <p:cNvSpPr>
            <a:spLocks noGrp="1"/>
          </p:cNvSpPr>
          <p:nvPr>
            <p:ph type="sldNum" sz="quarter" idx="5"/>
          </p:nvPr>
        </p:nvSpPr>
        <p:spPr/>
        <p:txBody>
          <a:bodyPr/>
          <a:lstStyle/>
          <a:p>
            <a:fld id="{6DF9A174-BD37-4CF9-A3FC-30F95FD3068F}" type="slidenum">
              <a:rPr lang="en-US" smtClean="0"/>
              <a:t>7</a:t>
            </a:fld>
            <a:endParaRPr lang="en-US"/>
          </a:p>
        </p:txBody>
      </p:sp>
    </p:spTree>
    <p:extLst>
      <p:ext uri="{BB962C8B-B14F-4D97-AF65-F5344CB8AC3E}">
        <p14:creationId xmlns:p14="http://schemas.microsoft.com/office/powerpoint/2010/main" val="37593659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0FC6D13-8211-4DDF-BE70-3D3E9CC80A4C}" type="datetimeFigureOut">
              <a:rPr lang="en-US" smtClean="0"/>
              <a:t>3/15/2021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F326D-EC31-433E-A15A-5F39DE1CDC9D}" type="slidenum">
              <a:rPr lang="en-US" smtClean="0"/>
              <a:t>‹#›</a:t>
            </a:fld>
            <a:endParaRPr lang="en-US"/>
          </a:p>
        </p:txBody>
      </p:sp>
      <p:sp>
        <p:nvSpPr>
          <p:cNvPr id="16" name="Rectangle 15"/>
          <p:cNvSpPr>
            <a:spLocks noChangeArrowheads="1"/>
          </p:cNvSpPr>
          <p:nvPr userDrawn="1"/>
        </p:nvSpPr>
        <p:spPr bwMode="white">
          <a:xfrm>
            <a:off x="9524" y="4649787"/>
            <a:ext cx="12182475" cy="2219325"/>
          </a:xfrm>
          <a:prstGeom prst="rect">
            <a:avLst/>
          </a:prstGeom>
          <a:solidFill>
            <a:schemeClr val="bg1">
              <a:lumMod val="75000"/>
              <a:alpha val="3098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7" name="AutoShape 21"/>
          <p:cNvSpPr>
            <a:spLocks noChangeArrowheads="1"/>
          </p:cNvSpPr>
          <p:nvPr userDrawn="1"/>
        </p:nvSpPr>
        <p:spPr bwMode="gray">
          <a:xfrm>
            <a:off x="10844276" y="5953124"/>
            <a:ext cx="609600" cy="533400"/>
          </a:xfrm>
          <a:prstGeom prst="hexagon">
            <a:avLst>
              <a:gd name="adj" fmla="val 28571"/>
              <a:gd name="vf" fmla="val 115470"/>
            </a:avLst>
          </a:prstGeom>
          <a:solidFill>
            <a:schemeClr val="accent1">
              <a:lumMod val="75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8" name="AutoShape 22"/>
          <p:cNvSpPr>
            <a:spLocks noChangeArrowheads="1"/>
          </p:cNvSpPr>
          <p:nvPr userDrawn="1"/>
        </p:nvSpPr>
        <p:spPr bwMode="gray">
          <a:xfrm>
            <a:off x="11353800" y="5609968"/>
            <a:ext cx="609600" cy="533400"/>
          </a:xfrm>
          <a:prstGeom prst="hexagon">
            <a:avLst>
              <a:gd name="adj" fmla="val 28571"/>
              <a:gd name="vf" fmla="val 115470"/>
            </a:avLst>
          </a:prstGeom>
          <a:solidFill>
            <a:schemeClr val="accent1">
              <a:lumMod val="75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9" name="AutoShape 23"/>
          <p:cNvSpPr>
            <a:spLocks noChangeArrowheads="1"/>
          </p:cNvSpPr>
          <p:nvPr userDrawn="1"/>
        </p:nvSpPr>
        <p:spPr bwMode="gray">
          <a:xfrm>
            <a:off x="11377675" y="6272212"/>
            <a:ext cx="609600" cy="533400"/>
          </a:xfrm>
          <a:prstGeom prst="hexagon">
            <a:avLst>
              <a:gd name="adj" fmla="val 28571"/>
              <a:gd name="vf" fmla="val 115470"/>
            </a:avLst>
          </a:prstGeom>
          <a:solidFill>
            <a:schemeClr val="accent1">
              <a:lumMod val="75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24" name="Rectangle 23"/>
          <p:cNvSpPr>
            <a:spLocks noChangeArrowheads="1"/>
          </p:cNvSpPr>
          <p:nvPr userDrawn="1"/>
        </p:nvSpPr>
        <p:spPr bwMode="gray">
          <a:xfrm>
            <a:off x="11182476" y="-112756"/>
            <a:ext cx="1009524" cy="6970756"/>
          </a:xfrm>
          <a:prstGeom prst="rect">
            <a:avLst/>
          </a:prstGeom>
          <a:solidFill>
            <a:schemeClr val="bg2">
              <a:alpha val="39999"/>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25" name="Rectangle 24"/>
          <p:cNvSpPr>
            <a:spLocks noChangeArrowheads="1"/>
          </p:cNvSpPr>
          <p:nvPr userDrawn="1"/>
        </p:nvSpPr>
        <p:spPr bwMode="gray">
          <a:xfrm>
            <a:off x="-1" y="1736727"/>
            <a:ext cx="12191999" cy="2911474"/>
          </a:xfrm>
          <a:prstGeom prst="rect">
            <a:avLst/>
          </a:prstGeom>
          <a:solidFill>
            <a:srgbClr val="002060"/>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26" name="Freeform 20"/>
          <p:cNvSpPr>
            <a:spLocks/>
          </p:cNvSpPr>
          <p:nvPr userDrawn="1"/>
        </p:nvSpPr>
        <p:spPr bwMode="gray">
          <a:xfrm>
            <a:off x="-9525" y="1735141"/>
            <a:ext cx="11182476" cy="2674934"/>
          </a:xfrm>
          <a:custGeom>
            <a:avLst/>
            <a:gdLst>
              <a:gd name="T0" fmla="*/ 0 w 5049"/>
              <a:gd name="T1" fmla="*/ 0 h 1471"/>
              <a:gd name="T2" fmla="*/ 2147483646 w 5049"/>
              <a:gd name="T3" fmla="*/ 2147483646 h 1471"/>
              <a:gd name="T4" fmla="*/ 2147483646 w 5049"/>
              <a:gd name="T5" fmla="*/ 2147483646 h 1471"/>
              <a:gd name="T6" fmla="*/ 0 w 5049"/>
              <a:gd name="T7" fmla="*/ 2147483646 h 1471"/>
              <a:gd name="T8" fmla="*/ 0 w 5049"/>
              <a:gd name="T9" fmla="*/ 0 h 14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049" h="1471">
                <a:moveTo>
                  <a:pt x="0" y="0"/>
                </a:moveTo>
                <a:lnTo>
                  <a:pt x="5049" y="2"/>
                </a:lnTo>
                <a:lnTo>
                  <a:pt x="5048" y="1458"/>
                </a:lnTo>
                <a:lnTo>
                  <a:pt x="0" y="1471"/>
                </a:lnTo>
                <a:lnTo>
                  <a:pt x="0" y="0"/>
                </a:lnTo>
                <a:close/>
              </a:path>
            </a:pathLst>
          </a:custGeom>
          <a:solidFill>
            <a:schemeClr val="accent1">
              <a:lumMod val="60000"/>
              <a:lumOff val="40000"/>
              <a:alpha val="72940"/>
            </a:schemeClr>
          </a:solidFill>
          <a:ln>
            <a:noFill/>
          </a:ln>
          <a:effectLst/>
        </p:spPr>
        <p:txBody>
          <a:bodyPr/>
          <a:lstStyle/>
          <a:p>
            <a:endParaRPr lang="en-US"/>
          </a:p>
        </p:txBody>
      </p:sp>
      <p:grpSp>
        <p:nvGrpSpPr>
          <p:cNvPr id="27" name="Group 116"/>
          <p:cNvGrpSpPr>
            <a:grpSpLocks/>
          </p:cNvGrpSpPr>
          <p:nvPr userDrawn="1"/>
        </p:nvGrpSpPr>
        <p:grpSpPr bwMode="auto">
          <a:xfrm>
            <a:off x="157548" y="1912208"/>
            <a:ext cx="3276600" cy="3314700"/>
            <a:chOff x="120" y="1464"/>
            <a:chExt cx="2064" cy="2088"/>
          </a:xfrm>
        </p:grpSpPr>
        <p:sp>
          <p:nvSpPr>
            <p:cNvPr id="28" name="AutoShape 113" descr="gdd01"/>
            <p:cNvSpPr>
              <a:spLocks noChangeArrowheads="1"/>
            </p:cNvSpPr>
            <p:nvPr userDrawn="1"/>
          </p:nvSpPr>
          <p:spPr bwMode="gray">
            <a:xfrm>
              <a:off x="120" y="1992"/>
              <a:ext cx="1104" cy="1008"/>
            </a:xfrm>
            <a:prstGeom prst="hexagon">
              <a:avLst>
                <a:gd name="adj" fmla="val 27381"/>
                <a:gd name="vf" fmla="val 115470"/>
              </a:avLst>
            </a:prstGeom>
            <a:blipFill dpi="0" rotWithShape="1">
              <a:blip r:embed="rId2"/>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endParaRPr lang="ko-KR" altLang="en-US">
                <a:latin typeface="Times New Roman" panose="02020603050405020304" pitchFamily="18" charset="0"/>
                <a:ea typeface="Gulim" panose="020B0600000101010101" pitchFamily="34" charset="-127"/>
              </a:endParaRPr>
            </a:p>
          </p:txBody>
        </p:sp>
        <p:sp>
          <p:nvSpPr>
            <p:cNvPr id="29" name="AutoShape 114" descr="gdd04"/>
            <p:cNvSpPr>
              <a:spLocks noChangeArrowheads="1"/>
            </p:cNvSpPr>
            <p:nvPr userDrawn="1"/>
          </p:nvSpPr>
          <p:spPr bwMode="gray">
            <a:xfrm>
              <a:off x="1032" y="1464"/>
              <a:ext cx="1152" cy="1008"/>
            </a:xfrm>
            <a:prstGeom prst="hexagon">
              <a:avLst>
                <a:gd name="adj" fmla="val 28571"/>
                <a:gd name="vf" fmla="val 115470"/>
              </a:avLst>
            </a:prstGeom>
            <a:blipFill dpi="0" rotWithShape="1">
              <a:blip r:embed="rId3"/>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endParaRPr lang="ko-KR" altLang="en-US">
                <a:latin typeface="Times New Roman" panose="02020603050405020304" pitchFamily="18" charset="0"/>
                <a:ea typeface="Gulim" panose="020B0600000101010101" pitchFamily="34" charset="-127"/>
              </a:endParaRPr>
            </a:p>
          </p:txBody>
        </p:sp>
        <p:sp>
          <p:nvSpPr>
            <p:cNvPr id="30" name="AutoShape 115" descr="gdd03"/>
            <p:cNvSpPr>
              <a:spLocks noChangeArrowheads="1"/>
            </p:cNvSpPr>
            <p:nvPr userDrawn="1"/>
          </p:nvSpPr>
          <p:spPr bwMode="gray">
            <a:xfrm>
              <a:off x="1008" y="2544"/>
              <a:ext cx="1152" cy="1008"/>
            </a:xfrm>
            <a:prstGeom prst="hexagon">
              <a:avLst>
                <a:gd name="adj" fmla="val 28571"/>
                <a:gd name="vf" fmla="val 115470"/>
              </a:avLst>
            </a:prstGeom>
            <a:blipFill dpi="0" rotWithShape="1">
              <a:blip r:embed="rId4"/>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endParaRPr lang="ko-KR" altLang="en-US">
                <a:latin typeface="Times New Roman" panose="02020603050405020304" pitchFamily="18" charset="0"/>
                <a:ea typeface="Gulim" panose="020B0600000101010101" pitchFamily="34" charset="-127"/>
              </a:endParaRPr>
            </a:p>
          </p:txBody>
        </p:sp>
      </p:grpSp>
      <p:pic>
        <p:nvPicPr>
          <p:cNvPr id="20" name="Picture 19">
            <a:extLst>
              <a:ext uri="{FF2B5EF4-FFF2-40B4-BE49-F238E27FC236}">
                <a16:creationId xmlns:a16="http://schemas.microsoft.com/office/drawing/2014/main" id="{FA583ACA-C03D-43D9-B8AA-CDB37DD82A8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11616" y="-1768678"/>
            <a:ext cx="6491020" cy="4510550"/>
          </a:xfrm>
          <a:prstGeom prst="rect">
            <a:avLst/>
          </a:prstGeom>
        </p:spPr>
      </p:pic>
    </p:spTree>
    <p:extLst>
      <p:ext uri="{BB962C8B-B14F-4D97-AF65-F5344CB8AC3E}">
        <p14:creationId xmlns:p14="http://schemas.microsoft.com/office/powerpoint/2010/main" val="179000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FC6D13-8211-4DDF-BE70-3D3E9CC80A4C}" type="datetimeFigureOut">
              <a:rPr lang="en-US" smtClean="0"/>
              <a:t>3/15/2021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F326D-EC31-433E-A15A-5F39DE1CDC9D}" type="slidenum">
              <a:rPr lang="en-US" smtClean="0"/>
              <a:t>‹#›</a:t>
            </a:fld>
            <a:endParaRPr lang="en-US"/>
          </a:p>
        </p:txBody>
      </p:sp>
      <p:sp>
        <p:nvSpPr>
          <p:cNvPr id="8" name="Rectangle 7"/>
          <p:cNvSpPr/>
          <p:nvPr userDrawn="1"/>
        </p:nvSpPr>
        <p:spPr>
          <a:xfrm>
            <a:off x="0" y="271849"/>
            <a:ext cx="12192000" cy="617838"/>
          </a:xfrm>
          <a:prstGeom prst="rect">
            <a:avLst/>
          </a:prstGeom>
          <a:solidFill>
            <a:schemeClr val="accent1">
              <a:lumMod val="75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utoShape 21"/>
          <p:cNvSpPr>
            <a:spLocks noChangeArrowheads="1"/>
          </p:cNvSpPr>
          <p:nvPr userDrawn="1"/>
        </p:nvSpPr>
        <p:spPr bwMode="gray">
          <a:xfrm>
            <a:off x="11353800" y="5618249"/>
            <a:ext cx="609600" cy="533400"/>
          </a:xfrm>
          <a:prstGeom prst="hexagon">
            <a:avLst>
              <a:gd name="adj" fmla="val 28571"/>
              <a:gd name="vf" fmla="val 115470"/>
            </a:avLst>
          </a:prstGeom>
          <a:solidFill>
            <a:schemeClr val="accent1">
              <a:lumMod val="60000"/>
              <a:lumOff val="40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4" name="AutoShape 21"/>
          <p:cNvSpPr>
            <a:spLocks noChangeArrowheads="1"/>
          </p:cNvSpPr>
          <p:nvPr userDrawn="1"/>
        </p:nvSpPr>
        <p:spPr bwMode="gray">
          <a:xfrm>
            <a:off x="10877550" y="5920367"/>
            <a:ext cx="609600" cy="533400"/>
          </a:xfrm>
          <a:prstGeom prst="hexagon">
            <a:avLst>
              <a:gd name="adj" fmla="val 28571"/>
              <a:gd name="vf" fmla="val 115470"/>
            </a:avLst>
          </a:prstGeom>
          <a:solidFill>
            <a:schemeClr val="accent1">
              <a:lumMod val="60000"/>
              <a:lumOff val="40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5" name="AutoShape 21"/>
          <p:cNvSpPr>
            <a:spLocks noChangeArrowheads="1"/>
          </p:cNvSpPr>
          <p:nvPr userDrawn="1"/>
        </p:nvSpPr>
        <p:spPr bwMode="gray">
          <a:xfrm>
            <a:off x="11365127" y="6188075"/>
            <a:ext cx="609600" cy="533400"/>
          </a:xfrm>
          <a:prstGeom prst="hexagon">
            <a:avLst>
              <a:gd name="adj" fmla="val 28571"/>
              <a:gd name="vf" fmla="val 115470"/>
            </a:avLst>
          </a:prstGeom>
          <a:solidFill>
            <a:schemeClr val="accent1">
              <a:lumMod val="60000"/>
              <a:lumOff val="40000"/>
            </a:schemeClr>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7" name="Rectangle 16"/>
          <p:cNvSpPr>
            <a:spLocks noChangeArrowheads="1"/>
          </p:cNvSpPr>
          <p:nvPr userDrawn="1"/>
        </p:nvSpPr>
        <p:spPr bwMode="gray">
          <a:xfrm>
            <a:off x="11182476" y="0"/>
            <a:ext cx="1009524" cy="6858000"/>
          </a:xfrm>
          <a:prstGeom prst="rect">
            <a:avLst/>
          </a:prstGeom>
          <a:solidFill>
            <a:schemeClr val="bg2">
              <a:alpha val="39999"/>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9" name="AutoShape 21"/>
          <p:cNvSpPr>
            <a:spLocks noChangeArrowheads="1"/>
          </p:cNvSpPr>
          <p:nvPr userDrawn="1"/>
        </p:nvSpPr>
        <p:spPr bwMode="gray">
          <a:xfrm>
            <a:off x="147655" y="386551"/>
            <a:ext cx="609600" cy="533400"/>
          </a:xfrm>
          <a:prstGeom prst="hexagon">
            <a:avLst>
              <a:gd name="adj" fmla="val 28571"/>
              <a:gd name="vf" fmla="val 115470"/>
            </a:avLst>
          </a:prstGeom>
          <a:solidFill>
            <a:srgbClr val="0070C0"/>
          </a:solidFill>
          <a:ln w="25400">
            <a:solidFill>
              <a:schemeClr val="bg1"/>
            </a:solidFill>
          </a:ln>
          <a:effectLst>
            <a:glow>
              <a:schemeClr val="accent1"/>
            </a:glow>
            <a:outerShdw dist="50800" sx="1000" sy="1000" algn="ctr" rotWithShape="0">
              <a:srgbClr val="000000"/>
            </a:outerShdw>
            <a:reflection stA="50000" endPos="0" dir="5400000" sy="-100000" algn="bl" rotWithShape="0"/>
            <a:softEdge rad="0"/>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16" name="AutoShape 21"/>
          <p:cNvSpPr>
            <a:spLocks noChangeArrowheads="1"/>
          </p:cNvSpPr>
          <p:nvPr userDrawn="1"/>
        </p:nvSpPr>
        <p:spPr bwMode="gray">
          <a:xfrm>
            <a:off x="604918" y="660382"/>
            <a:ext cx="609600" cy="533400"/>
          </a:xfrm>
          <a:prstGeom prst="hexagon">
            <a:avLst>
              <a:gd name="adj" fmla="val 28571"/>
              <a:gd name="vf" fmla="val 115470"/>
            </a:avLst>
          </a:prstGeom>
          <a:solidFill>
            <a:srgbClr val="FF9900"/>
          </a:solidFill>
          <a:ln w="25400">
            <a:solidFill>
              <a:schemeClr val="bg1"/>
            </a:solidFill>
          </a:ln>
          <a:effectLst>
            <a:glow>
              <a:schemeClr val="accent1"/>
            </a:glow>
            <a:outerShdw dist="50800" sx="1000" sy="1000" algn="ctr" rotWithShape="0">
              <a:srgbClr val="000000"/>
            </a:outerShdw>
            <a:reflection stA="50000" endPos="0" dir="5400000" sy="-100000" algn="bl" rotWithShape="0"/>
            <a:softEdge rad="0"/>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sp>
        <p:nvSpPr>
          <p:cNvPr id="20" name="AutoShape 21"/>
          <p:cNvSpPr>
            <a:spLocks noChangeArrowheads="1"/>
          </p:cNvSpPr>
          <p:nvPr userDrawn="1"/>
        </p:nvSpPr>
        <p:spPr bwMode="gray">
          <a:xfrm>
            <a:off x="604918" y="118713"/>
            <a:ext cx="609600" cy="533400"/>
          </a:xfrm>
          <a:prstGeom prst="hexagon">
            <a:avLst>
              <a:gd name="adj" fmla="val 28571"/>
              <a:gd name="vf" fmla="val 115470"/>
            </a:avLst>
          </a:prstGeom>
          <a:solidFill>
            <a:srgbClr val="00B050"/>
          </a:solidFill>
          <a:ln w="25400">
            <a:solidFill>
              <a:schemeClr val="bg1"/>
            </a:solidFill>
          </a:ln>
          <a:effectLst>
            <a:glow>
              <a:schemeClr val="accent1"/>
            </a:glow>
            <a:outerShdw dist="50800" sx="1000" sy="1000" algn="ctr" rotWithShape="0">
              <a:srgbClr val="000000"/>
            </a:outerShdw>
            <a:reflection stA="50000" endPos="0" dir="5400000" sy="-100000" algn="bl" rotWithShape="0"/>
            <a:softEdge rad="0"/>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p>
        </p:txBody>
      </p:sp>
      <p:pic>
        <p:nvPicPr>
          <p:cNvPr id="21" name="Picture 20"/>
          <p:cNvPicPr>
            <a:picLocks noChangeAspect="1"/>
          </p:cNvPicPr>
          <p:nvPr userDrawn="1"/>
        </p:nvPicPr>
        <p:blipFill>
          <a:blip r:embed="rId2"/>
          <a:stretch>
            <a:fillRect/>
          </a:stretch>
        </p:blipFill>
        <p:spPr>
          <a:xfrm>
            <a:off x="11182476" y="271849"/>
            <a:ext cx="1021345" cy="617838"/>
          </a:xfrm>
          <a:prstGeom prst="rect">
            <a:avLst/>
          </a:prstGeom>
        </p:spPr>
      </p:pic>
    </p:spTree>
    <p:extLst>
      <p:ext uri="{BB962C8B-B14F-4D97-AF65-F5344CB8AC3E}">
        <p14:creationId xmlns:p14="http://schemas.microsoft.com/office/powerpoint/2010/main" val="717664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0FC6D13-8211-4DDF-BE70-3D3E9CC80A4C}" type="datetimeFigureOut">
              <a:rPr lang="en-US" smtClean="0"/>
              <a:t>3/15/2021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972556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0FC6D13-8211-4DDF-BE70-3D3E9CC80A4C}" type="datetimeFigureOut">
              <a:rPr lang="en-US" smtClean="0"/>
              <a:t>3/15/2021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2895638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0FC6D13-8211-4DDF-BE70-3D3E9CC80A4C}" type="datetimeFigureOut">
              <a:rPr lang="en-US" smtClean="0"/>
              <a:t>3/15/2021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3336289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0FC6D13-8211-4DDF-BE70-3D3E9CC80A4C}" type="datetimeFigureOut">
              <a:rPr lang="en-US" smtClean="0"/>
              <a:t>3/15/2021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1608057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FC6D13-8211-4DDF-BE70-3D3E9CC80A4C}" type="datetimeFigureOut">
              <a:rPr lang="en-US" smtClean="0"/>
              <a:t>3/15/2021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1789531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0FC6D13-8211-4DDF-BE70-3D3E9CC80A4C}" type="datetimeFigureOut">
              <a:rPr lang="en-US" smtClean="0"/>
              <a:t>3/15/2021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1309206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0FC6D13-8211-4DDF-BE70-3D3E9CC80A4C}" type="datetimeFigureOut">
              <a:rPr lang="en-US" smtClean="0"/>
              <a:t>3/15/2021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1688216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FC6D13-8211-4DDF-BE70-3D3E9CC80A4C}" type="datetimeFigureOut">
              <a:rPr lang="en-US" smtClean="0"/>
              <a:t>3/15/2021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2259557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FC6D13-8211-4DDF-BE70-3D3E9CC80A4C}" type="datetimeFigureOut">
              <a:rPr lang="en-US" smtClean="0"/>
              <a:t>3/15/2021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F326D-EC31-433E-A15A-5F39DE1CDC9D}" type="slidenum">
              <a:rPr lang="en-US" smtClean="0"/>
              <a:t>‹#›</a:t>
            </a:fld>
            <a:endParaRPr lang="en-US"/>
          </a:p>
        </p:txBody>
      </p:sp>
    </p:spTree>
    <p:extLst>
      <p:ext uri="{BB962C8B-B14F-4D97-AF65-F5344CB8AC3E}">
        <p14:creationId xmlns:p14="http://schemas.microsoft.com/office/powerpoint/2010/main" val="3734093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FC6D13-8211-4DDF-BE70-3D3E9CC80A4C}" type="datetimeFigureOut">
              <a:rPr lang="en-US" smtClean="0"/>
              <a:t>3/15/2021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3F326D-EC31-433E-A15A-5F39DE1CDC9D}" type="slidenum">
              <a:rPr lang="en-US" smtClean="0"/>
              <a:t>‹#›</a:t>
            </a:fld>
            <a:endParaRPr lang="en-US"/>
          </a:p>
        </p:txBody>
      </p:sp>
    </p:spTree>
    <p:extLst>
      <p:ext uri="{BB962C8B-B14F-4D97-AF65-F5344CB8AC3E}">
        <p14:creationId xmlns:p14="http://schemas.microsoft.com/office/powerpoint/2010/main" val="21941838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094509" y="900545"/>
            <a:ext cx="10155382" cy="586047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vi-VN" sz="2800" b="1" dirty="0">
                <a:latin typeface="+mn-lt"/>
                <a:ea typeface="Verdana" panose="020B0604030504040204" pitchFamily="34" charset="0"/>
              </a:rPr>
              <a:t>LUẬN VĂN THẠC SỸ</a:t>
            </a:r>
          </a:p>
          <a:p>
            <a:pPr algn="ctr">
              <a:lnSpc>
                <a:spcPct val="150000"/>
              </a:lnSpc>
            </a:pPr>
            <a:r>
              <a:rPr lang="vi-VN" sz="2100" b="1" dirty="0">
                <a:latin typeface="+mn-lt"/>
                <a:ea typeface="Verdana" panose="020B0604030504040204" pitchFamily="34" charset="0"/>
              </a:rPr>
              <a:t>Ngành: Công nghệ thông tin</a:t>
            </a:r>
          </a:p>
          <a:p>
            <a:pPr algn="ctr">
              <a:lnSpc>
                <a:spcPct val="150000"/>
              </a:lnSpc>
            </a:pPr>
            <a:endParaRPr lang="vi-VN" sz="2800" b="1" dirty="0">
              <a:latin typeface="+mn-lt"/>
              <a:ea typeface="Verdana" panose="020B0604030504040204" pitchFamily="34" charset="0"/>
            </a:endParaRPr>
          </a:p>
          <a:p>
            <a:pPr algn="ctr">
              <a:lnSpc>
                <a:spcPct val="150000"/>
              </a:lnSpc>
            </a:pPr>
            <a:r>
              <a:rPr lang="vi-VN" sz="1800" b="1" dirty="0">
                <a:latin typeface="+mn-lt"/>
                <a:ea typeface="Verdana" panose="020B0604030504040204" pitchFamily="34" charset="0"/>
              </a:rPr>
              <a:t>ĐỀ TÀI</a:t>
            </a:r>
          </a:p>
          <a:p>
            <a:pPr algn="ctr">
              <a:lnSpc>
                <a:spcPct val="150000"/>
              </a:lnSpc>
            </a:pPr>
            <a:r>
              <a:rPr lang="vi-VN" sz="1800" b="1" dirty="0">
                <a:latin typeface="+mn-lt"/>
                <a:ea typeface="Verdana" panose="020B0604030504040204" pitchFamily="34" charset="0"/>
              </a:rPr>
              <a:t>Đề xuất ứng dụng quản lý công việc và đánh giá KPI nhân viên theo chính sách mới 2021</a:t>
            </a:r>
          </a:p>
          <a:p>
            <a:pPr algn="ctr">
              <a:lnSpc>
                <a:spcPct val="150000"/>
              </a:lnSpc>
            </a:pPr>
            <a:r>
              <a:rPr lang="vi-VN" sz="1800" b="1" dirty="0">
                <a:latin typeface="+mn-lt"/>
                <a:ea typeface="Verdana" panose="020B0604030504040204" pitchFamily="34" charset="0"/>
              </a:rPr>
              <a:t>cho phòng PrBBNKBIDV, khối Ngân hàng tài chính FIS-BANK,  </a:t>
            </a:r>
          </a:p>
          <a:p>
            <a:pPr algn="ctr">
              <a:lnSpc>
                <a:spcPct val="150000"/>
              </a:lnSpc>
            </a:pPr>
            <a:r>
              <a:rPr lang="vi-VN" sz="1800" b="1" dirty="0">
                <a:latin typeface="+mn-lt"/>
                <a:ea typeface="Verdana" panose="020B0604030504040204" pitchFamily="34" charset="0"/>
              </a:rPr>
              <a:t>Công ty TNHH Hệ thống thông tin FPT</a:t>
            </a:r>
          </a:p>
          <a:p>
            <a:pPr algn="ctr">
              <a:lnSpc>
                <a:spcPct val="150000"/>
              </a:lnSpc>
            </a:pPr>
            <a:endParaRPr lang="vi-VN" sz="1800" b="1" dirty="0">
              <a:latin typeface="Verdana" panose="020B0604030504040204" pitchFamily="34" charset="0"/>
              <a:ea typeface="Verdana" panose="020B0604030504040204" pitchFamily="34" charset="0"/>
            </a:endParaRPr>
          </a:p>
          <a:p>
            <a:pPr algn="ctr">
              <a:lnSpc>
                <a:spcPct val="150000"/>
              </a:lnSpc>
            </a:pPr>
            <a:endParaRPr lang="vi-VN" sz="1800" b="1" dirty="0">
              <a:latin typeface="Verdana" panose="020B0604030504040204" pitchFamily="34" charset="0"/>
              <a:ea typeface="Verdana" panose="020B0604030504040204" pitchFamily="34" charset="0"/>
            </a:endParaRPr>
          </a:p>
          <a:p>
            <a:pPr algn="ctr">
              <a:lnSpc>
                <a:spcPct val="150000"/>
              </a:lnSpc>
            </a:pPr>
            <a:endParaRPr lang="vi-VN" sz="1800" b="1" dirty="0">
              <a:latin typeface="Verdana" panose="020B0604030504040204" pitchFamily="34" charset="0"/>
              <a:ea typeface="Verdana" panose="020B0604030504040204" pitchFamily="34" charset="0"/>
            </a:endParaRPr>
          </a:p>
          <a:p>
            <a:pPr algn="ctr">
              <a:lnSpc>
                <a:spcPct val="150000"/>
              </a:lnSpc>
            </a:pPr>
            <a:endParaRPr lang="vi-VN" sz="1800" b="1" dirty="0">
              <a:latin typeface="Verdana" panose="020B0604030504040204" pitchFamily="34" charset="0"/>
              <a:ea typeface="Verdana" panose="020B0604030504040204" pitchFamily="34" charset="0"/>
            </a:endParaRPr>
          </a:p>
          <a:p>
            <a:pPr algn="ctr">
              <a:lnSpc>
                <a:spcPct val="150000"/>
              </a:lnSpc>
            </a:pPr>
            <a:endParaRPr lang="en-US" sz="1800" b="1" dirty="0">
              <a:latin typeface="Verdana" panose="020B0604030504040204" pitchFamily="34" charset="0"/>
              <a:ea typeface="Verdana" panose="020B0604030504040204" pitchFamily="34" charset="0"/>
            </a:endParaRPr>
          </a:p>
        </p:txBody>
      </p:sp>
      <p:graphicFrame>
        <p:nvGraphicFramePr>
          <p:cNvPr id="5" name="Table 5">
            <a:extLst>
              <a:ext uri="{FF2B5EF4-FFF2-40B4-BE49-F238E27FC236}">
                <a16:creationId xmlns:a16="http://schemas.microsoft.com/office/drawing/2014/main" id="{992690CE-C451-427E-8209-3AB9576BC69E}"/>
              </a:ext>
            </a:extLst>
          </p:cNvPr>
          <p:cNvGraphicFramePr>
            <a:graphicFrameLocks noGrp="1"/>
          </p:cNvGraphicFramePr>
          <p:nvPr>
            <p:extLst>
              <p:ext uri="{D42A27DB-BD31-4B8C-83A1-F6EECF244321}">
                <p14:modId xmlns:p14="http://schemas.microsoft.com/office/powerpoint/2010/main" val="1257042288"/>
              </p:ext>
            </p:extLst>
          </p:nvPr>
        </p:nvGraphicFramePr>
        <p:xfrm>
          <a:off x="5708073" y="4938684"/>
          <a:ext cx="5140036" cy="1483360"/>
        </p:xfrm>
        <a:graphic>
          <a:graphicData uri="http://schemas.openxmlformats.org/drawingml/2006/table">
            <a:tbl>
              <a:tblPr firstRow="1" bandRow="1">
                <a:tableStyleId>{5C22544A-7EE6-4342-B048-85BDC9FD1C3A}</a:tableStyleId>
              </a:tblPr>
              <a:tblGrid>
                <a:gridCol w="2327563">
                  <a:extLst>
                    <a:ext uri="{9D8B030D-6E8A-4147-A177-3AD203B41FA5}">
                      <a16:colId xmlns:a16="http://schemas.microsoft.com/office/drawing/2014/main" val="657563812"/>
                    </a:ext>
                  </a:extLst>
                </a:gridCol>
                <a:gridCol w="2812473">
                  <a:extLst>
                    <a:ext uri="{9D8B030D-6E8A-4147-A177-3AD203B41FA5}">
                      <a16:colId xmlns:a16="http://schemas.microsoft.com/office/drawing/2014/main" val="1945289148"/>
                    </a:ext>
                  </a:extLst>
                </a:gridCol>
              </a:tblGrid>
              <a:tr h="370840">
                <a:tc>
                  <a:txBody>
                    <a:bodyPr/>
                    <a:lstStyle/>
                    <a:p>
                      <a:r>
                        <a:rPr lang="vi-VN" sz="1500" dirty="0">
                          <a:solidFill>
                            <a:schemeClr val="tx1"/>
                          </a:solidFill>
                          <a:latin typeface="+mn-lt"/>
                        </a:rPr>
                        <a:t>Giảng viên hướng dẫn</a:t>
                      </a:r>
                      <a:endParaRPr lang="en-US" sz="1500" dirty="0">
                        <a:solidFill>
                          <a:schemeClr val="tx1"/>
                        </a:solidFill>
                        <a:latin typeface="+mn-lt"/>
                      </a:endParaRPr>
                    </a:p>
                  </a:txBody>
                  <a:tcPr>
                    <a:solidFill>
                      <a:schemeClr val="bg1"/>
                    </a:solidFill>
                  </a:tcPr>
                </a:tc>
                <a:tc>
                  <a:txBody>
                    <a:bodyPr/>
                    <a:lstStyle/>
                    <a:p>
                      <a:r>
                        <a:rPr lang="vi-VN" sz="1500" b="1" dirty="0">
                          <a:solidFill>
                            <a:schemeClr val="tx1"/>
                          </a:solidFill>
                          <a:latin typeface="+mn-lt"/>
                          <a:ea typeface="Verdana" panose="020B0604030504040204" pitchFamily="34" charset="0"/>
                        </a:rPr>
                        <a:t>TS. Vũ Thị Hương Giang</a:t>
                      </a:r>
                      <a:endParaRPr lang="en-US" sz="1500" dirty="0">
                        <a:solidFill>
                          <a:schemeClr val="tx1"/>
                        </a:solidFill>
                        <a:latin typeface="+mn-lt"/>
                      </a:endParaRPr>
                    </a:p>
                  </a:txBody>
                  <a:tcPr>
                    <a:solidFill>
                      <a:schemeClr val="bg1"/>
                    </a:solidFill>
                  </a:tcPr>
                </a:tc>
                <a:extLst>
                  <a:ext uri="{0D108BD9-81ED-4DB2-BD59-A6C34878D82A}">
                    <a16:rowId xmlns:a16="http://schemas.microsoft.com/office/drawing/2014/main" val="825393035"/>
                  </a:ext>
                </a:extLst>
              </a:tr>
              <a:tr h="370840">
                <a:tc>
                  <a:txBody>
                    <a:bodyPr/>
                    <a:lstStyle/>
                    <a:p>
                      <a:r>
                        <a:rPr lang="vi-VN" sz="1500" b="1" dirty="0">
                          <a:solidFill>
                            <a:schemeClr val="tx1"/>
                          </a:solidFill>
                          <a:latin typeface="+mn-lt"/>
                          <a:ea typeface="Verdana" panose="020B0604030504040204" pitchFamily="34" charset="0"/>
                        </a:rPr>
                        <a:t>Thực hiện</a:t>
                      </a:r>
                      <a:endParaRPr lang="en-US" sz="1500" dirty="0">
                        <a:solidFill>
                          <a:schemeClr val="tx1"/>
                        </a:solidFill>
                        <a:latin typeface="+mn-lt"/>
                      </a:endParaRPr>
                    </a:p>
                  </a:txBody>
                  <a:tcPr>
                    <a:solidFill>
                      <a:schemeClr val="bg1"/>
                    </a:solidFill>
                  </a:tcPr>
                </a:tc>
                <a:tc>
                  <a:txBody>
                    <a:bodyPr/>
                    <a:lstStyle/>
                    <a:p>
                      <a:r>
                        <a:rPr lang="vi-VN" sz="1500" b="1" dirty="0">
                          <a:solidFill>
                            <a:schemeClr val="tx1"/>
                          </a:solidFill>
                          <a:latin typeface="+mn-lt"/>
                          <a:ea typeface="Verdana" panose="020B0604030504040204" pitchFamily="34" charset="0"/>
                        </a:rPr>
                        <a:t>Nguyễn Công Sơn</a:t>
                      </a:r>
                      <a:endParaRPr lang="en-US" sz="1500" dirty="0">
                        <a:solidFill>
                          <a:schemeClr val="tx1"/>
                        </a:solidFill>
                        <a:latin typeface="+mn-lt"/>
                      </a:endParaRPr>
                    </a:p>
                  </a:txBody>
                  <a:tcPr>
                    <a:solidFill>
                      <a:schemeClr val="bg1"/>
                    </a:solidFill>
                  </a:tcPr>
                </a:tc>
                <a:extLst>
                  <a:ext uri="{0D108BD9-81ED-4DB2-BD59-A6C34878D82A}">
                    <a16:rowId xmlns:a16="http://schemas.microsoft.com/office/drawing/2014/main" val="1290297034"/>
                  </a:ext>
                </a:extLst>
              </a:tr>
              <a:tr h="370840">
                <a:tc>
                  <a:txBody>
                    <a:bodyPr/>
                    <a:lstStyle/>
                    <a:p>
                      <a:r>
                        <a:rPr lang="vi-VN" sz="1500" b="1" dirty="0">
                          <a:solidFill>
                            <a:schemeClr val="tx1"/>
                          </a:solidFill>
                          <a:latin typeface="+mn-lt"/>
                          <a:ea typeface="Verdana" panose="020B0604030504040204" pitchFamily="34" charset="0"/>
                        </a:rPr>
                        <a:t>Lớp</a:t>
                      </a:r>
                      <a:endParaRPr lang="en-US" sz="1500" dirty="0">
                        <a:solidFill>
                          <a:schemeClr val="tx1"/>
                        </a:solidFill>
                        <a:latin typeface="+mn-lt"/>
                      </a:endParaRPr>
                    </a:p>
                  </a:txBody>
                  <a:tcPr>
                    <a:solidFill>
                      <a:schemeClr val="bg1"/>
                    </a:solidFill>
                  </a:tcPr>
                </a:tc>
                <a:tc>
                  <a:txBody>
                    <a:bodyPr/>
                    <a:lstStyle/>
                    <a:p>
                      <a:r>
                        <a:rPr lang="vi-VN" sz="1500" b="1" dirty="0">
                          <a:solidFill>
                            <a:schemeClr val="tx1"/>
                          </a:solidFill>
                          <a:latin typeface="+mn-lt"/>
                          <a:ea typeface="Verdana" panose="020B0604030504040204" pitchFamily="34" charset="0"/>
                        </a:rPr>
                        <a:t>19AMMT</a:t>
                      </a:r>
                      <a:endParaRPr lang="en-US" sz="1500" dirty="0">
                        <a:solidFill>
                          <a:schemeClr val="tx1"/>
                        </a:solidFill>
                        <a:latin typeface="+mn-lt"/>
                      </a:endParaRPr>
                    </a:p>
                  </a:txBody>
                  <a:tcPr>
                    <a:solidFill>
                      <a:schemeClr val="bg1"/>
                    </a:solidFill>
                  </a:tcPr>
                </a:tc>
                <a:extLst>
                  <a:ext uri="{0D108BD9-81ED-4DB2-BD59-A6C34878D82A}">
                    <a16:rowId xmlns:a16="http://schemas.microsoft.com/office/drawing/2014/main" val="1934773621"/>
                  </a:ext>
                </a:extLst>
              </a:tr>
              <a:tr h="370840">
                <a:tc>
                  <a:txBody>
                    <a:bodyPr/>
                    <a:lstStyle/>
                    <a:p>
                      <a:r>
                        <a:rPr lang="vi-VN" sz="1500" b="1" dirty="0">
                          <a:solidFill>
                            <a:schemeClr val="tx1"/>
                          </a:solidFill>
                          <a:latin typeface="+mn-lt"/>
                          <a:ea typeface="Verdana" panose="020B0604030504040204" pitchFamily="34" charset="0"/>
                        </a:rPr>
                        <a:t>Khóa</a:t>
                      </a:r>
                      <a:endParaRPr lang="en-US" sz="1500" dirty="0">
                        <a:solidFill>
                          <a:schemeClr val="tx1"/>
                        </a:solidFill>
                        <a:latin typeface="+mn-lt"/>
                      </a:endParaRPr>
                    </a:p>
                  </a:txBody>
                  <a:tcPr>
                    <a:solidFill>
                      <a:schemeClr val="bg1"/>
                    </a:solidFill>
                  </a:tcPr>
                </a:tc>
                <a:tc>
                  <a:txBody>
                    <a:bodyPr/>
                    <a:lstStyle/>
                    <a:p>
                      <a:r>
                        <a:rPr lang="vi-VN" sz="1500" b="1" dirty="0">
                          <a:solidFill>
                            <a:schemeClr val="tx1"/>
                          </a:solidFill>
                          <a:latin typeface="+mn-lt"/>
                          <a:ea typeface="Verdana" panose="020B0604030504040204" pitchFamily="34" charset="0"/>
                        </a:rPr>
                        <a:t>2019A</a:t>
                      </a:r>
                      <a:endParaRPr lang="en-US" sz="1500" dirty="0">
                        <a:solidFill>
                          <a:schemeClr val="tx1"/>
                        </a:solidFill>
                        <a:latin typeface="+mn-lt"/>
                      </a:endParaRPr>
                    </a:p>
                  </a:txBody>
                  <a:tcPr>
                    <a:solidFill>
                      <a:schemeClr val="bg1"/>
                    </a:solidFill>
                  </a:tcPr>
                </a:tc>
                <a:extLst>
                  <a:ext uri="{0D108BD9-81ED-4DB2-BD59-A6C34878D82A}">
                    <a16:rowId xmlns:a16="http://schemas.microsoft.com/office/drawing/2014/main" val="4246440069"/>
                  </a:ext>
                </a:extLst>
              </a:tr>
            </a:tbl>
          </a:graphicData>
        </a:graphic>
      </p:graphicFrame>
    </p:spTree>
    <p:extLst>
      <p:ext uri="{BB962C8B-B14F-4D97-AF65-F5344CB8AC3E}">
        <p14:creationId xmlns:p14="http://schemas.microsoft.com/office/powerpoint/2010/main" val="620783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vi-VN" sz="2600" b="1" dirty="0">
                <a:solidFill>
                  <a:schemeClr val="bg1"/>
                </a:solidFill>
                <a:latin typeface="Verdana" panose="020B0604030504040204" pitchFamily="34" charset="0"/>
                <a:ea typeface="Verdana" panose="020B0604030504040204" pitchFamily="34" charset="0"/>
              </a:rPr>
              <a:t>MỤC LỤC</a:t>
            </a:r>
          </a:p>
        </p:txBody>
      </p:sp>
      <p:sp>
        <p:nvSpPr>
          <p:cNvPr id="19" name="Title 1">
            <a:extLst>
              <a:ext uri="{FF2B5EF4-FFF2-40B4-BE49-F238E27FC236}">
                <a16:creationId xmlns:a16="http://schemas.microsoft.com/office/drawing/2014/main" id="{E5883B25-2CEF-4F89-91E7-0A41E3647E40}"/>
              </a:ext>
            </a:extLst>
          </p:cNvPr>
          <p:cNvSpPr txBox="1">
            <a:spLocks/>
          </p:cNvSpPr>
          <p:nvPr/>
        </p:nvSpPr>
        <p:spPr>
          <a:xfrm>
            <a:off x="1094509" y="1136073"/>
            <a:ext cx="10307782"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250000"/>
              </a:lnSpc>
              <a:buAutoNum type="arabicPeriod"/>
            </a:pPr>
            <a:r>
              <a:rPr lang="en-US" sz="1800" b="1" dirty="0" err="1">
                <a:latin typeface="Verdana" panose="020B0604030504040204" pitchFamily="34" charset="0"/>
                <a:ea typeface="Verdana" panose="020B0604030504040204" pitchFamily="34" charset="0"/>
              </a:rPr>
              <a:t>Nhu</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cầu</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xây</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dựng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hệ</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thống</a:t>
            </a:r>
            <a:endParaRPr lang="vi-VN" sz="1800" b="1" dirty="0">
              <a:latin typeface="Verdana" panose="020B0604030504040204" pitchFamily="34" charset="0"/>
              <a:ea typeface="Verdana" panose="020B0604030504040204" pitchFamily="34" charset="0"/>
            </a:endParaRPr>
          </a:p>
          <a:p>
            <a:pPr marL="342900" indent="-342900">
              <a:lnSpc>
                <a:spcPct val="250000"/>
              </a:lnSpc>
              <a:buAutoNum type="arabicPeriod"/>
            </a:pPr>
            <a:r>
              <a:rPr lang="en-US" sz="1800" b="1" dirty="0" err="1">
                <a:latin typeface="Verdana" panose="020B0604030504040204" pitchFamily="34" charset="0"/>
                <a:ea typeface="Verdana" panose="020B0604030504040204" pitchFamily="34" charset="0"/>
              </a:rPr>
              <a:t>Hiện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trạng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quản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lý</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công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việc</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và</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đánh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giá</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tại</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PrBBNKBIDV</a:t>
            </a:r>
            <a:endParaRPr lang="vi-VN" sz="1800" b="1" dirty="0">
              <a:latin typeface="Verdana" panose="020B0604030504040204" pitchFamily="34" charset="0"/>
              <a:ea typeface="Verdana" panose="020B0604030504040204" pitchFamily="34" charset="0"/>
            </a:endParaRPr>
          </a:p>
          <a:p>
            <a:pPr marL="342900" indent="-342900">
              <a:lnSpc>
                <a:spcPct val="250000"/>
              </a:lnSpc>
              <a:buAutoNum type="arabicPeriod"/>
            </a:pPr>
            <a:r>
              <a:rPr lang="en-US" sz="1800" b="1" dirty="0" err="1">
                <a:latin typeface="Verdana" panose="020B0604030504040204" pitchFamily="34" charset="0"/>
                <a:ea typeface="Verdana" panose="020B0604030504040204" pitchFamily="34" charset="0"/>
              </a:rPr>
              <a:t>Mục</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tiêu</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xây</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dựng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hệ</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thống</a:t>
            </a:r>
            <a:endParaRPr lang="vi-VN" sz="1800" b="1" dirty="0">
              <a:latin typeface="Verdana" panose="020B0604030504040204" pitchFamily="34" charset="0"/>
              <a:ea typeface="Verdana" panose="020B0604030504040204" pitchFamily="34" charset="0"/>
            </a:endParaRPr>
          </a:p>
          <a:p>
            <a:pPr marL="342900" indent="-342900">
              <a:lnSpc>
                <a:spcPct val="250000"/>
              </a:lnSpc>
              <a:buAutoNum type="arabicPeriod"/>
            </a:pPr>
            <a:r>
              <a:rPr lang="en-US" sz="1800" b="1" dirty="0" err="1">
                <a:latin typeface="Verdana" panose="020B0604030504040204" pitchFamily="34" charset="0"/>
                <a:ea typeface="Verdana" panose="020B0604030504040204" pitchFamily="34" charset="0"/>
              </a:rPr>
              <a:t>Định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hướng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giải</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pháp</a:t>
            </a:r>
            <a:endParaRPr lang="vi-VN" sz="1800" b="1" dirty="0">
              <a:latin typeface="Verdana" panose="020B0604030504040204" pitchFamily="34" charset="0"/>
              <a:ea typeface="Verdana" panose="020B0604030504040204" pitchFamily="34" charset="0"/>
            </a:endParaRPr>
          </a:p>
          <a:p>
            <a:pPr marL="342900" indent="-342900">
              <a:lnSpc>
                <a:spcPct val="250000"/>
              </a:lnSpc>
              <a:buAutoNum type="arabicPeriod"/>
            </a:pPr>
            <a:r>
              <a:rPr lang="en-US" sz="1800" b="1" dirty="0" err="1">
                <a:latin typeface="Verdana" panose="020B0604030504040204" pitchFamily="34" charset="0"/>
                <a:ea typeface="Verdana" panose="020B0604030504040204" pitchFamily="34" charset="0"/>
              </a:rPr>
              <a:t>Đóng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góp</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phát</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triển</a:t>
            </a:r>
            <a:endParaRPr lang="vi-VN" sz="1800" b="1" dirty="0">
              <a:latin typeface="Verdana" panose="020B0604030504040204" pitchFamily="34" charset="0"/>
              <a:ea typeface="Verdana" panose="020B0604030504040204" pitchFamily="34" charset="0"/>
            </a:endParaRPr>
          </a:p>
          <a:p>
            <a:pPr marL="342900" indent="-342900">
              <a:lnSpc>
                <a:spcPct val="250000"/>
              </a:lnSpc>
              <a:buAutoNum type="arabicPeriod"/>
            </a:pPr>
            <a:r>
              <a:rPr lang="vi-VN" sz="1800" b="1" dirty="0">
                <a:latin typeface="Verdana" panose="020B0604030504040204" pitchFamily="34" charset="0"/>
                <a:ea typeface="Verdana" panose="020B0604030504040204" pitchFamily="34" charset="0"/>
              </a:rPr>
              <a:t>Tài liệu tham khảo</a:t>
            </a:r>
          </a:p>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12032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vi-VN" sz="2600" b="1" dirty="0">
                <a:solidFill>
                  <a:schemeClr val="bg1"/>
                </a:solidFill>
                <a:latin typeface="Verdana" panose="020B0604030504040204" pitchFamily="34" charset="0"/>
                <a:ea typeface="Verdana" panose="020B0604030504040204" pitchFamily="34" charset="0"/>
              </a:rPr>
              <a:t>1. </a:t>
            </a:r>
            <a:r>
              <a:rPr lang="en-US" sz="2600" b="1" dirty="0" err="1">
                <a:solidFill>
                  <a:schemeClr val="bg1"/>
                </a:solidFill>
                <a:latin typeface="Verdana" panose="020B0604030504040204" pitchFamily="34" charset="0"/>
                <a:ea typeface="Verdana" panose="020B0604030504040204" pitchFamily="34" charset="0"/>
              </a:rPr>
              <a:t>Nhu</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cầu</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xây</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dựng</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hệ</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thống</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800" b="1" dirty="0" err="1">
                <a:latin typeface="Verdana" panose="020B0604030504040204" pitchFamily="34" charset="0"/>
                <a:ea typeface="Verdana" panose="020B0604030504040204" pitchFamily="34" charset="0"/>
              </a:rPr>
              <a:t>Quản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lý</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công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việc</a:t>
            </a:r>
            <a:endParaRPr lang="en-US" sz="18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trong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ngoài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án</a:t>
            </a:r>
            <a:endParaRPr lang="en-US" sz="18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Tận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dụng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tối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đa</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nguồn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lực</a:t>
            </a:r>
            <a:endParaRPr lang="en-US" sz="18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Sử</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dụng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dữ</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liệu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làm</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sở</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endParaRPr lang="en-US" sz="1800" dirty="0">
              <a:latin typeface="Verdana" panose="020B0604030504040204" pitchFamily="34" charset="0"/>
              <a:ea typeface="Verdana" panose="020B0604030504040204" pitchFamily="34" charset="0"/>
            </a:endParaRPr>
          </a:p>
          <a:p>
            <a:pPr>
              <a:lnSpc>
                <a:spcPct val="150000"/>
              </a:lnSpc>
            </a:pPr>
            <a:r>
              <a:rPr lang="en-US" sz="1800" b="1" dirty="0" err="1">
                <a:latin typeface="Verdana" panose="020B0604030504040204" pitchFamily="34" charset="0"/>
                <a:ea typeface="Verdana" panose="020B0604030504040204" pitchFamily="34" charset="0"/>
              </a:rPr>
              <a:t>Quản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lý</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đánh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giá</a:t>
            </a:r>
            <a:endParaRPr lang="en-US" sz="18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chỉ</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tiêu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trong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phòng</a:t>
            </a:r>
            <a:r>
              <a:rPr lang="en-US" sz="1800" dirty="0">
                <a:latin typeface="Verdana" panose="020B0604030504040204" pitchFamily="34" charset="0"/>
                <a:ea typeface="Verdana" panose="020B0604030504040204" pitchFamily="34" charset="0"/>
              </a:rPr>
              <a:t> ban</a:t>
            </a: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một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cách</a:t>
            </a:r>
            <a:r>
              <a:rPr lang="en-US" sz="1800" dirty="0">
                <a:latin typeface="Verdana" panose="020B0604030504040204" pitchFamily="34" charset="0"/>
                <a:ea typeface="Verdana" panose="020B0604030504040204" pitchFamily="34" charset="0"/>
              </a:rPr>
              <a:t> chi </a:t>
            </a:r>
            <a:r>
              <a:rPr lang="en-US" sz="1800" dirty="0" err="1">
                <a:latin typeface="Verdana" panose="020B0604030504040204" pitchFamily="34" charset="0"/>
                <a:ea typeface="Verdana" panose="020B0604030504040204" pitchFamily="34" charset="0"/>
              </a:rPr>
              <a:t>tiết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bằng</a:t>
            </a:r>
            <a:endParaRPr lang="en-US" sz="18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Sử</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dụng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làm</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sở</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xếp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loại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nhân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viên</a:t>
            </a:r>
            <a:endParaRPr lang="en-US" sz="1800" dirty="0">
              <a:latin typeface="Verdana" panose="020B0604030504040204" pitchFamily="34" charset="0"/>
              <a:ea typeface="Verdana" panose="020B0604030504040204" pitchFamily="34" charset="0"/>
            </a:endParaRPr>
          </a:p>
          <a:p>
            <a:pPr>
              <a:lnSpc>
                <a:spcPct val="150000"/>
              </a:lnSpc>
            </a:pPr>
            <a:r>
              <a:rPr lang="en-US" sz="1800" b="1" dirty="0" err="1">
                <a:latin typeface="Verdana" panose="020B0604030504040204" pitchFamily="34" charset="0"/>
                <a:ea typeface="Verdana" panose="020B0604030504040204" pitchFamily="34" charset="0"/>
              </a:rPr>
              <a:t>Khoán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và</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thưởng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theo</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chính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sách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khoán</a:t>
            </a:r>
            <a:endParaRPr lang="en-US" sz="18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Áp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dụng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và</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đề</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xuất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mức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đóng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góp</a:t>
            </a:r>
            <a:r>
              <a:rPr lang="en-US" sz="1800" dirty="0">
                <a:latin typeface="Verdana" panose="020B0604030504040204" pitchFamily="34" charset="0"/>
                <a:ea typeface="Verdana" panose="020B0604030504040204" pitchFamily="34" charset="0"/>
              </a:rPr>
              <a:t> </a:t>
            </a: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hiệu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quả</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endParaRPr lang="en-US" sz="18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giai</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đoạn</a:t>
            </a:r>
            <a:endParaRPr lang="en-US" sz="18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tạm</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ứng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hiệu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quả</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án</a:t>
            </a:r>
            <a:endParaRPr lang="en-US" sz="1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00" dirty="0" err="1">
                <a:latin typeface="Verdana" panose="020B0604030504040204" pitchFamily="34" charset="0"/>
                <a:ea typeface="Verdana" panose="020B0604030504040204" pitchFamily="34" charset="0"/>
              </a:rPr>
              <a:t>Khoàn</a:t>
            </a: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952170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en-US" sz="2600" b="1" dirty="0">
                <a:solidFill>
                  <a:schemeClr val="bg1"/>
                </a:solidFill>
                <a:latin typeface="Verdana" panose="020B0604030504040204" pitchFamily="34" charset="0"/>
                <a:ea typeface="Verdana" panose="020B0604030504040204" pitchFamily="34" charset="0"/>
              </a:rPr>
              <a:t>2. </a:t>
            </a:r>
            <a:r>
              <a:rPr lang="en-US" sz="2600" b="1" dirty="0" err="1">
                <a:solidFill>
                  <a:schemeClr val="bg1"/>
                </a:solidFill>
                <a:latin typeface="Verdana" panose="020B0604030504040204" pitchFamily="34" charset="0"/>
                <a:ea typeface="Verdana" panose="020B0604030504040204" pitchFamily="34" charset="0"/>
              </a:rPr>
              <a:t>Hiện</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trạng</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tại</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PrBBNKBIDV</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endParaRPr lang="en-US" sz="1800" dirty="0">
              <a:latin typeface="Verdana" panose="020B0604030504040204" pitchFamily="34" charset="0"/>
              <a:ea typeface="Verdana" panose="020B0604030504040204" pitchFamily="34" charset="0"/>
            </a:endParaRPr>
          </a:p>
        </p:txBody>
      </p:sp>
      <p:sp>
        <p:nvSpPr>
          <p:cNvPr id="6" name="Title 1">
            <a:extLst>
              <a:ext uri="{FF2B5EF4-FFF2-40B4-BE49-F238E27FC236}">
                <a16:creationId xmlns:a16="http://schemas.microsoft.com/office/drawing/2014/main" id="{4369E437-6F14-4790-B3A9-C599175486F2}"/>
              </a:ext>
            </a:extLst>
          </p:cNvPr>
          <p:cNvSpPr txBox="1">
            <a:spLocks/>
          </p:cNvSpPr>
          <p:nvPr/>
        </p:nvSpPr>
        <p:spPr>
          <a:xfrm>
            <a:off x="1094509" y="1136073"/>
            <a:ext cx="10127673"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800" b="1" dirty="0" err="1">
                <a:latin typeface="Verdana" panose="020B0604030504040204" pitchFamily="34" charset="0"/>
                <a:ea typeface="Verdana" panose="020B0604030504040204" pitchFamily="34" charset="0"/>
              </a:rPr>
              <a:t>Quản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lý</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công</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việc</a:t>
            </a:r>
            <a:endParaRPr lang="en-US" sz="18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việc</a:t>
            </a:r>
            <a:r>
              <a:rPr lang="en-US" sz="1800" dirty="0">
                <a:latin typeface="Verdana" panose="020B0604030504040204" pitchFamily="34" charset="0"/>
                <a:ea typeface="Verdana" panose="020B0604030504040204" pitchFamily="34" charset="0"/>
              </a:rPr>
              <a:t> qua JIRA, SFLASH</a:t>
            </a: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Quản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lý</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từng</a:t>
            </a:r>
            <a:r>
              <a:rPr lang="en-US" sz="1800" dirty="0">
                <a:latin typeface="Verdana" panose="020B0604030504040204" pitchFamily="34" charset="0"/>
                <a:ea typeface="Verdana" panose="020B0604030504040204" pitchFamily="34" charset="0"/>
              </a:rPr>
              <a:t> issue</a:t>
            </a:r>
          </a:p>
          <a:p>
            <a:pPr>
              <a:lnSpc>
                <a:spcPct val="150000"/>
              </a:lnSpc>
            </a:pPr>
            <a:r>
              <a:rPr lang="en-US" sz="1800" b="1" dirty="0" err="1">
                <a:latin typeface="Verdana" panose="020B0604030504040204" pitchFamily="34" charset="0"/>
                <a:ea typeface="Verdana" panose="020B0604030504040204" pitchFamily="34" charset="0"/>
              </a:rPr>
              <a:t>Quản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lý</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đánh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giá</a:t>
            </a:r>
            <a:endParaRPr lang="en-US" sz="18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qua 4 </a:t>
            </a:r>
            <a:r>
              <a:rPr lang="en-US" sz="1800" dirty="0" err="1">
                <a:latin typeface="Verdana" panose="020B0604030504040204" pitchFamily="34" charset="0"/>
                <a:ea typeface="Verdana" panose="020B0604030504040204" pitchFamily="34" charset="0"/>
              </a:rPr>
              <a:t>tiêu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chí</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tiến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chất</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lượng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tuân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thủ</a:t>
            </a:r>
            <a:r>
              <a:rPr lang="en-US" sz="1800" dirty="0">
                <a:latin typeface="Verdana" panose="020B0604030504040204" pitchFamily="34" charset="0"/>
                <a:ea typeface="Verdana" panose="020B0604030504040204" pitchFamily="34" charset="0"/>
              </a:rPr>
              <a:t>, </a:t>
            </a:r>
          </a:p>
          <a:p>
            <a:pPr marL="285750" indent="-285750">
              <a:lnSpc>
                <a:spcPct val="150000"/>
              </a:lnSpc>
              <a:buFontTx/>
              <a:buChar char="-"/>
            </a:pPr>
            <a:r>
              <a:rPr lang="en-US" sz="1800" dirty="0">
                <a:latin typeface="Verdana" panose="020B0604030504040204" pitchFamily="34" charset="0"/>
                <a:ea typeface="Verdana" panose="020B0604030504040204" pitchFamily="34" charset="0"/>
              </a:rPr>
              <a:t>QLTT/ QLDA </a:t>
            </a: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endParaRPr lang="en-US" sz="1800"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Đánh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giá</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theo</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tháng</a:t>
            </a:r>
            <a:endParaRPr lang="en-US" sz="1800" dirty="0">
              <a:latin typeface="Verdana" panose="020B0604030504040204" pitchFamily="34" charset="0"/>
              <a:ea typeface="Verdana" panose="020B0604030504040204" pitchFamily="34" charset="0"/>
            </a:endParaRPr>
          </a:p>
          <a:p>
            <a:pPr>
              <a:lnSpc>
                <a:spcPct val="150000"/>
              </a:lnSpc>
            </a:pPr>
            <a:r>
              <a:rPr lang="en-US" sz="1800" b="1" dirty="0" err="1">
                <a:latin typeface="Verdana" panose="020B0604030504040204" pitchFamily="34" charset="0"/>
                <a:ea typeface="Verdana" panose="020B0604030504040204" pitchFamily="34" charset="0"/>
              </a:rPr>
              <a:t>Tính</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khoán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và</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tiền</a:t>
            </a:r>
            <a:r>
              <a:rPr lang="en-US" sz="1800" b="1" dirty="0">
                <a:latin typeface="Verdana" panose="020B0604030504040204" pitchFamily="34" charset="0"/>
                <a:ea typeface="Verdana" panose="020B0604030504040204" pitchFamily="34" charset="0"/>
              </a:rPr>
              <a:t> </a:t>
            </a:r>
            <a:r>
              <a:rPr lang="en-US" sz="1800" b="1" dirty="0" err="1">
                <a:latin typeface="Verdana" panose="020B0604030504040204" pitchFamily="34" charset="0"/>
                <a:ea typeface="Verdana" panose="020B0604030504040204" pitchFamily="34" charset="0"/>
              </a:rPr>
              <a:t>thưởng</a:t>
            </a:r>
            <a:endParaRPr lang="en-US" sz="1800" b="1" dirty="0">
              <a:latin typeface="Verdana" panose="020B0604030504040204" pitchFamily="34" charset="0"/>
              <a:ea typeface="Verdana" panose="020B0604030504040204" pitchFamily="34" charset="0"/>
            </a:endParaRPr>
          </a:p>
          <a:p>
            <a:pPr marL="285750" indent="-285750">
              <a:lnSpc>
                <a:spcPct val="150000"/>
              </a:lnSpc>
              <a:buFontTx/>
              <a:buChar char="-"/>
            </a:pPr>
            <a:r>
              <a:rPr lang="en-US" sz="1800" dirty="0" err="1">
                <a:latin typeface="Verdana" panose="020B0604030504040204" pitchFamily="34" charset="0"/>
                <a:ea typeface="Verdana" panose="020B0604030504040204" pitchFamily="34" charset="0"/>
              </a:rPr>
              <a:t>khoán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tạm</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ứng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hiệu</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quả</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án</a:t>
            </a:r>
            <a:r>
              <a:rPr lang="en-US" sz="1800" dirty="0">
                <a:latin typeface="Verdana" panose="020B0604030504040204" pitchFamily="34" charset="0"/>
                <a:ea typeface="Verdana" panose="020B0604030504040204" pitchFamily="34" charset="0"/>
              </a:rPr>
              <a:t> (2021)</a:t>
            </a:r>
          </a:p>
        </p:txBody>
      </p:sp>
    </p:spTree>
    <p:extLst>
      <p:ext uri="{BB962C8B-B14F-4D97-AF65-F5344CB8AC3E}">
        <p14:creationId xmlns:p14="http://schemas.microsoft.com/office/powerpoint/2010/main" val="372954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en-US" sz="2600" b="1" dirty="0">
                <a:solidFill>
                  <a:schemeClr val="bg1"/>
                </a:solidFill>
                <a:latin typeface="Verdana" panose="020B0604030504040204" pitchFamily="34" charset="0"/>
                <a:ea typeface="Verdana" panose="020B0604030504040204" pitchFamily="34" charset="0"/>
              </a:rPr>
              <a:t>3. </a:t>
            </a:r>
            <a:r>
              <a:rPr lang="en-US" sz="2600" b="1" dirty="0" err="1">
                <a:solidFill>
                  <a:schemeClr val="bg1"/>
                </a:solidFill>
                <a:latin typeface="Verdana" panose="020B0604030504040204" pitchFamily="34" charset="0"/>
                <a:ea typeface="Verdana" panose="020B0604030504040204" pitchFamily="34" charset="0"/>
              </a:rPr>
              <a:t>Mục</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tiêu</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10127673"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indent="-285750">
              <a:lnSpc>
                <a:spcPct val="150000"/>
              </a:lnSpc>
              <a:buFontTx/>
              <a:buChar char="-"/>
            </a:pPr>
            <a:endParaRPr lang="en-US" sz="1800" dirty="0">
              <a:latin typeface="Verdana" panose="020B0604030504040204" pitchFamily="34" charset="0"/>
              <a:ea typeface="Verdana" panose="020B0604030504040204" pitchFamily="34" charset="0"/>
            </a:endParaRPr>
          </a:p>
        </p:txBody>
      </p:sp>
      <p:sp>
        <p:nvSpPr>
          <p:cNvPr id="6" name="Title 1">
            <a:extLst>
              <a:ext uri="{FF2B5EF4-FFF2-40B4-BE49-F238E27FC236}">
                <a16:creationId xmlns:a16="http://schemas.microsoft.com/office/drawing/2014/main" id="{EC9F8B5A-B8FA-4F97-A1FE-C3E813B2E862}"/>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6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800" dirty="0">
                <a:latin typeface="Verdana" panose="020B0604030504040204" pitchFamily="34" charset="0"/>
                <a:ea typeface="Verdana" panose="020B0604030504040204" pitchFamily="34" charset="0"/>
              </a:rPr>
              <a:t>KPI</a:t>
            </a:r>
          </a:p>
          <a:p>
            <a:pPr algn="l" fontAlgn="base"/>
            <a:r>
              <a:rPr lang="vi-VN" b="1" i="0" dirty="0">
                <a:solidFill>
                  <a:srgbClr val="333333"/>
                </a:solidFill>
                <a:effectLst/>
                <a:latin typeface="Open Sans"/>
              </a:rPr>
              <a:t>Mục tiêu hành chính của hoạt động đánh giá nhân viên</a:t>
            </a:r>
            <a:endParaRPr lang="vi-VN" b="0" i="0" dirty="0">
              <a:solidFill>
                <a:srgbClr val="333333"/>
              </a:solidFill>
              <a:effectLst/>
              <a:latin typeface="Open Sans"/>
            </a:endParaRPr>
          </a:p>
          <a:p>
            <a:pPr algn="l" fontAlgn="base">
              <a:buFont typeface="Arial" panose="020B0604020202020204" pitchFamily="34" charset="0"/>
              <a:buChar char="•"/>
            </a:pPr>
            <a:r>
              <a:rPr lang="vi-VN" b="0" i="0" dirty="0">
                <a:solidFill>
                  <a:srgbClr val="666666"/>
                </a:solidFill>
                <a:effectLst/>
                <a:latin typeface="Open Sans"/>
              </a:rPr>
              <a:t>Cung cấp thông tin cho việc giải quyết tình huống kỷ luật, buộc thôi việc</a:t>
            </a:r>
          </a:p>
          <a:p>
            <a:pPr algn="l" fontAlgn="base"/>
            <a:r>
              <a:rPr lang="vi-VN" b="1" i="0" dirty="0">
                <a:solidFill>
                  <a:srgbClr val="333333"/>
                </a:solidFill>
                <a:effectLst/>
                <a:latin typeface="Open Sans"/>
              </a:rPr>
              <a:t>Mục tiêu điều hành của hoạt động đánh giá nhân viên</a:t>
            </a:r>
            <a:endParaRPr lang="vi-VN" b="0" i="0" dirty="0">
              <a:solidFill>
                <a:srgbClr val="333333"/>
              </a:solidFill>
              <a:effectLst/>
              <a:latin typeface="Open Sans"/>
            </a:endParaRPr>
          </a:p>
          <a:p>
            <a:pPr algn="l" fontAlgn="base">
              <a:buFont typeface="Arial" panose="020B0604020202020204" pitchFamily="34" charset="0"/>
              <a:buChar char="•"/>
            </a:pPr>
            <a:r>
              <a:rPr lang="vi-VN" b="0" i="0" dirty="0">
                <a:solidFill>
                  <a:srgbClr val="666666"/>
                </a:solidFill>
                <a:effectLst/>
                <a:latin typeface="Open Sans"/>
              </a:rPr>
              <a:t>Làm cơ sở cho việc tăng lương, khen thưởng nhân viên, tạo động lực kích thích nhân viên</a:t>
            </a:r>
          </a:p>
          <a:p>
            <a:pPr algn="l" fontAlgn="base">
              <a:buFont typeface="Arial" panose="020B0604020202020204" pitchFamily="34" charset="0"/>
              <a:buChar char="•"/>
            </a:pPr>
            <a:r>
              <a:rPr lang="vi-VN" b="0" i="0" dirty="0">
                <a:solidFill>
                  <a:srgbClr val="666666"/>
                </a:solidFill>
                <a:effectLst/>
                <a:latin typeface="Open Sans"/>
              </a:rPr>
              <a:t>Cơ hội để nhà quản lý nhìn ra tiềm năng của nhân viên</a:t>
            </a:r>
          </a:p>
          <a:p>
            <a:pPr algn="l" fontAlgn="base">
              <a:buFont typeface="Arial" panose="020B0604020202020204" pitchFamily="34" charset="0"/>
              <a:buChar char="•"/>
            </a:pPr>
            <a:r>
              <a:rPr lang="vi-VN" b="0" i="0" dirty="0">
                <a:solidFill>
                  <a:srgbClr val="666666"/>
                </a:solidFill>
                <a:effectLst/>
                <a:latin typeface="Open Sans"/>
              </a:rPr>
              <a:t>Cơ hội để truyền tải thông điệp cần thiết cho nhân viên</a:t>
            </a:r>
          </a:p>
          <a:p>
            <a:pPr marL="742950" lvl="1" indent="-285750" algn="l" fontAlgn="base">
              <a:buFont typeface="Arial" panose="020B0604020202020204" pitchFamily="34" charset="0"/>
              <a:buChar char="•"/>
            </a:pPr>
            <a:r>
              <a:rPr lang="vi-VN" b="0" i="0" dirty="0">
                <a:solidFill>
                  <a:srgbClr val="666666"/>
                </a:solidFill>
                <a:effectLst/>
                <a:latin typeface="Open Sans"/>
              </a:rPr>
              <a:t>Các chuẩn mực đạo đức làm việc</a:t>
            </a:r>
          </a:p>
          <a:p>
            <a:pPr marL="742950" lvl="1" indent="-285750" algn="l" fontAlgn="base">
              <a:buFont typeface="Arial" panose="020B0604020202020204" pitchFamily="34" charset="0"/>
              <a:buChar char="•"/>
            </a:pPr>
            <a:r>
              <a:rPr lang="vi-VN" b="0" i="0" dirty="0">
                <a:solidFill>
                  <a:srgbClr val="666666"/>
                </a:solidFill>
                <a:effectLst/>
                <a:latin typeface="Open Sans"/>
              </a:rPr>
              <a:t>Những lời khen ngợi kích thích tinh thần làm việc</a:t>
            </a:r>
          </a:p>
          <a:p>
            <a:pPr marL="742950" lvl="1" indent="-285750" algn="l" fontAlgn="base">
              <a:buFont typeface="Arial" panose="020B0604020202020204" pitchFamily="34" charset="0"/>
              <a:buChar char="•"/>
            </a:pPr>
            <a:r>
              <a:rPr lang="vi-VN" b="0" i="0" dirty="0">
                <a:solidFill>
                  <a:srgbClr val="666666"/>
                </a:solidFill>
                <a:effectLst/>
                <a:latin typeface="Open Sans"/>
              </a:rPr>
              <a:t>Những lời cảnh báo cần thiết</a:t>
            </a:r>
          </a:p>
          <a:p>
            <a:pPr marL="742950" lvl="1" indent="-285750" algn="l" fontAlgn="base">
              <a:buFont typeface="Arial" panose="020B0604020202020204" pitchFamily="34" charset="0"/>
              <a:buChar char="•"/>
            </a:pPr>
            <a:r>
              <a:rPr lang="vi-VN" b="0" i="0" dirty="0">
                <a:solidFill>
                  <a:srgbClr val="666666"/>
                </a:solidFill>
                <a:effectLst/>
                <a:latin typeface="Open Sans"/>
              </a:rPr>
              <a:t>Những thông tin về công ty, chính sách mới, mục tiêu quan trọng của công ty</a:t>
            </a:r>
          </a:p>
          <a:p>
            <a:pPr algn="l" fontAlgn="base">
              <a:buFont typeface="Arial" panose="020B0604020202020204" pitchFamily="34" charset="0"/>
              <a:buChar char="•"/>
            </a:pPr>
            <a:r>
              <a:rPr lang="vi-VN" b="0" i="0" dirty="0">
                <a:solidFill>
                  <a:srgbClr val="666666"/>
                </a:solidFill>
                <a:effectLst/>
                <a:latin typeface="Open Sans"/>
              </a:rPr>
              <a:t>Cơ hội để tăng cường quan hệ trong công việc giữa cấp trên và cấp dưới</a:t>
            </a:r>
          </a:p>
          <a:p>
            <a:pPr algn="l" fontAlgn="base"/>
            <a:r>
              <a:rPr lang="vi-VN" b="1" i="0" dirty="0">
                <a:solidFill>
                  <a:srgbClr val="333333"/>
                </a:solidFill>
                <a:effectLst/>
                <a:latin typeface="Open Sans"/>
              </a:rPr>
              <a:t>Mục tiêu phát triển của hoạt động đánh giá nhân viên</a:t>
            </a:r>
            <a:endParaRPr lang="vi-VN" b="0" i="0" dirty="0">
              <a:solidFill>
                <a:srgbClr val="333333"/>
              </a:solidFill>
              <a:effectLst/>
              <a:latin typeface="Open Sans"/>
            </a:endParaRPr>
          </a:p>
          <a:p>
            <a:pPr algn="l" fontAlgn="base">
              <a:buFont typeface="Arial" panose="020B0604020202020204" pitchFamily="34" charset="0"/>
              <a:buChar char="•"/>
            </a:pPr>
            <a:r>
              <a:rPr lang="vi-VN" b="0" i="0" dirty="0">
                <a:solidFill>
                  <a:srgbClr val="666666"/>
                </a:solidFill>
                <a:effectLst/>
                <a:latin typeface="Open Sans"/>
              </a:rPr>
              <a:t>Xác định những điểm cần đào tạo để giúp nhân viên tăng năng suất</a:t>
            </a:r>
          </a:p>
          <a:p>
            <a:pPr algn="l" fontAlgn="base">
              <a:buFont typeface="Arial" panose="020B0604020202020204" pitchFamily="34" charset="0"/>
              <a:buChar char="•"/>
            </a:pPr>
            <a:r>
              <a:rPr lang="vi-VN" b="0" i="0" dirty="0">
                <a:solidFill>
                  <a:srgbClr val="666666"/>
                </a:solidFill>
                <a:effectLst/>
                <a:latin typeface="Open Sans"/>
              </a:rPr>
              <a:t>Xác định những điểm cần đào tạo để giúp nhân viên khắc phục điểm yếu</a:t>
            </a:r>
          </a:p>
          <a:p>
            <a:pPr algn="l" fontAlgn="base">
              <a:buFont typeface="Arial" panose="020B0604020202020204" pitchFamily="34" charset="0"/>
              <a:buChar char="•"/>
            </a:pPr>
            <a:r>
              <a:rPr lang="vi-VN" b="0" i="0" dirty="0">
                <a:solidFill>
                  <a:srgbClr val="666666"/>
                </a:solidFill>
                <a:effectLst/>
                <a:latin typeface="Open Sans"/>
              </a:rPr>
              <a:t>Đem lại thông tin để hoạch định nguồn nhân lực &amp; tuyển chọn nhân tài cho tương lai</a:t>
            </a:r>
          </a:p>
          <a:p>
            <a:pPr>
              <a:lnSpc>
                <a:spcPct val="150000"/>
              </a:lnSpc>
            </a:pP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522669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en-US" sz="2600" b="1" dirty="0">
                <a:solidFill>
                  <a:schemeClr val="bg1"/>
                </a:solidFill>
                <a:latin typeface="Verdana" panose="020B0604030504040204" pitchFamily="34" charset="0"/>
                <a:ea typeface="Verdana" panose="020B0604030504040204" pitchFamily="34" charset="0"/>
              </a:rPr>
              <a:t>4.</a:t>
            </a:r>
            <a:r>
              <a:rPr lang="vi-VN" sz="2600" b="1" dirty="0">
                <a:solidFill>
                  <a:schemeClr val="bg1"/>
                </a:solidFill>
                <a:latin typeface="Verdana" panose="020B0604030504040204" pitchFamily="34" charset="0"/>
                <a:ea typeface="Verdana" panose="020B0604030504040204" pitchFamily="34" charset="0"/>
              </a:rPr>
              <a:t> Định hướng giải pháp</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800" dirty="0" err="1">
                <a:latin typeface="Verdana" panose="020B0604030504040204" pitchFamily="34" charset="0"/>
                <a:ea typeface="Verdana" panose="020B0604030504040204" pitchFamily="34" charset="0"/>
              </a:rPr>
              <a:t>Thay</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thế</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bổ</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xung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kpi</a:t>
            </a:r>
            <a:endParaRPr lang="en-US" sz="1800" dirty="0">
              <a:latin typeface="Verdana" panose="020B0604030504040204" pitchFamily="34" charset="0"/>
              <a:ea typeface="Verdana" panose="020B0604030504040204" pitchFamily="34" charset="0"/>
            </a:endParaRPr>
          </a:p>
          <a:p>
            <a:pPr>
              <a:lnSpc>
                <a:spcPct val="150000"/>
              </a:lnSpc>
            </a:pPr>
            <a:r>
              <a:rPr lang="en-US" sz="1800" dirty="0" err="1">
                <a:latin typeface="Verdana" panose="020B0604030504040204" pitchFamily="34" charset="0"/>
                <a:ea typeface="Verdana" panose="020B0604030504040204" pitchFamily="34" charset="0"/>
              </a:rPr>
              <a:t>Tự</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động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báo</a:t>
            </a:r>
            <a:endParaRPr lang="en-US" sz="1800" dirty="0">
              <a:latin typeface="Verdana" panose="020B0604030504040204" pitchFamily="34" charset="0"/>
              <a:ea typeface="Verdana" panose="020B0604030504040204" pitchFamily="34" charset="0"/>
            </a:endParaRPr>
          </a:p>
          <a:p>
            <a:pPr>
              <a:lnSpc>
                <a:spcPct val="150000"/>
              </a:lnSpc>
            </a:pP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toán</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khoán</a:t>
            </a: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36169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333896" y="327184"/>
            <a:ext cx="9888286" cy="492443"/>
          </a:xfrm>
          <a:prstGeom prst="rect">
            <a:avLst/>
          </a:prstGeom>
        </p:spPr>
        <p:txBody>
          <a:bodyPr wrap="square">
            <a:spAutoFit/>
          </a:bodyPr>
          <a:lstStyle/>
          <a:p>
            <a:r>
              <a:rPr lang="en-US" sz="2600" b="1" dirty="0">
                <a:solidFill>
                  <a:schemeClr val="bg1"/>
                </a:solidFill>
                <a:latin typeface="Verdana" panose="020B0604030504040204" pitchFamily="34" charset="0"/>
                <a:ea typeface="Verdana" panose="020B0604030504040204" pitchFamily="34" charset="0"/>
              </a:rPr>
              <a:t>5. </a:t>
            </a:r>
            <a:r>
              <a:rPr lang="en-US" sz="2600" b="1" dirty="0" err="1">
                <a:solidFill>
                  <a:schemeClr val="bg1"/>
                </a:solidFill>
                <a:latin typeface="Verdana" panose="020B0604030504040204" pitchFamily="34" charset="0"/>
                <a:ea typeface="Verdana" panose="020B0604030504040204" pitchFamily="34" charset="0"/>
              </a:rPr>
              <a:t>Đóng</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góp</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phát</a:t>
            </a:r>
            <a:r>
              <a:rPr lang="en-US" sz="2600" b="1" dirty="0">
                <a:solidFill>
                  <a:schemeClr val="bg1"/>
                </a:solidFill>
                <a:latin typeface="Verdana" panose="020B0604030504040204" pitchFamily="34" charset="0"/>
                <a:ea typeface="Verdana" panose="020B0604030504040204" pitchFamily="34" charset="0"/>
              </a:rPr>
              <a:t> </a:t>
            </a:r>
            <a:r>
              <a:rPr lang="en-US" sz="2600" b="1" dirty="0" err="1">
                <a:solidFill>
                  <a:schemeClr val="bg1"/>
                </a:solidFill>
                <a:latin typeface="Verdana" panose="020B0604030504040204" pitchFamily="34" charset="0"/>
                <a:ea typeface="Verdana" panose="020B0604030504040204" pitchFamily="34" charset="0"/>
              </a:rPr>
              <a:t>triển</a:t>
            </a:r>
            <a:endParaRPr lang="en-US" sz="2600" b="1" dirty="0">
              <a:solidFill>
                <a:schemeClr val="bg1"/>
              </a:solidFill>
              <a:latin typeface="Verdana" panose="020B0604030504040204" pitchFamily="34" charset="0"/>
              <a:ea typeface="Verdana" panose="020B0604030504040204" pitchFamily="34" charset="0"/>
            </a:endParaRPr>
          </a:p>
        </p:txBody>
      </p:sp>
      <p:sp>
        <p:nvSpPr>
          <p:cNvPr id="4" name="Title 1">
            <a:extLst>
              <a:ext uri="{FF2B5EF4-FFF2-40B4-BE49-F238E27FC236}">
                <a16:creationId xmlns:a16="http://schemas.microsoft.com/office/drawing/2014/main" id="{D6309B9C-1924-4E7A-82A1-DDBA755727BE}"/>
              </a:ext>
            </a:extLst>
          </p:cNvPr>
          <p:cNvSpPr txBox="1">
            <a:spLocks/>
          </p:cNvSpPr>
          <p:nvPr/>
        </p:nvSpPr>
        <p:spPr>
          <a:xfrm>
            <a:off x="1094509" y="1136073"/>
            <a:ext cx="10127673" cy="539474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50000"/>
              </a:lnSpc>
              <a:buAutoNum type="arabicPeriod"/>
            </a:pPr>
            <a:endParaRPr lang="en-US" sz="1800" b="1" dirty="0">
              <a:latin typeface="Verdana" panose="020B0604030504040204" pitchFamily="34" charset="0"/>
              <a:ea typeface="Verdana" panose="020B0604030504040204" pitchFamily="34" charset="0"/>
            </a:endParaRPr>
          </a:p>
        </p:txBody>
      </p:sp>
      <p:sp>
        <p:nvSpPr>
          <p:cNvPr id="5" name="Title 1">
            <a:extLst>
              <a:ext uri="{FF2B5EF4-FFF2-40B4-BE49-F238E27FC236}">
                <a16:creationId xmlns:a16="http://schemas.microsoft.com/office/drawing/2014/main" id="{56541AD8-9D9B-4D9C-BDFF-103129E96583}"/>
              </a:ext>
            </a:extLst>
          </p:cNvPr>
          <p:cNvSpPr txBox="1">
            <a:spLocks/>
          </p:cNvSpPr>
          <p:nvPr/>
        </p:nvSpPr>
        <p:spPr>
          <a:xfrm>
            <a:off x="1094509" y="1136073"/>
            <a:ext cx="10307782" cy="5549540"/>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800" dirty="0" err="1">
                <a:latin typeface="Verdana" panose="020B0604030504040204" pitchFamily="34" charset="0"/>
                <a:ea typeface="Verdana" panose="020B0604030504040204" pitchFamily="34" charset="0"/>
              </a:rPr>
              <a:t>Xây</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bộ</a:t>
            </a:r>
            <a:r>
              <a:rPr lang="en-US" sz="1800" dirty="0">
                <a:latin typeface="Verdana" panose="020B0604030504040204" pitchFamily="34" charset="0"/>
                <a:ea typeface="Verdana" panose="020B0604030504040204" pitchFamily="34" charset="0"/>
              </a:rPr>
              <a:t> KPI</a:t>
            </a:r>
          </a:p>
          <a:p>
            <a:pPr>
              <a:lnSpc>
                <a:spcPct val="150000"/>
              </a:lnSpc>
            </a:pPr>
            <a:r>
              <a:rPr lang="en-US" sz="1800" dirty="0" err="1">
                <a:latin typeface="Verdana" panose="020B0604030504040204" pitchFamily="34" charset="0"/>
                <a:ea typeface="Verdana" panose="020B0604030504040204" pitchFamily="34" charset="0"/>
              </a:rPr>
              <a:t>Đóng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góp</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xấy</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dựng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công</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thức</a:t>
            </a:r>
            <a:r>
              <a:rPr lang="en-US" sz="1800" dirty="0">
                <a:latin typeface="Verdana" panose="020B0604030504040204" pitchFamily="34" charset="0"/>
                <a:ea typeface="Verdana" panose="020B0604030504040204" pitchFamily="34" charset="0"/>
              </a:rPr>
              <a:t> </a:t>
            </a:r>
            <a:r>
              <a:rPr lang="en-US" sz="1800" dirty="0" err="1">
                <a:latin typeface="Verdana" panose="020B0604030504040204" pitchFamily="34" charset="0"/>
                <a:ea typeface="Verdana" panose="020B0604030504040204" pitchFamily="34" charset="0"/>
              </a:rPr>
              <a:t>tính</a:t>
            </a:r>
            <a:r>
              <a:rPr lang="en-US" sz="1800" dirty="0">
                <a:latin typeface="Verdana" panose="020B0604030504040204" pitchFamily="34" charset="0"/>
                <a:ea typeface="Verdana" panose="020B0604030504040204" pitchFamily="34" charset="0"/>
              </a:rPr>
              <a:t> </a:t>
            </a:r>
            <a:r>
              <a:rPr lang="en-US" sz="1800">
                <a:latin typeface="Verdana" panose="020B0604030504040204" pitchFamily="34" charset="0"/>
                <a:ea typeface="Verdana" panose="020B0604030504040204" pitchFamily="34" charset="0"/>
              </a:rPr>
              <a:t>khoán</a:t>
            </a: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853473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WordArt 6"/>
          <p:cNvSpPr>
            <a:spLocks noChangeArrowheads="1" noChangeShapeType="1" noTextEdit="1"/>
          </p:cNvSpPr>
          <p:nvPr/>
        </p:nvSpPr>
        <p:spPr bwMode="gray">
          <a:xfrm>
            <a:off x="4399085" y="2819400"/>
            <a:ext cx="4343400" cy="609600"/>
          </a:xfrm>
          <a:prstGeom prst="rect">
            <a:avLst/>
          </a:prstGeom>
        </p:spPr>
        <p:txBody>
          <a:bodyPr wrap="none" fromWordArt="1">
            <a:prstTxWarp prst="textDeflate">
              <a:avLst>
                <a:gd name="adj" fmla="val 0"/>
              </a:avLst>
            </a:prstTxWarp>
          </a:bodyPr>
          <a:lstStyle/>
          <a:p>
            <a:pPr algn="ctr"/>
            <a:r>
              <a:rPr lang="en-US" sz="3600" b="1" kern="10">
                <a:ln w="28575">
                  <a:solidFill>
                    <a:srgbClr val="FFFFFF"/>
                  </a:solidFill>
                  <a:round/>
                  <a:headEnd/>
                  <a:tailEnd/>
                </a:ln>
                <a:solidFill>
                  <a:schemeClr val="accent2">
                    <a:lumMod val="75000"/>
                  </a:schemeClr>
                </a:solidFill>
                <a:effectLst>
                  <a:glow rad="228600">
                    <a:schemeClr val="accent3">
                      <a:satMod val="175000"/>
                      <a:alpha val="40000"/>
                    </a:schemeClr>
                  </a:glow>
                  <a:outerShdw dist="71842" dir="2700000" algn="ctr" rotWithShape="0">
                    <a:schemeClr val="tx1">
                      <a:alpha val="50000"/>
                    </a:schemeClr>
                  </a:outerShdw>
                </a:effectLst>
                <a:cs typeface="Arial" panose="020B0604020202020204" pitchFamily="34" charset="0"/>
              </a:rPr>
              <a:t>Thank You!</a:t>
            </a:r>
          </a:p>
        </p:txBody>
      </p:sp>
    </p:spTree>
    <p:extLst>
      <p:ext uri="{BB962C8B-B14F-4D97-AF65-F5344CB8AC3E}">
        <p14:creationId xmlns:p14="http://schemas.microsoft.com/office/powerpoint/2010/main" val="2627119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6351</TotalTime>
  <Words>1721</Words>
  <Application>Microsoft Office PowerPoint</Application>
  <PresentationFormat>Widescreen</PresentationFormat>
  <Paragraphs>110</Paragraphs>
  <Slides>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Calibri</vt:lpstr>
      <vt:lpstr>Calibri Light</vt:lpstr>
      <vt:lpstr>Open Sans</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Tran Minh Luong (FIS HR HN)</dc:creator>
  <cp:lastModifiedBy>Nguyễn Công Sơn</cp:lastModifiedBy>
  <cp:revision>231</cp:revision>
  <dcterms:created xsi:type="dcterms:W3CDTF">2020-10-28T02:11:29Z</dcterms:created>
  <dcterms:modified xsi:type="dcterms:W3CDTF">2021-03-16T10:01:08Z</dcterms:modified>
</cp:coreProperties>
</file>