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10" r:id="rId2"/>
    <p:sldId id="312" r:id="rId3"/>
    <p:sldId id="320" r:id="rId4"/>
    <p:sldId id="321" r:id="rId5"/>
    <p:sldId id="330" r:id="rId6"/>
    <p:sldId id="322" r:id="rId7"/>
    <p:sldId id="331" r:id="rId8"/>
    <p:sldId id="328" r:id="rId9"/>
    <p:sldId id="324" r:id="rId10"/>
    <p:sldId id="329"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o Van Truong (FIS HR HN)" initials="NVT(HH" lastIdx="1" clrIdx="0">
    <p:extLst>
      <p:ext uri="{19B8F6BF-5375-455C-9EA6-DF929625EA0E}">
        <p15:presenceInfo xmlns:p15="http://schemas.microsoft.com/office/powerpoint/2012/main" userId="Ngo Van Truong (FIS HR HN)" providerId="None"/>
      </p:ext>
    </p:extLst>
  </p:cmAuthor>
  <p:cmAuthor id="2" name="Nguyễn Công Sơn" initials="NCS" lastIdx="1" clrIdx="1">
    <p:extLst>
      <p:ext uri="{19B8F6BF-5375-455C-9EA6-DF929625EA0E}">
        <p15:presenceInfo xmlns:p15="http://schemas.microsoft.com/office/powerpoint/2012/main" userId="4e6c510bb9d2bdd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8944"/>
    <a:srgbClr val="66003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41" autoAdjust="0"/>
    <p:restoredTop sz="94291" autoAdjust="0"/>
  </p:normalViewPr>
  <p:slideViewPr>
    <p:cSldViewPr snapToGrid="0">
      <p:cViewPr varScale="1">
        <p:scale>
          <a:sx n="111" d="100"/>
          <a:sy n="111" d="100"/>
        </p:scale>
        <p:origin x="342" y="10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209061-6C39-450F-A509-8FFE57C1251C}" type="datetimeFigureOut">
              <a:rPr lang="en-US" smtClean="0"/>
              <a:t>3/30/2021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9A174-BD37-4CF9-A3FC-30F95FD3068F}" type="slidenum">
              <a:rPr lang="en-US" smtClean="0"/>
              <a:t>‹#›</a:t>
            </a:fld>
            <a:endParaRPr lang="en-US"/>
          </a:p>
        </p:txBody>
      </p:sp>
    </p:spTree>
    <p:extLst>
      <p:ext uri="{BB962C8B-B14F-4D97-AF65-F5344CB8AC3E}">
        <p14:creationId xmlns:p14="http://schemas.microsoft.com/office/powerpoint/2010/main" val="2256156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Với</a:t>
            </a:r>
            <a:r>
              <a:rPr lang="en-US" dirty="0"/>
              <a:t> </a:t>
            </a:r>
            <a:r>
              <a:rPr lang="en-US" dirty="0" err="1"/>
              <a:t>đề</a:t>
            </a:r>
            <a:r>
              <a:rPr lang="en-US" dirty="0"/>
              <a:t> </a:t>
            </a:r>
            <a:r>
              <a:rPr lang="en-US" dirty="0" err="1"/>
              <a:t>tài</a:t>
            </a:r>
            <a:r>
              <a:rPr lang="en-US" dirty="0"/>
              <a:t> </a:t>
            </a:r>
            <a:r>
              <a:rPr lang="en-US" dirty="0" err="1"/>
              <a:t>này</a:t>
            </a:r>
            <a:r>
              <a:rPr lang="en-US" dirty="0"/>
              <a:t>, </a:t>
            </a:r>
            <a:r>
              <a:rPr lang="en-US" dirty="0" err="1"/>
              <a:t>em</a:t>
            </a:r>
            <a:r>
              <a:rPr lang="en-US" dirty="0"/>
              <a:t> </a:t>
            </a:r>
            <a:r>
              <a:rPr lang="en-US" dirty="0" err="1"/>
              <a:t>xin</a:t>
            </a:r>
            <a:r>
              <a:rPr lang="en-US" dirty="0"/>
              <a:t> </a:t>
            </a:r>
            <a:r>
              <a:rPr lang="en-US" dirty="0" err="1"/>
              <a:t>trình</a:t>
            </a:r>
            <a:r>
              <a:rPr lang="en-US" dirty="0"/>
              <a:t> </a:t>
            </a:r>
            <a:r>
              <a:rPr lang="en-US" dirty="0" err="1"/>
              <a:t>bày</a:t>
            </a:r>
            <a:r>
              <a:rPr lang="en-US" dirty="0"/>
              <a:t> </a:t>
            </a:r>
            <a:r>
              <a:rPr lang="en-US" dirty="0" err="1"/>
              <a:t>các</a:t>
            </a:r>
            <a:r>
              <a:rPr lang="en-US" dirty="0"/>
              <a:t> </a:t>
            </a:r>
            <a:r>
              <a:rPr lang="en-US" dirty="0" err="1"/>
              <a:t>phần</a:t>
            </a:r>
            <a:r>
              <a:rPr lang="en-US" dirty="0"/>
              <a:t> </a:t>
            </a:r>
            <a:r>
              <a:rPr lang="en-US" dirty="0" err="1"/>
              <a:t>có</a:t>
            </a:r>
            <a:r>
              <a:rPr lang="en-US" dirty="0"/>
              <a:t> </a:t>
            </a:r>
            <a:r>
              <a:rPr lang="en-US" dirty="0" err="1"/>
              <a:t>nội</a:t>
            </a:r>
            <a:r>
              <a:rPr lang="en-US" dirty="0"/>
              <a:t> dung </a:t>
            </a:r>
            <a:r>
              <a:rPr lang="en-US" dirty="0" err="1"/>
              <a:t>như</a:t>
            </a:r>
            <a:r>
              <a:rPr lang="en-US" dirty="0"/>
              <a:t> </a:t>
            </a:r>
            <a:r>
              <a:rPr lang="en-US" dirty="0" err="1"/>
              <a:t>sau</a:t>
            </a:r>
            <a:r>
              <a:rPr lang="en-US" dirty="0"/>
              <a:t>:</a:t>
            </a:r>
          </a:p>
          <a:p>
            <a:pPr marL="228600" indent="-228600">
              <a:buAutoNum type="arabicPeriod"/>
            </a:pPr>
            <a:r>
              <a:rPr lang="en-US" dirty="0" err="1"/>
              <a:t>Nhu</a:t>
            </a:r>
            <a:r>
              <a:rPr lang="en-US" dirty="0"/>
              <a:t> </a:t>
            </a:r>
            <a:r>
              <a:rPr lang="en-US" dirty="0" err="1"/>
              <a:t>cầu</a:t>
            </a:r>
            <a:r>
              <a:rPr lang="en-US" dirty="0"/>
              <a:t> </a:t>
            </a:r>
            <a:r>
              <a:rPr lang="en-US" dirty="0" err="1"/>
              <a:t>và</a:t>
            </a:r>
            <a:r>
              <a:rPr lang="en-US" dirty="0"/>
              <a:t> </a:t>
            </a:r>
            <a:r>
              <a:rPr lang="en-US" dirty="0" err="1"/>
              <a:t>tính</a:t>
            </a:r>
            <a:r>
              <a:rPr lang="en-US" dirty="0"/>
              <a:t> </a:t>
            </a:r>
            <a:r>
              <a:rPr lang="en-US" dirty="0" err="1"/>
              <a:t>cấp</a:t>
            </a:r>
            <a:r>
              <a:rPr lang="en-US" dirty="0"/>
              <a:t> </a:t>
            </a:r>
            <a:r>
              <a:rPr lang="en-US" dirty="0" err="1"/>
              <a:t>thiết</a:t>
            </a:r>
            <a:r>
              <a:rPr lang="en-US" dirty="0"/>
              <a:t>: </a:t>
            </a:r>
            <a:r>
              <a:rPr lang="en-US" dirty="0" err="1"/>
              <a:t>phần</a:t>
            </a:r>
            <a:r>
              <a:rPr lang="en-US" dirty="0"/>
              <a:t> </a:t>
            </a:r>
            <a:r>
              <a:rPr lang="en-US" dirty="0" err="1"/>
              <a:t>này</a:t>
            </a:r>
            <a:r>
              <a:rPr lang="en-US" dirty="0"/>
              <a:t> </a:t>
            </a:r>
            <a:r>
              <a:rPr lang="en-US" dirty="0" err="1"/>
              <a:t>sẽ</a:t>
            </a:r>
            <a:r>
              <a:rPr lang="en-US" dirty="0"/>
              <a:t> </a:t>
            </a:r>
            <a:r>
              <a:rPr lang="en-US" dirty="0" err="1"/>
              <a:t>nói</a:t>
            </a:r>
            <a:r>
              <a:rPr lang="en-US" dirty="0"/>
              <a:t> </a:t>
            </a:r>
            <a:r>
              <a:rPr lang="en-US" dirty="0" err="1"/>
              <a:t>về</a:t>
            </a:r>
            <a:r>
              <a:rPr lang="en-US" dirty="0"/>
              <a:t> </a:t>
            </a:r>
            <a:r>
              <a:rPr lang="en-US" dirty="0" err="1"/>
              <a:t>tính</a:t>
            </a:r>
            <a:r>
              <a:rPr lang="en-US" dirty="0"/>
              <a:t> </a:t>
            </a:r>
            <a:r>
              <a:rPr lang="en-US" dirty="0" err="1"/>
              <a:t>nhu</a:t>
            </a:r>
            <a:r>
              <a:rPr lang="en-US" dirty="0"/>
              <a:t> </a:t>
            </a:r>
            <a:r>
              <a:rPr lang="en-US" dirty="0" err="1"/>
              <a:t>cầu</a:t>
            </a:r>
            <a:r>
              <a:rPr lang="en-US" dirty="0"/>
              <a:t> </a:t>
            </a:r>
            <a:r>
              <a:rPr lang="en-US" dirty="0" err="1"/>
              <a:t>hiện</a:t>
            </a:r>
            <a:r>
              <a:rPr lang="en-US" dirty="0"/>
              <a:t> </a:t>
            </a:r>
            <a:r>
              <a:rPr lang="en-US" dirty="0" err="1"/>
              <a:t>tại</a:t>
            </a:r>
            <a:r>
              <a:rPr lang="en-US" dirty="0"/>
              <a:t> </a:t>
            </a:r>
            <a:r>
              <a:rPr lang="en-US" dirty="0" err="1"/>
              <a:t>của</a:t>
            </a:r>
            <a:r>
              <a:rPr lang="en-US" dirty="0"/>
              <a:t> </a:t>
            </a:r>
            <a:r>
              <a:rPr lang="en-US" dirty="0" err="1"/>
              <a:t>công</a:t>
            </a:r>
            <a:r>
              <a:rPr lang="en-US" dirty="0"/>
              <a:t> ty </a:t>
            </a:r>
            <a:r>
              <a:rPr lang="en-US" dirty="0" err="1"/>
              <a:t>và</a:t>
            </a:r>
            <a:r>
              <a:rPr lang="en-US" dirty="0"/>
              <a:t> </a:t>
            </a:r>
            <a:r>
              <a:rPr lang="en-US" dirty="0" err="1"/>
              <a:t>mức</a:t>
            </a:r>
            <a:r>
              <a:rPr lang="en-US" dirty="0"/>
              <a:t> </a:t>
            </a:r>
            <a:r>
              <a:rPr lang="en-US" dirty="0" err="1"/>
              <a:t>độ</a:t>
            </a:r>
            <a:r>
              <a:rPr lang="en-US" dirty="0"/>
              <a:t> </a:t>
            </a:r>
            <a:r>
              <a:rPr lang="en-US" dirty="0" err="1"/>
              <a:t>quan</a:t>
            </a:r>
            <a:r>
              <a:rPr lang="en-US" dirty="0"/>
              <a:t> </a:t>
            </a:r>
            <a:r>
              <a:rPr lang="en-US" dirty="0" err="1"/>
              <a:t>trọng</a:t>
            </a:r>
            <a:r>
              <a:rPr lang="en-US" dirty="0"/>
              <a:t> </a:t>
            </a:r>
            <a:r>
              <a:rPr lang="en-US" dirty="0" err="1"/>
              <a:t>của</a:t>
            </a:r>
            <a:r>
              <a:rPr lang="en-US" dirty="0"/>
              <a:t> </a:t>
            </a:r>
            <a:r>
              <a:rPr lang="en-US" dirty="0" err="1"/>
              <a:t>vấn</a:t>
            </a:r>
            <a:r>
              <a:rPr lang="en-US" dirty="0"/>
              <a:t> </a:t>
            </a:r>
            <a:r>
              <a:rPr lang="en-US" dirty="0" err="1"/>
              <a:t>đề</a:t>
            </a:r>
            <a:endParaRPr lang="en-US" dirty="0"/>
          </a:p>
          <a:p>
            <a:pPr marL="228600" indent="-228600">
              <a:buAutoNum type="arabicPeriod"/>
            </a:pPr>
            <a:r>
              <a:rPr lang="en-US" dirty="0" err="1"/>
              <a:t>Hiện</a:t>
            </a:r>
            <a:r>
              <a:rPr lang="en-US" dirty="0"/>
              <a:t> </a:t>
            </a:r>
            <a:r>
              <a:rPr lang="en-US" dirty="0" err="1"/>
              <a:t>trạng</a:t>
            </a:r>
            <a:r>
              <a:rPr lang="en-US" dirty="0"/>
              <a:t> </a:t>
            </a:r>
            <a:r>
              <a:rPr lang="en-US" dirty="0" err="1"/>
              <a:t>quản</a:t>
            </a:r>
            <a:r>
              <a:rPr lang="en-US" dirty="0"/>
              <a:t> </a:t>
            </a:r>
            <a:r>
              <a:rPr lang="en-US" dirty="0" err="1"/>
              <a:t>lý</a:t>
            </a:r>
            <a:r>
              <a:rPr lang="en-US" dirty="0"/>
              <a:t> </a:t>
            </a:r>
            <a:r>
              <a:rPr lang="en-US" dirty="0" err="1"/>
              <a:t>công</a:t>
            </a:r>
            <a:r>
              <a:rPr lang="en-US" dirty="0"/>
              <a:t> </a:t>
            </a:r>
            <a:r>
              <a:rPr lang="en-US" dirty="0" err="1"/>
              <a:t>việc</a:t>
            </a:r>
            <a:r>
              <a:rPr lang="en-US" dirty="0"/>
              <a:t> </a:t>
            </a:r>
            <a:r>
              <a:rPr lang="en-US" dirty="0" err="1"/>
              <a:t>và</a:t>
            </a:r>
            <a:r>
              <a:rPr lang="en-US" dirty="0"/>
              <a:t> </a:t>
            </a:r>
            <a:r>
              <a:rPr lang="en-US" dirty="0" err="1"/>
              <a:t>đánh</a:t>
            </a:r>
            <a:r>
              <a:rPr lang="en-US" dirty="0"/>
              <a:t> </a:t>
            </a:r>
            <a:r>
              <a:rPr lang="en-US" dirty="0" err="1"/>
              <a:t>giá</a:t>
            </a:r>
            <a:r>
              <a:rPr lang="en-US" dirty="0"/>
              <a:t> </a:t>
            </a:r>
            <a:r>
              <a:rPr lang="en-US" dirty="0" err="1"/>
              <a:t>tại</a:t>
            </a:r>
            <a:r>
              <a:rPr lang="en-US" dirty="0"/>
              <a:t> </a:t>
            </a:r>
            <a:r>
              <a:rPr lang="en-US" dirty="0" err="1"/>
              <a:t>PrBBNKBIDV</a:t>
            </a:r>
            <a:r>
              <a:rPr lang="en-US" dirty="0"/>
              <a:t>: </a:t>
            </a:r>
            <a:r>
              <a:rPr lang="en-US" dirty="0" err="1"/>
              <a:t>Phần</a:t>
            </a:r>
            <a:r>
              <a:rPr lang="en-US" dirty="0"/>
              <a:t> </a:t>
            </a:r>
            <a:r>
              <a:rPr lang="en-US" dirty="0" err="1"/>
              <a:t>này</a:t>
            </a:r>
            <a:r>
              <a:rPr lang="en-US" dirty="0"/>
              <a:t> </a:t>
            </a:r>
            <a:r>
              <a:rPr lang="en-US" dirty="0" err="1"/>
              <a:t>sẽ</a:t>
            </a:r>
            <a:r>
              <a:rPr lang="en-US" dirty="0"/>
              <a:t> </a:t>
            </a:r>
            <a:r>
              <a:rPr lang="en-US" dirty="0" err="1"/>
              <a:t>trình</a:t>
            </a:r>
            <a:r>
              <a:rPr lang="en-US" dirty="0"/>
              <a:t> </a:t>
            </a:r>
            <a:r>
              <a:rPr lang="en-US" dirty="0" err="1"/>
              <a:t>bày</a:t>
            </a:r>
            <a:r>
              <a:rPr lang="en-US" dirty="0"/>
              <a:t> </a:t>
            </a:r>
            <a:r>
              <a:rPr lang="en-US" dirty="0" err="1"/>
              <a:t>về</a:t>
            </a:r>
            <a:r>
              <a:rPr lang="en-US" dirty="0"/>
              <a:t> </a:t>
            </a:r>
            <a:r>
              <a:rPr lang="en-US" dirty="0" err="1"/>
              <a:t>cách</a:t>
            </a:r>
            <a:r>
              <a:rPr lang="en-US" dirty="0"/>
              <a:t> </a:t>
            </a:r>
            <a:r>
              <a:rPr lang="en-US" dirty="0" err="1"/>
              <a:t>thức</a:t>
            </a:r>
            <a:r>
              <a:rPr lang="en-US" dirty="0"/>
              <a:t> </a:t>
            </a:r>
            <a:r>
              <a:rPr lang="en-US" dirty="0" err="1"/>
              <a:t>thực</a:t>
            </a:r>
            <a:r>
              <a:rPr lang="en-US" dirty="0"/>
              <a:t> </a:t>
            </a:r>
            <a:r>
              <a:rPr lang="en-US" dirty="0" err="1"/>
              <a:t>hiện</a:t>
            </a:r>
            <a:r>
              <a:rPr lang="en-US" dirty="0"/>
              <a:t> </a:t>
            </a:r>
            <a:r>
              <a:rPr lang="en-US" dirty="0" err="1"/>
              <a:t>và</a:t>
            </a:r>
            <a:r>
              <a:rPr lang="en-US" dirty="0"/>
              <a:t> </a:t>
            </a:r>
            <a:r>
              <a:rPr lang="en-US" dirty="0" err="1"/>
              <a:t>quy</a:t>
            </a:r>
            <a:r>
              <a:rPr lang="en-US" dirty="0"/>
              <a:t> </a:t>
            </a:r>
            <a:r>
              <a:rPr lang="en-US" dirty="0" err="1"/>
              <a:t>trình</a:t>
            </a:r>
            <a:r>
              <a:rPr lang="en-US" dirty="0"/>
              <a:t> </a:t>
            </a:r>
            <a:r>
              <a:rPr lang="en-US" dirty="0" err="1"/>
              <a:t>thực</a:t>
            </a:r>
            <a:r>
              <a:rPr lang="en-US" dirty="0"/>
              <a:t> </a:t>
            </a:r>
            <a:r>
              <a:rPr lang="en-US" dirty="0" err="1"/>
              <a:t>hiện</a:t>
            </a:r>
            <a:r>
              <a:rPr lang="en-US" dirty="0"/>
              <a:t> </a:t>
            </a:r>
            <a:r>
              <a:rPr lang="en-US" dirty="0" err="1"/>
              <a:t>hiện</a:t>
            </a:r>
            <a:r>
              <a:rPr lang="en-US" dirty="0"/>
              <a:t> </a:t>
            </a:r>
            <a:r>
              <a:rPr lang="en-US" dirty="0" err="1"/>
              <a:t>tại</a:t>
            </a:r>
            <a:r>
              <a:rPr lang="en-US" dirty="0"/>
              <a:t> </a:t>
            </a:r>
            <a:r>
              <a:rPr lang="en-US" dirty="0" err="1"/>
              <a:t>của</a:t>
            </a:r>
            <a:r>
              <a:rPr lang="en-US" dirty="0"/>
              <a:t> </a:t>
            </a:r>
            <a:r>
              <a:rPr lang="en-US" dirty="0" err="1"/>
              <a:t>công</a:t>
            </a:r>
            <a:r>
              <a:rPr lang="en-US" dirty="0"/>
              <a:t> ty</a:t>
            </a:r>
          </a:p>
          <a:p>
            <a:pPr marL="228600" indent="-228600">
              <a:buAutoNum type="arabicPeriod"/>
            </a:pPr>
            <a:r>
              <a:rPr lang="en-US" dirty="0" err="1"/>
              <a:t>Mục</a:t>
            </a:r>
            <a:r>
              <a:rPr lang="en-US" dirty="0"/>
              <a:t> </a:t>
            </a:r>
            <a:r>
              <a:rPr lang="en-US" dirty="0" err="1"/>
              <a:t>tiêu</a:t>
            </a:r>
            <a:r>
              <a:rPr lang="en-US" dirty="0"/>
              <a:t>: </a:t>
            </a:r>
            <a:r>
              <a:rPr lang="en-US" dirty="0" err="1"/>
              <a:t>phần</a:t>
            </a:r>
            <a:r>
              <a:rPr lang="en-US" dirty="0"/>
              <a:t> </a:t>
            </a:r>
            <a:r>
              <a:rPr lang="en-US" dirty="0" err="1"/>
              <a:t>này</a:t>
            </a:r>
            <a:r>
              <a:rPr lang="en-US" dirty="0"/>
              <a:t> </a:t>
            </a:r>
            <a:r>
              <a:rPr lang="en-US" dirty="0" err="1"/>
              <a:t>trình</a:t>
            </a:r>
            <a:r>
              <a:rPr lang="en-US" dirty="0"/>
              <a:t> </a:t>
            </a:r>
            <a:r>
              <a:rPr lang="en-US" dirty="0" err="1"/>
              <a:t>bày</a:t>
            </a:r>
            <a:r>
              <a:rPr lang="en-US" dirty="0"/>
              <a:t> </a:t>
            </a:r>
            <a:r>
              <a:rPr lang="en-US" dirty="0" err="1"/>
              <a:t>về</a:t>
            </a:r>
            <a:r>
              <a:rPr lang="en-US" dirty="0"/>
              <a:t> </a:t>
            </a:r>
            <a:r>
              <a:rPr lang="en-US" dirty="0" err="1"/>
              <a:t>mục</a:t>
            </a:r>
            <a:r>
              <a:rPr lang="en-US" dirty="0"/>
              <a:t> </a:t>
            </a:r>
            <a:r>
              <a:rPr lang="en-US" dirty="0" err="1"/>
              <a:t>tiêu</a:t>
            </a:r>
            <a:r>
              <a:rPr lang="en-US" dirty="0"/>
              <a:t> </a:t>
            </a:r>
            <a:r>
              <a:rPr lang="en-US" dirty="0" err="1"/>
              <a:t>cần</a:t>
            </a:r>
            <a:r>
              <a:rPr lang="en-US" dirty="0"/>
              <a:t> </a:t>
            </a:r>
            <a:r>
              <a:rPr lang="en-US" dirty="0" err="1"/>
              <a:t>đạt</a:t>
            </a:r>
            <a:r>
              <a:rPr lang="en-US" dirty="0"/>
              <a:t> </a:t>
            </a:r>
            <a:r>
              <a:rPr lang="en-US" dirty="0" err="1"/>
              <a:t>được</a:t>
            </a:r>
            <a:r>
              <a:rPr lang="en-US" dirty="0"/>
              <a:t> </a:t>
            </a:r>
            <a:r>
              <a:rPr lang="en-US" dirty="0" err="1"/>
              <a:t>với</a:t>
            </a:r>
            <a:r>
              <a:rPr lang="en-US" dirty="0"/>
              <a:t> </a:t>
            </a:r>
            <a:r>
              <a:rPr lang="en-US" dirty="0" err="1"/>
              <a:t>thực</a:t>
            </a:r>
            <a:r>
              <a:rPr lang="en-US" dirty="0"/>
              <a:t> </a:t>
            </a:r>
            <a:r>
              <a:rPr lang="en-US" dirty="0" err="1"/>
              <a:t>trạng</a:t>
            </a:r>
            <a:r>
              <a:rPr lang="en-US" dirty="0"/>
              <a:t> </a:t>
            </a:r>
            <a:r>
              <a:rPr lang="en-US" dirty="0" err="1"/>
              <a:t>trên</a:t>
            </a:r>
            <a:endParaRPr lang="en-US" dirty="0"/>
          </a:p>
          <a:p>
            <a:pPr marL="228600" indent="-228600">
              <a:buAutoNum type="arabicPeriod"/>
            </a:pPr>
            <a:r>
              <a:rPr lang="en-US" dirty="0" err="1"/>
              <a:t>Định</a:t>
            </a:r>
            <a:r>
              <a:rPr lang="en-US" dirty="0"/>
              <a:t> </a:t>
            </a:r>
            <a:r>
              <a:rPr lang="en-US" dirty="0" err="1"/>
              <a:t>hướng</a:t>
            </a:r>
            <a:r>
              <a:rPr lang="en-US" dirty="0"/>
              <a:t> </a:t>
            </a:r>
            <a:r>
              <a:rPr lang="en-US" dirty="0" err="1"/>
              <a:t>giải</a:t>
            </a:r>
            <a:r>
              <a:rPr lang="en-US" dirty="0"/>
              <a:t> </a:t>
            </a:r>
            <a:r>
              <a:rPr lang="en-US" dirty="0" err="1"/>
              <a:t>pháp</a:t>
            </a:r>
            <a:r>
              <a:rPr lang="en-US" dirty="0"/>
              <a:t>: </a:t>
            </a:r>
            <a:r>
              <a:rPr lang="en-US" dirty="0" err="1"/>
              <a:t>phần</a:t>
            </a:r>
            <a:r>
              <a:rPr lang="en-US" dirty="0"/>
              <a:t> </a:t>
            </a:r>
            <a:r>
              <a:rPr lang="en-US" dirty="0" err="1"/>
              <a:t>này</a:t>
            </a:r>
            <a:r>
              <a:rPr lang="en-US" dirty="0"/>
              <a:t> </a:t>
            </a:r>
            <a:r>
              <a:rPr lang="en-US" dirty="0" err="1"/>
              <a:t>sẽ</a:t>
            </a:r>
            <a:r>
              <a:rPr lang="en-US" dirty="0"/>
              <a:t> </a:t>
            </a:r>
            <a:r>
              <a:rPr lang="en-US" dirty="0" err="1"/>
              <a:t>đưa</a:t>
            </a:r>
            <a:r>
              <a:rPr lang="en-US" dirty="0"/>
              <a:t> ra </a:t>
            </a:r>
            <a:r>
              <a:rPr lang="en-US" dirty="0" err="1"/>
              <a:t>các</a:t>
            </a:r>
            <a:r>
              <a:rPr lang="en-US" dirty="0"/>
              <a:t> </a:t>
            </a:r>
            <a:r>
              <a:rPr lang="en-US" dirty="0" err="1"/>
              <a:t>giải</a:t>
            </a:r>
            <a:r>
              <a:rPr lang="en-US" dirty="0"/>
              <a:t> </a:t>
            </a:r>
            <a:r>
              <a:rPr lang="en-US" dirty="0" err="1"/>
              <a:t>pháp</a:t>
            </a:r>
            <a:r>
              <a:rPr lang="en-US" dirty="0"/>
              <a:t> </a:t>
            </a:r>
            <a:r>
              <a:rPr lang="en-US" dirty="0" err="1"/>
              <a:t>trong</a:t>
            </a:r>
            <a:r>
              <a:rPr lang="en-US" dirty="0"/>
              <a:t> </a:t>
            </a:r>
            <a:r>
              <a:rPr lang="en-US" dirty="0" err="1"/>
              <a:t>quản</a:t>
            </a:r>
            <a:r>
              <a:rPr lang="en-US" dirty="0"/>
              <a:t> </a:t>
            </a:r>
            <a:r>
              <a:rPr lang="en-US" dirty="0" err="1"/>
              <a:t>lý</a:t>
            </a:r>
            <a:r>
              <a:rPr lang="en-US" dirty="0"/>
              <a:t> </a:t>
            </a:r>
            <a:r>
              <a:rPr lang="en-US" dirty="0" err="1"/>
              <a:t>công</a:t>
            </a:r>
            <a:r>
              <a:rPr lang="en-US" dirty="0"/>
              <a:t> </a:t>
            </a:r>
            <a:r>
              <a:rPr lang="en-US" dirty="0" err="1"/>
              <a:t>việc</a:t>
            </a:r>
            <a:r>
              <a:rPr lang="en-US" dirty="0"/>
              <a:t>, </a:t>
            </a:r>
            <a:r>
              <a:rPr lang="en-US" dirty="0" err="1"/>
              <a:t>quản</a:t>
            </a:r>
            <a:r>
              <a:rPr lang="en-US" dirty="0"/>
              <a:t> </a:t>
            </a:r>
            <a:r>
              <a:rPr lang="en-US" dirty="0" err="1"/>
              <a:t>lý</a:t>
            </a:r>
            <a:r>
              <a:rPr lang="en-US" dirty="0"/>
              <a:t> </a:t>
            </a:r>
            <a:r>
              <a:rPr lang="en-US" dirty="0" err="1"/>
              <a:t>đánh</a:t>
            </a:r>
            <a:r>
              <a:rPr lang="en-US" dirty="0"/>
              <a:t> </a:t>
            </a:r>
            <a:r>
              <a:rPr lang="en-US" dirty="0" err="1"/>
              <a:t>giá</a:t>
            </a:r>
            <a:r>
              <a:rPr lang="en-US" dirty="0"/>
              <a:t> </a:t>
            </a:r>
            <a:r>
              <a:rPr lang="en-US" dirty="0" err="1"/>
              <a:t>và</a:t>
            </a:r>
            <a:r>
              <a:rPr lang="en-US" dirty="0"/>
              <a:t> </a:t>
            </a:r>
            <a:r>
              <a:rPr lang="en-US" dirty="0" err="1"/>
              <a:t>tính</a:t>
            </a:r>
            <a:r>
              <a:rPr lang="en-US" dirty="0"/>
              <a:t> </a:t>
            </a:r>
            <a:r>
              <a:rPr lang="en-US" dirty="0" err="1"/>
              <a:t>khoán</a:t>
            </a:r>
            <a:r>
              <a:rPr lang="en-US" dirty="0"/>
              <a:t>, </a:t>
            </a:r>
            <a:r>
              <a:rPr lang="en-US" dirty="0" err="1"/>
              <a:t>tạm</a:t>
            </a:r>
            <a:r>
              <a:rPr lang="en-US" dirty="0"/>
              <a:t> </a:t>
            </a:r>
            <a:r>
              <a:rPr lang="en-US" dirty="0" err="1"/>
              <a:t>ứng</a:t>
            </a:r>
            <a:r>
              <a:rPr lang="en-US" dirty="0"/>
              <a:t> </a:t>
            </a:r>
            <a:r>
              <a:rPr lang="en-US" dirty="0" err="1"/>
              <a:t>hiệu</a:t>
            </a:r>
            <a:r>
              <a:rPr lang="en-US" dirty="0"/>
              <a:t> </a:t>
            </a:r>
            <a:r>
              <a:rPr lang="en-US" dirty="0" err="1"/>
              <a:t>quả</a:t>
            </a:r>
            <a:r>
              <a:rPr lang="en-US" dirty="0"/>
              <a:t> </a:t>
            </a:r>
            <a:r>
              <a:rPr lang="en-US" dirty="0" err="1"/>
              <a:t>dự</a:t>
            </a:r>
            <a:r>
              <a:rPr lang="en-US" dirty="0"/>
              <a:t> </a:t>
            </a:r>
            <a:r>
              <a:rPr lang="en-US" dirty="0" err="1"/>
              <a:t>án</a:t>
            </a:r>
            <a:endParaRPr lang="en-US" dirty="0"/>
          </a:p>
          <a:p>
            <a:pPr marL="228600" indent="-228600">
              <a:buAutoNum type="arabicPeriod"/>
            </a:pPr>
            <a:r>
              <a:rPr lang="en-US" dirty="0" err="1"/>
              <a:t>Đóng</a:t>
            </a:r>
            <a:r>
              <a:rPr lang="en-US" dirty="0"/>
              <a:t> </a:t>
            </a:r>
            <a:r>
              <a:rPr lang="en-US" dirty="0" err="1"/>
              <a:t>góp</a:t>
            </a:r>
            <a:r>
              <a:rPr lang="en-US" dirty="0"/>
              <a:t> </a:t>
            </a:r>
            <a:r>
              <a:rPr lang="en-US" dirty="0" err="1"/>
              <a:t>phát</a:t>
            </a:r>
            <a:r>
              <a:rPr lang="en-US" dirty="0"/>
              <a:t> </a:t>
            </a:r>
            <a:r>
              <a:rPr lang="en-US" dirty="0" err="1"/>
              <a:t>triển</a:t>
            </a:r>
            <a:r>
              <a:rPr lang="en-US" dirty="0"/>
              <a:t>: </a:t>
            </a:r>
            <a:r>
              <a:rPr lang="en-US" dirty="0" err="1"/>
              <a:t>phần</a:t>
            </a:r>
            <a:r>
              <a:rPr lang="en-US" dirty="0"/>
              <a:t> </a:t>
            </a:r>
            <a:r>
              <a:rPr lang="en-US" dirty="0" err="1"/>
              <a:t>này</a:t>
            </a:r>
            <a:r>
              <a:rPr lang="en-US" dirty="0"/>
              <a:t> </a:t>
            </a:r>
            <a:r>
              <a:rPr lang="en-US" dirty="0" err="1"/>
              <a:t>sẽ</a:t>
            </a:r>
            <a:r>
              <a:rPr lang="en-US" dirty="0"/>
              <a:t> </a:t>
            </a:r>
            <a:r>
              <a:rPr lang="en-US" dirty="0" err="1"/>
              <a:t>đưa</a:t>
            </a:r>
            <a:r>
              <a:rPr lang="en-US" dirty="0"/>
              <a:t> ra </a:t>
            </a:r>
            <a:r>
              <a:rPr lang="en-US" dirty="0" err="1"/>
              <a:t>các</a:t>
            </a:r>
            <a:r>
              <a:rPr lang="en-US" dirty="0"/>
              <a:t> </a:t>
            </a:r>
            <a:r>
              <a:rPr lang="en-US" dirty="0" err="1"/>
              <a:t>đóng</a:t>
            </a:r>
            <a:r>
              <a:rPr lang="en-US" dirty="0"/>
              <a:t> </a:t>
            </a:r>
            <a:r>
              <a:rPr lang="en-US" dirty="0" err="1"/>
              <a:t>góp</a:t>
            </a:r>
            <a:r>
              <a:rPr lang="en-US" dirty="0"/>
              <a:t> </a:t>
            </a:r>
            <a:r>
              <a:rPr lang="en-US" dirty="0" err="1"/>
              <a:t>về</a:t>
            </a:r>
            <a:r>
              <a:rPr lang="en-US" dirty="0"/>
              <a:t> </a:t>
            </a:r>
            <a:r>
              <a:rPr lang="en-US" dirty="0" err="1"/>
              <a:t>quy</a:t>
            </a:r>
            <a:r>
              <a:rPr lang="en-US" dirty="0"/>
              <a:t> </a:t>
            </a:r>
            <a:r>
              <a:rPr lang="en-US" dirty="0" err="1"/>
              <a:t>trình</a:t>
            </a:r>
            <a:r>
              <a:rPr lang="en-US" dirty="0"/>
              <a:t>, </a:t>
            </a:r>
            <a:r>
              <a:rPr lang="en-US" dirty="0" err="1"/>
              <a:t>đóng</a:t>
            </a:r>
            <a:r>
              <a:rPr lang="en-US" dirty="0"/>
              <a:t> </a:t>
            </a:r>
            <a:r>
              <a:rPr lang="en-US" dirty="0" err="1"/>
              <a:t>đóng</a:t>
            </a:r>
            <a:r>
              <a:rPr lang="en-US" dirty="0"/>
              <a:t> </a:t>
            </a:r>
            <a:r>
              <a:rPr lang="en-US" dirty="0" err="1"/>
              <a:t>góp</a:t>
            </a:r>
            <a:r>
              <a:rPr lang="en-US" dirty="0"/>
              <a:t> </a:t>
            </a:r>
            <a:r>
              <a:rPr lang="en-US" dirty="0" err="1"/>
              <a:t>công</a:t>
            </a:r>
            <a:r>
              <a:rPr lang="en-US" dirty="0"/>
              <a:t> </a:t>
            </a:r>
            <a:r>
              <a:rPr lang="en-US" dirty="0" err="1"/>
              <a:t>thức</a:t>
            </a:r>
            <a:r>
              <a:rPr lang="en-US" dirty="0"/>
              <a:t> </a:t>
            </a:r>
            <a:r>
              <a:rPr lang="en-US" dirty="0" err="1"/>
              <a:t>và</a:t>
            </a:r>
            <a:r>
              <a:rPr lang="en-US" dirty="0"/>
              <a:t> </a:t>
            </a:r>
            <a:r>
              <a:rPr lang="en-US" dirty="0" err="1"/>
              <a:t>đóng</a:t>
            </a:r>
            <a:r>
              <a:rPr lang="en-US" dirty="0"/>
              <a:t> </a:t>
            </a:r>
            <a:r>
              <a:rPr lang="en-US" dirty="0" err="1"/>
              <a:t>góp</a:t>
            </a:r>
            <a:r>
              <a:rPr lang="en-US" dirty="0"/>
              <a:t> </a:t>
            </a:r>
            <a:r>
              <a:rPr lang="en-US" dirty="0" err="1"/>
              <a:t>chương</a:t>
            </a:r>
            <a:r>
              <a:rPr lang="en-US" dirty="0"/>
              <a:t> </a:t>
            </a:r>
            <a:r>
              <a:rPr lang="en-US" dirty="0" err="1"/>
              <a:t>trình</a:t>
            </a:r>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2</a:t>
            </a:fld>
            <a:endParaRPr lang="en-US"/>
          </a:p>
        </p:txBody>
      </p:sp>
    </p:spTree>
    <p:extLst>
      <p:ext uri="{BB962C8B-B14F-4D97-AF65-F5344CB8AC3E}">
        <p14:creationId xmlns:p14="http://schemas.microsoft.com/office/powerpoint/2010/main" val="2418504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en-US" sz="1200" b="1" dirty="0" err="1">
                <a:latin typeface="Verdana" panose="020B0604030504040204" pitchFamily="34" charset="0"/>
                <a:ea typeface="Verdana" panose="020B0604030504040204" pitchFamily="34" charset="0"/>
              </a:rPr>
              <a:t>Quản</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lý</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công</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việc</a:t>
            </a:r>
            <a:endParaRPr lang="en-US" sz="12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Quản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lý</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trong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ngoài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án</a:t>
            </a:r>
            <a:r>
              <a:rPr lang="en-US" sz="1200" dirty="0">
                <a:latin typeface="Verdana" panose="020B0604030504040204" pitchFamily="34" charset="0"/>
                <a:ea typeface="Verdana" panose="020B0604030504040204" pitchFamily="34" charset="0"/>
              </a:rPr>
              <a:t>: bao </a:t>
            </a:r>
            <a:r>
              <a:rPr lang="en-US" sz="1200" dirty="0" err="1">
                <a:latin typeface="Verdana" panose="020B0604030504040204" pitchFamily="34" charset="0"/>
                <a:ea typeface="Verdana" panose="020B0604030504040204" pitchFamily="34" charset="0"/>
              </a:rPr>
              <a:t>gồm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quản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lý</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trong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như</a:t>
            </a:r>
            <a:r>
              <a:rPr lang="en-US" sz="1200" dirty="0">
                <a:latin typeface="Verdana" panose="020B0604030504040204" pitchFamily="34" charset="0"/>
                <a:ea typeface="Verdana" panose="020B0604030504040204" pitchFamily="34" charset="0"/>
              </a:rPr>
              <a:t> issue, </a:t>
            </a:r>
            <a:r>
              <a:rPr lang="en-US" sz="1200" dirty="0" err="1">
                <a:latin typeface="Verdana" panose="020B0604030504040204" pitchFamily="34" charset="0"/>
                <a:ea typeface="Verdana" panose="020B0604030504040204" pitchFamily="34" charset="0"/>
              </a:rPr>
              <a:t>họp</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raci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Đưa</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nằm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ngoài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như</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đào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tạo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viên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học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chứng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chỉ</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yêu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cầu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cầu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hoặc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làm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hồ</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mời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thầu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giai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đoạn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nhóm</a:t>
            </a:r>
            <a:r>
              <a:rPr lang="en-US" sz="1200" dirty="0">
                <a:latin typeface="Verdana" panose="020B0604030504040204" pitchFamily="34" charset="0"/>
                <a:ea typeface="Verdana" panose="020B0604030504040204" pitchFamily="34" charset="0"/>
              </a:rPr>
              <a:t>.</a:t>
            </a: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Tận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dụng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tối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đa</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nguồn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lực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tối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đa</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nguồn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lực</a:t>
            </a:r>
            <a:r>
              <a:rPr lang="en-US" sz="1200" dirty="0">
                <a:latin typeface="Verdana" panose="020B0604030504040204" pitchFamily="34" charset="0"/>
                <a:ea typeface="Verdana" panose="020B0604030504040204" pitchFamily="34" charset="0"/>
              </a:rPr>
              <a:t> ở </a:t>
            </a:r>
            <a:r>
              <a:rPr lang="en-US" sz="1200" dirty="0" err="1">
                <a:latin typeface="Verdana" panose="020B0604030504040204" pitchFamily="34" charset="0"/>
                <a:ea typeface="Verdana" panose="020B0604030504040204" pitchFamily="34" charset="0"/>
              </a:rPr>
              <a:t>đây</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bổ</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mức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bussy</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của</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mỗi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tiêu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chí</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trên</a:t>
            </a:r>
            <a:r>
              <a:rPr lang="en-US" sz="1200" dirty="0">
                <a:latin typeface="Verdana" panose="020B0604030504040204" pitchFamily="34" charset="0"/>
                <a:ea typeface="Verdana" panose="020B0604030504040204" pitchFamily="34" charset="0"/>
              </a:rPr>
              <a:t> 100%, </a:t>
            </a:r>
            <a:r>
              <a:rPr lang="en-US" sz="1200" dirty="0" err="1">
                <a:latin typeface="Verdana" panose="020B0604030504040204" pitchFamily="34" charset="0"/>
                <a:ea typeface="Verdana" panose="020B0604030504040204" pitchFamily="34" charset="0"/>
              </a:rPr>
              <a:t>mỗi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cần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phải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cố</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gắng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vì</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sách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thì</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sẽ</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trả</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mức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đóng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góp</a:t>
            </a:r>
            <a:endParaRPr lang="en-US" sz="12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Sử</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dụng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dữ</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liệu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làm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sở</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Từ</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dữ</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liệu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kiểm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soát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tiến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làm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sở</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một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động</a:t>
            </a:r>
            <a:endParaRPr lang="en-US" sz="1200" dirty="0">
              <a:latin typeface="Verdana" panose="020B0604030504040204" pitchFamily="34" charset="0"/>
              <a:ea typeface="Verdana" panose="020B0604030504040204" pitchFamily="34" charset="0"/>
            </a:endParaRPr>
          </a:p>
          <a:p>
            <a:pPr>
              <a:lnSpc>
                <a:spcPct val="150000"/>
              </a:lnSpc>
            </a:pPr>
            <a:r>
              <a:rPr lang="en-US" sz="1200" b="1" dirty="0" err="1">
                <a:latin typeface="Verdana" panose="020B0604030504040204" pitchFamily="34" charset="0"/>
                <a:ea typeface="Verdana" panose="020B0604030504040204" pitchFamily="34" charset="0"/>
              </a:rPr>
              <a:t>Quản</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lý</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đánh</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giá</a:t>
            </a:r>
            <a:endParaRPr lang="en-US" sz="12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Quản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lý</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chỉ</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tiêu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đánh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giá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trong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phòng</a:t>
            </a:r>
            <a:r>
              <a:rPr lang="en-US" sz="1200" dirty="0">
                <a:latin typeface="Verdana" panose="020B0604030504040204" pitchFamily="34" charset="0"/>
                <a:ea typeface="Verdana" panose="020B0604030504040204" pitchFamily="34" charset="0"/>
              </a:rPr>
              <a:t> ban: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chỉ</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tiêu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cần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phải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được</a:t>
            </a:r>
            <a:r>
              <a:rPr lang="en-US" sz="1200" dirty="0">
                <a:latin typeface="Verdana" panose="020B0604030504040204" pitchFamily="34" charset="0"/>
                <a:ea typeface="Verdana" panose="020B0604030504040204" pitchFamily="34" charset="0"/>
              </a:rPr>
              <a:t> chi </a:t>
            </a:r>
            <a:r>
              <a:rPr lang="en-US" sz="1200" dirty="0" err="1">
                <a:latin typeface="Verdana" panose="020B0604030504040204" pitchFamily="34" charset="0"/>
                <a:ea typeface="Verdana" panose="020B0604030504040204" pitchFamily="34" charset="0"/>
              </a:rPr>
              <a:t>tiết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hóa</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cụ</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thể</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phải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mang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định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lượng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có</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chỉ</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số</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rõ</a:t>
            </a:r>
            <a:r>
              <a:rPr lang="en-US" sz="1200" dirty="0">
                <a:latin typeface="Verdana" panose="020B0604030504040204" pitchFamily="34" charset="0"/>
                <a:ea typeface="Verdana" panose="020B0604030504040204" pitchFamily="34" charset="0"/>
              </a:rPr>
              <a:t> rang, </a:t>
            </a:r>
            <a:r>
              <a:rPr lang="en-US" sz="1200" dirty="0" err="1">
                <a:latin typeface="Verdana" panose="020B0604030504040204" pitchFamily="34" charset="0"/>
                <a:ea typeface="Verdana" panose="020B0604030504040204" pitchFamily="34" charset="0"/>
              </a:rPr>
              <a:t>phân</a:t>
            </a:r>
            <a:r>
              <a:rPr lang="en-US" sz="1200" dirty="0">
                <a:latin typeface="Verdana" panose="020B0604030504040204" pitchFamily="34" charset="0"/>
                <a:ea typeface="Verdana" panose="020B0604030504040204" pitchFamily="34" charset="0"/>
              </a:rPr>
              <a:t> chia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từng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đối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tượng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xử</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lý</a:t>
            </a:r>
            <a:endParaRPr lang="en-US" sz="12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Đánh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giá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một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cách</a:t>
            </a:r>
            <a:r>
              <a:rPr lang="en-US" sz="1200" dirty="0">
                <a:latin typeface="Verdana" panose="020B0604030504040204" pitchFamily="34" charset="0"/>
                <a:ea typeface="Verdana" panose="020B0604030504040204" pitchFamily="34" charset="0"/>
              </a:rPr>
              <a:t> chi </a:t>
            </a:r>
            <a:r>
              <a:rPr lang="en-US" sz="1200" dirty="0" err="1">
                <a:latin typeface="Verdana" panose="020B0604030504040204" pitchFamily="34" charset="0"/>
                <a:ea typeface="Verdana" panose="020B0604030504040204" pitchFamily="34" charset="0"/>
              </a:rPr>
              <a:t>tiết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bằng</a:t>
            </a:r>
            <a:endParaRPr lang="en-US" sz="12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Sử</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dụng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đánh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giá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làm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sở</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xếp</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loại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viên</a:t>
            </a:r>
            <a:endParaRPr lang="en-US" sz="1200" dirty="0">
              <a:latin typeface="Verdana" panose="020B0604030504040204" pitchFamily="34" charset="0"/>
              <a:ea typeface="Verdana" panose="020B0604030504040204" pitchFamily="34" charset="0"/>
            </a:endParaRPr>
          </a:p>
          <a:p>
            <a:pPr>
              <a:lnSpc>
                <a:spcPct val="150000"/>
              </a:lnSpc>
            </a:pPr>
            <a:r>
              <a:rPr lang="en-US" sz="1200" b="1" dirty="0" err="1">
                <a:latin typeface="Verdana" panose="020B0604030504040204" pitchFamily="34" charset="0"/>
                <a:ea typeface="Verdana" panose="020B0604030504040204" pitchFamily="34" charset="0"/>
              </a:rPr>
              <a:t>Khoán</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và</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thưởng</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theo</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chính</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sách</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khoán</a:t>
            </a:r>
            <a:endParaRPr lang="en-US" sz="12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Áp</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dụng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đề</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xuất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mức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đóng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góp</a:t>
            </a:r>
            <a:r>
              <a:rPr lang="en-US" sz="1200" dirty="0">
                <a:latin typeface="Verdana" panose="020B0604030504040204" pitchFamily="34" charset="0"/>
                <a:ea typeface="Verdana" panose="020B0604030504040204" pitchFamily="34" charset="0"/>
              </a:rPr>
              <a:t> </a:t>
            </a: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hiệu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quả</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endParaRPr lang="en-US" sz="12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giai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đoạn</a:t>
            </a:r>
            <a:endParaRPr lang="en-US" sz="12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tạm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ứng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hiệu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quả</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án</a:t>
            </a:r>
            <a:endParaRPr lang="en-US" sz="100" dirty="0">
              <a:latin typeface="Verdana" panose="020B0604030504040204" pitchFamily="34" charset="0"/>
              <a:ea typeface="Verdana" panose="020B0604030504040204" pitchFamily="34" charset="0"/>
            </a:endParaRPr>
          </a:p>
        </p:txBody>
      </p:sp>
      <p:sp>
        <p:nvSpPr>
          <p:cNvPr id="4" name="Slide Number Placeholder 3"/>
          <p:cNvSpPr>
            <a:spLocks noGrp="1"/>
          </p:cNvSpPr>
          <p:nvPr>
            <p:ph type="sldNum" sz="quarter" idx="5"/>
          </p:nvPr>
        </p:nvSpPr>
        <p:spPr/>
        <p:txBody>
          <a:bodyPr/>
          <a:lstStyle/>
          <a:p>
            <a:fld id="{6DF9A174-BD37-4CF9-A3FC-30F95FD3068F}" type="slidenum">
              <a:rPr lang="en-US" smtClean="0"/>
              <a:t>3</a:t>
            </a:fld>
            <a:endParaRPr lang="en-US"/>
          </a:p>
        </p:txBody>
      </p:sp>
    </p:spTree>
    <p:extLst>
      <p:ext uri="{BB962C8B-B14F-4D97-AF65-F5344CB8AC3E}">
        <p14:creationId xmlns:p14="http://schemas.microsoft.com/office/powerpoint/2010/main" val="796110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endParaRPr lang="en-US" sz="1200" b="1" dirty="0">
              <a:latin typeface="Verdana" panose="020B0604030504040204" pitchFamily="34" charset="0"/>
              <a:ea typeface="Verdana" panose="020B0604030504040204" pitchFamily="34" charset="0"/>
            </a:endParaRPr>
          </a:p>
          <a:p>
            <a:pPr marL="0" marR="0" indent="274320" algn="just">
              <a:spcBef>
                <a:spcPts val="600"/>
              </a:spcBef>
              <a:spcAft>
                <a:spcPts val="0"/>
              </a:spcAft>
            </a:pPr>
            <a:r>
              <a:rPr lang="en-US" sz="1300" dirty="0" err="1">
                <a:solidFill>
                  <a:srgbClr val="000000"/>
                </a:solidFill>
                <a:effectLst/>
                <a:latin typeface="Times New Roman" panose="02020603050405020304" pitchFamily="18" charset="0"/>
                <a:ea typeface="Times New Roman" panose="02020603050405020304" pitchFamily="18" charset="0"/>
              </a:rPr>
              <a:t>Đối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với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thực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hiện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kiểm</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thử</a:t>
            </a:r>
            <a:r>
              <a:rPr lang="en-US" sz="1300" dirty="0">
                <a:solidFill>
                  <a:srgbClr val="000000"/>
                </a:solidFill>
                <a:effectLst/>
                <a:latin typeface="Times New Roman" panose="02020603050405020304" pitchFamily="18" charset="0"/>
                <a:ea typeface="Times New Roman" panose="02020603050405020304" pitchFamily="18" charset="0"/>
              </a:rPr>
              <a:t> ở </a:t>
            </a:r>
            <a:r>
              <a:rPr lang="en-US" sz="1300" dirty="0" err="1">
                <a:solidFill>
                  <a:srgbClr val="000000"/>
                </a:solidFill>
                <a:effectLst/>
                <a:latin typeface="Times New Roman" panose="02020603050405020304" pitchFamily="18" charset="0"/>
                <a:ea typeface="Times New Roman" panose="02020603050405020304" pitchFamily="18" charset="0"/>
              </a:rPr>
              <a:t>nội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bộ</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đội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dự</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án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quy</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trình</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làm</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như</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sau</a:t>
            </a:r>
            <a:r>
              <a:rPr lang="en-US" sz="1300" dirty="0">
                <a:solidFill>
                  <a:srgbClr val="000000"/>
                </a:solidFill>
                <a:effectLst/>
                <a:latin typeface="Times New Roman" panose="02020603050405020304" pitchFamily="18" charset="0"/>
                <a:ea typeface="Times New Roman" panose="02020603050405020304" pitchFamily="18" charset="0"/>
              </a:rPr>
              <a:t>:</a:t>
            </a:r>
            <a:endParaRPr lang="en-US" sz="1200" dirty="0">
              <a:effectLst/>
              <a:latin typeface="Times New Roman" panose="02020603050405020304" pitchFamily="18" charset="0"/>
              <a:ea typeface="Times New Roman" panose="02020603050405020304" pitchFamily="18"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1: BA/Tester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thực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xem</a:t>
            </a:r>
            <a:r>
              <a:rPr lang="en-US" sz="1300" dirty="0">
                <a:solidFill>
                  <a:srgbClr val="000000"/>
                </a:solidFill>
                <a:effectLst/>
                <a:latin typeface="Times New Roman" panose="02020603050405020304" pitchFamily="18" charset="0"/>
                <a:ea typeface="Calibri" panose="020F0502020204030204" pitchFamily="34" charset="0"/>
              </a:rPr>
              <a:t> FSD, </a:t>
            </a:r>
            <a:r>
              <a:rPr lang="en-US" sz="1300" dirty="0" err="1">
                <a:solidFill>
                  <a:srgbClr val="000000"/>
                </a:solidFill>
                <a:effectLst/>
                <a:latin typeface="Times New Roman" panose="02020603050405020304" pitchFamily="18" charset="0"/>
                <a:ea typeface="Calibri" panose="020F0502020204030204" pitchFamily="34" charset="0"/>
              </a:rPr>
              <a:t>kiểm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thử</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hệ</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thống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nếu</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hệ</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thống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có</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lỗi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phát</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sinh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cần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chỉnh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sửa</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thì</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được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tạo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một</a:t>
            </a:r>
            <a:r>
              <a:rPr lang="en-US" sz="1300" dirty="0">
                <a:solidFill>
                  <a:srgbClr val="000000"/>
                </a:solidFill>
                <a:effectLst/>
                <a:latin typeface="Times New Roman" panose="02020603050405020304" pitchFamily="18" charset="0"/>
                <a:ea typeface="Calibri" panose="020F0502020204030204" pitchFamily="34" charset="0"/>
              </a:rPr>
              <a:t> log </a:t>
            </a:r>
            <a:r>
              <a:rPr lang="en-US" sz="1300" dirty="0" err="1">
                <a:solidFill>
                  <a:srgbClr val="000000"/>
                </a:solidFill>
                <a:effectLst/>
                <a:latin typeface="Times New Roman" panose="02020603050405020304" pitchFamily="18" charset="0"/>
                <a:ea typeface="Calibri" panose="020F0502020204030204" pitchFamily="34" charset="0"/>
              </a:rPr>
              <a:t>công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việc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với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mô</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tả</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các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lỗi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có</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thể</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tái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và</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vể</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dev lead.</a:t>
            </a:r>
            <a:endParaRPr lang="en-US" sz="1200" dirty="0">
              <a:effectLst/>
              <a:latin typeface="Times New Roman" panose="02020603050405020304" pitchFamily="18" charset="0"/>
              <a:ea typeface="Calibri" panose="020F0502020204030204" pitchFamily="34"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2: Dev lead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xem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xét</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và</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giao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nhân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viên</a:t>
            </a:r>
            <a:r>
              <a:rPr lang="en-US" sz="1300" dirty="0">
                <a:solidFill>
                  <a:srgbClr val="000000"/>
                </a:solidFill>
                <a:effectLst/>
                <a:latin typeface="Times New Roman" panose="02020603050405020304" pitchFamily="18" charset="0"/>
                <a:ea typeface="Calibri" panose="020F0502020204030204" pitchFamily="34" charset="0"/>
              </a:rPr>
              <a:t> (dev) </a:t>
            </a:r>
            <a:r>
              <a:rPr lang="en-US" sz="1300" dirty="0" err="1">
                <a:solidFill>
                  <a:srgbClr val="000000"/>
                </a:solidFill>
                <a:effectLst/>
                <a:latin typeface="Times New Roman" panose="02020603050405020304" pitchFamily="18" charset="0"/>
                <a:ea typeface="Calibri" panose="020F0502020204030204" pitchFamily="34" charset="0"/>
              </a:rPr>
              <a:t>có</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khả</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năng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thực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được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trong</a:t>
            </a:r>
            <a:r>
              <a:rPr lang="en-US" sz="1300" dirty="0">
                <a:solidFill>
                  <a:srgbClr val="000000"/>
                </a:solidFill>
                <a:effectLst/>
                <a:latin typeface="Times New Roman" panose="02020603050405020304" pitchFamily="18" charset="0"/>
                <a:ea typeface="Calibri" panose="020F0502020204030204" pitchFamily="34" charset="0"/>
              </a:rPr>
              <a:t> team </a:t>
            </a:r>
            <a:r>
              <a:rPr lang="en-US" sz="1300" dirty="0" err="1">
                <a:solidFill>
                  <a:srgbClr val="000000"/>
                </a:solidFill>
                <a:effectLst/>
                <a:latin typeface="Times New Roman" panose="02020603050405020304" pitchFamily="18" charset="0"/>
                <a:ea typeface="Calibri" panose="020F0502020204030204" pitchFamily="34" charset="0"/>
              </a:rPr>
              <a:t>để</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xử</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lý</a:t>
            </a:r>
            <a:endParaRPr lang="en-US" sz="1200" dirty="0">
              <a:effectLst/>
              <a:latin typeface="Times New Roman" panose="02020603050405020304" pitchFamily="18" charset="0"/>
              <a:ea typeface="Calibri" panose="020F0502020204030204" pitchFamily="34"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3: Dev </a:t>
            </a:r>
            <a:r>
              <a:rPr lang="en-US" sz="1300" dirty="0" err="1">
                <a:solidFill>
                  <a:srgbClr val="000000"/>
                </a:solidFill>
                <a:effectLst/>
                <a:latin typeface="Times New Roman" panose="02020603050405020304" pitchFamily="18" charset="0"/>
                <a:ea typeface="Calibri" panose="020F0502020204030204" pitchFamily="34" charset="0"/>
              </a:rPr>
              <a:t>được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giao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việc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tiếp</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nhận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công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việc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và</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thực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xử</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lý</a:t>
            </a:r>
            <a:endParaRPr lang="en-US" sz="1200" dirty="0">
              <a:effectLst/>
              <a:latin typeface="Times New Roman" panose="02020603050405020304" pitchFamily="18" charset="0"/>
              <a:ea typeface="Calibri" panose="020F0502020204030204" pitchFamily="34"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4: Sau </a:t>
            </a:r>
            <a:r>
              <a:rPr lang="en-US" sz="1300" dirty="0" err="1">
                <a:solidFill>
                  <a:srgbClr val="000000"/>
                </a:solidFill>
                <a:effectLst/>
                <a:latin typeface="Times New Roman" panose="02020603050405020304" pitchFamily="18" charset="0"/>
                <a:ea typeface="Calibri" panose="020F0502020204030204" pitchFamily="34" charset="0"/>
              </a:rPr>
              <a:t>khi</a:t>
            </a:r>
            <a:r>
              <a:rPr lang="en-US" sz="1300" dirty="0">
                <a:solidFill>
                  <a:srgbClr val="000000"/>
                </a:solidFill>
                <a:effectLst/>
                <a:latin typeface="Times New Roman" panose="02020603050405020304" pitchFamily="18" charset="0"/>
                <a:ea typeface="Calibri" panose="020F0502020204030204" pitchFamily="34" charset="0"/>
              </a:rPr>
              <a:t> dev </a:t>
            </a:r>
            <a:r>
              <a:rPr lang="en-US" sz="1300" dirty="0" err="1">
                <a:solidFill>
                  <a:srgbClr val="000000"/>
                </a:solidFill>
                <a:effectLst/>
                <a:latin typeface="Times New Roman" panose="02020603050405020304" pitchFamily="18" charset="0"/>
                <a:ea typeface="Calibri" panose="020F0502020204030204" pitchFamily="34" charset="0"/>
              </a:rPr>
              <a:t>hoàn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thành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công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việc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Jira </a:t>
            </a:r>
            <a:r>
              <a:rPr lang="en-US" sz="1300" dirty="0" err="1">
                <a:solidFill>
                  <a:srgbClr val="000000"/>
                </a:solidFill>
                <a:effectLst/>
                <a:latin typeface="Times New Roman" panose="02020603050405020304" pitchFamily="18" charset="0"/>
                <a:ea typeface="Calibri" panose="020F0502020204030204" pitchFamily="34" charset="0"/>
              </a:rPr>
              <a:t>về</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BA/ tester </a:t>
            </a:r>
            <a:r>
              <a:rPr lang="en-US" sz="1300" dirty="0" err="1">
                <a:solidFill>
                  <a:srgbClr val="000000"/>
                </a:solidFill>
                <a:effectLst/>
                <a:latin typeface="Times New Roman" panose="02020603050405020304" pitchFamily="18" charset="0"/>
                <a:ea typeface="Calibri" panose="020F0502020204030204" pitchFamily="34" charset="0"/>
              </a:rPr>
              <a:t>kiểm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tra</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lại</a:t>
            </a:r>
            <a:r>
              <a:rPr lang="en-US" sz="1300" dirty="0">
                <a:solidFill>
                  <a:srgbClr val="000000"/>
                </a:solidFill>
                <a:effectLst/>
                <a:latin typeface="Times New Roman" panose="02020603050405020304" pitchFamily="18" charset="0"/>
                <a:ea typeface="Calibri" panose="020F0502020204030204" pitchFamily="34" charset="0"/>
              </a:rPr>
              <a:t>. </a:t>
            </a:r>
            <a:endParaRPr lang="en-US" sz="1200" dirty="0">
              <a:effectLst/>
              <a:latin typeface="Times New Roman" panose="02020603050405020304" pitchFamily="18" charset="0"/>
              <a:ea typeface="Calibri" panose="020F0502020204030204" pitchFamily="34" charset="0"/>
            </a:endParaRPr>
          </a:p>
          <a:p>
            <a:pPr marL="0" marR="0" indent="274320" algn="just">
              <a:spcBef>
                <a:spcPts val="600"/>
              </a:spcBef>
              <a:spcAft>
                <a:spcPts val="0"/>
              </a:spcAft>
            </a:pPr>
            <a:r>
              <a:rPr lang="en-US" sz="1300" dirty="0" err="1">
                <a:solidFill>
                  <a:srgbClr val="000000"/>
                </a:solidFill>
                <a:effectLst/>
                <a:latin typeface="Times New Roman" panose="02020603050405020304" pitchFamily="18" charset="0"/>
                <a:ea typeface="Times New Roman" panose="02020603050405020304" pitchFamily="18" charset="0"/>
              </a:rPr>
              <a:t>Nếu</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lỗi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đó</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được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sửa</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thì</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sẽ</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đóng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công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đó</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lại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và</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kết</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thúc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một</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công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Nếu</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lỗi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chưa</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được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sửa</a:t>
            </a:r>
            <a:r>
              <a:rPr lang="en-US" sz="1300" dirty="0">
                <a:solidFill>
                  <a:srgbClr val="000000"/>
                </a:solidFill>
                <a:effectLst/>
                <a:latin typeface="Times New Roman" panose="02020603050405020304" pitchFamily="18" charset="0"/>
                <a:ea typeface="Times New Roman" panose="02020603050405020304" pitchFamily="18" charset="0"/>
              </a:rPr>
              <a:t>, BA/ tester </a:t>
            </a:r>
            <a:r>
              <a:rPr lang="en-US" sz="1300" dirty="0" err="1">
                <a:solidFill>
                  <a:srgbClr val="000000"/>
                </a:solidFill>
                <a:effectLst/>
                <a:latin typeface="Times New Roman" panose="02020603050405020304" pitchFamily="18" charset="0"/>
                <a:ea typeface="Times New Roman" panose="02020603050405020304" pitchFamily="18" charset="0"/>
              </a:rPr>
              <a:t>sẽ</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chuyển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lại</a:t>
            </a:r>
            <a:r>
              <a:rPr lang="en-US" sz="1300" dirty="0">
                <a:solidFill>
                  <a:srgbClr val="000000"/>
                </a:solidFill>
                <a:effectLst/>
                <a:latin typeface="Times New Roman" panose="02020603050405020304" pitchFamily="18" charset="0"/>
                <a:ea typeface="Times New Roman" panose="02020603050405020304" pitchFamily="18" charset="0"/>
              </a:rPr>
              <a:t> Jira </a:t>
            </a:r>
            <a:r>
              <a:rPr lang="en-US" sz="1300" dirty="0" err="1">
                <a:solidFill>
                  <a:srgbClr val="000000"/>
                </a:solidFill>
                <a:effectLst/>
                <a:latin typeface="Times New Roman" panose="02020603050405020304" pitchFamily="18" charset="0"/>
                <a:ea typeface="Times New Roman" panose="02020603050405020304" pitchFamily="18" charset="0"/>
              </a:rPr>
              <a:t>cho</a:t>
            </a:r>
            <a:r>
              <a:rPr lang="en-US" sz="1300" dirty="0">
                <a:solidFill>
                  <a:srgbClr val="000000"/>
                </a:solidFill>
                <a:effectLst/>
                <a:latin typeface="Times New Roman" panose="02020603050405020304" pitchFamily="18" charset="0"/>
                <a:ea typeface="Times New Roman" panose="02020603050405020304" pitchFamily="18" charset="0"/>
              </a:rPr>
              <a:t> dev ( quay </a:t>
            </a:r>
            <a:r>
              <a:rPr lang="en-US" sz="1300" dirty="0" err="1">
                <a:solidFill>
                  <a:srgbClr val="000000"/>
                </a:solidFill>
                <a:effectLst/>
                <a:latin typeface="Times New Roman" panose="02020603050405020304" pitchFamily="18" charset="0"/>
                <a:ea typeface="Times New Roman" panose="02020603050405020304" pitchFamily="18" charset="0"/>
              </a:rPr>
              <a:t>lại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từ</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bước</a:t>
            </a:r>
            <a:r>
              <a:rPr lang="en-US" sz="1300" dirty="0">
                <a:solidFill>
                  <a:srgbClr val="000000"/>
                </a:solidFill>
                <a:effectLst/>
                <a:latin typeface="Times New Roman" panose="02020603050405020304" pitchFamily="18" charset="0"/>
                <a:ea typeface="Times New Roman" panose="02020603050405020304" pitchFamily="18" charset="0"/>
              </a:rPr>
              <a:t> 1)</a:t>
            </a:r>
            <a:endParaRPr lang="en-US" sz="1200" dirty="0">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300" dirty="0" err="1">
                <a:solidFill>
                  <a:srgbClr val="000000"/>
                </a:solidFill>
                <a:effectLst/>
                <a:latin typeface="Times New Roman" panose="02020603050405020304" pitchFamily="18" charset="0"/>
                <a:ea typeface="Times New Roman" panose="02020603050405020304" pitchFamily="18" charset="0"/>
              </a:rPr>
              <a:t>Đối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với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thực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hiện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kiểm</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thử</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bởi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cán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bộ</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dự</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án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bên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ngân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hàng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thì</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luồng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công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sẽ</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có</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bổ</a:t>
            </a:r>
            <a:r>
              <a:rPr lang="en-US" sz="1300" dirty="0">
                <a:solidFill>
                  <a:srgbClr val="000000"/>
                </a:solidFill>
                <a:effectLst/>
                <a:latin typeface="Times New Roman" panose="02020603050405020304" pitchFamily="18" charset="0"/>
                <a:ea typeface="Times New Roman" panose="02020603050405020304" pitchFamily="18" charset="0"/>
              </a:rPr>
              <a:t> sung </a:t>
            </a:r>
            <a:r>
              <a:rPr lang="en-US" sz="1300" dirty="0" err="1">
                <a:solidFill>
                  <a:srgbClr val="000000"/>
                </a:solidFill>
                <a:effectLst/>
                <a:latin typeface="Times New Roman" panose="02020603050405020304" pitchFamily="18" charset="0"/>
                <a:ea typeface="Times New Roman" panose="02020603050405020304" pitchFamily="18" charset="0"/>
              </a:rPr>
              <a:t>thêm</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như</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sau</a:t>
            </a:r>
            <a:r>
              <a:rPr lang="en-US" sz="1300" dirty="0">
                <a:solidFill>
                  <a:srgbClr val="000000"/>
                </a:solidFill>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1: </a:t>
            </a:r>
            <a:r>
              <a:rPr lang="en-US" sz="1300" dirty="0" err="1">
                <a:solidFill>
                  <a:srgbClr val="000000"/>
                </a:solidFill>
                <a:effectLst/>
                <a:latin typeface="Times New Roman" panose="02020603050405020304" pitchFamily="18" charset="0"/>
                <a:ea typeface="Calibri" panose="020F0502020204030204" pitchFamily="34" charset="0"/>
              </a:rPr>
              <a:t>Cán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bộ</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nhân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viên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ngân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hàng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thực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log </a:t>
            </a:r>
            <a:r>
              <a:rPr lang="en-US" sz="1300" dirty="0" err="1">
                <a:solidFill>
                  <a:srgbClr val="000000"/>
                </a:solidFill>
                <a:effectLst/>
                <a:latin typeface="Times New Roman" panose="02020603050405020304" pitchFamily="18" charset="0"/>
                <a:ea typeface="Calibri" panose="020F0502020204030204" pitchFamily="34" charset="0"/>
              </a:rPr>
              <a:t>lỗi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trên</a:t>
            </a:r>
            <a:r>
              <a:rPr lang="en-US" sz="1300" dirty="0">
                <a:solidFill>
                  <a:srgbClr val="000000"/>
                </a:solidFill>
                <a:effectLst/>
                <a:latin typeface="Times New Roman" panose="02020603050405020304" pitchFamily="18" charset="0"/>
                <a:ea typeface="Calibri" panose="020F0502020204030204" pitchFamily="34" charset="0"/>
              </a:rPr>
              <a:t> Jira,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BA/ Tester </a:t>
            </a:r>
            <a:r>
              <a:rPr lang="en-US" sz="1300" dirty="0" err="1">
                <a:solidFill>
                  <a:srgbClr val="000000"/>
                </a:solidFill>
                <a:effectLst/>
                <a:latin typeface="Times New Roman" panose="02020603050405020304" pitchFamily="18" charset="0"/>
                <a:ea typeface="Calibri" panose="020F0502020204030204" pitchFamily="34" charset="0"/>
              </a:rPr>
              <a:t>của</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PrBBNKBIDV</a:t>
            </a:r>
            <a:endParaRPr lang="en-US" sz="1200" dirty="0">
              <a:effectLst/>
              <a:latin typeface="Times New Roman" panose="02020603050405020304" pitchFamily="18" charset="0"/>
              <a:ea typeface="Calibri" panose="020F0502020204030204" pitchFamily="34"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2: BA/ Tester </a:t>
            </a:r>
            <a:r>
              <a:rPr lang="en-US" sz="1300" dirty="0" err="1">
                <a:solidFill>
                  <a:srgbClr val="000000"/>
                </a:solidFill>
                <a:effectLst/>
                <a:latin typeface="Times New Roman" panose="02020603050405020304" pitchFamily="18" charset="0"/>
                <a:ea typeface="Calibri" panose="020F0502020204030204" pitchFamily="34" charset="0"/>
              </a:rPr>
              <a:t>có</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trách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nhiệm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kiểm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tra</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tái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lỗi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trên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môi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trường</a:t>
            </a:r>
            <a:r>
              <a:rPr lang="en-US" sz="1300" dirty="0">
                <a:solidFill>
                  <a:srgbClr val="000000"/>
                </a:solidFill>
                <a:effectLst/>
                <a:latin typeface="Times New Roman" panose="02020603050405020304" pitchFamily="18" charset="0"/>
                <a:ea typeface="Calibri" panose="020F0502020204030204" pitchFamily="34" charset="0"/>
              </a:rPr>
              <a:t> SIT/UAT. </a:t>
            </a:r>
            <a:r>
              <a:rPr lang="en-US" sz="1300" dirty="0" err="1">
                <a:solidFill>
                  <a:srgbClr val="000000"/>
                </a:solidFill>
                <a:effectLst/>
                <a:latin typeface="Times New Roman" panose="02020603050405020304" pitchFamily="18" charset="0"/>
                <a:ea typeface="Calibri" panose="020F0502020204030204" pitchFamily="34" charset="0"/>
              </a:rPr>
              <a:t>Nếu</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phát</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không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lỗi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mà</a:t>
            </a:r>
            <a:r>
              <a:rPr lang="en-US" sz="1300" dirty="0">
                <a:solidFill>
                  <a:srgbClr val="000000"/>
                </a:solidFill>
                <a:effectLst/>
                <a:latin typeface="Times New Roman" panose="02020603050405020304" pitchFamily="18" charset="0"/>
                <a:ea typeface="Calibri" panose="020F0502020204030204" pitchFamily="34" charset="0"/>
              </a:rPr>
              <a:t> do </a:t>
            </a:r>
            <a:r>
              <a:rPr lang="en-US" sz="1300" dirty="0" err="1">
                <a:solidFill>
                  <a:srgbClr val="000000"/>
                </a:solidFill>
                <a:effectLst/>
                <a:latin typeface="Times New Roman" panose="02020603050405020304" pitchFamily="18" charset="0"/>
                <a:ea typeface="Calibri" panose="020F0502020204030204" pitchFamily="34" charset="0"/>
              </a:rPr>
              <a:t>khách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hàng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thao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tác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sai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thì</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Jira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khách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hàng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kèm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lý</a:t>
            </a:r>
            <a:r>
              <a:rPr lang="en-US" sz="1300" dirty="0">
                <a:solidFill>
                  <a:srgbClr val="000000"/>
                </a:solidFill>
                <a:effectLst/>
                <a:latin typeface="Times New Roman" panose="02020603050405020304" pitchFamily="18" charset="0"/>
                <a:ea typeface="Calibri" panose="020F0502020204030204" pitchFamily="34" charset="0"/>
              </a:rPr>
              <a:t> do </a:t>
            </a:r>
            <a:r>
              <a:rPr lang="en-US" sz="1300" dirty="0" err="1">
                <a:solidFill>
                  <a:srgbClr val="000000"/>
                </a:solidFill>
                <a:effectLst/>
                <a:latin typeface="Times New Roman" panose="02020603050405020304" pitchFamily="18" charset="0"/>
                <a:ea typeface="Calibri" panose="020F0502020204030204" pitchFamily="34" charset="0"/>
              </a:rPr>
              <a:t>trả</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jira</a:t>
            </a:r>
            <a:r>
              <a:rPr lang="en-US" sz="1300" dirty="0">
                <a:solidFill>
                  <a:srgbClr val="000000"/>
                </a:solidFill>
                <a:effectLst/>
                <a:latin typeface="Times New Roman" panose="02020603050405020304" pitchFamily="18" charset="0"/>
                <a:ea typeface="Calibri" panose="020F0502020204030204" pitchFamily="34" charset="0"/>
              </a:rPr>
              <a:t>. </a:t>
            </a:r>
            <a:endParaRPr lang="en-US" sz="1200" dirty="0">
              <a:effectLst/>
              <a:latin typeface="Times New Roman" panose="02020603050405020304" pitchFamily="18" charset="0"/>
              <a:ea typeface="Calibri" panose="020F0502020204030204" pitchFamily="34" charset="0"/>
            </a:endParaRPr>
          </a:p>
          <a:p>
            <a:pPr marL="742950" marR="0" lvl="1" indent="-285750" algn="just">
              <a:spcBef>
                <a:spcPts val="0"/>
              </a:spcBef>
              <a:spcAft>
                <a:spcPts val="0"/>
              </a:spcAft>
              <a:buFont typeface="Courier New" panose="02070309020205020404" pitchFamily="49" charset="0"/>
              <a:buChar char="o"/>
            </a:pPr>
            <a:r>
              <a:rPr lang="en-US" sz="1300" dirty="0" err="1">
                <a:solidFill>
                  <a:srgbClr val="000000"/>
                </a:solidFill>
                <a:effectLst/>
                <a:latin typeface="Times New Roman" panose="02020603050405020304" pitchFamily="18" charset="0"/>
                <a:ea typeface="Times New Roman" panose="02020603050405020304" pitchFamily="18" charset="0"/>
              </a:rPr>
              <a:t>Nếu</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phát</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hiện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lỗi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hệ</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thống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thì</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chuyển</a:t>
            </a:r>
            <a:r>
              <a:rPr lang="en-US" sz="1300" dirty="0">
                <a:solidFill>
                  <a:srgbClr val="000000"/>
                </a:solidFill>
                <a:effectLst/>
                <a:latin typeface="Times New Roman" panose="02020603050405020304" pitchFamily="18" charset="0"/>
                <a:ea typeface="Times New Roman" panose="02020603050405020304" pitchFamily="18" charset="0"/>
              </a:rPr>
              <a:t> Jira </a:t>
            </a:r>
            <a:r>
              <a:rPr lang="en-US" sz="1300" dirty="0" err="1">
                <a:solidFill>
                  <a:srgbClr val="000000"/>
                </a:solidFill>
                <a:effectLst/>
                <a:latin typeface="Times New Roman" panose="02020603050405020304" pitchFamily="18" charset="0"/>
                <a:ea typeface="Times New Roman" panose="02020603050405020304" pitchFamily="18" charset="0"/>
              </a:rPr>
              <a:t>về</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cho</a:t>
            </a:r>
            <a:r>
              <a:rPr lang="en-US" sz="1300" dirty="0">
                <a:solidFill>
                  <a:srgbClr val="000000"/>
                </a:solidFill>
                <a:effectLst/>
                <a:latin typeface="Times New Roman" panose="02020603050405020304" pitchFamily="18" charset="0"/>
                <a:ea typeface="Times New Roman" panose="02020603050405020304" pitchFamily="18" charset="0"/>
              </a:rPr>
              <a:t> dev lead </a:t>
            </a:r>
            <a:r>
              <a:rPr lang="en-US" sz="1300" dirty="0" err="1">
                <a:solidFill>
                  <a:srgbClr val="000000"/>
                </a:solidFill>
                <a:effectLst/>
                <a:latin typeface="Times New Roman" panose="02020603050405020304" pitchFamily="18" charset="0"/>
                <a:ea typeface="Times New Roman" panose="02020603050405020304" pitchFamily="18" charset="0"/>
              </a:rPr>
              <a:t>kèm</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thông</a:t>
            </a:r>
            <a:r>
              <a:rPr lang="en-US" sz="1300" dirty="0">
                <a:solidFill>
                  <a:srgbClr val="000000"/>
                </a:solidFill>
                <a:effectLst/>
                <a:latin typeface="Times New Roman" panose="02020603050405020304" pitchFamily="18" charset="0"/>
                <a:ea typeface="Times New Roman" panose="02020603050405020304" pitchFamily="18" charset="0"/>
              </a:rPr>
              <a:t> tin </a:t>
            </a:r>
            <a:r>
              <a:rPr lang="en-US" sz="1300" dirty="0" err="1">
                <a:solidFill>
                  <a:srgbClr val="000000"/>
                </a:solidFill>
                <a:effectLst/>
                <a:latin typeface="Times New Roman" panose="02020603050405020304" pitchFamily="18" charset="0"/>
                <a:ea typeface="Times New Roman" panose="02020603050405020304" pitchFamily="18" charset="0"/>
              </a:rPr>
              <a:t>cụ</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thể</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lỗi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Quy</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trình</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sau</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đó</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giống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quy</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trình</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xử</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lý</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lỗi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nội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bộ</a:t>
            </a:r>
            <a:r>
              <a:rPr lang="en-US" sz="1300" dirty="0">
                <a:solidFill>
                  <a:srgbClr val="000000"/>
                </a:solidFill>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p>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cuối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sau</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khi</a:t>
            </a:r>
            <a:r>
              <a:rPr lang="en-US" sz="1300" dirty="0">
                <a:solidFill>
                  <a:srgbClr val="000000"/>
                </a:solidFill>
                <a:effectLst/>
                <a:latin typeface="Times New Roman" panose="02020603050405020304" pitchFamily="18" charset="0"/>
                <a:ea typeface="Calibri" panose="020F0502020204030204" pitchFamily="34" charset="0"/>
              </a:rPr>
              <a:t> BA / Tester test </a:t>
            </a:r>
            <a:r>
              <a:rPr lang="en-US" sz="1300" dirty="0" err="1">
                <a:solidFill>
                  <a:srgbClr val="000000"/>
                </a:solidFill>
                <a:effectLst/>
                <a:latin typeface="Times New Roman" panose="02020603050405020304" pitchFamily="18" charset="0"/>
                <a:ea typeface="Calibri" panose="020F0502020204030204" pitchFamily="34" charset="0"/>
              </a:rPr>
              <a:t>thành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công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trên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môi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trường</a:t>
            </a:r>
            <a:r>
              <a:rPr lang="en-US" sz="1300" dirty="0">
                <a:solidFill>
                  <a:srgbClr val="000000"/>
                </a:solidFill>
                <a:effectLst/>
                <a:latin typeface="Times New Roman" panose="02020603050405020304" pitchFamily="18" charset="0"/>
                <a:ea typeface="Calibri" panose="020F0502020204030204" pitchFamily="34" charset="0"/>
              </a:rPr>
              <a:t> SIT,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báo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bàn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giao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lên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môi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trường</a:t>
            </a:r>
            <a:r>
              <a:rPr lang="en-US" sz="1300" dirty="0">
                <a:solidFill>
                  <a:srgbClr val="000000"/>
                </a:solidFill>
                <a:effectLst/>
                <a:latin typeface="Times New Roman" panose="02020603050405020304" pitchFamily="18" charset="0"/>
                <a:ea typeface="Calibri" panose="020F0502020204030204" pitchFamily="34" charset="0"/>
              </a:rPr>
              <a:t> UAT </a:t>
            </a:r>
            <a:r>
              <a:rPr lang="en-US" sz="1300" dirty="0" err="1">
                <a:solidFill>
                  <a:srgbClr val="000000"/>
                </a:solidFill>
                <a:effectLst/>
                <a:latin typeface="Times New Roman" panose="02020603050405020304" pitchFamily="18" charset="0"/>
                <a:ea typeface="Calibri" panose="020F0502020204030204" pitchFamily="34" charset="0"/>
              </a:rPr>
              <a:t>và</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Jira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ngân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hàng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khi</a:t>
            </a:r>
            <a:r>
              <a:rPr lang="en-US" sz="1300" dirty="0">
                <a:solidFill>
                  <a:srgbClr val="000000"/>
                </a:solidFill>
                <a:effectLst/>
                <a:latin typeface="Times New Roman" panose="02020603050405020304" pitchFamily="18" charset="0"/>
                <a:ea typeface="Calibri" panose="020F0502020204030204" pitchFamily="34" charset="0"/>
              </a:rPr>
              <a:t> code </a:t>
            </a:r>
            <a:r>
              <a:rPr lang="en-US" sz="1300" dirty="0" err="1">
                <a:solidFill>
                  <a:srgbClr val="000000"/>
                </a:solidFill>
                <a:effectLst/>
                <a:latin typeface="Times New Roman" panose="02020603050405020304" pitchFamily="18" charset="0"/>
                <a:ea typeface="Calibri" panose="020F0502020204030204" pitchFamily="34" charset="0"/>
              </a:rPr>
              <a:t>được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bàn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giao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lên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môi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trường</a:t>
            </a:r>
            <a:r>
              <a:rPr lang="en-US" sz="1300" dirty="0">
                <a:solidFill>
                  <a:srgbClr val="000000"/>
                </a:solidFill>
                <a:effectLst/>
                <a:latin typeface="Times New Roman" panose="02020603050405020304" pitchFamily="18" charset="0"/>
                <a:ea typeface="Calibri" panose="020F0502020204030204" pitchFamily="34" charset="0"/>
              </a:rPr>
              <a:t> UAT. </a:t>
            </a:r>
            <a:r>
              <a:rPr lang="en-US" sz="1300" dirty="0" err="1">
                <a:solidFill>
                  <a:srgbClr val="000000"/>
                </a:solidFill>
                <a:effectLst/>
                <a:latin typeface="Times New Roman" panose="02020603050405020304" pitchFamily="18" charset="0"/>
                <a:ea typeface="Calibri" panose="020F0502020204030204" pitchFamily="34" charset="0"/>
              </a:rPr>
              <a:t>Luồng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được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lặp</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lại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tới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khách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hàng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đóng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jira</a:t>
            </a:r>
            <a:r>
              <a:rPr lang="en-US" sz="1300" dirty="0">
                <a:solidFill>
                  <a:srgbClr val="000000"/>
                </a:solidFill>
                <a:effectLst/>
                <a:latin typeface="Times New Roman" panose="02020603050405020304" pitchFamily="18" charset="0"/>
                <a:ea typeface="Calibri" panose="020F0502020204030204" pitchFamily="34" charset="0"/>
              </a:rPr>
              <a:t> </a:t>
            </a:r>
          </a:p>
          <a:p>
            <a:endParaRPr lang="en-US" sz="1300" dirty="0">
              <a:solidFill>
                <a:srgbClr val="000000"/>
              </a:solidFill>
              <a:effectLst/>
              <a:latin typeface="Times New Roman" panose="02020603050405020304" pitchFamily="18" charset="0"/>
            </a:endParaRPr>
          </a:p>
          <a:p>
            <a:pPr marL="0" marR="0" indent="274320" algn="just">
              <a:spcBef>
                <a:spcPts val="60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Công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sẽ</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được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giao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từng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Hệ</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thống</a:t>
            </a:r>
            <a:r>
              <a:rPr lang="en-US" sz="1800" dirty="0">
                <a:solidFill>
                  <a:srgbClr val="000000"/>
                </a:solidFill>
                <a:effectLst/>
                <a:latin typeface="Times New Roman" panose="02020603050405020304" pitchFamily="18" charset="0"/>
                <a:ea typeface="Times New Roman" panose="02020603050405020304" pitchFamily="18" charset="0"/>
              </a:rPr>
              <a:t> JIRA </a:t>
            </a:r>
            <a:r>
              <a:rPr lang="en-US" sz="1800" dirty="0" err="1">
                <a:solidFill>
                  <a:srgbClr val="000000"/>
                </a:solidFill>
                <a:effectLst/>
                <a:latin typeface="Times New Roman" panose="02020603050405020304" pitchFamily="18" charset="0"/>
                <a:ea typeface="Times New Roman" panose="02020603050405020304" pitchFamily="18" charset="0"/>
              </a:rPr>
              <a:t>cho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phép</a:t>
            </a:r>
            <a:r>
              <a:rPr lang="en-US" sz="1800" dirty="0">
                <a:solidFill>
                  <a:srgbClr val="000000"/>
                </a:solidFill>
                <a:effectLst/>
                <a:latin typeface="Times New Roman" panose="02020603050405020304" pitchFamily="18" charset="0"/>
                <a:ea typeface="Times New Roman" panose="02020603050405020304" pitchFamily="18" charset="0"/>
              </a:rPr>
              <a:t> log </a:t>
            </a:r>
            <a:r>
              <a:rPr lang="en-US" sz="1800" dirty="0" err="1">
                <a:solidFill>
                  <a:srgbClr val="000000"/>
                </a:solidFill>
                <a:effectLst/>
                <a:latin typeface="Times New Roman" panose="02020603050405020304" pitchFamily="18" charset="0"/>
                <a:ea typeface="Times New Roman" panose="02020603050405020304" pitchFamily="18" charset="0"/>
              </a:rPr>
              <a:t>các</a:t>
            </a:r>
            <a:r>
              <a:rPr lang="en-US" sz="1800" dirty="0">
                <a:solidFill>
                  <a:srgbClr val="000000"/>
                </a:solidFill>
                <a:effectLst/>
                <a:latin typeface="Times New Roman" panose="02020603050405020304" pitchFamily="18" charset="0"/>
                <a:ea typeface="Times New Roman" panose="02020603050405020304" pitchFamily="18" charset="0"/>
              </a:rPr>
              <a:t> worklog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từng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(timesheet) </a:t>
            </a:r>
            <a:r>
              <a:rPr lang="en-US" sz="1800" dirty="0" err="1">
                <a:solidFill>
                  <a:srgbClr val="000000"/>
                </a:solidFill>
                <a:effectLst/>
                <a:latin typeface="Times New Roman" panose="02020603050405020304" pitchFamily="18" charset="0"/>
                <a:ea typeface="Times New Roman" panose="02020603050405020304" pitchFamily="18" charset="0"/>
              </a:rPr>
              <a:t>theo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gian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mỗi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mỗi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ngày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một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công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tương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đương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5 </a:t>
            </a:r>
            <a:r>
              <a:rPr lang="en-US" sz="1800" dirty="0" err="1">
                <a:solidFill>
                  <a:srgbClr val="000000"/>
                </a:solidFill>
                <a:effectLst/>
                <a:latin typeface="Times New Roman" panose="02020603050405020304" pitchFamily="18" charset="0"/>
                <a:ea typeface="Times New Roman" panose="02020603050405020304" pitchFamily="18" charset="0"/>
              </a:rPr>
              <a:t>công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một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tuần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gian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hàng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ngày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gian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chốt</a:t>
            </a:r>
            <a:r>
              <a:rPr lang="en-US" sz="1800" dirty="0">
                <a:solidFill>
                  <a:srgbClr val="000000"/>
                </a:solidFill>
                <a:effectLst/>
                <a:latin typeface="Times New Roman" panose="02020603050405020304" pitchFamily="18" charset="0"/>
                <a:ea typeface="Times New Roman" panose="02020603050405020304" pitchFamily="18" charset="0"/>
              </a:rPr>
              <a:t> worklog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thứ</a:t>
            </a:r>
            <a:r>
              <a:rPr lang="en-US" sz="1800" dirty="0">
                <a:solidFill>
                  <a:srgbClr val="000000"/>
                </a:solidFill>
                <a:effectLst/>
                <a:latin typeface="Times New Roman" panose="02020603050405020304" pitchFamily="18" charset="0"/>
                <a:ea typeface="Times New Roman" panose="02020603050405020304" pitchFamily="18" charset="0"/>
              </a:rPr>
              <a:t> 6 </a:t>
            </a:r>
            <a:r>
              <a:rPr lang="en-US" sz="1800" dirty="0" err="1">
                <a:solidFill>
                  <a:srgbClr val="000000"/>
                </a:solidFill>
                <a:effectLst/>
                <a:latin typeface="Times New Roman" panose="02020603050405020304" pitchFamily="18" charset="0"/>
                <a:ea typeface="Times New Roman" panose="02020603050405020304" pitchFamily="18" charset="0"/>
              </a:rPr>
              <a:t>hàng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tuần</a:t>
            </a:r>
            <a:r>
              <a:rPr lang="en-US" sz="1800" dirty="0">
                <a:solidFill>
                  <a:srgbClr val="000000"/>
                </a:solidFill>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800" dirty="0" err="1">
                <a:solidFill>
                  <a:srgbClr val="000000"/>
                </a:solidFill>
                <a:effectLst/>
                <a:latin typeface="Times New Roman" panose="02020603050405020304" pitchFamily="18" charset="0"/>
                <a:ea typeface="Times New Roman" panose="02020603050405020304" pitchFamily="18" charset="0"/>
              </a:rPr>
              <a:t>Đối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với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công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cần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có</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luồng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trình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người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yêu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cầu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thường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trao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đổi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tiếp</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với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người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dụ</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như</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kiểm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đóng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dấu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tài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liệu</a:t>
            </a:r>
            <a:r>
              <a:rPr lang="en-US" sz="1800" dirty="0">
                <a:solidFill>
                  <a:srgbClr val="000000"/>
                </a:solidFill>
                <a:effectLst/>
                <a:latin typeface="Times New Roman" panose="02020603050405020304" pitchFamily="18" charset="0"/>
                <a:ea typeface="Times New Roman" panose="02020603050405020304" pitchFamily="18" charset="0"/>
              </a:rPr>
              <a:t>, PM </a:t>
            </a:r>
            <a:r>
              <a:rPr lang="en-US" sz="1800" dirty="0" err="1">
                <a:solidFill>
                  <a:srgbClr val="000000"/>
                </a:solidFill>
                <a:effectLst/>
                <a:latin typeface="Times New Roman" panose="02020603050405020304" pitchFamily="18" charset="0"/>
                <a:ea typeface="Times New Roman" panose="02020603050405020304" pitchFamily="18" charset="0"/>
              </a:rPr>
              <a:t>sẽ</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yêu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cầu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thư</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ký</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in </a:t>
            </a:r>
            <a:r>
              <a:rPr lang="en-US" sz="1800" dirty="0" err="1">
                <a:solidFill>
                  <a:srgbClr val="000000"/>
                </a:solidFill>
                <a:effectLst/>
                <a:latin typeface="Times New Roman" panose="02020603050405020304" pitchFamily="18" charset="0"/>
                <a:ea typeface="Times New Roman" panose="02020603050405020304" pitchFamily="18" charset="0"/>
              </a:rPr>
              <a:t>ấn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văn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bản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xin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dấu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công</a:t>
            </a:r>
            <a:r>
              <a:rPr lang="en-US" sz="1800" dirty="0">
                <a:solidFill>
                  <a:srgbClr val="000000"/>
                </a:solidFill>
                <a:effectLst/>
                <a:latin typeface="Times New Roman" panose="02020603050405020304" pitchFamily="18" charset="0"/>
                <a:ea typeface="Times New Roman" panose="02020603050405020304" pitchFamily="18" charset="0"/>
              </a:rPr>
              <a:t> ty </a:t>
            </a:r>
            <a:r>
              <a:rPr lang="en-US" sz="1800" dirty="0" err="1">
                <a:solidFill>
                  <a:srgbClr val="000000"/>
                </a:solidFill>
                <a:effectLst/>
                <a:latin typeface="Times New Roman" panose="02020603050405020304" pitchFamily="18" charset="0"/>
                <a:ea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mang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đến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văn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phòng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địa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điểm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khác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trụ</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sở</a:t>
            </a:r>
            <a:r>
              <a:rPr lang="en-US" sz="1800" dirty="0">
                <a:solidFill>
                  <a:srgbClr val="000000"/>
                </a:solidFill>
                <a:effectLst/>
                <a:latin typeface="Times New Roman" panose="02020603050405020304" pitchFamily="18" charset="0"/>
                <a:ea typeface="Times New Roman" panose="02020603050405020304" pitchFamily="18" charset="0"/>
              </a:rPr>
              <a:t>). Khi </a:t>
            </a:r>
            <a:r>
              <a:rPr lang="en-US" sz="1800" dirty="0" err="1">
                <a:solidFill>
                  <a:srgbClr val="000000"/>
                </a:solidFill>
                <a:effectLst/>
                <a:latin typeface="Times New Roman" panose="02020603050405020304" pitchFamily="18" charset="0"/>
                <a:ea typeface="Times New Roman" panose="02020603050405020304" pitchFamily="18" charset="0"/>
              </a:rPr>
              <a:t>thư</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ký</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không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có</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mặt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thì</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đồng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nghĩa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phải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chờ</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người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xử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lý</a:t>
            </a:r>
            <a:r>
              <a:rPr lang="en-US" sz="1800" dirty="0">
                <a:solidFill>
                  <a:srgbClr val="000000"/>
                </a:solidFill>
                <a:effectLst/>
                <a:latin typeface="Times New Roman" panose="02020603050405020304" pitchFamily="18" charset="0"/>
                <a:ea typeface="Times New Roman" panose="02020603050405020304" pitchFamily="18" charset="0"/>
              </a:rPr>
              <a:t>.</a:t>
            </a:r>
          </a:p>
          <a:p>
            <a:pPr marL="0" marR="0" indent="274320" algn="just">
              <a:spcBef>
                <a:spcPts val="60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a:t>
            </a:r>
          </a:p>
          <a:p>
            <a:pPr marL="0" marR="0" indent="274320" algn="just">
              <a:spcBef>
                <a:spcPts val="60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algn="just">
              <a:lnSpc>
                <a:spcPct val="110000"/>
              </a:lnSpc>
              <a:spcBef>
                <a:spcPts val="300"/>
              </a:spcBef>
              <a:spcAft>
                <a:spcPts val="0"/>
              </a:spcAft>
            </a:pP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qua </a:t>
            </a:r>
            <a:r>
              <a:rPr lang="en-US" sz="1800" dirty="0" err="1">
                <a:solidFill>
                  <a:srgbClr val="000000"/>
                </a:solidFill>
                <a:effectLst/>
                <a:latin typeface="Times New Roman" panose="02020603050405020304" pitchFamily="18" charset="0"/>
                <a:ea typeface="Calibri" panose="020F0502020204030204" pitchFamily="34" charset="0"/>
              </a:rPr>
              <a:t>hệ</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thống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ty </a:t>
            </a:r>
            <a:r>
              <a:rPr lang="en-US" sz="1800" dirty="0" err="1">
                <a:solidFill>
                  <a:srgbClr val="000000"/>
                </a:solidFill>
                <a:effectLst/>
                <a:latin typeface="Times New Roman" panose="02020603050405020304" pitchFamily="18" charset="0"/>
                <a:ea typeface="Calibri" panose="020F0502020204030204" pitchFamily="34" charset="0"/>
              </a:rPr>
              <a:t>với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mục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đích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vấn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đề</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đến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bộ</a:t>
            </a:r>
            <a:r>
              <a:rPr lang="en-US" sz="1800" dirty="0">
                <a:solidFill>
                  <a:srgbClr val="000000"/>
                </a:solidFill>
                <a:effectLst/>
                <a:latin typeface="Times New Roman" panose="02020603050405020304" pitchFamily="18" charset="0"/>
                <a:ea typeface="Calibri" panose="020F0502020204030204" pitchFamily="34" charset="0"/>
              </a:rPr>
              <a:t> FIS.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bộ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chỉ</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tiêu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bao </a:t>
            </a:r>
            <a:r>
              <a:rPr lang="en-US" sz="1800" dirty="0" err="1">
                <a:solidFill>
                  <a:srgbClr val="000000"/>
                </a:solidFill>
                <a:effectLst/>
                <a:latin typeface="Times New Roman" panose="02020603050405020304" pitchFamily="18" charset="0"/>
                <a:ea typeface="Calibri" panose="020F0502020204030204" pitchFamily="34" charset="0"/>
              </a:rPr>
              <a:t>gồm</a:t>
            </a:r>
            <a:r>
              <a:rPr lang="en-US" sz="1800" dirty="0">
                <a:solidFill>
                  <a:srgbClr val="000000"/>
                </a:solidFill>
                <a:effectLst/>
                <a:latin typeface="Times New Roman" panose="02020603050405020304" pitchFamily="18" charset="0"/>
                <a:ea typeface="Calibri" panose="020F0502020204030204" pitchFamily="34" charset="0"/>
              </a:rPr>
              <a:t> 4 </a:t>
            </a:r>
            <a:r>
              <a:rPr lang="en-US" sz="1800" dirty="0" err="1">
                <a:solidFill>
                  <a:srgbClr val="000000"/>
                </a:solidFill>
                <a:effectLst/>
                <a:latin typeface="Times New Roman" panose="02020603050405020304" pitchFamily="18" charset="0"/>
                <a:ea typeface="Calibri" panose="020F0502020204030204" pitchFamily="34" charset="0"/>
              </a:rPr>
              <a:t>chỉ</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tiêu</a:t>
            </a:r>
            <a:r>
              <a:rPr lang="en-US" sz="1800" dirty="0">
                <a:solidFill>
                  <a:srgbClr val="000000"/>
                </a:solidFill>
                <a:effectLst/>
                <a:latin typeface="Times New Roman" panose="02020603050405020304" pitchFamily="18" charset="0"/>
                <a:ea typeface="Calibri" panose="020F0502020204030204" pitchFamily="34" charset="0"/>
              </a:rPr>
              <a:t>:</a:t>
            </a:r>
          </a:p>
          <a:p>
            <a:pPr marL="342900" marR="0" lvl="0" indent="-342900" algn="just">
              <a:lnSpc>
                <a:spcPct val="110000"/>
              </a:lnSpc>
              <a:spcBef>
                <a:spcPts val="300"/>
              </a:spcBef>
              <a:spcAft>
                <a:spcPts val="0"/>
              </a:spcAft>
              <a:buFont typeface="Times New Roman" panose="02020603050405020304" pitchFamily="18" charset="0"/>
              <a:buChar char="-"/>
            </a:pPr>
            <a:r>
              <a:rPr lang="en-US" sz="1800" dirty="0" err="1">
                <a:solidFill>
                  <a:srgbClr val="000000"/>
                </a:solidFill>
                <a:effectLst/>
                <a:latin typeface="Times New Roman" panose="02020603050405020304" pitchFamily="18" charset="0"/>
                <a:ea typeface="Calibri" panose="020F0502020204030204" pitchFamily="34" charset="0"/>
              </a:rPr>
              <a:t>Khối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khối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tham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endParaRPr lang="en-US" sz="1800" dirty="0">
              <a:solidFill>
                <a:srgbClr val="000000"/>
              </a:solidFill>
              <a:effectLst/>
              <a:latin typeface="Times New Roman" panose="02020603050405020304" pitchFamily="18" charset="0"/>
              <a:ea typeface="Calibri" panose="020F0502020204030204" pitchFamily="34" charset="0"/>
            </a:endParaRPr>
          </a:p>
          <a:p>
            <a:pPr marL="342900" marR="0" lvl="0" indent="-342900" algn="just">
              <a:lnSpc>
                <a:spcPct val="110000"/>
              </a:lnSpc>
              <a:spcBef>
                <a:spcPts val="0"/>
              </a:spcBef>
              <a:spcAft>
                <a:spcPts val="0"/>
              </a:spcAft>
              <a:buFont typeface="Times New Roman" panose="02020603050405020304" pitchFamily="18" charset="0"/>
              <a:buChar char="-"/>
            </a:pP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tốt</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không</a:t>
            </a:r>
            <a:endParaRPr lang="en-US" sz="1800" dirty="0">
              <a:solidFill>
                <a:srgbClr val="000000"/>
              </a:solidFill>
              <a:effectLst/>
              <a:latin typeface="Times New Roman" panose="02020603050405020304" pitchFamily="18" charset="0"/>
              <a:ea typeface="Calibri" panose="020F0502020204030204" pitchFamily="34" charset="0"/>
            </a:endParaRPr>
          </a:p>
          <a:p>
            <a:pPr marL="342900" marR="0" lvl="0" indent="-342900" algn="just">
              <a:lnSpc>
                <a:spcPct val="110000"/>
              </a:lnSpc>
              <a:spcBef>
                <a:spcPts val="0"/>
              </a:spcBef>
              <a:spcAft>
                <a:spcPts val="0"/>
              </a:spcAft>
              <a:buFont typeface="Times New Roman" panose="02020603050405020304" pitchFamily="18" charset="0"/>
              <a:buChar char="-"/>
            </a:pPr>
            <a:r>
              <a:rPr lang="en-US" sz="1800" dirty="0" err="1">
                <a:solidFill>
                  <a:srgbClr val="000000"/>
                </a:solidFill>
                <a:effectLst/>
                <a:latin typeface="Times New Roman" panose="02020603050405020304" pitchFamily="18" charset="0"/>
                <a:ea typeface="Calibri" panose="020F0502020204030204" pitchFamily="34" charset="0"/>
              </a:rPr>
              <a:t>Tiến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tiến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endParaRPr lang="en-US" sz="1800" dirty="0">
              <a:solidFill>
                <a:srgbClr val="000000"/>
              </a:solidFill>
              <a:effectLst/>
              <a:latin typeface="Times New Roman" panose="02020603050405020304" pitchFamily="18" charset="0"/>
              <a:ea typeface="Calibri" panose="020F0502020204030204" pitchFamily="34" charset="0"/>
            </a:endParaRPr>
          </a:p>
          <a:p>
            <a:pPr marL="342900" marR="0" lvl="0" indent="-342900" algn="just">
              <a:lnSpc>
                <a:spcPct val="110000"/>
              </a:lnSpc>
              <a:spcBef>
                <a:spcPts val="0"/>
              </a:spcBef>
              <a:spcAft>
                <a:spcPts val="0"/>
              </a:spcAft>
              <a:buFont typeface="Times New Roman" panose="02020603050405020304" pitchFamily="18" charset="0"/>
              <a:buChar char="-"/>
            </a:pPr>
            <a:r>
              <a:rPr lang="en-US" sz="1800" dirty="0" err="1">
                <a:solidFill>
                  <a:srgbClr val="000000"/>
                </a:solidFill>
                <a:effectLst/>
                <a:latin typeface="Times New Roman" panose="02020603050405020304" pitchFamily="18" charset="0"/>
                <a:ea typeface="Calibri" panose="020F0502020204030204" pitchFamily="34" charset="0"/>
              </a:rPr>
              <a:t>Tuân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thủ</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tuân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thủ</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ty bao </a:t>
            </a:r>
            <a:r>
              <a:rPr lang="en-US" sz="1800" dirty="0" err="1">
                <a:solidFill>
                  <a:srgbClr val="000000"/>
                </a:solidFill>
                <a:effectLst/>
                <a:latin typeface="Times New Roman" panose="02020603050405020304" pitchFamily="18" charset="0"/>
                <a:ea typeface="Calibri" panose="020F0502020204030204" pitchFamily="34" charset="0"/>
              </a:rPr>
              <a:t>gồm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giờ</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giấc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hợp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về</a:t>
            </a:r>
            <a:r>
              <a:rPr lang="en-US" sz="1800" dirty="0">
                <a:solidFill>
                  <a:srgbClr val="000000"/>
                </a:solidFill>
                <a:effectLst/>
                <a:latin typeface="Times New Roman" panose="02020603050405020304" pitchFamily="18" charset="0"/>
                <a:ea typeface="Calibri" panose="020F0502020204030204" pitchFamily="34" charset="0"/>
              </a:rPr>
              <a:t> workplace,…</a:t>
            </a:r>
          </a:p>
          <a:p>
            <a:pPr marL="0" marR="0" indent="274320" algn="just">
              <a:spcBef>
                <a:spcPts val="600"/>
              </a:spcBef>
              <a:spcAft>
                <a:spcPts val="0"/>
              </a:spcAft>
            </a:pPr>
            <a:r>
              <a:rPr lang="en-US" sz="1800" dirty="0">
                <a:effectLst/>
                <a:latin typeface="Times New Roman" panose="02020603050405020304" pitchFamily="18" charset="0"/>
                <a:ea typeface="Times New Roman" panose="02020603050405020304" pitchFamily="18" charset="0"/>
              </a:rPr>
              <a:t>================ </a:t>
            </a:r>
          </a:p>
          <a:p>
            <a:pPr marL="0" marR="0" indent="274320" algn="just">
              <a:spcBef>
                <a:spcPts val="60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800" dirty="0" err="1">
                <a:effectLst/>
                <a:latin typeface="Times New Roman" panose="02020603050405020304" pitchFamily="18" charset="0"/>
                <a:ea typeface="Times New Roman" panose="02020603050405020304" pitchFamily="18" charset="0"/>
              </a:rPr>
              <a:t>Tính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khoán</a:t>
            </a:r>
            <a:r>
              <a:rPr lang="en-US" sz="1800" dirty="0">
                <a:effectLst/>
                <a:latin typeface="Times New Roman" panose="02020603050405020304" pitchFamily="18" charset="0"/>
                <a:ea typeface="Times New Roman" panose="02020603050405020304" pitchFamily="18" charset="0"/>
              </a:rPr>
              <a:t> </a:t>
            </a:r>
          </a:p>
          <a:p>
            <a:pPr marL="0" marR="0" indent="274320" algn="just">
              <a:spcBef>
                <a:spcPts val="600"/>
              </a:spcBef>
              <a:spcAft>
                <a:spcPts val="0"/>
              </a:spcAft>
            </a:pPr>
            <a:r>
              <a:rPr lang="en-US" sz="1800" dirty="0">
                <a:solidFill>
                  <a:srgbClr val="000000"/>
                </a:solidFill>
                <a:effectLst/>
                <a:latin typeface="Times New Roman" panose="02020603050405020304" pitchFamily="18" charset="0"/>
                <a:ea typeface="Calibri" panose="020F0502020204030204" pitchFamily="34" charset="0"/>
              </a:rPr>
              <a:t>Theo </a:t>
            </a:r>
            <a:r>
              <a:rPr lang="en-US" sz="1800" dirty="0" err="1">
                <a:solidFill>
                  <a:srgbClr val="000000"/>
                </a:solidFill>
                <a:effectLst/>
                <a:latin typeface="Times New Roman" panose="02020603050405020304" pitchFamily="18" charset="0"/>
                <a:ea typeface="Calibri" panose="020F0502020204030204" pitchFamily="34" charset="0"/>
              </a:rPr>
              <a:t>như</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cũ</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mức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thưởng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cũ</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thì</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dựa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bao </a:t>
            </a:r>
            <a:r>
              <a:rPr lang="en-US" sz="1800" dirty="0" err="1">
                <a:solidFill>
                  <a:srgbClr val="000000"/>
                </a:solidFill>
                <a:effectLst/>
                <a:latin typeface="Times New Roman" panose="02020603050405020304" pitchFamily="18" charset="0"/>
                <a:ea typeface="Calibri" panose="020F0502020204030204" pitchFamily="34" charset="0"/>
              </a:rPr>
              <a:t>gồm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checkpoint </a:t>
            </a:r>
            <a:r>
              <a:rPr lang="en-US" sz="1800" dirty="0" err="1">
                <a:solidFill>
                  <a:srgbClr val="000000"/>
                </a:solidFill>
                <a:effectLst/>
                <a:latin typeface="Times New Roman" panose="02020603050405020304" pitchFamily="18" charset="0"/>
                <a:ea typeface="Calibri" panose="020F0502020204030204" pitchFamily="34" charset="0"/>
              </a:rPr>
              <a:t>cuối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năm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theo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đoạn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hoặc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theo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mức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thưởng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này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tổng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hợp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chi </a:t>
            </a:r>
            <a:r>
              <a:rPr lang="en-US" sz="1800" dirty="0" err="1">
                <a:solidFill>
                  <a:srgbClr val="000000"/>
                </a:solidFill>
                <a:effectLst/>
                <a:latin typeface="Times New Roman" panose="02020603050405020304" pitchFamily="18" charset="0"/>
                <a:ea typeface="Calibri" panose="020F0502020204030204" pitchFamily="34" charset="0"/>
              </a:rPr>
              <a:t>vào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cuối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năm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Đặc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điểm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này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thì</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kinh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doanh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gói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CBNV </a:t>
            </a:r>
            <a:r>
              <a:rPr lang="en-US" sz="1800" dirty="0" err="1">
                <a:solidFill>
                  <a:srgbClr val="000000"/>
                </a:solidFill>
                <a:effectLst/>
                <a:latin typeface="Times New Roman" panose="02020603050405020304" pitchFamily="18" charset="0"/>
                <a:ea typeface="Calibri" panose="020F0502020204030204" pitchFamily="34" charset="0"/>
              </a:rPr>
              <a:t>thường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mức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thưởng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thường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thêm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CBNV </a:t>
            </a:r>
            <a:r>
              <a:rPr lang="en-US" sz="1800" dirty="0" err="1">
                <a:solidFill>
                  <a:srgbClr val="000000"/>
                </a:solidFill>
                <a:effectLst/>
                <a:latin typeface="Times New Roman" panose="02020603050405020304" pitchFamily="18" charset="0"/>
                <a:ea typeface="Calibri" panose="020F0502020204030204" pitchFamily="34" charset="0"/>
              </a:rPr>
              <a:t>có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nhận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mềm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này</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không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phụ</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thuộc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rất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nhiều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trong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p>
          <a:p>
            <a:pPr marL="0" marR="0" indent="274320" algn="just">
              <a:spcBef>
                <a:spcPts val="60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800" dirty="0" err="1">
                <a:solidFill>
                  <a:srgbClr val="000000"/>
                </a:solidFill>
                <a:effectLst/>
                <a:latin typeface="Times New Roman" panose="02020603050405020304" pitchFamily="18" charset="0"/>
                <a:ea typeface="Times New Roman" panose="02020603050405020304" pitchFamily="18" charset="0"/>
              </a:rPr>
              <a:t>Lấy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dụ</a:t>
            </a:r>
            <a:r>
              <a:rPr lang="en-US" sz="1800" dirty="0">
                <a:solidFill>
                  <a:srgbClr val="000000"/>
                </a:solidFill>
                <a:effectLst/>
                <a:latin typeface="Times New Roman" panose="02020603050405020304" pitchFamily="18" charset="0"/>
                <a:ea typeface="Times New Roman" panose="02020603050405020304" pitchFamily="18" charset="0"/>
              </a:rPr>
              <a:t> </a:t>
            </a:r>
          </a:p>
          <a:p>
            <a:pPr marL="0" marR="0" indent="274320" algn="just">
              <a:spcBef>
                <a:spcPts val="60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800" b="1" dirty="0" err="1">
                <a:solidFill>
                  <a:srgbClr val="000000"/>
                </a:solidFill>
                <a:effectLst/>
                <a:latin typeface="Times New Roman" panose="02020603050405020304" pitchFamily="18" charset="0"/>
                <a:ea typeface="Calibri" panose="020F0502020204030204" pitchFamily="34" charset="0"/>
              </a:rPr>
              <a:t>Thực</a:t>
            </a:r>
            <a:r>
              <a:rPr lang="en-US" sz="1800" b="1" dirty="0">
                <a:solidFill>
                  <a:srgbClr val="000000"/>
                </a:solidFill>
                <a:effectLst/>
                <a:latin typeface="Times New Roman" panose="02020603050405020304" pitchFamily="18" charset="0"/>
                <a:ea typeface="Calibri" panose="020F0502020204030204" pitchFamily="34" charset="0"/>
              </a:rPr>
              <a:t> </a:t>
            </a:r>
            <a:r>
              <a:rPr lang="en-US" sz="1800" b="1" dirty="0" err="1">
                <a:solidFill>
                  <a:srgbClr val="000000"/>
                </a:solidFill>
                <a:effectLst/>
                <a:latin typeface="Times New Roman" panose="02020603050405020304" pitchFamily="18" charset="0"/>
                <a:ea typeface="Calibri" panose="020F0502020204030204" pitchFamily="34" charset="0"/>
              </a:rPr>
              <a:t>tế</a:t>
            </a:r>
            <a:r>
              <a:rPr lang="en-US" sz="1800" b="1" dirty="0">
                <a:solidFill>
                  <a:srgbClr val="000000"/>
                </a:solidFill>
                <a:effectLst/>
                <a:latin typeface="Times New Roman" panose="02020603050405020304" pitchFamily="18" charset="0"/>
                <a:ea typeface="Calibri" panose="020F0502020204030204" pitchFamily="34" charset="0"/>
              </a:rPr>
              <a:t> 2</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về</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theo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đoạn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sử</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quỹ</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400 </a:t>
            </a:r>
            <a:r>
              <a:rPr lang="en-US" sz="1800" dirty="0" err="1">
                <a:solidFill>
                  <a:srgbClr val="000000"/>
                </a:solidFill>
                <a:effectLst/>
                <a:latin typeface="Times New Roman" panose="02020603050405020304" pitchFamily="18" charset="0"/>
                <a:ea typeface="Calibri" panose="020F0502020204030204" pitchFamily="34" charset="0"/>
              </a:rPr>
              <a:t>triệu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mỗi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đoạn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100 </a:t>
            </a:r>
            <a:r>
              <a:rPr lang="en-US" sz="1800" dirty="0" err="1">
                <a:solidFill>
                  <a:srgbClr val="000000"/>
                </a:solidFill>
                <a:effectLst/>
                <a:latin typeface="Times New Roman" panose="02020603050405020304" pitchFamily="18" charset="0"/>
                <a:ea typeface="Calibri" panose="020F0502020204030204" pitchFamily="34" charset="0"/>
              </a:rPr>
              <a:t>triệu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sự</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hoặc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chậm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trễ</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thì</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tiền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nhận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100 </a:t>
            </a:r>
            <a:r>
              <a:rPr lang="en-US" sz="1800" dirty="0" err="1">
                <a:solidFill>
                  <a:srgbClr val="000000"/>
                </a:solidFill>
                <a:effectLst/>
                <a:latin typeface="Times New Roman" panose="02020603050405020304" pitchFamily="18" charset="0"/>
                <a:ea typeface="Calibri" panose="020F0502020204030204" pitchFamily="34" charset="0"/>
              </a:rPr>
              <a:t>triệu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phòng</a:t>
            </a:r>
            <a:r>
              <a:rPr lang="en-US" sz="1800" dirty="0">
                <a:solidFill>
                  <a:srgbClr val="000000"/>
                </a:solidFill>
                <a:effectLst/>
                <a:latin typeface="Times New Roman" panose="02020603050405020304" pitchFamily="18" charset="0"/>
                <a:ea typeface="Calibri" panose="020F0502020204030204" pitchFamily="34" charset="0"/>
              </a:rPr>
              <a:t> ban.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tế</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PrBBNKBIDV</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năm</a:t>
            </a:r>
            <a:r>
              <a:rPr lang="en-US" sz="1800" dirty="0">
                <a:solidFill>
                  <a:srgbClr val="000000"/>
                </a:solidFill>
                <a:effectLst/>
                <a:latin typeface="Times New Roman" panose="02020603050405020304" pitchFamily="18" charset="0"/>
                <a:ea typeface="Calibri" panose="020F0502020204030204" pitchFamily="34" charset="0"/>
              </a:rPr>
              <a:t> 2020 </a:t>
            </a:r>
            <a:r>
              <a:rPr lang="en-US" sz="1800" dirty="0" err="1">
                <a:solidFill>
                  <a:srgbClr val="000000"/>
                </a:solidFill>
                <a:effectLst/>
                <a:latin typeface="Times New Roman" panose="02020603050405020304" pitchFamily="18" charset="0"/>
                <a:ea typeface="Calibri" panose="020F0502020204030204" pitchFamily="34" charset="0"/>
              </a:rPr>
              <a:t>vừa</a:t>
            </a:r>
            <a:r>
              <a:rPr lang="en-US" sz="1800" dirty="0">
                <a:solidFill>
                  <a:srgbClr val="000000"/>
                </a:solidFill>
                <a:effectLst/>
                <a:latin typeface="Times New Roman" panose="02020603050405020304" pitchFamily="18" charset="0"/>
                <a:ea typeface="Calibri" panose="020F0502020204030204" pitchFamily="34" charset="0"/>
              </a:rPr>
              <a:t> qua, </a:t>
            </a:r>
            <a:r>
              <a:rPr lang="en-US" sz="1800" dirty="0" err="1">
                <a:solidFill>
                  <a:srgbClr val="000000"/>
                </a:solidFill>
                <a:effectLst/>
                <a:latin typeface="Times New Roman" panose="02020603050405020304" pitchFamily="18" charset="0"/>
                <a:ea typeface="Calibri" panose="020F0502020204030204" pitchFamily="34" charset="0"/>
              </a:rPr>
              <a:t>tình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hình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dịch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bệnh</a:t>
            </a:r>
            <a:r>
              <a:rPr lang="en-US" sz="1800" dirty="0">
                <a:solidFill>
                  <a:srgbClr val="000000"/>
                </a:solidFill>
                <a:effectLst/>
                <a:latin typeface="Times New Roman" panose="02020603050405020304" pitchFamily="18" charset="0"/>
                <a:ea typeface="Calibri" panose="020F0502020204030204" pitchFamily="34" charset="0"/>
              </a:rPr>
              <a:t> SARS-COVI 2 </a:t>
            </a:r>
            <a:r>
              <a:rPr lang="en-US" sz="1800" dirty="0" err="1">
                <a:solidFill>
                  <a:srgbClr val="000000"/>
                </a:solidFill>
                <a:effectLst/>
                <a:latin typeface="Times New Roman" panose="02020603050405020304" pitchFamily="18" charset="0"/>
                <a:ea typeface="Calibri" panose="020F0502020204030204" pitchFamily="34" charset="0"/>
              </a:rPr>
              <a:t>diễn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biến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phức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tạp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theo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hoạch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dự</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thì</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tháng</a:t>
            </a:r>
            <a:r>
              <a:rPr lang="en-US" sz="1800" dirty="0">
                <a:solidFill>
                  <a:srgbClr val="000000"/>
                </a:solidFill>
                <a:effectLst/>
                <a:latin typeface="Times New Roman" panose="02020603050405020304" pitchFamily="18" charset="0"/>
                <a:ea typeface="Calibri" panose="020F0502020204030204" pitchFamily="34" charset="0"/>
              </a:rPr>
              <a:t> 3/2020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giai</a:t>
            </a:r>
            <a:r>
              <a:rPr lang="en-US" sz="1800" dirty="0">
                <a:solidFill>
                  <a:srgbClr val="000000"/>
                </a:solidFill>
                <a:effectLst/>
                <a:latin typeface="Times New Roman" panose="02020603050405020304" pitchFamily="18" charset="0"/>
                <a:ea typeface="Calibri" panose="020F0502020204030204" pitchFamily="34" charset="0"/>
              </a:rPr>
              <a:t> GO-LIVE-2 </a:t>
            </a:r>
            <a:r>
              <a:rPr lang="en-US" sz="1800" dirty="0" err="1">
                <a:solidFill>
                  <a:srgbClr val="000000"/>
                </a:solidFill>
                <a:effectLst/>
                <a:latin typeface="Times New Roman" panose="02020603050405020304" pitchFamily="18" charset="0"/>
                <a:ea typeface="Calibri" panose="020F0502020204030204" pitchFamily="34" charset="0"/>
              </a:rPr>
              <a:t>hệ</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thống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khởi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tạo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vay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hệ</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thống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khởi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tạo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tài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đảm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bảo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tiền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nhận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đúng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hoạch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100 </a:t>
            </a:r>
            <a:r>
              <a:rPr lang="en-US" sz="1800" dirty="0" err="1">
                <a:solidFill>
                  <a:srgbClr val="000000"/>
                </a:solidFill>
                <a:effectLst/>
                <a:latin typeface="Times New Roman" panose="02020603050405020304" pitchFamily="18" charset="0"/>
                <a:ea typeface="Calibri" panose="020F0502020204030204" pitchFamily="34" charset="0"/>
              </a:rPr>
              <a:t>triệu</a:t>
            </a:r>
            <a:r>
              <a:rPr lang="en-US" sz="1800" dirty="0">
                <a:solidFill>
                  <a:srgbClr val="000000"/>
                </a:solidFill>
                <a:effectLst/>
                <a:latin typeface="Times New Roman" panose="02020603050405020304" pitchFamily="18" charset="0"/>
                <a:ea typeface="Calibri" panose="020F0502020204030204" pitchFamily="34" charset="0"/>
              </a:rPr>
              <a:t>. Do </a:t>
            </a:r>
            <a:r>
              <a:rPr lang="en-US" sz="1800" dirty="0" err="1">
                <a:solidFill>
                  <a:srgbClr val="000000"/>
                </a:solidFill>
                <a:effectLst/>
                <a:latin typeface="Times New Roman" panose="02020603050405020304" pitchFamily="18" charset="0"/>
                <a:ea typeface="Calibri" panose="020F0502020204030204" pitchFamily="34" charset="0"/>
              </a:rPr>
              <a:t>bị</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trượt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mốc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vì</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toàn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dự</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thể</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nhận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tiền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này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Đây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vấn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đề</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rất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nhiều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anh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chị</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em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trong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dự</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tâm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mong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muốn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khắc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phục</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4</a:t>
            </a:fld>
            <a:endParaRPr lang="en-US"/>
          </a:p>
        </p:txBody>
      </p:sp>
    </p:spTree>
    <p:extLst>
      <p:ext uri="{BB962C8B-B14F-4D97-AF65-F5344CB8AC3E}">
        <p14:creationId xmlns:p14="http://schemas.microsoft.com/office/powerpoint/2010/main" val="4279929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5</a:t>
            </a:fld>
            <a:endParaRPr lang="en-US"/>
          </a:p>
        </p:txBody>
      </p:sp>
    </p:spTree>
    <p:extLst>
      <p:ext uri="{BB962C8B-B14F-4D97-AF65-F5344CB8AC3E}">
        <p14:creationId xmlns:p14="http://schemas.microsoft.com/office/powerpoint/2010/main" val="3891752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endParaRPr lang="en-US" sz="1200" b="1" dirty="0">
              <a:latin typeface="Verdana" panose="020B0604030504040204" pitchFamily="34" charset="0"/>
              <a:ea typeface="Verdan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6</a:t>
            </a:fld>
            <a:endParaRPr lang="en-US"/>
          </a:p>
        </p:txBody>
      </p:sp>
    </p:spTree>
    <p:extLst>
      <p:ext uri="{BB962C8B-B14F-4D97-AF65-F5344CB8AC3E}">
        <p14:creationId xmlns:p14="http://schemas.microsoft.com/office/powerpoint/2010/main" val="3694058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7</a:t>
            </a:fld>
            <a:endParaRPr lang="en-US"/>
          </a:p>
        </p:txBody>
      </p:sp>
    </p:spTree>
    <p:extLst>
      <p:ext uri="{BB962C8B-B14F-4D97-AF65-F5344CB8AC3E}">
        <p14:creationId xmlns:p14="http://schemas.microsoft.com/office/powerpoint/2010/main" val="2970417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8</a:t>
            </a:fld>
            <a:endParaRPr lang="en-US"/>
          </a:p>
        </p:txBody>
      </p:sp>
    </p:spTree>
    <p:extLst>
      <p:ext uri="{BB962C8B-B14F-4D97-AF65-F5344CB8AC3E}">
        <p14:creationId xmlns:p14="http://schemas.microsoft.com/office/powerpoint/2010/main" val="1729916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9</a:t>
            </a:fld>
            <a:endParaRPr lang="en-US"/>
          </a:p>
        </p:txBody>
      </p:sp>
    </p:spTree>
    <p:extLst>
      <p:ext uri="{BB962C8B-B14F-4D97-AF65-F5344CB8AC3E}">
        <p14:creationId xmlns:p14="http://schemas.microsoft.com/office/powerpoint/2010/main" val="3759365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10</a:t>
            </a:fld>
            <a:endParaRPr lang="en-US"/>
          </a:p>
        </p:txBody>
      </p:sp>
    </p:spTree>
    <p:extLst>
      <p:ext uri="{BB962C8B-B14F-4D97-AF65-F5344CB8AC3E}">
        <p14:creationId xmlns:p14="http://schemas.microsoft.com/office/powerpoint/2010/main" val="20387334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0FC6D13-8211-4DDF-BE70-3D3E9CC80A4C}" type="datetimeFigureOut">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
        <p:nvSpPr>
          <p:cNvPr id="16" name="Rectangle 15"/>
          <p:cNvSpPr>
            <a:spLocks noChangeArrowheads="1"/>
          </p:cNvSpPr>
          <p:nvPr userDrawn="1"/>
        </p:nvSpPr>
        <p:spPr bwMode="white">
          <a:xfrm>
            <a:off x="9524" y="4649787"/>
            <a:ext cx="12182475" cy="2219325"/>
          </a:xfrm>
          <a:prstGeom prst="rect">
            <a:avLst/>
          </a:prstGeom>
          <a:solidFill>
            <a:schemeClr val="bg1">
              <a:lumMod val="75000"/>
              <a:alpha val="3098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7" name="AutoShape 21"/>
          <p:cNvSpPr>
            <a:spLocks noChangeArrowheads="1"/>
          </p:cNvSpPr>
          <p:nvPr userDrawn="1"/>
        </p:nvSpPr>
        <p:spPr bwMode="gray">
          <a:xfrm>
            <a:off x="10844276" y="5953124"/>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8" name="AutoShape 22"/>
          <p:cNvSpPr>
            <a:spLocks noChangeArrowheads="1"/>
          </p:cNvSpPr>
          <p:nvPr userDrawn="1"/>
        </p:nvSpPr>
        <p:spPr bwMode="gray">
          <a:xfrm>
            <a:off x="11353800" y="5609968"/>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9" name="AutoShape 23"/>
          <p:cNvSpPr>
            <a:spLocks noChangeArrowheads="1"/>
          </p:cNvSpPr>
          <p:nvPr userDrawn="1"/>
        </p:nvSpPr>
        <p:spPr bwMode="gray">
          <a:xfrm>
            <a:off x="11377675" y="6272212"/>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4" name="Rectangle 23"/>
          <p:cNvSpPr>
            <a:spLocks noChangeArrowheads="1"/>
          </p:cNvSpPr>
          <p:nvPr userDrawn="1"/>
        </p:nvSpPr>
        <p:spPr bwMode="gray">
          <a:xfrm>
            <a:off x="11182476" y="-112756"/>
            <a:ext cx="1009524" cy="6970756"/>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5" name="Rectangle 24"/>
          <p:cNvSpPr>
            <a:spLocks noChangeArrowheads="1"/>
          </p:cNvSpPr>
          <p:nvPr userDrawn="1"/>
        </p:nvSpPr>
        <p:spPr bwMode="gray">
          <a:xfrm>
            <a:off x="-1" y="1736727"/>
            <a:ext cx="12191999" cy="2911474"/>
          </a:xfrm>
          <a:prstGeom prst="rect">
            <a:avLst/>
          </a:prstGeom>
          <a:solidFill>
            <a:srgbClr val="002060"/>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6" name="Freeform 20"/>
          <p:cNvSpPr>
            <a:spLocks/>
          </p:cNvSpPr>
          <p:nvPr userDrawn="1"/>
        </p:nvSpPr>
        <p:spPr bwMode="gray">
          <a:xfrm>
            <a:off x="-9525" y="1735141"/>
            <a:ext cx="11182476" cy="2674934"/>
          </a:xfrm>
          <a:custGeom>
            <a:avLst/>
            <a:gdLst>
              <a:gd name="T0" fmla="*/ 0 w 5049"/>
              <a:gd name="T1" fmla="*/ 0 h 1471"/>
              <a:gd name="T2" fmla="*/ 2147483646 w 5049"/>
              <a:gd name="T3" fmla="*/ 2147483646 h 1471"/>
              <a:gd name="T4" fmla="*/ 2147483646 w 5049"/>
              <a:gd name="T5" fmla="*/ 2147483646 h 1471"/>
              <a:gd name="T6" fmla="*/ 0 w 5049"/>
              <a:gd name="T7" fmla="*/ 2147483646 h 1471"/>
              <a:gd name="T8" fmla="*/ 0 w 5049"/>
              <a:gd name="T9" fmla="*/ 0 h 14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49" h="1471">
                <a:moveTo>
                  <a:pt x="0" y="0"/>
                </a:moveTo>
                <a:lnTo>
                  <a:pt x="5049" y="2"/>
                </a:lnTo>
                <a:lnTo>
                  <a:pt x="5048" y="1458"/>
                </a:lnTo>
                <a:lnTo>
                  <a:pt x="0" y="1471"/>
                </a:lnTo>
                <a:lnTo>
                  <a:pt x="0" y="0"/>
                </a:lnTo>
                <a:close/>
              </a:path>
            </a:pathLst>
          </a:custGeom>
          <a:solidFill>
            <a:schemeClr val="accent1">
              <a:lumMod val="60000"/>
              <a:lumOff val="40000"/>
              <a:alpha val="72940"/>
            </a:schemeClr>
          </a:solidFill>
          <a:ln>
            <a:noFill/>
          </a:ln>
          <a:effectLst/>
        </p:spPr>
        <p:txBody>
          <a:bodyPr/>
          <a:lstStyle/>
          <a:p>
            <a:endParaRPr lang="en-US"/>
          </a:p>
        </p:txBody>
      </p:sp>
      <p:grpSp>
        <p:nvGrpSpPr>
          <p:cNvPr id="27" name="Group 116"/>
          <p:cNvGrpSpPr>
            <a:grpSpLocks/>
          </p:cNvGrpSpPr>
          <p:nvPr userDrawn="1"/>
        </p:nvGrpSpPr>
        <p:grpSpPr bwMode="auto">
          <a:xfrm>
            <a:off x="157548" y="1912208"/>
            <a:ext cx="3276600" cy="3314700"/>
            <a:chOff x="120" y="1464"/>
            <a:chExt cx="2064" cy="2088"/>
          </a:xfrm>
        </p:grpSpPr>
        <p:sp>
          <p:nvSpPr>
            <p:cNvPr id="28"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2"/>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sp>
          <p:nvSpPr>
            <p:cNvPr id="29"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3"/>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sp>
          <p:nvSpPr>
            <p:cNvPr id="30"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4"/>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grpSp>
      <p:pic>
        <p:nvPicPr>
          <p:cNvPr id="20" name="Picture 19">
            <a:extLst>
              <a:ext uri="{FF2B5EF4-FFF2-40B4-BE49-F238E27FC236}">
                <a16:creationId xmlns:a16="http://schemas.microsoft.com/office/drawing/2014/main" id="{FA583ACA-C03D-43D9-B8AA-CDB37DD82A8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11616" y="-1768678"/>
            <a:ext cx="6491020" cy="4510550"/>
          </a:xfrm>
          <a:prstGeom prst="rect">
            <a:avLst/>
          </a:prstGeom>
        </p:spPr>
      </p:pic>
    </p:spTree>
    <p:extLst>
      <p:ext uri="{BB962C8B-B14F-4D97-AF65-F5344CB8AC3E}">
        <p14:creationId xmlns:p14="http://schemas.microsoft.com/office/powerpoint/2010/main" val="179000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
        <p:nvSpPr>
          <p:cNvPr id="8" name="Rectangle 7"/>
          <p:cNvSpPr/>
          <p:nvPr userDrawn="1"/>
        </p:nvSpPr>
        <p:spPr>
          <a:xfrm>
            <a:off x="0" y="271849"/>
            <a:ext cx="12192000" cy="617838"/>
          </a:xfrm>
          <a:prstGeom prst="rect">
            <a:avLst/>
          </a:prstGeom>
          <a:solidFill>
            <a:schemeClr val="accent1">
              <a:lumMod val="75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utoShape 21"/>
          <p:cNvSpPr>
            <a:spLocks noChangeArrowheads="1"/>
          </p:cNvSpPr>
          <p:nvPr userDrawn="1"/>
        </p:nvSpPr>
        <p:spPr bwMode="gray">
          <a:xfrm>
            <a:off x="11353800" y="5618249"/>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4" name="AutoShape 21"/>
          <p:cNvSpPr>
            <a:spLocks noChangeArrowheads="1"/>
          </p:cNvSpPr>
          <p:nvPr userDrawn="1"/>
        </p:nvSpPr>
        <p:spPr bwMode="gray">
          <a:xfrm>
            <a:off x="10877550" y="5920367"/>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5" name="AutoShape 21"/>
          <p:cNvSpPr>
            <a:spLocks noChangeArrowheads="1"/>
          </p:cNvSpPr>
          <p:nvPr userDrawn="1"/>
        </p:nvSpPr>
        <p:spPr bwMode="gray">
          <a:xfrm>
            <a:off x="11365127" y="6188075"/>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7" name="Rectangle 16"/>
          <p:cNvSpPr>
            <a:spLocks noChangeArrowheads="1"/>
          </p:cNvSpPr>
          <p:nvPr userDrawn="1"/>
        </p:nvSpPr>
        <p:spPr bwMode="gray">
          <a:xfrm>
            <a:off x="11182476" y="0"/>
            <a:ext cx="1009524" cy="6858000"/>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9" name="AutoShape 21"/>
          <p:cNvSpPr>
            <a:spLocks noChangeArrowheads="1"/>
          </p:cNvSpPr>
          <p:nvPr userDrawn="1"/>
        </p:nvSpPr>
        <p:spPr bwMode="gray">
          <a:xfrm>
            <a:off x="147655" y="386551"/>
            <a:ext cx="609600" cy="533400"/>
          </a:xfrm>
          <a:prstGeom prst="hexagon">
            <a:avLst>
              <a:gd name="adj" fmla="val 28571"/>
              <a:gd name="vf" fmla="val 115470"/>
            </a:avLst>
          </a:prstGeom>
          <a:solidFill>
            <a:srgbClr val="0070C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6" name="AutoShape 21"/>
          <p:cNvSpPr>
            <a:spLocks noChangeArrowheads="1"/>
          </p:cNvSpPr>
          <p:nvPr userDrawn="1"/>
        </p:nvSpPr>
        <p:spPr bwMode="gray">
          <a:xfrm>
            <a:off x="604918" y="660382"/>
            <a:ext cx="609600" cy="533400"/>
          </a:xfrm>
          <a:prstGeom prst="hexagon">
            <a:avLst>
              <a:gd name="adj" fmla="val 28571"/>
              <a:gd name="vf" fmla="val 115470"/>
            </a:avLst>
          </a:prstGeom>
          <a:solidFill>
            <a:srgbClr val="FF990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0" name="AutoShape 21"/>
          <p:cNvSpPr>
            <a:spLocks noChangeArrowheads="1"/>
          </p:cNvSpPr>
          <p:nvPr userDrawn="1"/>
        </p:nvSpPr>
        <p:spPr bwMode="gray">
          <a:xfrm>
            <a:off x="604918" y="118713"/>
            <a:ext cx="609600" cy="533400"/>
          </a:xfrm>
          <a:prstGeom prst="hexagon">
            <a:avLst>
              <a:gd name="adj" fmla="val 28571"/>
              <a:gd name="vf" fmla="val 115470"/>
            </a:avLst>
          </a:prstGeom>
          <a:solidFill>
            <a:srgbClr val="00B05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pic>
        <p:nvPicPr>
          <p:cNvPr id="21" name="Picture 20"/>
          <p:cNvPicPr>
            <a:picLocks noChangeAspect="1"/>
          </p:cNvPicPr>
          <p:nvPr userDrawn="1"/>
        </p:nvPicPr>
        <p:blipFill>
          <a:blip r:embed="rId2"/>
          <a:stretch>
            <a:fillRect/>
          </a:stretch>
        </p:blipFill>
        <p:spPr>
          <a:xfrm>
            <a:off x="11182476" y="271849"/>
            <a:ext cx="1021345" cy="617838"/>
          </a:xfrm>
          <a:prstGeom prst="rect">
            <a:avLst/>
          </a:prstGeom>
        </p:spPr>
      </p:pic>
    </p:spTree>
    <p:extLst>
      <p:ext uri="{BB962C8B-B14F-4D97-AF65-F5344CB8AC3E}">
        <p14:creationId xmlns:p14="http://schemas.microsoft.com/office/powerpoint/2010/main" val="717664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0FC6D13-8211-4DDF-BE70-3D3E9CC80A4C}" type="datetimeFigureOut">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972556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0FC6D13-8211-4DDF-BE70-3D3E9CC80A4C}" type="datetimeFigureOut">
              <a:rPr lang="en-US" smtClean="0"/>
              <a:t>3/30/2021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2895638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0FC6D13-8211-4DDF-BE70-3D3E9CC80A4C}" type="datetimeFigureOut">
              <a:rPr lang="en-US" smtClean="0"/>
              <a:t>3/30/2021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3336289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FC6D13-8211-4DDF-BE70-3D3E9CC80A4C}" type="datetimeFigureOut">
              <a:rPr lang="en-US" smtClean="0"/>
              <a:t>3/30/2021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608057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FC6D13-8211-4DDF-BE70-3D3E9CC80A4C}" type="datetimeFigureOut">
              <a:rPr lang="en-US" smtClean="0"/>
              <a:t>3/30/2021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78953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FC6D13-8211-4DDF-BE70-3D3E9CC80A4C}" type="datetimeFigureOut">
              <a:rPr lang="en-US" smtClean="0"/>
              <a:t>3/30/2021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309206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FC6D13-8211-4DDF-BE70-3D3E9CC80A4C}" type="datetimeFigureOut">
              <a:rPr lang="en-US" smtClean="0"/>
              <a:t>3/30/2021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688216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2259557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3734093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FC6D13-8211-4DDF-BE70-3D3E9CC80A4C}" type="datetimeFigureOut">
              <a:rPr lang="en-US" smtClean="0"/>
              <a:t>3/30/2021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3F326D-EC31-433E-A15A-5F39DE1CDC9D}" type="slidenum">
              <a:rPr lang="en-US" smtClean="0"/>
              <a:t>‹#›</a:t>
            </a:fld>
            <a:endParaRPr lang="en-US"/>
          </a:p>
        </p:txBody>
      </p:sp>
    </p:spTree>
    <p:extLst>
      <p:ext uri="{BB962C8B-B14F-4D97-AF65-F5344CB8AC3E}">
        <p14:creationId xmlns:p14="http://schemas.microsoft.com/office/powerpoint/2010/main" val="2194183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094509" y="900545"/>
            <a:ext cx="10155382" cy="586047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vi-VN" sz="2800" b="1" dirty="0">
                <a:latin typeface="+mn-lt"/>
                <a:ea typeface="Verdana" panose="020B0604030504040204" pitchFamily="34" charset="0"/>
              </a:rPr>
              <a:t>LUẬN VĂN THẠC SỸ</a:t>
            </a:r>
          </a:p>
          <a:p>
            <a:pPr algn="ctr">
              <a:lnSpc>
                <a:spcPct val="150000"/>
              </a:lnSpc>
            </a:pPr>
            <a:r>
              <a:rPr lang="vi-VN" sz="2100" b="1" dirty="0">
                <a:latin typeface="+mn-lt"/>
                <a:ea typeface="Verdana" panose="020B0604030504040204" pitchFamily="34" charset="0"/>
              </a:rPr>
              <a:t>Ngành: Công nghệ thông tin</a:t>
            </a:r>
          </a:p>
          <a:p>
            <a:pPr algn="ctr">
              <a:lnSpc>
                <a:spcPct val="150000"/>
              </a:lnSpc>
            </a:pPr>
            <a:endParaRPr lang="vi-VN" sz="2800" b="1" dirty="0">
              <a:latin typeface="+mn-lt"/>
              <a:ea typeface="Verdana" panose="020B0604030504040204" pitchFamily="34" charset="0"/>
            </a:endParaRPr>
          </a:p>
          <a:p>
            <a:pPr algn="ctr">
              <a:lnSpc>
                <a:spcPct val="150000"/>
              </a:lnSpc>
            </a:pPr>
            <a:r>
              <a:rPr lang="vi-VN" sz="1800" b="1" dirty="0">
                <a:latin typeface="+mn-lt"/>
                <a:ea typeface="Verdana" panose="020B0604030504040204" pitchFamily="34" charset="0"/>
              </a:rPr>
              <a:t>ĐỀ TÀI</a:t>
            </a:r>
          </a:p>
          <a:p>
            <a:pPr algn="ctr">
              <a:lnSpc>
                <a:spcPct val="150000"/>
              </a:lnSpc>
            </a:pPr>
            <a:r>
              <a:rPr lang="en-US" sz="1800" b="1" dirty="0" err="1">
                <a:latin typeface="+mn-lt"/>
                <a:ea typeface="Verdana" panose="020B0604030504040204" pitchFamily="34" charset="0"/>
              </a:rPr>
              <a:t>Hệ</a:t>
            </a:r>
            <a:r>
              <a:rPr lang="en-US" sz="1800" b="1" dirty="0">
                <a:latin typeface="+mn-lt"/>
                <a:ea typeface="Verdana" panose="020B0604030504040204" pitchFamily="34" charset="0"/>
              </a:rPr>
              <a:t> </a:t>
            </a:r>
            <a:r>
              <a:rPr lang="en-US" sz="1800" b="1" dirty="0" err="1">
                <a:latin typeface="+mn-lt"/>
                <a:ea typeface="Verdana" panose="020B0604030504040204" pitchFamily="34" charset="0"/>
              </a:rPr>
              <a:t>thống</a:t>
            </a:r>
            <a:r>
              <a:rPr lang="en-US" sz="1800" b="1" dirty="0">
                <a:latin typeface="+mn-lt"/>
                <a:ea typeface="Verdana" panose="020B0604030504040204" pitchFamily="34" charset="0"/>
              </a:rPr>
              <a:t> </a:t>
            </a:r>
            <a:r>
              <a:rPr lang="en-US" sz="1800" b="1" dirty="0" err="1">
                <a:latin typeface="+mn-lt"/>
                <a:ea typeface="Verdana" panose="020B0604030504040204" pitchFamily="34" charset="0"/>
              </a:rPr>
              <a:t>quản</a:t>
            </a:r>
            <a:r>
              <a:rPr lang="en-US" sz="1800" b="1" dirty="0">
                <a:latin typeface="+mn-lt"/>
                <a:ea typeface="Verdana" panose="020B0604030504040204" pitchFamily="34" charset="0"/>
              </a:rPr>
              <a:t> </a:t>
            </a:r>
            <a:r>
              <a:rPr lang="en-US" sz="1800" b="1" dirty="0" err="1">
                <a:latin typeface="+mn-lt"/>
                <a:ea typeface="Verdana" panose="020B0604030504040204" pitchFamily="34" charset="0"/>
              </a:rPr>
              <a:t>lý</a:t>
            </a:r>
            <a:r>
              <a:rPr lang="en-US" sz="1800" b="1" dirty="0">
                <a:latin typeface="+mn-lt"/>
                <a:ea typeface="Verdana" panose="020B0604030504040204" pitchFamily="34" charset="0"/>
              </a:rPr>
              <a:t> </a:t>
            </a:r>
            <a:r>
              <a:rPr lang="en-US" sz="1800" b="1" dirty="0" err="1">
                <a:latin typeface="+mn-lt"/>
                <a:ea typeface="Verdana" panose="020B0604030504040204" pitchFamily="34" charset="0"/>
              </a:rPr>
              <a:t>công</a:t>
            </a:r>
            <a:r>
              <a:rPr lang="en-US" sz="1800" b="1" dirty="0">
                <a:latin typeface="+mn-lt"/>
                <a:ea typeface="Verdana" panose="020B0604030504040204" pitchFamily="34" charset="0"/>
              </a:rPr>
              <a:t> </a:t>
            </a:r>
            <a:r>
              <a:rPr lang="en-US" sz="1800" b="1" dirty="0" err="1">
                <a:latin typeface="+mn-lt"/>
                <a:ea typeface="Verdana" panose="020B0604030504040204" pitchFamily="34" charset="0"/>
              </a:rPr>
              <a:t>việc</a:t>
            </a:r>
            <a:r>
              <a:rPr lang="en-US" sz="1800" b="1" dirty="0">
                <a:latin typeface="+mn-lt"/>
                <a:ea typeface="Verdana" panose="020B0604030504040204" pitchFamily="34" charset="0"/>
              </a:rPr>
              <a:t> </a:t>
            </a:r>
            <a:r>
              <a:rPr lang="en-US" sz="1800" b="1" dirty="0" err="1">
                <a:latin typeface="+mn-lt"/>
                <a:ea typeface="Verdana" panose="020B0604030504040204" pitchFamily="34" charset="0"/>
              </a:rPr>
              <a:t>và</a:t>
            </a:r>
            <a:r>
              <a:rPr lang="en-US" sz="1800" b="1" dirty="0">
                <a:latin typeface="+mn-lt"/>
                <a:ea typeface="Verdana" panose="020B0604030504040204" pitchFamily="34" charset="0"/>
              </a:rPr>
              <a:t> </a:t>
            </a:r>
            <a:r>
              <a:rPr lang="en-US" sz="1800" b="1" dirty="0" err="1">
                <a:latin typeface="+mn-lt"/>
                <a:ea typeface="Verdana" panose="020B0604030504040204" pitchFamily="34" charset="0"/>
              </a:rPr>
              <a:t>đánh</a:t>
            </a:r>
            <a:r>
              <a:rPr lang="en-US" sz="1800" b="1" dirty="0">
                <a:latin typeface="+mn-lt"/>
                <a:ea typeface="Verdana" panose="020B0604030504040204" pitchFamily="34" charset="0"/>
              </a:rPr>
              <a:t> </a:t>
            </a:r>
            <a:r>
              <a:rPr lang="en-US" sz="1800" b="1" dirty="0" err="1">
                <a:latin typeface="+mn-lt"/>
                <a:ea typeface="Verdana" panose="020B0604030504040204" pitchFamily="34" charset="0"/>
              </a:rPr>
              <a:t>giá</a:t>
            </a:r>
            <a:r>
              <a:rPr lang="en-US" sz="1800" b="1" dirty="0">
                <a:latin typeface="+mn-lt"/>
                <a:ea typeface="Verdana" panose="020B0604030504040204" pitchFamily="34" charset="0"/>
              </a:rPr>
              <a:t> KPI</a:t>
            </a: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en-US" sz="1800" b="1" dirty="0">
              <a:latin typeface="Verdana" panose="020B0604030504040204" pitchFamily="34" charset="0"/>
              <a:ea typeface="Verdana" panose="020B0604030504040204" pitchFamily="34" charset="0"/>
            </a:endParaRPr>
          </a:p>
        </p:txBody>
      </p:sp>
      <p:graphicFrame>
        <p:nvGraphicFramePr>
          <p:cNvPr id="5" name="Table 5">
            <a:extLst>
              <a:ext uri="{FF2B5EF4-FFF2-40B4-BE49-F238E27FC236}">
                <a16:creationId xmlns:a16="http://schemas.microsoft.com/office/drawing/2014/main" id="{992690CE-C451-427E-8209-3AB9576BC69E}"/>
              </a:ext>
            </a:extLst>
          </p:cNvPr>
          <p:cNvGraphicFramePr>
            <a:graphicFrameLocks noGrp="1"/>
          </p:cNvGraphicFramePr>
          <p:nvPr>
            <p:extLst>
              <p:ext uri="{D42A27DB-BD31-4B8C-83A1-F6EECF244321}">
                <p14:modId xmlns:p14="http://schemas.microsoft.com/office/powerpoint/2010/main" val="1257042288"/>
              </p:ext>
            </p:extLst>
          </p:nvPr>
        </p:nvGraphicFramePr>
        <p:xfrm>
          <a:off x="5708073" y="4938684"/>
          <a:ext cx="5140036" cy="1483360"/>
        </p:xfrm>
        <a:graphic>
          <a:graphicData uri="http://schemas.openxmlformats.org/drawingml/2006/table">
            <a:tbl>
              <a:tblPr firstRow="1" bandRow="1">
                <a:tableStyleId>{5C22544A-7EE6-4342-B048-85BDC9FD1C3A}</a:tableStyleId>
              </a:tblPr>
              <a:tblGrid>
                <a:gridCol w="2327563">
                  <a:extLst>
                    <a:ext uri="{9D8B030D-6E8A-4147-A177-3AD203B41FA5}">
                      <a16:colId xmlns:a16="http://schemas.microsoft.com/office/drawing/2014/main" val="657563812"/>
                    </a:ext>
                  </a:extLst>
                </a:gridCol>
                <a:gridCol w="2812473">
                  <a:extLst>
                    <a:ext uri="{9D8B030D-6E8A-4147-A177-3AD203B41FA5}">
                      <a16:colId xmlns:a16="http://schemas.microsoft.com/office/drawing/2014/main" val="1945289148"/>
                    </a:ext>
                  </a:extLst>
                </a:gridCol>
              </a:tblGrid>
              <a:tr h="370840">
                <a:tc>
                  <a:txBody>
                    <a:bodyPr/>
                    <a:lstStyle/>
                    <a:p>
                      <a:r>
                        <a:rPr lang="vi-VN" sz="1500" dirty="0">
                          <a:solidFill>
                            <a:schemeClr val="tx1"/>
                          </a:solidFill>
                          <a:latin typeface="+mn-lt"/>
                        </a:rPr>
                        <a:t>Giảng viên hướng dẫn</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TS. Vũ Thị Hương Giang</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825393035"/>
                  </a:ext>
                </a:extLst>
              </a:tr>
              <a:tr h="370840">
                <a:tc>
                  <a:txBody>
                    <a:bodyPr/>
                    <a:lstStyle/>
                    <a:p>
                      <a:r>
                        <a:rPr lang="vi-VN" sz="1500" b="1" dirty="0">
                          <a:solidFill>
                            <a:schemeClr val="tx1"/>
                          </a:solidFill>
                          <a:latin typeface="+mn-lt"/>
                          <a:ea typeface="Verdana" panose="020B0604030504040204" pitchFamily="34" charset="0"/>
                        </a:rPr>
                        <a:t>Thực hiện</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Nguyễn Công Sơn</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1290297034"/>
                  </a:ext>
                </a:extLst>
              </a:tr>
              <a:tr h="370840">
                <a:tc>
                  <a:txBody>
                    <a:bodyPr/>
                    <a:lstStyle/>
                    <a:p>
                      <a:r>
                        <a:rPr lang="vi-VN" sz="1500" b="1" dirty="0">
                          <a:solidFill>
                            <a:schemeClr val="tx1"/>
                          </a:solidFill>
                          <a:latin typeface="+mn-lt"/>
                          <a:ea typeface="Verdana" panose="020B0604030504040204" pitchFamily="34" charset="0"/>
                        </a:rPr>
                        <a:t>Lớp</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19AMMT</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1934773621"/>
                  </a:ext>
                </a:extLst>
              </a:tr>
              <a:tr h="370840">
                <a:tc>
                  <a:txBody>
                    <a:bodyPr/>
                    <a:lstStyle/>
                    <a:p>
                      <a:r>
                        <a:rPr lang="vi-VN" sz="1500" b="1" dirty="0">
                          <a:solidFill>
                            <a:schemeClr val="tx1"/>
                          </a:solidFill>
                          <a:latin typeface="+mn-lt"/>
                          <a:ea typeface="Verdana" panose="020B0604030504040204" pitchFamily="34" charset="0"/>
                        </a:rPr>
                        <a:t>Khóa</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2019A</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4246440069"/>
                  </a:ext>
                </a:extLst>
              </a:tr>
            </a:tbl>
          </a:graphicData>
        </a:graphic>
      </p:graphicFrame>
    </p:spTree>
    <p:extLst>
      <p:ext uri="{BB962C8B-B14F-4D97-AF65-F5344CB8AC3E}">
        <p14:creationId xmlns:p14="http://schemas.microsoft.com/office/powerpoint/2010/main" val="620783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MỤC LỤC</a:t>
            </a:r>
          </a:p>
        </p:txBody>
      </p:sp>
      <p:sp>
        <p:nvSpPr>
          <p:cNvPr id="19" name="Title 1">
            <a:extLst>
              <a:ext uri="{FF2B5EF4-FFF2-40B4-BE49-F238E27FC236}">
                <a16:creationId xmlns:a16="http://schemas.microsoft.com/office/drawing/2014/main" id="{E5883B25-2CEF-4F89-91E7-0A41E3647E40}"/>
              </a:ext>
            </a:extLst>
          </p:cNvPr>
          <p:cNvSpPr txBox="1">
            <a:spLocks/>
          </p:cNvSpPr>
          <p:nvPr/>
        </p:nvSpPr>
        <p:spPr>
          <a:xfrm>
            <a:off x="1094509" y="1136073"/>
            <a:ext cx="10307782"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Nhu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cầu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cấp</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thiết</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Hiện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trạng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tại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PrBBNKBIDV</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Mục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tiêu</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Định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hướng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giải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pháp</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Đóng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góp</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phát</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triển</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vi-VN" sz="1800" b="1" dirty="0">
                <a:latin typeface="Verdana" panose="020B0604030504040204" pitchFamily="34" charset="0"/>
                <a:ea typeface="Verdana" panose="020B0604030504040204" pitchFamily="34" charset="0"/>
              </a:rPr>
              <a:t>Tài liệu tham khảo</a:t>
            </a:r>
          </a:p>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12032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892552"/>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1. </a:t>
            </a:r>
            <a:r>
              <a:rPr lang="en-US" sz="2600" b="1" dirty="0" err="1">
                <a:solidFill>
                  <a:schemeClr val="bg1"/>
                </a:solidFill>
                <a:latin typeface="Verdana" panose="020B0604030504040204" pitchFamily="34" charset="0"/>
                <a:ea typeface="Verdana" panose="020B0604030504040204" pitchFamily="34" charset="0"/>
              </a:rPr>
              <a:t>Nhu</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cầu</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và</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tính</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cấp</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thiết</a:t>
            </a:r>
            <a:endParaRPr lang="en-US" sz="2600" b="1" dirty="0">
              <a:solidFill>
                <a:schemeClr val="bg1"/>
              </a:solidFill>
              <a:latin typeface="Verdana" panose="020B0604030504040204" pitchFamily="34" charset="0"/>
              <a:ea typeface="Verdana" panose="020B0604030504040204" pitchFamily="34" charset="0"/>
            </a:endParaRPr>
          </a:p>
          <a:p>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trong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ngoài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chỉ</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trong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phòng</a:t>
            </a:r>
            <a:r>
              <a:rPr lang="en-US" sz="1800" dirty="0">
                <a:latin typeface="Verdana" panose="020B0604030504040204" pitchFamily="34" charset="0"/>
                <a:ea typeface="Verdana" panose="020B0604030504040204" pitchFamily="34" charset="0"/>
              </a:rPr>
              <a:t> ban</a:t>
            </a: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một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cách</a:t>
            </a:r>
            <a:r>
              <a:rPr lang="en-US" sz="1800" dirty="0">
                <a:latin typeface="Verdana" panose="020B0604030504040204" pitchFamily="34" charset="0"/>
                <a:ea typeface="Verdana" panose="020B0604030504040204" pitchFamily="34" charset="0"/>
              </a:rPr>
              <a:t> chi </a:t>
            </a:r>
            <a:r>
              <a:rPr lang="en-US" sz="1800" dirty="0" err="1">
                <a:latin typeface="Verdana" panose="020B0604030504040204" pitchFamily="34" charset="0"/>
                <a:ea typeface="Verdana" panose="020B0604030504040204" pitchFamily="34" charset="0"/>
              </a:rPr>
              <a:t>tiết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bằng</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Sử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làm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sở</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xếp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loại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a:latin typeface="Verdana" panose="020B0604030504040204" pitchFamily="34" charset="0"/>
                <a:ea typeface="Verdana" panose="020B0604030504040204" pitchFamily="34" charset="0"/>
              </a:rPr>
              <a:t>Thu </a:t>
            </a:r>
            <a:r>
              <a:rPr lang="en-US" sz="1800" dirty="0" err="1">
                <a:latin typeface="Verdana" panose="020B0604030504040204" pitchFamily="34" charset="0"/>
                <a:ea typeface="Verdana" panose="020B0604030504040204" pitchFamily="34" charset="0"/>
              </a:rPr>
              <a:t>thập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dữ</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từ</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nguồn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dữ</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sẵn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có</a:t>
            </a:r>
            <a:endParaRPr lang="en-US" sz="1800" dirty="0">
              <a:latin typeface="Verdana" panose="020B0604030504040204" pitchFamily="34" charset="0"/>
              <a:ea typeface="Verdana" panose="020B0604030504040204" pitchFamily="34" charset="0"/>
            </a:endParaRPr>
          </a:p>
          <a:p>
            <a:pPr>
              <a:lnSpc>
                <a:spcPct val="150000"/>
              </a:lnSpc>
            </a:pPr>
            <a:endParaRPr lang="en-US" sz="1800" dirty="0">
              <a:latin typeface="Verdana" panose="020B0604030504040204" pitchFamily="34" charset="0"/>
              <a:ea typeface="Verdana" panose="020B0604030504040204" pitchFamily="34" charset="0"/>
            </a:endParaRPr>
          </a:p>
          <a:p>
            <a:pPr>
              <a:lnSpc>
                <a:spcPct val="150000"/>
              </a:lnSpc>
            </a:pPr>
            <a:r>
              <a:rPr lang="en-US" sz="1800" b="1" dirty="0" err="1">
                <a:latin typeface="Verdana" panose="020B0604030504040204" pitchFamily="34" charset="0"/>
                <a:ea typeface="Verdana" panose="020B0604030504040204" pitchFamily="34" charset="0"/>
              </a:rPr>
              <a:t>Khoán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thưởng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theo</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chính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sách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khoán</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Áp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đề</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xuất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đóng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góp</a:t>
            </a:r>
            <a:r>
              <a:rPr lang="en-US" sz="1800" dirty="0">
                <a:latin typeface="Verdana" panose="020B0604030504040204" pitchFamily="34" charset="0"/>
                <a:ea typeface="Verdana" panose="020B0604030504040204" pitchFamily="34" charset="0"/>
              </a:rPr>
              <a:t> </a:t>
            </a: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đoạn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tạm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ứng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kết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endParaRPr lang="en-US" sz="1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00" dirty="0" err="1">
                <a:latin typeface="Verdana" panose="020B0604030504040204" pitchFamily="34" charset="0"/>
                <a:ea typeface="Verdana" panose="020B0604030504040204" pitchFamily="34" charset="0"/>
              </a:rPr>
              <a:t>Khoàn</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52170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2. </a:t>
            </a:r>
            <a:r>
              <a:rPr lang="en-US" sz="2600" b="1" dirty="0" err="1">
                <a:solidFill>
                  <a:schemeClr val="bg1"/>
                </a:solidFill>
                <a:latin typeface="Verdana" panose="020B0604030504040204" pitchFamily="34" charset="0"/>
                <a:ea typeface="Verdana" panose="020B0604030504040204" pitchFamily="34" charset="0"/>
              </a:rPr>
              <a:t>Hiện</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trạng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tại</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PrBBNKBIDV</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endParaRPr lang="en-US" sz="1800" dirty="0">
              <a:latin typeface="Verdana" panose="020B0604030504040204" pitchFamily="34" charset="0"/>
              <a:ea typeface="Verdana" panose="020B0604030504040204" pitchFamily="34" charset="0"/>
            </a:endParaRPr>
          </a:p>
        </p:txBody>
      </p:sp>
      <p:sp>
        <p:nvSpPr>
          <p:cNvPr id="6" name="Title 1">
            <a:extLst>
              <a:ext uri="{FF2B5EF4-FFF2-40B4-BE49-F238E27FC236}">
                <a16:creationId xmlns:a16="http://schemas.microsoft.com/office/drawing/2014/main" id="{4369E437-6F14-4790-B3A9-C599175486F2}"/>
              </a:ext>
            </a:extLst>
          </p:cNvPr>
          <p:cNvSpPr txBox="1">
            <a:spLocks/>
          </p:cNvSpPr>
          <p:nvPr/>
        </p:nvSpPr>
        <p:spPr>
          <a:xfrm>
            <a:off x="1094509" y="1136073"/>
            <a:ext cx="10127673"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qua JIRA, SFLASH, </a:t>
            </a:r>
            <a:r>
              <a:rPr lang="en-US" sz="1800" dirty="0" err="1">
                <a:latin typeface="Verdana" panose="020B0604030504040204" pitchFamily="34" charset="0"/>
                <a:ea typeface="Verdana" panose="020B0604030504040204" pitchFamily="34" charset="0"/>
              </a:rPr>
              <a:t>từng</a:t>
            </a:r>
            <a:r>
              <a:rPr lang="en-US" sz="1800" dirty="0">
                <a:latin typeface="Verdana" panose="020B0604030504040204" pitchFamily="34" charset="0"/>
                <a:ea typeface="Verdana" panose="020B0604030504040204" pitchFamily="34" charset="0"/>
              </a:rPr>
              <a:t> issue</a:t>
            </a:r>
          </a:p>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qua 4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tiến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chất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lượng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tuân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thủ</a:t>
            </a:r>
            <a:r>
              <a:rPr lang="en-US" sz="1800" dirty="0">
                <a:latin typeface="Verdana" panose="020B0604030504040204" pitchFamily="34" charset="0"/>
                <a:ea typeface="Verdana" panose="020B0604030504040204" pitchFamily="34" charset="0"/>
              </a:rPr>
              <a:t>, </a:t>
            </a:r>
          </a:p>
          <a:p>
            <a:pPr marL="285750" indent="-285750">
              <a:lnSpc>
                <a:spcPct val="150000"/>
              </a:lnSpc>
              <a:buFontTx/>
              <a:buChar char="-"/>
            </a:pPr>
            <a:r>
              <a:rPr lang="en-US" sz="1800" dirty="0">
                <a:latin typeface="Verdana" panose="020B0604030504040204" pitchFamily="34" charset="0"/>
                <a:ea typeface="Verdana" panose="020B0604030504040204" pitchFamily="34" charset="0"/>
              </a:rPr>
              <a:t>QLTT/ QLDA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tháng</a:t>
            </a:r>
            <a:endParaRPr lang="en-US" sz="1800" dirty="0">
              <a:latin typeface="Verdana" panose="020B0604030504040204" pitchFamily="34" charset="0"/>
              <a:ea typeface="Verdana" panose="020B0604030504040204" pitchFamily="34" charset="0"/>
            </a:endParaRPr>
          </a:p>
          <a:p>
            <a:pPr>
              <a:lnSpc>
                <a:spcPct val="150000"/>
              </a:lnSpc>
            </a:pPr>
            <a:r>
              <a:rPr lang="en-US" sz="1800" b="1" dirty="0" err="1">
                <a:latin typeface="Verdana" panose="020B0604030504040204" pitchFamily="34" charset="0"/>
                <a:ea typeface="Verdana" panose="020B0604030504040204" pitchFamily="34" charset="0"/>
              </a:rPr>
              <a:t>Tính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khoán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tiền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thưởng</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đoạn</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quý</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2954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2. </a:t>
            </a:r>
            <a:r>
              <a:rPr lang="en-US" sz="2600" b="1" dirty="0" err="1">
                <a:solidFill>
                  <a:schemeClr val="bg1"/>
                </a:solidFill>
                <a:latin typeface="Verdana" panose="020B0604030504040204" pitchFamily="34" charset="0"/>
                <a:ea typeface="Verdana" panose="020B0604030504040204" pitchFamily="34" charset="0"/>
              </a:rPr>
              <a:t>Hiện</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trạng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tại</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PrBBNKBIDV</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endParaRPr lang="en-US" sz="1800" dirty="0">
              <a:latin typeface="Verdana" panose="020B0604030504040204" pitchFamily="34" charset="0"/>
              <a:ea typeface="Verdana" panose="020B0604030504040204" pitchFamily="34" charset="0"/>
            </a:endParaRPr>
          </a:p>
        </p:txBody>
      </p:sp>
      <p:sp>
        <p:nvSpPr>
          <p:cNvPr id="6" name="Title 1">
            <a:extLst>
              <a:ext uri="{FF2B5EF4-FFF2-40B4-BE49-F238E27FC236}">
                <a16:creationId xmlns:a16="http://schemas.microsoft.com/office/drawing/2014/main" id="{4369E437-6F14-4790-B3A9-C599175486F2}"/>
              </a:ext>
            </a:extLst>
          </p:cNvPr>
          <p:cNvSpPr txBox="1">
            <a:spLocks/>
          </p:cNvSpPr>
          <p:nvPr/>
        </p:nvSpPr>
        <p:spPr>
          <a:xfrm>
            <a:off x="1094509" y="1136073"/>
            <a:ext cx="10127673"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b="1" dirty="0" err="1">
                <a:latin typeface="Verdana" panose="020B0604030504040204" pitchFamily="34" charset="0"/>
                <a:ea typeface="Verdana" panose="020B0604030504040204" pitchFamily="34" charset="0"/>
              </a:rPr>
              <a:t>Vấn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đề</a:t>
            </a:r>
            <a:r>
              <a:rPr lang="en-US" sz="1800" b="1" dirty="0">
                <a:latin typeface="Verdana" panose="020B0604030504040204" pitchFamily="34" charset="0"/>
                <a:ea typeface="Verdana" panose="020B0604030504040204" pitchFamily="34" charset="0"/>
              </a:rPr>
              <a:t>:</a:t>
            </a: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Chưa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ngoài</a:t>
            </a:r>
            <a:r>
              <a:rPr lang="en-US" sz="1800" dirty="0">
                <a:latin typeface="Verdana" panose="020B0604030504040204" pitchFamily="34" charset="0"/>
                <a:ea typeface="Verdana" panose="020B0604030504040204" pitchFamily="34" charset="0"/>
              </a:rPr>
              <a:t> Jira</a:t>
            </a: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Chưa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có</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tiền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thưởng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của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mỗi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báo</a:t>
            </a:r>
            <a:r>
              <a:rPr lang="en-US" sz="1800" dirty="0">
                <a:latin typeface="Verdana" panose="020B0604030504040204" pitchFamily="34" charset="0"/>
                <a:ea typeface="Verdana" panose="020B0604030504040204" pitchFamily="34" charset="0"/>
              </a:rPr>
              <a:t> qua </a:t>
            </a:r>
            <a:r>
              <a:rPr lang="en-US" sz="1800" dirty="0" err="1">
                <a:latin typeface="Verdana" panose="020B0604030504040204" pitchFamily="34" charset="0"/>
                <a:ea typeface="Verdana" panose="020B0604030504040204" pitchFamily="34" charset="0"/>
              </a:rPr>
              <a:t>lời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nói</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trên</a:t>
            </a:r>
            <a:r>
              <a:rPr lang="en-US" sz="1800" dirty="0">
                <a:latin typeface="Verdana" panose="020B0604030504040204" pitchFamily="34" charset="0"/>
                <a:ea typeface="Verdana" panose="020B0604030504040204" pitchFamily="34" charset="0"/>
              </a:rPr>
              <a:t> 4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nghèo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nàn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thiếu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khách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quan</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vi-VN" sz="1800" dirty="0">
                <a:latin typeface="Verdana" panose="020B0604030504040204" pitchFamily="34" charset="0"/>
                <a:ea typeface="Verdana" panose="020B0604030504040204" pitchFamily="34" charset="0"/>
              </a:rPr>
              <a:t>Việc tính khoán, lương thưởng còn chưa cụ thể, chưa rõ ràng, chưa khai thác được mức độ đóng góp của nhân viên để đưa ra mức lương thưởng hợp lý. </a:t>
            </a:r>
            <a:endParaRPr lang="en-US" sz="1800" dirty="0">
              <a:latin typeface="Verdana" panose="020B0604030504040204" pitchFamily="34" charset="0"/>
              <a:ea typeface="Verdana" panose="020B0604030504040204" pitchFamily="34" charset="0"/>
            </a:endParaRPr>
          </a:p>
          <a:p>
            <a:pPr>
              <a:lnSpc>
                <a:spcPct val="150000"/>
              </a:lnSpc>
            </a:pP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50871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3. </a:t>
            </a:r>
            <a:r>
              <a:rPr lang="en-US" sz="2600" b="1" dirty="0" err="1">
                <a:solidFill>
                  <a:schemeClr val="bg1"/>
                </a:solidFill>
                <a:latin typeface="Verdana" panose="020B0604030504040204" pitchFamily="34" charset="0"/>
                <a:ea typeface="Verdana" panose="020B0604030504040204" pitchFamily="34" charset="0"/>
              </a:rPr>
              <a:t>Mục</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tiêu</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127673"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Tx/>
              <a:buChar char="-"/>
            </a:pPr>
            <a:endParaRPr lang="en-US" sz="1800" dirty="0">
              <a:latin typeface="Verdana" panose="020B0604030504040204" pitchFamily="34" charset="0"/>
              <a:ea typeface="Verdana" panose="020B0604030504040204" pitchFamily="34" charset="0"/>
            </a:endParaRPr>
          </a:p>
        </p:txBody>
      </p:sp>
      <p:sp>
        <p:nvSpPr>
          <p:cNvPr id="6" name="Title 1">
            <a:extLst>
              <a:ext uri="{FF2B5EF4-FFF2-40B4-BE49-F238E27FC236}">
                <a16:creationId xmlns:a16="http://schemas.microsoft.com/office/drawing/2014/main" id="{EC9F8B5A-B8FA-4F97-A1FE-C3E813B2E862}"/>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sz="1800" b="1" dirty="0" err="1">
                <a:latin typeface="Verdana" panose="020B0604030504040204" pitchFamily="34" charset="0"/>
                <a:ea typeface="Verdana" panose="020B0604030504040204" pitchFamily="34" charset="0"/>
              </a:rPr>
              <a:t>Các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mục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tiêu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chính</a:t>
            </a:r>
            <a:r>
              <a:rPr lang="en-US" sz="1800" b="1" dirty="0">
                <a:latin typeface="Verdana" panose="020B0604030504040204" pitchFamily="34" charset="0"/>
                <a:ea typeface="Verdana" panose="020B0604030504040204" pitchFamily="34" charset="0"/>
              </a:rPr>
              <a:t> bao </a:t>
            </a:r>
            <a:r>
              <a:rPr lang="en-US" sz="1800" b="1" dirty="0" err="1">
                <a:latin typeface="Verdana" panose="020B0604030504040204" pitchFamily="34" charset="0"/>
                <a:ea typeface="Verdana" panose="020B0604030504040204" pitchFamily="34" charset="0"/>
              </a:rPr>
              <a:t>gồm</a:t>
            </a:r>
            <a:r>
              <a:rPr lang="en-US" sz="1800" b="1" dirty="0">
                <a:latin typeface="Verdana" panose="020B0604030504040204" pitchFamily="34" charset="0"/>
                <a:ea typeface="Verdana" panose="020B0604030504040204" pitchFamily="34" charset="0"/>
              </a:rPr>
              <a:t>:</a:t>
            </a: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Đưa</a:t>
            </a:r>
            <a:r>
              <a:rPr lang="en-US" sz="1800" dirty="0">
                <a:latin typeface="Verdana" panose="020B0604030504040204" pitchFamily="34" charset="0"/>
                <a:ea typeface="Verdana" panose="020B0604030504040204" pitchFamily="34" charset="0"/>
              </a:rPr>
              <a:t> ra </a:t>
            </a:r>
            <a:r>
              <a:rPr lang="en-US" sz="1800" dirty="0" err="1">
                <a:latin typeface="Verdana" panose="020B0604030504040204" pitchFamily="34" charset="0"/>
                <a:ea typeface="Verdana" panose="020B0604030504040204" pitchFamily="34" charset="0"/>
              </a:rPr>
              <a:t>một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cụ</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endParaRPr lang="en-US" sz="1800" dirty="0">
              <a:latin typeface="Verdana" panose="020B0604030504040204" pitchFamily="34" charset="0"/>
              <a:ea typeface="Verdana" panose="020B0604030504040204" pitchFamily="34" charset="0"/>
            </a:endParaRP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Tích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hợp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dữ</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từ</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hệ</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thống</a:t>
            </a:r>
            <a:r>
              <a:rPr lang="en-US" sz="1800"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DXClan</a:t>
            </a:r>
            <a:r>
              <a:rPr lang="en-US" sz="1800" b="1"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phần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KPI</a:t>
            </a: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Tạo</a:t>
            </a:r>
            <a:r>
              <a:rPr lang="en-US" sz="1800" dirty="0">
                <a:latin typeface="Verdana" panose="020B0604030504040204" pitchFamily="34" charset="0"/>
                <a:ea typeface="Verdana" panose="020B0604030504040204" pitchFamily="34" charset="0"/>
              </a:rPr>
              <a:t> batch job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đẩy</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dữ</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từ</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DXClan</a:t>
            </a:r>
            <a:endParaRPr lang="en-US" sz="1800" b="1" dirty="0">
              <a:latin typeface="Verdana" panose="020B0604030504040204" pitchFamily="34" charset="0"/>
              <a:ea typeface="Verdana" panose="020B0604030504040204" pitchFamily="34" charset="0"/>
            </a:endParaRP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Đưa</a:t>
            </a:r>
            <a:r>
              <a:rPr lang="en-US" sz="1800" dirty="0">
                <a:latin typeface="Verdana" panose="020B0604030504040204" pitchFamily="34" charset="0"/>
                <a:ea typeface="Verdana" panose="020B0604030504040204" pitchFamily="34" charset="0"/>
              </a:rPr>
              <a:t> ra </a:t>
            </a:r>
            <a:r>
              <a:rPr lang="en-US" sz="1800" dirty="0" err="1">
                <a:latin typeface="Verdana" panose="020B0604030504040204" pitchFamily="34" charset="0"/>
                <a:ea typeface="Verdana" panose="020B0604030504040204" pitchFamily="34" charset="0"/>
              </a:rPr>
              <a:t>được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kết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của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những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thông</a:t>
            </a:r>
            <a:r>
              <a:rPr lang="en-US" sz="1800" dirty="0">
                <a:latin typeface="Verdana" panose="020B0604030504040204" pitchFamily="34" charset="0"/>
                <a:ea typeface="Verdana" panose="020B0604030504040204" pitchFamily="34" charset="0"/>
              </a:rPr>
              <a:t> qua </a:t>
            </a:r>
            <a:r>
              <a:rPr lang="en-US" sz="1800" dirty="0" err="1">
                <a:latin typeface="Verdana" panose="020B0604030504040204" pitchFamily="34" charset="0"/>
                <a:ea typeface="Verdana" panose="020B0604030504040204" pitchFamily="34" charset="0"/>
              </a:rPr>
              <a:t>lương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thưởng</a:t>
            </a:r>
            <a:endParaRPr lang="en-US" sz="1800" dirty="0">
              <a:latin typeface="Verdana" panose="020B0604030504040204" pitchFamily="34" charset="0"/>
              <a:ea typeface="Verdana" panose="020B0604030504040204" pitchFamily="34" charset="0"/>
            </a:endParaRP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Thiết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lập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thưởng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chế</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so </a:t>
            </a:r>
            <a:r>
              <a:rPr lang="en-US" sz="1800" dirty="0" err="1">
                <a:latin typeface="Verdana" panose="020B0604030504040204" pitchFamily="34" charset="0"/>
                <a:ea typeface="Verdana" panose="020B0604030504040204" pitchFamily="34" charset="0"/>
              </a:rPr>
              <a:t>sánh</a:t>
            </a:r>
            <a:endParaRPr lang="en-US" sz="1800" dirty="0">
              <a:latin typeface="Verdana" panose="020B0604030504040204" pitchFamily="34" charset="0"/>
              <a:ea typeface="Verdana" panose="020B0604030504040204" pitchFamily="34" charset="0"/>
            </a:endParaRP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Người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dùng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định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nghĩa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tham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endParaRPr lang="en-US" sz="1800" dirty="0">
              <a:latin typeface="Verdana" panose="020B0604030504040204" pitchFamily="34" charset="0"/>
              <a:ea typeface="Verdana" panose="020B0604030504040204" pitchFamily="34" charset="0"/>
            </a:endParaRPr>
          </a:p>
          <a:p>
            <a:pPr>
              <a:lnSpc>
                <a:spcPct val="200000"/>
              </a:lnSpc>
            </a:pPr>
            <a:r>
              <a:rPr lang="en-US" sz="1800" b="1" dirty="0">
                <a:solidFill>
                  <a:srgbClr val="FF0000"/>
                </a:solidFill>
                <a:latin typeface="Verdana" panose="020B0604030504040204" pitchFamily="34" charset="0"/>
                <a:ea typeface="Verdana" panose="020B0604030504040204" pitchFamily="34" charset="0"/>
              </a:rPr>
              <a:t>=&gt; </a:t>
            </a:r>
            <a:r>
              <a:rPr lang="en-US" sz="1800" b="1" dirty="0" err="1">
                <a:solidFill>
                  <a:srgbClr val="FF0000"/>
                </a:solidFill>
                <a:latin typeface="Verdana" panose="020B0604030504040204" pitchFamily="34" charset="0"/>
                <a:ea typeface="Verdana" panose="020B0604030504040204" pitchFamily="34" charset="0"/>
              </a:rPr>
              <a:t>Phản</a:t>
            </a:r>
            <a:r>
              <a:rPr lang="en-US" sz="1800" b="1" dirty="0">
                <a:solidFill>
                  <a:srgbClr val="FF0000"/>
                </a:solidFill>
                <a:latin typeface="Verdana" panose="020B0604030504040204" pitchFamily="34" charset="0"/>
                <a:ea typeface="Verdana" panose="020B0604030504040204" pitchFamily="34" charset="0"/>
              </a:rPr>
              <a:t> </a:t>
            </a:r>
            <a:r>
              <a:rPr lang="en-US" sz="1800" b="1" dirty="0" err="1">
                <a:solidFill>
                  <a:srgbClr val="FF0000"/>
                </a:solidFill>
                <a:latin typeface="Verdana" panose="020B0604030504040204" pitchFamily="34" charset="0"/>
                <a:ea typeface="Verdana" panose="020B0604030504040204" pitchFamily="34" charset="0"/>
              </a:rPr>
              <a:t>ánh</a:t>
            </a:r>
            <a:r>
              <a:rPr lang="en-US" sz="1800" b="1" dirty="0">
                <a:solidFill>
                  <a:srgbClr val="FF0000"/>
                </a:solidFill>
                <a:latin typeface="Verdana" panose="020B0604030504040204" pitchFamily="34" charset="0"/>
                <a:ea typeface="Verdana" panose="020B0604030504040204" pitchFamily="34" charset="0"/>
              </a:rPr>
              <a:t> </a:t>
            </a:r>
            <a:r>
              <a:rPr lang="en-US" sz="1800" b="1" dirty="0" err="1">
                <a:solidFill>
                  <a:srgbClr val="FF0000"/>
                </a:solidFill>
                <a:latin typeface="Verdana" panose="020B0604030504040204" pitchFamily="34" charset="0"/>
                <a:ea typeface="Verdana" panose="020B0604030504040204" pitchFamily="34" charset="0"/>
              </a:rPr>
              <a:t>được</a:t>
            </a:r>
            <a:r>
              <a:rPr lang="en-US" sz="1800" b="1" dirty="0">
                <a:solidFill>
                  <a:srgbClr val="FF0000"/>
                </a:solidFill>
                <a:latin typeface="Verdana" panose="020B0604030504040204" pitchFamily="34" charset="0"/>
                <a:ea typeface="Verdana" panose="020B0604030504040204" pitchFamily="34" charset="0"/>
              </a:rPr>
              <a:t> </a:t>
            </a:r>
            <a:r>
              <a:rPr lang="en-US" sz="1800" b="1" dirty="0" err="1">
                <a:solidFill>
                  <a:srgbClr val="FF0000"/>
                </a:solidFill>
                <a:latin typeface="Verdana" panose="020B0604030504040204" pitchFamily="34" charset="0"/>
                <a:ea typeface="Verdana" panose="020B0604030504040204" pitchFamily="34" charset="0"/>
              </a:rPr>
              <a:t>kết</a:t>
            </a:r>
            <a:r>
              <a:rPr lang="en-US" sz="1800" b="1" dirty="0">
                <a:solidFill>
                  <a:srgbClr val="FF0000"/>
                </a:solidFill>
                <a:latin typeface="Verdana" panose="020B0604030504040204" pitchFamily="34" charset="0"/>
                <a:ea typeface="Verdana" panose="020B0604030504040204" pitchFamily="34" charset="0"/>
              </a:rPr>
              <a:t> </a:t>
            </a:r>
            <a:r>
              <a:rPr lang="en-US" sz="1800" b="1" dirty="0" err="1">
                <a:solidFill>
                  <a:srgbClr val="FF0000"/>
                </a:solidFill>
                <a:latin typeface="Verdana" panose="020B0604030504040204" pitchFamily="34" charset="0"/>
                <a:ea typeface="Verdana" panose="020B0604030504040204" pitchFamily="34" charset="0"/>
              </a:rPr>
              <a:t>quả</a:t>
            </a:r>
            <a:r>
              <a:rPr lang="en-US" sz="1800" b="1" dirty="0">
                <a:solidFill>
                  <a:srgbClr val="FF0000"/>
                </a:solidFill>
                <a:latin typeface="Verdana" panose="020B0604030504040204" pitchFamily="34" charset="0"/>
                <a:ea typeface="Verdana" panose="020B0604030504040204" pitchFamily="34" charset="0"/>
              </a:rPr>
              <a:t> Công </a:t>
            </a:r>
            <a:r>
              <a:rPr lang="en-US" sz="1800" b="1" dirty="0" err="1">
                <a:solidFill>
                  <a:srgbClr val="FF0000"/>
                </a:solidFill>
                <a:latin typeface="Verdana" panose="020B0604030504040204" pitchFamily="34" charset="0"/>
                <a:ea typeface="Verdana" panose="020B0604030504040204" pitchFamily="34" charset="0"/>
              </a:rPr>
              <a:t>việc</a:t>
            </a:r>
            <a:r>
              <a:rPr lang="en-US" sz="1800" b="1" dirty="0">
                <a:solidFill>
                  <a:srgbClr val="FF0000"/>
                </a:solidFill>
                <a:latin typeface="Verdana" panose="020B0604030504040204" pitchFamily="34" charset="0"/>
                <a:ea typeface="Verdana" panose="020B0604030504040204" pitchFamily="34" charset="0"/>
              </a:rPr>
              <a:t>, KPI </a:t>
            </a:r>
            <a:r>
              <a:rPr lang="en-US" sz="1800" b="1" dirty="0" err="1">
                <a:solidFill>
                  <a:srgbClr val="FF0000"/>
                </a:solidFill>
                <a:latin typeface="Verdana" panose="020B0604030504040204" pitchFamily="34" charset="0"/>
                <a:ea typeface="Verdana" panose="020B0604030504040204" pitchFamily="34" charset="0"/>
              </a:rPr>
              <a:t>thông</a:t>
            </a:r>
            <a:r>
              <a:rPr lang="en-US" sz="1800" b="1" dirty="0">
                <a:solidFill>
                  <a:srgbClr val="FF0000"/>
                </a:solidFill>
                <a:latin typeface="Verdana" panose="020B0604030504040204" pitchFamily="34" charset="0"/>
                <a:ea typeface="Verdana" panose="020B0604030504040204" pitchFamily="34" charset="0"/>
              </a:rPr>
              <a:t> qua </a:t>
            </a:r>
            <a:r>
              <a:rPr lang="en-US" sz="1800" b="1" dirty="0" err="1">
                <a:solidFill>
                  <a:srgbClr val="FF0000"/>
                </a:solidFill>
                <a:latin typeface="Verdana" panose="020B0604030504040204" pitchFamily="34" charset="0"/>
                <a:ea typeface="Verdana" panose="020B0604030504040204" pitchFamily="34" charset="0"/>
              </a:rPr>
              <a:t>lương</a:t>
            </a:r>
            <a:r>
              <a:rPr lang="en-US" sz="1800" b="1" dirty="0">
                <a:solidFill>
                  <a:srgbClr val="FF0000"/>
                </a:solidFill>
                <a:latin typeface="Verdana" panose="020B0604030504040204" pitchFamily="34" charset="0"/>
                <a:ea typeface="Verdana" panose="020B0604030504040204" pitchFamily="34" charset="0"/>
              </a:rPr>
              <a:t> </a:t>
            </a:r>
            <a:r>
              <a:rPr lang="en-US" sz="1800" b="1" dirty="0" err="1">
                <a:solidFill>
                  <a:srgbClr val="FF0000"/>
                </a:solidFill>
                <a:latin typeface="Verdana" panose="020B0604030504040204" pitchFamily="34" charset="0"/>
                <a:ea typeface="Verdana" panose="020B0604030504040204" pitchFamily="34" charset="0"/>
              </a:rPr>
              <a:t>thưởng</a:t>
            </a:r>
            <a:endParaRPr lang="en-US" sz="1800" b="1" dirty="0">
              <a:solidFill>
                <a:srgbClr val="FF0000"/>
              </a:solidFill>
              <a:latin typeface="Verdana" panose="020B0604030504040204" pitchFamily="34" charset="0"/>
              <a:ea typeface="Verdana" panose="020B0604030504040204" pitchFamily="34" charset="0"/>
            </a:endParaRPr>
          </a:p>
          <a:p>
            <a:pPr>
              <a:lnSpc>
                <a:spcPct val="200000"/>
              </a:lnSpc>
            </a:pPr>
            <a:r>
              <a:rPr lang="en-US" sz="1400" i="1" dirty="0">
                <a:latin typeface="Verdana" panose="020B0604030504040204" pitchFamily="34" charset="0"/>
                <a:ea typeface="Verdana" panose="020B0604030504040204" pitchFamily="34" charset="0"/>
              </a:rPr>
              <a:t>(</a:t>
            </a:r>
            <a:r>
              <a:rPr lang="en-US" sz="1400" i="1" dirty="0" err="1">
                <a:latin typeface="Verdana" panose="020B0604030504040204" pitchFamily="34" charset="0"/>
                <a:ea typeface="Verdana" panose="020B0604030504040204" pitchFamily="34" charset="0"/>
              </a:rPr>
              <a:t>DXClan</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là</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sản</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phẩm</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của</a:t>
            </a:r>
            <a:r>
              <a:rPr lang="en-US" sz="1400" i="1" dirty="0">
                <a:latin typeface="Verdana" panose="020B0604030504040204" pitchFamily="34" charset="0"/>
                <a:ea typeface="Verdana" panose="020B0604030504040204" pitchFamily="34" charset="0"/>
              </a:rPr>
              <a:t> Công ty </a:t>
            </a:r>
            <a:r>
              <a:rPr lang="en-US" sz="1400" i="1" dirty="0" err="1">
                <a:latin typeface="Verdana" panose="020B0604030504040204" pitchFamily="34" charset="0"/>
                <a:ea typeface="Verdana" panose="020B0604030504040204" pitchFamily="34" charset="0"/>
              </a:rPr>
              <a:t>Cổ</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phần</a:t>
            </a:r>
            <a:r>
              <a:rPr lang="en-US" sz="1400" i="1" dirty="0">
                <a:latin typeface="Verdana" panose="020B0604030504040204" pitchFamily="34" charset="0"/>
                <a:ea typeface="Verdana" panose="020B0604030504040204" pitchFamily="34" charset="0"/>
              </a:rPr>
              <a:t> Công </a:t>
            </a:r>
            <a:r>
              <a:rPr lang="en-US" sz="1400" i="1" dirty="0" err="1">
                <a:latin typeface="Verdana" panose="020B0604030504040204" pitchFamily="34" charset="0"/>
                <a:ea typeface="Verdana" panose="020B0604030504040204" pitchFamily="34" charset="0"/>
              </a:rPr>
              <a:t>nghệ</a:t>
            </a:r>
            <a:r>
              <a:rPr lang="en-US" sz="1400" i="1" dirty="0">
                <a:latin typeface="Verdana" panose="020B0604030504040204" pitchFamily="34" charset="0"/>
                <a:ea typeface="Verdana" panose="020B0604030504040204" pitchFamily="34" charset="0"/>
              </a:rPr>
              <a:t> An </a:t>
            </a:r>
            <a:r>
              <a:rPr lang="en-US" sz="1400" i="1" dirty="0" err="1">
                <a:latin typeface="Verdana" panose="020B0604030504040204" pitchFamily="34" charset="0"/>
                <a:ea typeface="Verdana" panose="020B0604030504040204" pitchFamily="34" charset="0"/>
              </a:rPr>
              <a:t>toàn</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thông</a:t>
            </a:r>
            <a:r>
              <a:rPr lang="en-US" sz="1400" i="1" dirty="0">
                <a:latin typeface="Verdana" panose="020B0604030504040204" pitchFamily="34" charset="0"/>
                <a:ea typeface="Verdana" panose="020B0604030504040204" pitchFamily="34" charset="0"/>
              </a:rPr>
              <a:t> tin </a:t>
            </a:r>
            <a:r>
              <a:rPr lang="en-US" sz="1400" i="1" dirty="0" err="1">
                <a:latin typeface="Verdana" panose="020B0604030504040204" pitchFamily="34" charset="0"/>
                <a:ea typeface="Verdana" panose="020B0604030504040204" pitchFamily="34" charset="0"/>
              </a:rPr>
              <a:t>và</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Truyền</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thông</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Việt</a:t>
            </a:r>
            <a:r>
              <a:rPr lang="en-US" sz="1400" i="1" dirty="0">
                <a:latin typeface="Verdana" panose="020B0604030504040204" pitchFamily="34" charset="0"/>
                <a:ea typeface="Verdana" panose="020B0604030504040204" pitchFamily="34" charset="0"/>
              </a:rPr>
              <a:t> Nam VNIST. </a:t>
            </a:r>
          </a:p>
          <a:p>
            <a:pPr>
              <a:lnSpc>
                <a:spcPct val="200000"/>
              </a:lnSpc>
            </a:pPr>
            <a:r>
              <a:rPr lang="en-US" sz="1400" i="1" dirty="0" err="1">
                <a:latin typeface="Verdana" panose="020B0604030504040204" pitchFamily="34" charset="0"/>
                <a:ea typeface="Verdana" panose="020B0604030504040204" pitchFamily="34" charset="0"/>
              </a:rPr>
              <a:t>Hệ</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thống</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được</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sử</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dụng</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dữ</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liệu</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DXClan</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trong</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phạm</a:t>
            </a:r>
            <a:r>
              <a:rPr lang="en-US" sz="1400" i="1" dirty="0">
                <a:latin typeface="Verdana" panose="020B0604030504040204" pitchFamily="34" charset="0"/>
                <a:ea typeface="Verdana" panose="020B0604030504040204" pitchFamily="34" charset="0"/>
              </a:rPr>
              <a:t> vi </a:t>
            </a:r>
            <a:r>
              <a:rPr lang="en-US" sz="1400" i="1" dirty="0" err="1">
                <a:latin typeface="Verdana" panose="020B0604030504040204" pitchFamily="34" charset="0"/>
                <a:ea typeface="Verdana" panose="020B0604030504040204" pitchFamily="34" charset="0"/>
              </a:rPr>
              <a:t>của</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luận</a:t>
            </a:r>
            <a:r>
              <a:rPr lang="en-US" sz="1400" i="1" dirty="0">
                <a:latin typeface="Verdana" panose="020B0604030504040204" pitchFamily="34" charset="0"/>
                <a:ea typeface="Verdana" panose="020B0604030504040204" pitchFamily="34" charset="0"/>
              </a:rPr>
              <a:t> </a:t>
            </a:r>
            <a:r>
              <a:rPr lang="en-US" sz="1400" i="1" dirty="0" err="1">
                <a:latin typeface="Verdana" panose="020B0604030504040204" pitchFamily="34" charset="0"/>
                <a:ea typeface="Verdana" panose="020B0604030504040204" pitchFamily="34" charset="0"/>
              </a:rPr>
              <a:t>văn</a:t>
            </a:r>
            <a:r>
              <a:rPr lang="en-US" sz="1400" i="1" dirty="0">
                <a:latin typeface="Verdana" panose="020B0604030504040204" pitchFamily="34" charset="0"/>
                <a:ea typeface="Verdana" panose="020B0604030504040204" pitchFamily="34" charset="0"/>
              </a:rPr>
              <a:t>)</a:t>
            </a:r>
          </a:p>
        </p:txBody>
      </p:sp>
    </p:spTree>
    <p:extLst>
      <p:ext uri="{BB962C8B-B14F-4D97-AF65-F5344CB8AC3E}">
        <p14:creationId xmlns:p14="http://schemas.microsoft.com/office/powerpoint/2010/main" val="3522669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4.</a:t>
            </a:r>
            <a:r>
              <a:rPr lang="vi-VN" sz="2600" b="1" dirty="0">
                <a:solidFill>
                  <a:schemeClr val="bg1"/>
                </a:solidFill>
                <a:latin typeface="Verdana" panose="020B0604030504040204" pitchFamily="34" charset="0"/>
                <a:ea typeface="Verdana" panose="020B0604030504040204" pitchFamily="34" charset="0"/>
              </a:rPr>
              <a:t> Định hướng giải pháp</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b="1" dirty="0" err="1">
                <a:latin typeface="Verdana" panose="020B0604030504040204" pitchFamily="34" charset="0"/>
                <a:ea typeface="Verdana" panose="020B0604030504040204" pitchFamily="34" charset="0"/>
              </a:rPr>
              <a:t>Các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định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hướng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giải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pháp</a:t>
            </a:r>
            <a:r>
              <a:rPr lang="en-US" sz="1800" b="1" dirty="0">
                <a:latin typeface="Verdana" panose="020B0604030504040204" pitchFamily="34" charset="0"/>
                <a:ea typeface="Verdana" panose="020B0604030504040204" pitchFamily="34" charset="0"/>
              </a:rPr>
              <a:t> bao </a:t>
            </a:r>
            <a:r>
              <a:rPr lang="en-US" sz="1800" b="1" dirty="0" err="1">
                <a:latin typeface="Verdana" panose="020B0604030504040204" pitchFamily="34" charset="0"/>
                <a:ea typeface="Verdana" panose="020B0604030504040204" pitchFamily="34" charset="0"/>
              </a:rPr>
              <a:t>gồm</a:t>
            </a:r>
            <a:endParaRPr lang="en-US" sz="1800" b="1" dirty="0">
              <a:latin typeface="Verdana" panose="020B0604030504040204" pitchFamily="34" charset="0"/>
              <a:ea typeface="Verdana" panose="020B0604030504040204" pitchFamily="34" charset="0"/>
            </a:endParaRP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Xác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định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được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đóng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góp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của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mỗi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endParaRPr lang="en-US" sz="1800" dirty="0">
              <a:latin typeface="Verdana" panose="020B0604030504040204" pitchFamily="34" charset="0"/>
              <a:ea typeface="Verdana" panose="020B0604030504040204" pitchFamily="34" charset="0"/>
            </a:endParaRP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Phân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bổ</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nguồn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lực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tận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tối</a:t>
            </a:r>
            <a:r>
              <a:rPr lang="en-US" sz="1800" dirty="0">
                <a:latin typeface="Verdana" panose="020B0604030504040204" pitchFamily="34" charset="0"/>
                <a:ea typeface="Verdana" panose="020B0604030504040204" pitchFamily="34" charset="0"/>
              </a:rPr>
              <a:t> ta </a:t>
            </a:r>
            <a:r>
              <a:rPr lang="en-US" sz="1800" dirty="0" err="1">
                <a:latin typeface="Verdana" panose="020B0604030504040204" pitchFamily="34" charset="0"/>
                <a:ea typeface="Verdana" panose="020B0604030504040204" pitchFamily="34" charset="0"/>
              </a:rPr>
              <a:t>nguồn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lực</a:t>
            </a:r>
            <a:endParaRPr lang="en-US" sz="1800" dirty="0">
              <a:latin typeface="Verdana" panose="020B0604030504040204" pitchFamily="34" charset="0"/>
              <a:ea typeface="Verdana" panose="020B0604030504040204" pitchFamily="34" charset="0"/>
            </a:endParaRP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nhiều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trong</a:t>
            </a:r>
            <a:r>
              <a:rPr lang="en-US" sz="1800" dirty="0">
                <a:latin typeface="Verdana" panose="020B0604030504040204" pitchFamily="34" charset="0"/>
                <a:ea typeface="Verdana" panose="020B0604030504040204" pitchFamily="34" charset="0"/>
              </a:rPr>
              <a:t> 3 </a:t>
            </a:r>
            <a:r>
              <a:rPr lang="en-US" sz="1800" dirty="0" err="1">
                <a:latin typeface="Verdana" panose="020B0604030504040204" pitchFamily="34" charset="0"/>
                <a:ea typeface="Verdana" panose="020B0604030504040204" pitchFamily="34" charset="0"/>
              </a:rPr>
              <a:t>chỉ</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phòng</a:t>
            </a:r>
            <a:r>
              <a:rPr lang="en-US" sz="1800" dirty="0">
                <a:latin typeface="Verdana" panose="020B0604030504040204" pitchFamily="34" charset="0"/>
                <a:ea typeface="Verdana" panose="020B0604030504040204" pitchFamily="34" charset="0"/>
              </a:rPr>
              <a:t> ban, </a:t>
            </a:r>
            <a:r>
              <a:rPr lang="en-US" sz="1800" dirty="0" err="1">
                <a:latin typeface="Verdana" panose="020B0604030504040204" pitchFamily="34" charset="0"/>
                <a:ea typeface="Verdana" panose="020B0604030504040204" pitchFamily="34" charset="0"/>
              </a:rPr>
              <a:t>thường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xuyên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xuất</a:t>
            </a:r>
            <a:r>
              <a:rPr lang="en-US" sz="1800" dirty="0">
                <a:latin typeface="Verdana" panose="020B0604030504040204" pitchFamily="34" charset="0"/>
                <a:ea typeface="Verdana" panose="020B0604030504040204" pitchFamily="34" charset="0"/>
              </a:rPr>
              <a:t>.</a:t>
            </a: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hệ</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Tích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hợp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thập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nguồn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dữ</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ngoài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thông</a:t>
            </a:r>
            <a:r>
              <a:rPr lang="en-US" sz="1800" dirty="0">
                <a:latin typeface="Verdana" panose="020B0604030504040204" pitchFamily="34" charset="0"/>
                <a:ea typeface="Verdana" panose="020B0604030504040204" pitchFamily="34" charset="0"/>
              </a:rPr>
              <a:t> qua batch job, API</a:t>
            </a:r>
          </a:p>
          <a:p>
            <a:pPr marL="285750" indent="-285750">
              <a:lnSpc>
                <a:spcPct val="150000"/>
              </a:lnSpc>
              <a:buFont typeface="Wingdings" panose="05000000000000000000" pitchFamily="2" charset="2"/>
              <a:buChar char="Ø"/>
            </a:pPr>
            <a:r>
              <a:rPr lang="en-US" sz="1800" dirty="0">
                <a:latin typeface="Verdana" panose="020B0604030504040204" pitchFamily="34" charset="0"/>
                <a:ea typeface="Verdana" panose="020B0604030504040204" pitchFamily="34" charset="0"/>
              </a:rPr>
              <a:t>Cho </a:t>
            </a:r>
            <a:r>
              <a:rPr lang="en-US" sz="1800" dirty="0" err="1">
                <a:latin typeface="Verdana" panose="020B0604030504040204" pitchFamily="34" charset="0"/>
                <a:ea typeface="Verdana" panose="020B0604030504040204" pitchFamily="34" charset="0"/>
              </a:rPr>
              <a:t>phép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thiết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lập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so </a:t>
            </a:r>
            <a:r>
              <a:rPr lang="en-US" sz="1800" dirty="0" err="1">
                <a:latin typeface="Verdana" panose="020B0604030504040204" pitchFamily="34" charset="0"/>
                <a:ea typeface="Verdana" panose="020B0604030504040204" pitchFamily="34" charset="0"/>
              </a:rPr>
              <a:t>sánh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thức</a:t>
            </a:r>
            <a:endParaRPr lang="en-US" sz="1800" dirty="0">
              <a:latin typeface="Verdana" panose="020B0604030504040204" pitchFamily="34" charset="0"/>
              <a:ea typeface="Verdana" panose="020B0604030504040204" pitchFamily="34" charset="0"/>
            </a:endParaRPr>
          </a:p>
          <a:p>
            <a:pPr>
              <a:lnSpc>
                <a:spcPct val="150000"/>
              </a:lnSpc>
            </a:pPr>
            <a:r>
              <a:rPr lang="en-US" sz="1800" b="1" dirty="0" err="1">
                <a:latin typeface="Verdana" panose="020B0604030504040204" pitchFamily="34" charset="0"/>
                <a:ea typeface="Verdana" panose="020B0604030504040204" pitchFamily="34" charset="0"/>
              </a:rPr>
              <a:t>Giá</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trị</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đạt</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được</a:t>
            </a:r>
            <a:endParaRPr lang="en-US" sz="1800" b="1"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Tập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trung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thưởng</a:t>
            </a:r>
            <a:r>
              <a:rPr lang="en-US" sz="1800" dirty="0">
                <a:latin typeface="Verdana" panose="020B0604030504040204" pitchFamily="34" charset="0"/>
                <a:ea typeface="Verdana" panose="020B0604030504040204" pitchFamily="34" charset="0"/>
              </a:rPr>
              <a:t> qua </a:t>
            </a:r>
            <a:r>
              <a:rPr lang="en-US" sz="1800" dirty="0" err="1">
                <a:latin typeface="Verdana" panose="020B0604030504040204" pitchFamily="34" charset="0"/>
                <a:ea typeface="Verdana" panose="020B0604030504040204" pitchFamily="34" charset="0"/>
              </a:rPr>
              <a:t>chỉ</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KPI</a:t>
            </a: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Đưa</a:t>
            </a:r>
            <a:r>
              <a:rPr lang="en-US" sz="1800" dirty="0">
                <a:latin typeface="Verdana" panose="020B0604030504040204" pitchFamily="34" charset="0"/>
                <a:ea typeface="Verdana" panose="020B0604030504040204" pitchFamily="34" charset="0"/>
              </a:rPr>
              <a:t> ra </a:t>
            </a:r>
            <a:r>
              <a:rPr lang="en-US" sz="1800" dirty="0" err="1">
                <a:latin typeface="Verdana" panose="020B0604030504040204" pitchFamily="34" charset="0"/>
                <a:ea typeface="Verdana" panose="020B0604030504040204" pitchFamily="34" charset="0"/>
              </a:rPr>
              <a:t>thống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kê</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đóng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góp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thực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hiện</a:t>
            </a:r>
            <a:r>
              <a:rPr lang="en-US" sz="1800" dirty="0">
                <a:latin typeface="Verdana" panose="020B0604030504040204" pitchFamily="34" charset="0"/>
                <a:ea typeface="Verdana" panose="020B0604030504040204" pitchFamily="34" charset="0"/>
              </a:rPr>
              <a:t> qua </a:t>
            </a:r>
            <a:r>
              <a:rPr lang="en-US" sz="1800" dirty="0" err="1">
                <a:latin typeface="Verdana" panose="020B0604030504040204" pitchFamily="34" charset="0"/>
                <a:ea typeface="Verdana" panose="020B0604030504040204" pitchFamily="34" charset="0"/>
              </a:rPr>
              <a:t>lương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thưởng</a:t>
            </a:r>
            <a:endParaRPr lang="en-US" sz="1800"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Thống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kê</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kiến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endParaRPr lang="en-US" sz="1800"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Cơ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sở</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quỹ</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nhập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chung</a:t>
            </a:r>
            <a:endParaRPr lang="en-US" sz="1800" dirty="0">
              <a:latin typeface="Verdana" panose="020B0604030504040204" pitchFamily="34" charset="0"/>
              <a:ea typeface="Verdana" panose="020B0604030504040204" pitchFamily="34" charset="0"/>
            </a:endParaRPr>
          </a:p>
          <a:p>
            <a:pPr>
              <a:lnSpc>
                <a:spcPct val="150000"/>
              </a:lnSpc>
            </a:pP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161041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5. </a:t>
            </a:r>
            <a:r>
              <a:rPr lang="en-US" sz="2600" b="1" dirty="0" err="1">
                <a:solidFill>
                  <a:schemeClr val="bg1"/>
                </a:solidFill>
                <a:latin typeface="Verdana" panose="020B0604030504040204" pitchFamily="34" charset="0"/>
                <a:ea typeface="Verdana" panose="020B0604030504040204" pitchFamily="34" charset="0"/>
              </a:rPr>
              <a:t>Đóng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góp</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phát</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triển</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5153891"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b="1" dirty="0">
              <a:latin typeface="Verdana" panose="020B0604030504040204" pitchFamily="34" charset="0"/>
              <a:ea typeface="Verdana" panose="020B0604030504040204" pitchFamily="34" charset="0"/>
            </a:endParaRPr>
          </a:p>
          <a:p>
            <a:pPr>
              <a:lnSpc>
                <a:spcPct val="150000"/>
              </a:lnSpc>
            </a:pPr>
            <a:endParaRPr lang="en-US" sz="1800" b="1"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Đưa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mô</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hình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raci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endParaRPr lang="en-US" sz="1800"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đoạn</a:t>
            </a:r>
            <a:endParaRPr lang="en-US" sz="1800"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nhóm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endParaRPr lang="en-US" sz="1800"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Cảnh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báo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báo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có</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bussy</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thấp</a:t>
            </a:r>
            <a:endParaRPr lang="en-US" sz="1800"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Tích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hợp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dữ</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liệu</a:t>
            </a:r>
            <a:endParaRPr lang="en-US" sz="1800" dirty="0">
              <a:latin typeface="Verdana" panose="020B0604030504040204" pitchFamily="34" charset="0"/>
              <a:ea typeface="Verdana" panose="020B0604030504040204" pitchFamily="34" charset="0"/>
            </a:endParaRPr>
          </a:p>
        </p:txBody>
      </p:sp>
      <p:pic>
        <p:nvPicPr>
          <p:cNvPr id="6" name="Picture 5" descr="Sơ đồ mô hình quản lý công việc">
            <a:extLst>
              <a:ext uri="{FF2B5EF4-FFF2-40B4-BE49-F238E27FC236}">
                <a16:creationId xmlns:a16="http://schemas.microsoft.com/office/drawing/2014/main" id="{6274FAC8-1408-45F4-9455-78973221A3A7}"/>
              </a:ext>
            </a:extLst>
          </p:cNvPr>
          <p:cNvPicPr/>
          <p:nvPr/>
        </p:nvPicPr>
        <p:blipFill>
          <a:blip r:embed="rId3"/>
          <a:stretch>
            <a:fillRect/>
          </a:stretch>
        </p:blipFill>
        <p:spPr>
          <a:xfrm>
            <a:off x="6248400" y="2041237"/>
            <a:ext cx="4648200" cy="3790950"/>
          </a:xfrm>
          <a:prstGeom prst="rect">
            <a:avLst/>
          </a:prstGeom>
          <a:ln w="9525" cap="sq" cmpd="thickThin">
            <a:solidFill>
              <a:srgbClr val="000000"/>
            </a:solidFill>
            <a:prstDash val="solid"/>
            <a:miter lim="800000"/>
          </a:ln>
          <a:effectLst>
            <a:innerShdw blurRad="76200">
              <a:srgbClr val="000000"/>
            </a:innerShdw>
          </a:effectLst>
        </p:spPr>
      </p:pic>
      <p:sp>
        <p:nvSpPr>
          <p:cNvPr id="7" name="TextBox 6">
            <a:extLst>
              <a:ext uri="{FF2B5EF4-FFF2-40B4-BE49-F238E27FC236}">
                <a16:creationId xmlns:a16="http://schemas.microsoft.com/office/drawing/2014/main" id="{269C5DEB-7A3E-4E51-A936-5A2B051758BA}"/>
              </a:ext>
            </a:extLst>
          </p:cNvPr>
          <p:cNvSpPr txBox="1"/>
          <p:nvPr/>
        </p:nvSpPr>
        <p:spPr>
          <a:xfrm>
            <a:off x="7005761" y="5963967"/>
            <a:ext cx="3382568" cy="369332"/>
          </a:xfrm>
          <a:prstGeom prst="rect">
            <a:avLst/>
          </a:prstGeom>
          <a:noFill/>
        </p:spPr>
        <p:txBody>
          <a:bodyPr wrap="square">
            <a:spAutoFit/>
          </a:bodyPr>
          <a:lstStyle/>
          <a:p>
            <a:r>
              <a:rPr lang="en-US" sz="1800" i="1" dirty="0" err="1">
                <a:solidFill>
                  <a:srgbClr val="000000"/>
                </a:solidFill>
                <a:effectLst/>
                <a:latin typeface="Times New Roman" panose="02020603050405020304" pitchFamily="18" charset="0"/>
                <a:ea typeface="Calibri" panose="020F0502020204030204" pitchFamily="34" charset="0"/>
              </a:rPr>
              <a:t>Sơ</a:t>
            </a:r>
            <a:r>
              <a:rPr lang="en-US" sz="1800" i="1" dirty="0">
                <a:solidFill>
                  <a:srgbClr val="000000"/>
                </a:solidFill>
                <a:effectLst/>
                <a:latin typeface="Times New Roman" panose="02020603050405020304" pitchFamily="18" charset="0"/>
                <a:ea typeface="Calibri" panose="020F0502020204030204" pitchFamily="34" charset="0"/>
              </a:rPr>
              <a:t> </a:t>
            </a:r>
            <a:r>
              <a:rPr lang="en-US" sz="1800" i="1" dirty="0" err="1">
                <a:solidFill>
                  <a:srgbClr val="000000"/>
                </a:solidFill>
                <a:effectLst/>
                <a:latin typeface="Times New Roman" panose="02020603050405020304" pitchFamily="18" charset="0"/>
                <a:ea typeface="Calibri" panose="020F0502020204030204" pitchFamily="34" charset="0"/>
              </a:rPr>
              <a:t>đồ</a:t>
            </a:r>
            <a:r>
              <a:rPr lang="en-US" sz="1800" i="1" dirty="0">
                <a:solidFill>
                  <a:srgbClr val="000000"/>
                </a:solidFill>
                <a:effectLst/>
                <a:latin typeface="Times New Roman" panose="02020603050405020304" pitchFamily="18" charset="0"/>
                <a:ea typeface="Calibri" panose="020F0502020204030204" pitchFamily="34" charset="0"/>
              </a:rPr>
              <a:t> </a:t>
            </a:r>
            <a:r>
              <a:rPr lang="en-US" sz="1800" i="1" dirty="0" err="1">
                <a:solidFill>
                  <a:srgbClr val="000000"/>
                </a:solidFill>
                <a:effectLst/>
                <a:latin typeface="Times New Roman" panose="02020603050405020304" pitchFamily="18" charset="0"/>
                <a:ea typeface="Calibri" panose="020F0502020204030204" pitchFamily="34" charset="0"/>
              </a:rPr>
              <a:t>mô</a:t>
            </a:r>
            <a:r>
              <a:rPr lang="en-US" sz="1800" i="1" dirty="0">
                <a:solidFill>
                  <a:srgbClr val="000000"/>
                </a:solidFill>
                <a:effectLst/>
                <a:latin typeface="Times New Roman" panose="02020603050405020304" pitchFamily="18" charset="0"/>
                <a:ea typeface="Calibri" panose="020F0502020204030204" pitchFamily="34" charset="0"/>
              </a:rPr>
              <a:t> </a:t>
            </a:r>
            <a:r>
              <a:rPr lang="en-US" sz="1800" i="1" dirty="0" err="1">
                <a:solidFill>
                  <a:srgbClr val="000000"/>
                </a:solidFill>
                <a:effectLst/>
                <a:latin typeface="Times New Roman" panose="02020603050405020304" pitchFamily="18" charset="0"/>
                <a:ea typeface="Calibri" panose="020F0502020204030204" pitchFamily="34" charset="0"/>
              </a:rPr>
              <a:t>hình</a:t>
            </a:r>
            <a:r>
              <a:rPr lang="en-US" sz="1800" i="1" dirty="0">
                <a:solidFill>
                  <a:srgbClr val="000000"/>
                </a:solidFill>
                <a:effectLst/>
                <a:latin typeface="Times New Roman" panose="02020603050405020304" pitchFamily="18" charset="0"/>
                <a:ea typeface="Calibri" panose="020F0502020204030204" pitchFamily="34" charset="0"/>
              </a:rPr>
              <a:t> </a:t>
            </a:r>
            <a:r>
              <a:rPr lang="en-US" sz="1800" i="1" dirty="0" err="1">
                <a:solidFill>
                  <a:srgbClr val="000000"/>
                </a:solidFill>
                <a:effectLst/>
                <a:latin typeface="Times New Roman" panose="02020603050405020304" pitchFamily="18" charset="0"/>
                <a:ea typeface="Calibri" panose="020F0502020204030204" pitchFamily="34" charset="0"/>
              </a:rPr>
              <a:t>quản</a:t>
            </a:r>
            <a:r>
              <a:rPr lang="en-US" sz="1800" i="1" dirty="0">
                <a:solidFill>
                  <a:srgbClr val="000000"/>
                </a:solidFill>
                <a:effectLst/>
                <a:latin typeface="Times New Roman" panose="02020603050405020304" pitchFamily="18" charset="0"/>
                <a:ea typeface="Calibri" panose="020F0502020204030204" pitchFamily="34" charset="0"/>
              </a:rPr>
              <a:t> </a:t>
            </a:r>
            <a:r>
              <a:rPr lang="en-US" sz="1800" i="1" dirty="0" err="1">
                <a:solidFill>
                  <a:srgbClr val="000000"/>
                </a:solidFill>
                <a:effectLst/>
                <a:latin typeface="Times New Roman" panose="02020603050405020304" pitchFamily="18" charset="0"/>
                <a:ea typeface="Calibri" panose="020F0502020204030204" pitchFamily="34" charset="0"/>
              </a:rPr>
              <a:t>lý</a:t>
            </a:r>
            <a:r>
              <a:rPr lang="en-US" sz="1800" i="1" dirty="0">
                <a:solidFill>
                  <a:srgbClr val="000000"/>
                </a:solidFill>
                <a:effectLst/>
                <a:latin typeface="Times New Roman" panose="02020603050405020304" pitchFamily="18" charset="0"/>
                <a:ea typeface="Calibri" panose="020F0502020204030204" pitchFamily="34" charset="0"/>
              </a:rPr>
              <a:t> </a:t>
            </a:r>
            <a:r>
              <a:rPr lang="en-US" sz="1800" i="1" dirty="0" err="1">
                <a:solidFill>
                  <a:srgbClr val="000000"/>
                </a:solidFill>
                <a:effectLst/>
                <a:latin typeface="Times New Roman" panose="02020603050405020304" pitchFamily="18" charset="0"/>
                <a:ea typeface="Calibri" panose="020F0502020204030204" pitchFamily="34" charset="0"/>
              </a:rPr>
              <a:t>công</a:t>
            </a:r>
            <a:r>
              <a:rPr lang="en-US" sz="1800" i="1" dirty="0">
                <a:solidFill>
                  <a:srgbClr val="000000"/>
                </a:solidFill>
                <a:effectLst/>
                <a:latin typeface="Times New Roman" panose="02020603050405020304" pitchFamily="18" charset="0"/>
                <a:ea typeface="Calibri" panose="020F0502020204030204" pitchFamily="34" charset="0"/>
              </a:rPr>
              <a:t> </a:t>
            </a:r>
            <a:r>
              <a:rPr lang="en-US" sz="1800" i="1" dirty="0" err="1">
                <a:solidFill>
                  <a:srgbClr val="000000"/>
                </a:solidFill>
                <a:effectLst/>
                <a:latin typeface="Times New Roman" panose="02020603050405020304" pitchFamily="18" charset="0"/>
                <a:ea typeface="Calibri" panose="020F0502020204030204" pitchFamily="34" charset="0"/>
              </a:rPr>
              <a:t>việc</a:t>
            </a:r>
            <a:endParaRPr lang="en-US" i="1" dirty="0"/>
          </a:p>
        </p:txBody>
      </p:sp>
    </p:spTree>
    <p:extLst>
      <p:ext uri="{BB962C8B-B14F-4D97-AF65-F5344CB8AC3E}">
        <p14:creationId xmlns:p14="http://schemas.microsoft.com/office/powerpoint/2010/main" val="2615556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5. </a:t>
            </a:r>
            <a:r>
              <a:rPr lang="en-US" sz="2600" b="1" dirty="0" err="1">
                <a:solidFill>
                  <a:schemeClr val="bg1"/>
                </a:solidFill>
                <a:latin typeface="Verdana" panose="020B0604030504040204" pitchFamily="34" charset="0"/>
                <a:ea typeface="Verdana" panose="020B0604030504040204" pitchFamily="34" charset="0"/>
              </a:rPr>
              <a:t>Đóng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góp</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phát</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triển</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5001491"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endParaRPr lang="en-US" sz="1800" b="1"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Phát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triển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hệ</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thống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nhiều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có</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định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lượng</a:t>
            </a:r>
            <a:endParaRPr lang="en-US" sz="1800"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tổng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hợp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chu </a:t>
            </a:r>
            <a:r>
              <a:rPr lang="en-US" sz="1800" dirty="0" err="1">
                <a:latin typeface="Verdana" panose="020B0604030504040204" pitchFamily="34" charset="0"/>
                <a:ea typeface="Verdana" panose="020B0604030504040204" pitchFamily="34" charset="0"/>
              </a:rPr>
              <a:t>kỳ</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cuối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năm</a:t>
            </a:r>
            <a:endParaRPr lang="en-US" sz="1800"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Phân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loại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từng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đối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tượng</a:t>
            </a:r>
            <a:endParaRPr lang="en-US" sz="1800" dirty="0">
              <a:latin typeface="Verdana" panose="020B0604030504040204" pitchFamily="34" charset="0"/>
              <a:ea typeface="Verdana" panose="020B0604030504040204" pitchFamily="34" charset="0"/>
            </a:endParaRPr>
          </a:p>
          <a:p>
            <a:pPr marL="342900" indent="-342900">
              <a:lnSpc>
                <a:spcPct val="150000"/>
              </a:lnSpc>
              <a:buFont typeface="+mj-lt"/>
              <a:buAutoNum type="arabicPeriod"/>
            </a:pPr>
            <a:r>
              <a:rPr lang="en-US" sz="1800" dirty="0" err="1">
                <a:latin typeface="Verdana" panose="020B0604030504040204" pitchFamily="34" charset="0"/>
                <a:ea typeface="Verdana" panose="020B0604030504040204" pitchFamily="34" charset="0"/>
              </a:rPr>
              <a:t>Tích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hợp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dữ</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liệu</a:t>
            </a:r>
            <a:endParaRPr lang="en-US" sz="1800" dirty="0">
              <a:latin typeface="Verdana" panose="020B0604030504040204" pitchFamily="34" charset="0"/>
              <a:ea typeface="Verdana" panose="020B0604030504040204" pitchFamily="34" charset="0"/>
            </a:endParaRPr>
          </a:p>
        </p:txBody>
      </p:sp>
      <p:pic>
        <p:nvPicPr>
          <p:cNvPr id="3" name="Picture 2">
            <a:extLst>
              <a:ext uri="{FF2B5EF4-FFF2-40B4-BE49-F238E27FC236}">
                <a16:creationId xmlns:a16="http://schemas.microsoft.com/office/drawing/2014/main" id="{DAB1B5F3-5063-4FE2-A0C5-D279B5D2BFF2}"/>
              </a:ext>
            </a:extLst>
          </p:cNvPr>
          <p:cNvPicPr>
            <a:picLocks noChangeAspect="1"/>
          </p:cNvPicPr>
          <p:nvPr/>
        </p:nvPicPr>
        <p:blipFill>
          <a:blip r:embed="rId3"/>
          <a:stretch>
            <a:fillRect/>
          </a:stretch>
        </p:blipFill>
        <p:spPr>
          <a:xfrm>
            <a:off x="6847217" y="1426152"/>
            <a:ext cx="3276600" cy="4295775"/>
          </a:xfrm>
          <a:prstGeom prst="rect">
            <a:avLst/>
          </a:prstGeom>
          <a:solidFill>
            <a:srgbClr val="000000">
              <a:shade val="95000"/>
            </a:srgbClr>
          </a:solidFill>
          <a:ln w="9525" cap="sq">
            <a:solidFill>
              <a:srgbClr val="000000"/>
            </a:solidFill>
            <a:miter lim="800000"/>
          </a:ln>
          <a:effectLst>
            <a:outerShdw blurRad="254000" dist="190500" dir="2700000" sy="90000" algn="bl" rotWithShape="0">
              <a:srgbClr val="000000">
                <a:alpha val="40000"/>
              </a:srgbClr>
            </a:outerShdw>
          </a:effectLst>
        </p:spPr>
      </p:pic>
      <p:sp>
        <p:nvSpPr>
          <p:cNvPr id="8" name="TextBox 7">
            <a:extLst>
              <a:ext uri="{FF2B5EF4-FFF2-40B4-BE49-F238E27FC236}">
                <a16:creationId xmlns:a16="http://schemas.microsoft.com/office/drawing/2014/main" id="{E74BA828-D66D-4D75-ACCB-C0373C01AE64}"/>
              </a:ext>
            </a:extLst>
          </p:cNvPr>
          <p:cNvSpPr txBox="1"/>
          <p:nvPr/>
        </p:nvSpPr>
        <p:spPr>
          <a:xfrm>
            <a:off x="7332452" y="5853707"/>
            <a:ext cx="3099039" cy="369332"/>
          </a:xfrm>
          <a:prstGeom prst="rect">
            <a:avLst/>
          </a:prstGeom>
          <a:noFill/>
        </p:spPr>
        <p:txBody>
          <a:bodyPr wrap="square">
            <a:spAutoFit/>
          </a:bodyPr>
          <a:lstStyle/>
          <a:p>
            <a:r>
              <a:rPr lang="en-US" i="1" dirty="0" err="1">
                <a:latin typeface="Verdana" panose="020B0604030504040204" pitchFamily="34" charset="0"/>
                <a:ea typeface="Verdana" panose="020B0604030504040204" pitchFamily="34" charset="0"/>
              </a:rPr>
              <a:t>Mô</a:t>
            </a:r>
            <a:r>
              <a:rPr lang="en-US" i="1" dirty="0">
                <a:latin typeface="Verdana" panose="020B0604030504040204" pitchFamily="34" charset="0"/>
                <a:ea typeface="Verdana" panose="020B0604030504040204" pitchFamily="34" charset="0"/>
              </a:rPr>
              <a:t> </a:t>
            </a:r>
            <a:r>
              <a:rPr lang="en-US" i="1" dirty="0" err="1">
                <a:latin typeface="Verdana" panose="020B0604030504040204" pitchFamily="34" charset="0"/>
                <a:ea typeface="Verdana" panose="020B0604030504040204" pitchFamily="34" charset="0"/>
              </a:rPr>
              <a:t>hình</a:t>
            </a:r>
            <a:r>
              <a:rPr lang="en-US" i="1" dirty="0">
                <a:latin typeface="Verdana" panose="020B0604030504040204" pitchFamily="34" charset="0"/>
                <a:ea typeface="Verdana" panose="020B0604030504040204" pitchFamily="34" charset="0"/>
              </a:rPr>
              <a:t> </a:t>
            </a:r>
            <a:r>
              <a:rPr lang="en-US" i="1" dirty="0" err="1">
                <a:latin typeface="Verdana" panose="020B0604030504040204" pitchFamily="34" charset="0"/>
                <a:ea typeface="Verdana" panose="020B0604030504040204" pitchFamily="34" charset="0"/>
              </a:rPr>
              <a:t>quản</a:t>
            </a:r>
            <a:r>
              <a:rPr lang="en-US" i="1" dirty="0">
                <a:latin typeface="Verdana" panose="020B0604030504040204" pitchFamily="34" charset="0"/>
                <a:ea typeface="Verdana" panose="020B0604030504040204" pitchFamily="34" charset="0"/>
              </a:rPr>
              <a:t> </a:t>
            </a:r>
            <a:r>
              <a:rPr lang="en-US" i="1" dirty="0" err="1">
                <a:latin typeface="Verdana" panose="020B0604030504040204" pitchFamily="34" charset="0"/>
                <a:ea typeface="Verdana" panose="020B0604030504040204" pitchFamily="34" charset="0"/>
              </a:rPr>
              <a:t>lý</a:t>
            </a:r>
            <a:r>
              <a:rPr lang="en-US" i="1" dirty="0">
                <a:latin typeface="Verdana" panose="020B0604030504040204" pitchFamily="34" charset="0"/>
                <a:ea typeface="Verdana" panose="020B0604030504040204" pitchFamily="34" charset="0"/>
              </a:rPr>
              <a:t> KPI</a:t>
            </a:r>
            <a:endParaRPr lang="en-US" i="1" dirty="0"/>
          </a:p>
        </p:txBody>
      </p:sp>
    </p:spTree>
    <p:extLst>
      <p:ext uri="{BB962C8B-B14F-4D97-AF65-F5344CB8AC3E}">
        <p14:creationId xmlns:p14="http://schemas.microsoft.com/office/powerpoint/2010/main" val="853473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5. </a:t>
            </a:r>
            <a:r>
              <a:rPr lang="en-US" sz="2600" b="1" dirty="0" err="1">
                <a:solidFill>
                  <a:schemeClr val="bg1"/>
                </a:solidFill>
                <a:latin typeface="Verdana" panose="020B0604030504040204" pitchFamily="34" charset="0"/>
                <a:ea typeface="Verdana" panose="020B0604030504040204" pitchFamily="34" charset="0"/>
              </a:rPr>
              <a:t>Đóng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góp</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phát</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triển</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8" y="1136073"/>
            <a:ext cx="10551151"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50000"/>
              </a:lnSpc>
            </a:pPr>
            <a:r>
              <a:rPr lang="en-US" sz="1800" b="1" dirty="0" err="1">
                <a:latin typeface="Verdana" panose="020B0604030504040204" pitchFamily="34" charset="0"/>
                <a:ea typeface="Verdana" panose="020B0604030504040204" pitchFamily="34" charset="0"/>
              </a:rPr>
              <a:t>Tính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khoán</a:t>
            </a:r>
            <a:endParaRPr lang="en-US" sz="1800" b="1"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Đề</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xuất</a:t>
            </a:r>
            <a:r>
              <a:rPr lang="en-US" sz="1800" dirty="0">
                <a:latin typeface="Verdana" panose="020B0604030504040204" pitchFamily="34" charset="0"/>
                <a:ea typeface="Verdana" panose="020B0604030504040204" pitchFamily="34" charset="0"/>
              </a:rPr>
              <a:t> chi </a:t>
            </a:r>
            <a:r>
              <a:rPr lang="en-US" sz="1800" dirty="0" err="1">
                <a:latin typeface="Verdana" panose="020B0604030504040204" pitchFamily="34" charset="0"/>
                <a:ea typeface="Verdana" panose="020B0604030504040204" pitchFamily="34" charset="0"/>
              </a:rPr>
              <a:t>một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phần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sang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Phát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triển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hệ</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thống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phòng</a:t>
            </a:r>
            <a:r>
              <a:rPr lang="en-US" sz="1800" dirty="0">
                <a:latin typeface="Verdana" panose="020B0604030504040204" pitchFamily="34" charset="0"/>
                <a:ea typeface="Verdana" panose="020B0604030504040204" pitchFamily="34" charset="0"/>
              </a:rPr>
              <a:t> ban </a:t>
            </a:r>
            <a:r>
              <a:rPr lang="en-US" sz="1800" dirty="0" err="1">
                <a:latin typeface="Verdana" panose="020B0604030504040204" pitchFamily="34" charset="0"/>
                <a:ea typeface="Verdana" panose="020B0604030504040204" pitchFamily="34" charset="0"/>
              </a:rPr>
              <a:t>cho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a:latin typeface="Verdana" panose="020B0604030504040204" pitchFamily="34" charset="0"/>
                <a:ea typeface="Verdana" panose="020B0604030504040204" pitchFamily="34" charset="0"/>
              </a:rPr>
              <a:t>Cho </a:t>
            </a:r>
            <a:r>
              <a:rPr lang="en-US" sz="1800" dirty="0" err="1">
                <a:latin typeface="Verdana" panose="020B0604030504040204" pitchFamily="34" charset="0"/>
                <a:ea typeface="Verdana" panose="020B0604030504040204" pitchFamily="34" charset="0"/>
              </a:rPr>
              <a:t>phép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thiết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lập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so </a:t>
            </a:r>
            <a:r>
              <a:rPr lang="en-US" sz="1800" dirty="0" err="1">
                <a:latin typeface="Verdana" panose="020B0604030504040204" pitchFamily="34" charset="0"/>
                <a:ea typeface="Verdana" panose="020B0604030504040204" pitchFamily="34" charset="0"/>
              </a:rPr>
              <a:t>sánh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trị</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Đưa</a:t>
            </a:r>
            <a:r>
              <a:rPr lang="en-US" sz="1800" dirty="0">
                <a:latin typeface="Verdana" panose="020B0604030504040204" pitchFamily="34" charset="0"/>
                <a:ea typeface="Verdana" panose="020B0604030504040204" pitchFamily="34" charset="0"/>
              </a:rPr>
              <a:t> ra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biểu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đồ</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thống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kê</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kết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KPI </a:t>
            </a:r>
            <a:r>
              <a:rPr lang="en-US" sz="1800" dirty="0" err="1">
                <a:latin typeface="Verdana" panose="020B0604030504040204" pitchFamily="34" charset="0"/>
                <a:ea typeface="Verdana" panose="020B0604030504040204" pitchFamily="34" charset="0"/>
              </a:rPr>
              <a:t>được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ánh</a:t>
            </a:r>
            <a:r>
              <a:rPr lang="en-US" sz="1800" dirty="0">
                <a:latin typeface="Verdana" panose="020B0604030504040204" pitchFamily="34" charset="0"/>
                <a:ea typeface="Verdana" panose="020B0604030504040204" pitchFamily="34" charset="0"/>
              </a:rPr>
              <a:t> qua </a:t>
            </a:r>
            <a:r>
              <a:rPr lang="en-US" sz="1800" dirty="0" err="1">
                <a:latin typeface="Verdana" panose="020B0604030504040204" pitchFamily="34" charset="0"/>
                <a:ea typeface="Verdana" panose="020B0604030504040204" pitchFamily="34" charset="0"/>
              </a:rPr>
              <a:t>lương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thưởng</a:t>
            </a:r>
            <a:r>
              <a:rPr lang="en-US" sz="1800" dirty="0">
                <a:latin typeface="Verdana" panose="020B0604030504040204" pitchFamily="34" charset="0"/>
                <a:ea typeface="Verdana" panose="020B0604030504040204" pitchFamily="34" charset="0"/>
              </a:rPr>
              <a:t>.</a:t>
            </a: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Tích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hợp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dữ</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ngoài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như</a:t>
            </a:r>
            <a:r>
              <a:rPr lang="en-US" sz="1800"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DXClan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định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hướng</a:t>
            </a:r>
            <a:r>
              <a:rPr lang="en-US" sz="1800" dirty="0">
                <a:latin typeface="Verdana" panose="020B0604030504040204" pitchFamily="34" charset="0"/>
                <a:ea typeface="Verdana" panose="020B0604030504040204" pitchFamily="34" charset="0"/>
              </a:rPr>
              <a:t> </a:t>
            </a:r>
            <a:r>
              <a:rPr lang="en-US" sz="1800" b="1" dirty="0">
                <a:latin typeface="Verdana" panose="020B0604030504040204" pitchFamily="34" charset="0"/>
                <a:ea typeface="Verdana" panose="020B0604030504040204" pitchFamily="34" charset="0"/>
              </a:rPr>
              <a:t>JIRA</a:t>
            </a:r>
          </a:p>
        </p:txBody>
      </p:sp>
    </p:spTree>
    <p:extLst>
      <p:ext uri="{BB962C8B-B14F-4D97-AF65-F5344CB8AC3E}">
        <p14:creationId xmlns:p14="http://schemas.microsoft.com/office/powerpoint/2010/main" val="4271667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WordArt 6"/>
          <p:cNvSpPr>
            <a:spLocks noChangeArrowheads="1" noChangeShapeType="1" noTextEdit="1"/>
          </p:cNvSpPr>
          <p:nvPr/>
        </p:nvSpPr>
        <p:spPr bwMode="gray">
          <a:xfrm>
            <a:off x="4399085" y="2819400"/>
            <a:ext cx="4343400" cy="609600"/>
          </a:xfrm>
          <a:prstGeom prst="rect">
            <a:avLst/>
          </a:prstGeom>
        </p:spPr>
        <p:txBody>
          <a:bodyPr wrap="none" fromWordArt="1">
            <a:prstTxWarp prst="textDeflate">
              <a:avLst>
                <a:gd name="adj" fmla="val 0"/>
              </a:avLst>
            </a:prstTxWarp>
          </a:bodyPr>
          <a:lstStyle/>
          <a:p>
            <a:pPr algn="ctr"/>
            <a:r>
              <a:rPr lang="en-US" sz="3600" b="1" kern="10">
                <a:ln w="28575">
                  <a:solidFill>
                    <a:srgbClr val="FFFFFF"/>
                  </a:solidFill>
                  <a:round/>
                  <a:headEnd/>
                  <a:tailEnd/>
                </a:ln>
                <a:solidFill>
                  <a:schemeClr val="accent2">
                    <a:lumMod val="75000"/>
                  </a:schemeClr>
                </a:solidFill>
                <a:effectLst>
                  <a:glow rad="228600">
                    <a:schemeClr val="accent3">
                      <a:satMod val="175000"/>
                      <a:alpha val="40000"/>
                    </a:schemeClr>
                  </a:glow>
                  <a:outerShdw dist="71842" dir="2700000" algn="ctr" rotWithShape="0">
                    <a:schemeClr val="tx1">
                      <a:alpha val="50000"/>
                    </a:schemeClr>
                  </a:outerShdw>
                </a:effectLst>
                <a:cs typeface="Arial" panose="020B0604020202020204" pitchFamily="34" charset="0"/>
              </a:rPr>
              <a:t>Thank You!</a:t>
            </a:r>
          </a:p>
        </p:txBody>
      </p:sp>
    </p:spTree>
    <p:extLst>
      <p:ext uri="{BB962C8B-B14F-4D97-AF65-F5344CB8AC3E}">
        <p14:creationId xmlns:p14="http://schemas.microsoft.com/office/powerpoint/2010/main" val="2627119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7200</TotalTime>
  <Words>2126</Words>
  <Application>Microsoft Office PowerPoint</Application>
  <PresentationFormat>Widescreen</PresentationFormat>
  <Paragraphs>162</Paragraphs>
  <Slides>11</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Courier New</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 Minh Luong (FIS HR HN)</dc:creator>
  <cp:lastModifiedBy>Nguyễn Công Sơn</cp:lastModifiedBy>
  <cp:revision>263</cp:revision>
  <dcterms:created xsi:type="dcterms:W3CDTF">2020-10-28T02:11:29Z</dcterms:created>
  <dcterms:modified xsi:type="dcterms:W3CDTF">2021-03-30T10:07:46Z</dcterms:modified>
</cp:coreProperties>
</file>